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42"/>
  </p:notesMasterIdLst>
  <p:sldIdLst>
    <p:sldId id="278" r:id="rId2"/>
    <p:sldId id="280" r:id="rId3"/>
    <p:sldId id="351" r:id="rId4"/>
    <p:sldId id="390" r:id="rId5"/>
    <p:sldId id="281" r:id="rId6"/>
    <p:sldId id="391" r:id="rId7"/>
    <p:sldId id="392" r:id="rId8"/>
    <p:sldId id="393" r:id="rId9"/>
    <p:sldId id="285" r:id="rId10"/>
    <p:sldId id="287" r:id="rId11"/>
    <p:sldId id="395" r:id="rId12"/>
    <p:sldId id="396" r:id="rId13"/>
    <p:sldId id="397" r:id="rId14"/>
    <p:sldId id="398" r:id="rId15"/>
    <p:sldId id="399" r:id="rId16"/>
    <p:sldId id="400" r:id="rId17"/>
    <p:sldId id="401" r:id="rId18"/>
    <p:sldId id="402" r:id="rId19"/>
    <p:sldId id="403" r:id="rId20"/>
    <p:sldId id="404" r:id="rId21"/>
    <p:sldId id="405" r:id="rId22"/>
    <p:sldId id="406" r:id="rId23"/>
    <p:sldId id="407" r:id="rId24"/>
    <p:sldId id="409" r:id="rId25"/>
    <p:sldId id="408" r:id="rId26"/>
    <p:sldId id="410" r:id="rId27"/>
    <p:sldId id="411" r:id="rId28"/>
    <p:sldId id="412" r:id="rId29"/>
    <p:sldId id="413" r:id="rId30"/>
    <p:sldId id="414" r:id="rId31"/>
    <p:sldId id="415" r:id="rId32"/>
    <p:sldId id="416" r:id="rId33"/>
    <p:sldId id="417" r:id="rId34"/>
    <p:sldId id="418" r:id="rId35"/>
    <p:sldId id="419" r:id="rId36"/>
    <p:sldId id="420" r:id="rId37"/>
    <p:sldId id="421" r:id="rId38"/>
    <p:sldId id="394" r:id="rId39"/>
    <p:sldId id="324" r:id="rId40"/>
    <p:sldId id="422" r:id="rId41"/>
  </p:sldIdLst>
  <p:sldSz cx="12192000" cy="6858000"/>
  <p:notesSz cx="6858000" cy="9144000"/>
  <p:embeddedFontLst>
    <p:embeddedFont>
      <p:font typeface="08서울남산체 B" panose="02020603020101020101" pitchFamily="18" charset="-127"/>
      <p:regular r:id="rId43"/>
    </p:embeddedFont>
    <p:embeddedFont>
      <p:font typeface="Verdana" panose="020B0604030504040204" pitchFamily="34" charset="0"/>
      <p:regular r:id="rId44"/>
      <p:bold r:id="rId45"/>
      <p:italic r:id="rId46"/>
      <p:boldItalic r:id="rId47"/>
    </p:embeddedFont>
    <p:embeddedFont>
      <p:font typeface="맑은 고딕" panose="020B0503020000020004" pitchFamily="50" charset="-127"/>
      <p:regular r:id="rId48"/>
      <p:bold r:id="rId49"/>
    </p:embeddedFont>
    <p:embeddedFont>
      <p:font typeface="서울남산 장체 EB" panose="02020503020101020101" pitchFamily="18" charset="-127"/>
      <p:regular r:id="rId50"/>
    </p:embeddedFont>
    <p:embeddedFont>
      <p:font typeface="서울남산 장체 L" panose="02020503020101020101" pitchFamily="18" charset="-127"/>
      <p:regular r:id="rId51"/>
    </p:embeddedFont>
    <p:embeddedFont>
      <p:font typeface="서울남산 장체 M" panose="02020503020101020101" pitchFamily="18" charset="-127"/>
      <p:regular r:id="rId52"/>
    </p:embeddedFont>
    <p:embeddedFont>
      <p:font typeface="서울한강 장체 L" panose="02020503020101020101" pitchFamily="18" charset="-127"/>
      <p:regular r:id="rId53"/>
    </p:embeddedFont>
  </p:embeddedFontLst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5pPr>
    <a:lvl6pPr marL="2286000" algn="l" defTabSz="914400" rtl="0" eaLnBrk="1" latinLnBrk="1" hangingPunct="1"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6pPr>
    <a:lvl7pPr marL="2743200" algn="l" defTabSz="914400" rtl="0" eaLnBrk="1" latinLnBrk="1" hangingPunct="1"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7pPr>
    <a:lvl8pPr marL="3200400" algn="l" defTabSz="914400" rtl="0" eaLnBrk="1" latinLnBrk="1" hangingPunct="1"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8pPr>
    <a:lvl9pPr marL="3657600" algn="l" defTabSz="914400" rtl="0" eaLnBrk="1" latinLnBrk="1" hangingPunct="1"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039" autoAdjust="0"/>
    <p:restoredTop sz="94607" autoAdjust="0"/>
  </p:normalViewPr>
  <p:slideViewPr>
    <p:cSldViewPr snapToGrid="0" showGuides="1">
      <p:cViewPr varScale="1">
        <p:scale>
          <a:sx n="62" d="100"/>
          <a:sy n="62" d="100"/>
        </p:scale>
        <p:origin x="96" y="51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27732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font" Target="fonts/font5.fntdata"/><Relationship Id="rId50" Type="http://schemas.openxmlformats.org/officeDocument/2006/relationships/font" Target="fonts/font8.fntdata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3.fntdata"/><Relationship Id="rId53" Type="http://schemas.openxmlformats.org/officeDocument/2006/relationships/font" Target="fonts/font11.fntdata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1.fntdata"/><Relationship Id="rId48" Type="http://schemas.openxmlformats.org/officeDocument/2006/relationships/font" Target="fonts/font6.fntdata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font" Target="fonts/font9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4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7.fntdata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font" Target="fonts/font2.fntdata"/><Relationship Id="rId52" Type="http://schemas.openxmlformats.org/officeDocument/2006/relationships/font" Target="fonts/font10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C2CBB9-4A5B-4165-8B09-8477FE296C11}" type="datetimeFigureOut">
              <a:rPr lang="ko-KR" altLang="en-US" smtClean="0"/>
              <a:t>2022-05-10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3B3DB4-D385-4485-B184-BAAE808E34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26665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3B3DB4-D385-4485-B184-BAAE808E3400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71854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3B3DB4-D385-4485-B184-BAAE808E3400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03637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3B3DB4-D385-4485-B184-BAAE808E3400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17301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3B3DB4-D385-4485-B184-BAAE808E3400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62146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3B3DB4-D385-4485-B184-BAAE808E3400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96298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3B3DB4-D385-4485-B184-BAAE808E3400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17791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3B3DB4-D385-4485-B184-BAAE808E3400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23061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3B3DB4-D385-4485-B184-BAAE808E3400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69571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3B3DB4-D385-4485-B184-BAAE808E3400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087089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3B3DB4-D385-4485-B184-BAAE808E3400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575096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3B3DB4-D385-4485-B184-BAAE808E3400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740837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3B3DB4-D385-4485-B184-BAAE808E3400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693688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3B3DB4-D385-4485-B184-BAAE808E3400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846047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3B3DB4-D385-4485-B184-BAAE808E3400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08083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3B3DB4-D385-4485-B184-BAAE808E3400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286287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3B3DB4-D385-4485-B184-BAAE808E3400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663384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3B3DB4-D385-4485-B184-BAAE808E3400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871076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3B3DB4-D385-4485-B184-BAAE808E3400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976094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3B3DB4-D385-4485-B184-BAAE808E3400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184618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3B3DB4-D385-4485-B184-BAAE808E3400}" type="slidenum">
              <a:rPr lang="ko-KR" altLang="en-US" smtClean="0"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92895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7">
            <a:extLst>
              <a:ext uri="{FF2B5EF4-FFF2-40B4-BE49-F238E27FC236}">
                <a16:creationId xmlns:a16="http://schemas.microsoft.com/office/drawing/2014/main" id="{DAF59362-AAEC-438D-9E40-FF26D7C124EB}"/>
              </a:ext>
            </a:extLst>
          </p:cNvPr>
          <p:cNvSpPr>
            <a:spLocks noChangeArrowheads="1"/>
          </p:cNvSpPr>
          <p:nvPr/>
        </p:nvSpPr>
        <p:spPr bwMode="gray">
          <a:xfrm>
            <a:off x="10672763" y="0"/>
            <a:ext cx="1519237" cy="6858000"/>
          </a:xfrm>
          <a:prstGeom prst="rect">
            <a:avLst/>
          </a:prstGeom>
          <a:solidFill>
            <a:schemeClr val="bg2">
              <a:alpha val="39999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defRPr/>
            </a:pPr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4" name="Rectangle 19">
            <a:extLst>
              <a:ext uri="{FF2B5EF4-FFF2-40B4-BE49-F238E27FC236}">
                <a16:creationId xmlns:a16="http://schemas.microsoft.com/office/drawing/2014/main" id="{3C4BCAED-39FD-4529-A8D0-C927A2B1FE4A}"/>
              </a:ext>
            </a:extLst>
          </p:cNvPr>
          <p:cNvSpPr>
            <a:spLocks noChangeArrowheads="1"/>
          </p:cNvSpPr>
          <p:nvPr/>
        </p:nvSpPr>
        <p:spPr bwMode="gray">
          <a:xfrm>
            <a:off x="0" y="2149475"/>
            <a:ext cx="12192000" cy="2498725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defRPr/>
            </a:pPr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5" name="Freeform 20">
            <a:extLst>
              <a:ext uri="{FF2B5EF4-FFF2-40B4-BE49-F238E27FC236}">
                <a16:creationId xmlns:a16="http://schemas.microsoft.com/office/drawing/2014/main" id="{A3F10358-8FCB-48D9-844C-654E1FD3A133}"/>
              </a:ext>
            </a:extLst>
          </p:cNvPr>
          <p:cNvSpPr>
            <a:spLocks/>
          </p:cNvSpPr>
          <p:nvPr/>
        </p:nvSpPr>
        <p:spPr bwMode="gray">
          <a:xfrm>
            <a:off x="-12700" y="2138363"/>
            <a:ext cx="10687050" cy="2271712"/>
          </a:xfrm>
          <a:custGeom>
            <a:avLst/>
            <a:gdLst>
              <a:gd name="T0" fmla="*/ 0 w 5049"/>
              <a:gd name="T1" fmla="*/ 0 h 1471"/>
              <a:gd name="T2" fmla="*/ 2147483646 w 5049"/>
              <a:gd name="T3" fmla="*/ 2147483646 h 1471"/>
              <a:gd name="T4" fmla="*/ 2147483646 w 5049"/>
              <a:gd name="T5" fmla="*/ 2147483646 h 1471"/>
              <a:gd name="T6" fmla="*/ 0 w 5049"/>
              <a:gd name="T7" fmla="*/ 2147483646 h 1471"/>
              <a:gd name="T8" fmla="*/ 0 w 5049"/>
              <a:gd name="T9" fmla="*/ 0 h 147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5049" h="1471">
                <a:moveTo>
                  <a:pt x="0" y="0"/>
                </a:moveTo>
                <a:lnTo>
                  <a:pt x="5049" y="2"/>
                </a:lnTo>
                <a:lnTo>
                  <a:pt x="5048" y="1458"/>
                </a:lnTo>
                <a:lnTo>
                  <a:pt x="0" y="1471"/>
                </a:lnTo>
                <a:lnTo>
                  <a:pt x="0" y="0"/>
                </a:lnTo>
                <a:close/>
              </a:path>
            </a:pathLst>
          </a:custGeom>
          <a:solidFill>
            <a:schemeClr val="folHlink">
              <a:alpha val="7294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3366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 bwMode="white">
          <a:xfrm>
            <a:off x="2724727" y="2539998"/>
            <a:ext cx="7740073" cy="1782618"/>
          </a:xfrm>
        </p:spPr>
        <p:txBody>
          <a:bodyPr anchor="ctr"/>
          <a:lstStyle>
            <a:lvl1pPr marL="0" indent="0" algn="r">
              <a:buFont typeface="Wingdings" panose="05000000000000000000" pitchFamily="2" charset="2"/>
              <a:buNone/>
              <a:defRPr sz="3200">
                <a:solidFill>
                  <a:schemeClr val="bg1"/>
                </a:solidFill>
              </a:defRPr>
            </a:lvl1pPr>
          </a:lstStyle>
          <a:p>
            <a:pPr lvl="0"/>
            <a:r>
              <a:rPr lang="ko-KR" altLang="en-US" noProof="0"/>
              <a:t>클릭하여 마스터 부제목 스타일 편집</a:t>
            </a:r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29211020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20BE9C6-17D0-47CB-A0EF-045D871000F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/>
              <a:t>외식서비스 마케팅 전략  </a:t>
            </a:r>
            <a:endParaRPr lang="ko-KR" altLang="ko-KR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389769EA-A453-40FE-A799-4C4E9A9D2485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07D478-249C-47C8-B0AE-AC9ECA1D2C42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7999445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2853028"/>
            <a:ext cx="10515600" cy="1500187"/>
          </a:xfrm>
        </p:spPr>
        <p:txBody>
          <a:bodyPr anchor="b"/>
          <a:lstStyle>
            <a:lvl1pPr marL="0" indent="0">
              <a:buNone/>
              <a:defRPr sz="28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7A6CFC8-92DA-41C2-B453-EB40215976F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/>
              <a:t>외식서비스 마케팅 전략  </a:t>
            </a:r>
            <a:endParaRPr lang="ko-KR" altLang="ko-KR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C75F5179-55EE-4E7E-B50F-C7660EED234F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A49D4F-3A8E-4D8E-9F58-49E042BE848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4200577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92717" y="383056"/>
            <a:ext cx="10515600" cy="549274"/>
          </a:xfrm>
        </p:spPr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20365" y="1210797"/>
            <a:ext cx="5827374" cy="971354"/>
          </a:xfrm>
        </p:spPr>
        <p:txBody>
          <a:bodyPr/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20365" y="2029946"/>
            <a:ext cx="5827374" cy="434396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</a:lstStyle>
          <a:p>
            <a:pPr lvl="0"/>
            <a:endParaRPr lang="en-US" altLang="ko-KR" dirty="0"/>
          </a:p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652247" y="1206034"/>
            <a:ext cx="5856070" cy="971354"/>
          </a:xfrm>
        </p:spPr>
        <p:txBody>
          <a:bodyPr/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652247" y="2029946"/>
            <a:ext cx="5856070" cy="434396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</a:lstStyle>
          <a:p>
            <a:pPr lvl="0"/>
            <a:endParaRPr lang="en-US" altLang="ko-KR" dirty="0"/>
          </a:p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3704256D-F4FB-4955-B253-70764EDB7B4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/>
              <a:t>외식서비스 마케팅 전략  </a:t>
            </a:r>
            <a:endParaRPr lang="ko-KR" altLang="ko-KR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45C741B7-C50E-4E9F-9844-13B7883CD14F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240F6A-8F97-41BC-80EE-8A494F2C157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2750993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093693" y="381000"/>
            <a:ext cx="8940800" cy="563563"/>
          </a:xfrm>
        </p:spPr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C726E936-95BF-4B4A-B805-FFC00A9593A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/>
              <a:t>외식서비스 마케팅 전략  </a:t>
            </a:r>
            <a:endParaRPr lang="ko-KR" altLang="ko-KR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8ED5A9FD-AF5F-4CE9-9EBA-2193EF3CCA3B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2085870-8A47-4BC3-8417-C3B9023B6142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140360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690EED7E-D655-435A-B542-3ADE24937BE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/>
              <a:t>외식서비스 마케팅 전략  </a:t>
            </a:r>
            <a:endParaRPr lang="ko-KR" altLang="ko-KR"/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287A5C33-4BE0-463A-9685-3EA65632F3F4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67ED25-E065-4097-9741-8ADF60B196B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5385820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Freeform 15">
            <a:extLst>
              <a:ext uri="{FF2B5EF4-FFF2-40B4-BE49-F238E27FC236}">
                <a16:creationId xmlns:a16="http://schemas.microsoft.com/office/drawing/2014/main" id="{F58C9D69-E12C-4263-846F-773DC50B354D}"/>
              </a:ext>
            </a:extLst>
          </p:cNvPr>
          <p:cNvSpPr>
            <a:spLocks/>
          </p:cNvSpPr>
          <p:nvPr/>
        </p:nvSpPr>
        <p:spPr bwMode="gray">
          <a:xfrm>
            <a:off x="-12700" y="344488"/>
            <a:ext cx="10926763" cy="633412"/>
          </a:xfrm>
          <a:custGeom>
            <a:avLst/>
            <a:gdLst>
              <a:gd name="T0" fmla="*/ 0 w 5049"/>
              <a:gd name="T1" fmla="*/ 0 h 1471"/>
              <a:gd name="T2" fmla="*/ 2147483646 w 5049"/>
              <a:gd name="T3" fmla="*/ 2147483646 h 1471"/>
              <a:gd name="T4" fmla="*/ 2147483646 w 5049"/>
              <a:gd name="T5" fmla="*/ 2147483646 h 1471"/>
              <a:gd name="T6" fmla="*/ 0 w 5049"/>
              <a:gd name="T7" fmla="*/ 2147483646 h 1471"/>
              <a:gd name="T8" fmla="*/ 0 w 5049"/>
              <a:gd name="T9" fmla="*/ 0 h 147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5049" h="1471">
                <a:moveTo>
                  <a:pt x="0" y="0"/>
                </a:moveTo>
                <a:lnTo>
                  <a:pt x="5049" y="2"/>
                </a:lnTo>
                <a:lnTo>
                  <a:pt x="5048" y="1458"/>
                </a:lnTo>
                <a:lnTo>
                  <a:pt x="0" y="1471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3366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grpSp>
        <p:nvGrpSpPr>
          <p:cNvPr id="1027" name="Group 16">
            <a:extLst>
              <a:ext uri="{FF2B5EF4-FFF2-40B4-BE49-F238E27FC236}">
                <a16:creationId xmlns:a16="http://schemas.microsoft.com/office/drawing/2014/main" id="{2C28487A-F298-475C-A204-79FC43F054C6}"/>
              </a:ext>
            </a:extLst>
          </p:cNvPr>
          <p:cNvGrpSpPr>
            <a:grpSpLocks/>
          </p:cNvGrpSpPr>
          <p:nvPr/>
        </p:nvGrpSpPr>
        <p:grpSpPr bwMode="auto">
          <a:xfrm>
            <a:off x="10871200" y="0"/>
            <a:ext cx="1320800" cy="6858000"/>
            <a:chOff x="5040" y="0"/>
            <a:chExt cx="720" cy="4320"/>
          </a:xfrm>
        </p:grpSpPr>
        <p:sp>
          <p:nvSpPr>
            <p:cNvPr id="1036" name="Rectangle 17">
              <a:extLst>
                <a:ext uri="{FF2B5EF4-FFF2-40B4-BE49-F238E27FC236}">
                  <a16:creationId xmlns:a16="http://schemas.microsoft.com/office/drawing/2014/main" id="{D4052D8F-ED52-42CD-858F-7929983A2B8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5042" y="0"/>
              <a:ext cx="718" cy="4320"/>
            </a:xfrm>
            <a:prstGeom prst="rect">
              <a:avLst/>
            </a:prstGeom>
            <a:solidFill>
              <a:schemeClr val="folHlink">
                <a:alpha val="39999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defRPr/>
              </a:pPr>
              <a:endParaRPr lang="ko-KR" altLang="en-US">
                <a:ea typeface="굴림" panose="020B0600000101010101" pitchFamily="50" charset="-127"/>
              </a:endParaRPr>
            </a:p>
          </p:txBody>
        </p:sp>
        <p:sp>
          <p:nvSpPr>
            <p:cNvPr id="1037" name="Rectangle 18">
              <a:extLst>
                <a:ext uri="{FF2B5EF4-FFF2-40B4-BE49-F238E27FC236}">
                  <a16:creationId xmlns:a16="http://schemas.microsoft.com/office/drawing/2014/main" id="{A4849AFE-A46E-4EFA-89A2-7EE328D5723A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5040" y="219"/>
              <a:ext cx="720" cy="39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defRPr/>
              </a:pPr>
              <a:endParaRPr lang="ko-KR" altLang="en-US">
                <a:ea typeface="굴림" panose="020B0600000101010101" pitchFamily="50" charset="-127"/>
              </a:endParaRPr>
            </a:p>
          </p:txBody>
        </p:sp>
      </p:grpSp>
      <p:sp>
        <p:nvSpPr>
          <p:cNvPr id="1028" name="Rectangle 3">
            <a:extLst>
              <a:ext uri="{FF2B5EF4-FFF2-40B4-BE49-F238E27FC236}">
                <a16:creationId xmlns:a16="http://schemas.microsoft.com/office/drawing/2014/main" id="{F49D34DD-136D-4EC6-8EC1-0CDE95C344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44488" y="1076325"/>
            <a:ext cx="11517312" cy="524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166E1FE4-1A59-45AD-BBE5-3AF2455B8F02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88450" y="6510338"/>
            <a:ext cx="28448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sz="1000">
                <a:latin typeface="서울한강 장체 L" panose="02020503020101020101" pitchFamily="18" charset="-127"/>
                <a:ea typeface="서울한강 장체 L" panose="02020503020101020101" pitchFamily="18" charset="-127"/>
              </a:defRPr>
            </a:lvl1pPr>
          </a:lstStyle>
          <a:p>
            <a:pPr>
              <a:defRPr/>
            </a:pPr>
            <a:r>
              <a:rPr lang="ko-KR" altLang="en-US"/>
              <a:t>외식서비스 마케팅 전략  </a:t>
            </a:r>
            <a:endParaRPr lang="ko-KR" altLang="ko-K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4B3B4B30-C6E8-48B1-950F-799A5A77C597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353800" y="6526213"/>
            <a:ext cx="6096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800">
                <a:latin typeface="서울한강 장체 L" pitchFamily="18" charset="-127"/>
                <a:ea typeface="서울한강 장체 L" pitchFamily="18" charset="-127"/>
              </a:defRPr>
            </a:lvl1pPr>
          </a:lstStyle>
          <a:p>
            <a:pPr>
              <a:defRPr/>
            </a:pPr>
            <a:fld id="{8C3877AD-CFFB-4271-B326-AA3E8B4CDDB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grpSp>
        <p:nvGrpSpPr>
          <p:cNvPr id="1031" name="Group 22">
            <a:extLst>
              <a:ext uri="{FF2B5EF4-FFF2-40B4-BE49-F238E27FC236}">
                <a16:creationId xmlns:a16="http://schemas.microsoft.com/office/drawing/2014/main" id="{2549C1DD-2084-4511-B637-633F41C867D0}"/>
              </a:ext>
            </a:extLst>
          </p:cNvPr>
          <p:cNvGrpSpPr>
            <a:grpSpLocks/>
          </p:cNvGrpSpPr>
          <p:nvPr/>
        </p:nvGrpSpPr>
        <p:grpSpPr bwMode="auto">
          <a:xfrm>
            <a:off x="71438" y="300038"/>
            <a:ext cx="684212" cy="661987"/>
            <a:chOff x="18" y="144"/>
            <a:chExt cx="510" cy="480"/>
          </a:xfrm>
        </p:grpSpPr>
        <p:sp>
          <p:nvSpPr>
            <p:cNvPr id="1033" name="AutoShape 23">
              <a:extLst>
                <a:ext uri="{FF2B5EF4-FFF2-40B4-BE49-F238E27FC236}">
                  <a16:creationId xmlns:a16="http://schemas.microsoft.com/office/drawing/2014/main" id="{A26CEC47-651E-44F7-BA60-614E9E825FA9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18" y="258"/>
              <a:ext cx="288" cy="241"/>
            </a:xfrm>
            <a:prstGeom prst="hexagon">
              <a:avLst>
                <a:gd name="adj" fmla="val 30000"/>
                <a:gd name="vf" fmla="val 115470"/>
              </a:avLst>
            </a:prstGeom>
            <a:solidFill>
              <a:schemeClr val="hlink"/>
            </a:solidFill>
            <a:ln w="28575">
              <a:solidFill>
                <a:schemeClr val="bg1"/>
              </a:solidFill>
              <a:miter lim="800000"/>
              <a:headEnd/>
              <a:tailEnd/>
            </a:ln>
            <a:effectLst>
              <a:outerShdw dist="56796" dir="1593903" algn="ctr" rotWithShape="0">
                <a:srgbClr val="666633">
                  <a:alpha val="50000"/>
                </a:srgbClr>
              </a:outerShdw>
            </a:effectLst>
          </p:spPr>
          <p:txBody>
            <a:bodyPr wrap="none" anchor="ctr"/>
            <a:lstStyle>
              <a:lvl1pPr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defRPr/>
              </a:pPr>
              <a:endParaRPr lang="ko-KR" altLang="en-US">
                <a:ea typeface="굴림" panose="020B0600000101010101" pitchFamily="50" charset="-127"/>
              </a:endParaRPr>
            </a:p>
          </p:txBody>
        </p:sp>
        <p:sp>
          <p:nvSpPr>
            <p:cNvPr id="1034" name="AutoShape 24">
              <a:extLst>
                <a:ext uri="{FF2B5EF4-FFF2-40B4-BE49-F238E27FC236}">
                  <a16:creationId xmlns:a16="http://schemas.microsoft.com/office/drawing/2014/main" id="{6EBAFB4A-C0AC-40A0-A76E-39A39F6D890E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240" y="144"/>
              <a:ext cx="288" cy="241"/>
            </a:xfrm>
            <a:prstGeom prst="hexagon">
              <a:avLst>
                <a:gd name="adj" fmla="val 30000"/>
                <a:gd name="vf" fmla="val 115470"/>
              </a:avLst>
            </a:prstGeom>
            <a:solidFill>
              <a:schemeClr val="accent2"/>
            </a:solidFill>
            <a:ln w="28575">
              <a:solidFill>
                <a:schemeClr val="bg1"/>
              </a:solidFill>
              <a:miter lim="800000"/>
              <a:headEnd/>
              <a:tailEnd/>
            </a:ln>
            <a:effectLst>
              <a:outerShdw dist="56796" dir="1593903" algn="ctr" rotWithShape="0">
                <a:srgbClr val="666633">
                  <a:alpha val="50000"/>
                </a:srgbClr>
              </a:outerShdw>
            </a:effectLst>
          </p:spPr>
          <p:txBody>
            <a:bodyPr wrap="none" anchor="ctr"/>
            <a:lstStyle>
              <a:lvl1pPr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defRPr/>
              </a:pPr>
              <a:endParaRPr lang="ko-KR" altLang="en-US">
                <a:ea typeface="굴림" panose="020B0600000101010101" pitchFamily="50" charset="-127"/>
              </a:endParaRPr>
            </a:p>
          </p:txBody>
        </p:sp>
        <p:sp>
          <p:nvSpPr>
            <p:cNvPr id="1035" name="AutoShape 25">
              <a:extLst>
                <a:ext uri="{FF2B5EF4-FFF2-40B4-BE49-F238E27FC236}">
                  <a16:creationId xmlns:a16="http://schemas.microsoft.com/office/drawing/2014/main" id="{60F49F54-34F0-42C7-BAD1-2FF0A3338EA6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240" y="385"/>
              <a:ext cx="288" cy="239"/>
            </a:xfrm>
            <a:prstGeom prst="hexagon">
              <a:avLst>
                <a:gd name="adj" fmla="val 30000"/>
                <a:gd name="vf" fmla="val 115470"/>
              </a:avLst>
            </a:prstGeom>
            <a:solidFill>
              <a:schemeClr val="accent1"/>
            </a:solidFill>
            <a:ln w="28575">
              <a:solidFill>
                <a:schemeClr val="bg1"/>
              </a:solidFill>
              <a:miter lim="800000"/>
              <a:headEnd/>
              <a:tailEnd/>
            </a:ln>
            <a:effectLst>
              <a:outerShdw dist="56796" dir="1593903" algn="ctr" rotWithShape="0">
                <a:srgbClr val="666633">
                  <a:alpha val="50000"/>
                </a:srgbClr>
              </a:outerShdw>
            </a:effectLst>
          </p:spPr>
          <p:txBody>
            <a:bodyPr wrap="none" anchor="ctr"/>
            <a:lstStyle>
              <a:lvl1pPr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defRPr/>
              </a:pPr>
              <a:endParaRPr lang="ko-KR" altLang="en-US">
                <a:ea typeface="굴림" panose="020B0600000101010101" pitchFamily="50" charset="-127"/>
              </a:endParaRPr>
            </a:p>
          </p:txBody>
        </p:sp>
      </p:grpSp>
      <p:sp>
        <p:nvSpPr>
          <p:cNvPr id="1032" name="Rectangle 2">
            <a:extLst>
              <a:ext uri="{FF2B5EF4-FFF2-40B4-BE49-F238E27FC236}">
                <a16:creationId xmlns:a16="http://schemas.microsoft.com/office/drawing/2014/main" id="{2071A01C-7DE0-447B-9DEA-A9E5BE0780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white">
          <a:xfrm>
            <a:off x="1057275" y="381000"/>
            <a:ext cx="8940800" cy="563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718" r:id="rId2"/>
    <p:sldLayoutId id="2147483719" r:id="rId3"/>
    <p:sldLayoutId id="2147483720" r:id="rId4"/>
    <p:sldLayoutId id="2147483721" r:id="rId5"/>
    <p:sldLayoutId id="2147483722" r:id="rId6"/>
  </p:sldLayoutIdLst>
  <p:hf sldNum="0" hd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sz="2800" kern="1200">
          <a:solidFill>
            <a:schemeClr val="bg1"/>
          </a:solidFill>
          <a:latin typeface="서울남산 장체 EB" panose="02020503020101020101" pitchFamily="18" charset="-127"/>
          <a:ea typeface="서울남산 장체 EB" panose="02020503020101020101" pitchFamily="18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서울남산 장체 EB" panose="02020503020101020101" pitchFamily="18" charset="-127"/>
          <a:ea typeface="서울남산 장체 EB" panose="02020503020101020101" pitchFamily="18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서울남산 장체 EB" panose="02020503020101020101" pitchFamily="18" charset="-127"/>
          <a:ea typeface="서울남산 장체 EB" panose="02020503020101020101" pitchFamily="18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서울남산 장체 EB" panose="02020503020101020101" pitchFamily="18" charset="-127"/>
          <a:ea typeface="서울남산 장체 EB" panose="02020503020101020101" pitchFamily="18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서울남산 장체 EB" panose="02020503020101020101" pitchFamily="18" charset="-127"/>
          <a:ea typeface="서울남산 장체 EB" panose="02020503020101020101" pitchFamily="18" charset="-127"/>
        </a:defRPr>
      </a:lvl5pPr>
      <a:lvl6pPr marL="457200" algn="l" rtl="0" eaLnBrk="1" fontAlgn="base" latinLnBrk="1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anose="020B0604030504040204" pitchFamily="34" charset="0"/>
        </a:defRPr>
      </a:lvl6pPr>
      <a:lvl7pPr marL="914400" algn="l" rtl="0" eaLnBrk="1" fontAlgn="base" latinLnBrk="1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anose="020B0604030504040204" pitchFamily="34" charset="0"/>
        </a:defRPr>
      </a:lvl7pPr>
      <a:lvl8pPr marL="1371600" algn="l" rtl="0" eaLnBrk="1" fontAlgn="base" latinLnBrk="1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anose="020B0604030504040204" pitchFamily="34" charset="0"/>
        </a:defRPr>
      </a:lvl8pPr>
      <a:lvl9pPr marL="1828800" algn="l" rtl="0" eaLnBrk="1" fontAlgn="base" latinLnBrk="1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anose="020B0604030504040204" pitchFamily="34" charset="0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defRPr sz="2400" b="1" kern="1200">
          <a:solidFill>
            <a:schemeClr val="tx1"/>
          </a:solidFill>
          <a:latin typeface="서울남산 장체 M" panose="02020503020101020101" pitchFamily="18" charset="-127"/>
          <a:ea typeface="서울남산 장체 M" panose="02020503020101020101" pitchFamily="18" charset="-127"/>
          <a:cs typeface="+mn-cs"/>
        </a:defRPr>
      </a:lvl1pPr>
      <a:lvl2pPr marL="179388" indent="277813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defRPr sz="2400" kern="1200">
          <a:solidFill>
            <a:schemeClr val="tx1"/>
          </a:solidFill>
          <a:latin typeface="서울남산 장체 L" panose="02020503020101020101" pitchFamily="18" charset="-127"/>
          <a:ea typeface="서울남산 장체 L" panose="02020503020101020101" pitchFamily="18" charset="-127"/>
          <a:cs typeface="+mn-cs"/>
        </a:defRPr>
      </a:lvl2pPr>
      <a:lvl3pPr marL="447675" indent="466725" algn="l" rtl="0" eaLnBrk="0" fontAlgn="base" latinLnBrk="1" hangingPunct="0">
        <a:spcBef>
          <a:spcPct val="20000"/>
        </a:spcBef>
        <a:spcAft>
          <a:spcPct val="0"/>
        </a:spcAft>
        <a:buClr>
          <a:schemeClr val="tx1"/>
        </a:buClr>
        <a:defRPr sz="2000" kern="1200">
          <a:solidFill>
            <a:schemeClr val="tx1"/>
          </a:solidFill>
          <a:latin typeface="서울남산 장체 L" panose="02020503020101020101" pitchFamily="18" charset="-127"/>
          <a:ea typeface="서울남산 장체 L" panose="02020503020101020101" pitchFamily="18" charset="-127"/>
          <a:cs typeface="+mn-cs"/>
        </a:defRPr>
      </a:lvl3pPr>
      <a:lvl4pPr marL="627063" indent="744538" algn="l" rtl="0" eaLnBrk="0" fontAlgn="base" latinLnBrk="1" hangingPunct="0">
        <a:spcBef>
          <a:spcPct val="20000"/>
        </a:spcBef>
        <a:spcAft>
          <a:spcPct val="0"/>
        </a:spcAft>
        <a:defRPr kern="1200">
          <a:solidFill>
            <a:schemeClr val="tx1"/>
          </a:solidFill>
          <a:latin typeface="서울남산 장체 L" panose="02020503020101020101" pitchFamily="18" charset="-127"/>
          <a:ea typeface="서울남산 장체 L" panose="02020503020101020101" pitchFamily="18" charset="-127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ern="1200">
          <a:solidFill>
            <a:schemeClr val="tx1"/>
          </a:solidFill>
          <a:latin typeface="서울남산 장체 L" panose="02020503020101020101" pitchFamily="18" charset="-127"/>
          <a:ea typeface="서울남산 장체 L" panose="02020503020101020101" pitchFamily="18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jp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1.png"/><Relationship Id="rId4" Type="http://schemas.openxmlformats.org/officeDocument/2006/relationships/image" Target="../media/image50.gi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9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부제목 3">
            <a:extLst>
              <a:ext uri="{FF2B5EF4-FFF2-40B4-BE49-F238E27FC236}">
                <a16:creationId xmlns:a16="http://schemas.microsoft.com/office/drawing/2014/main" id="{024AFDAE-10E1-4D39-A3BC-F1D6DFEA2D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24150" y="2540000"/>
            <a:ext cx="7740650" cy="1782763"/>
          </a:xfrm>
        </p:spPr>
        <p:txBody>
          <a:bodyPr/>
          <a:lstStyle/>
          <a:p>
            <a:pPr eaLnBrk="1" latinLnBrk="0" hangingPunct="1"/>
            <a:r>
              <a:rPr lang="en-US" altLang="ko-KR" dirty="0"/>
              <a:t>Chapter 7.</a:t>
            </a:r>
          </a:p>
          <a:p>
            <a:pPr eaLnBrk="1" latinLnBrk="0" hangingPunct="1"/>
            <a:r>
              <a:rPr lang="ko-KR" altLang="en-US" dirty="0"/>
              <a:t>혁신적인 브랜드 개발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텍스트 개체 틀 3">
            <a:extLst>
              <a:ext uri="{FF2B5EF4-FFF2-40B4-BE49-F238E27FC236}">
                <a16:creationId xmlns:a16="http://schemas.microsoft.com/office/drawing/2014/main" id="{D19AC77A-C39D-4EF9-A975-CC4EB13111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852738"/>
            <a:ext cx="10515600" cy="1500187"/>
          </a:xfrm>
        </p:spPr>
        <p:txBody>
          <a:bodyPr/>
          <a:lstStyle/>
          <a:p>
            <a:pPr eaLnBrk="1" latinLnBrk="0" hangingPunct="1"/>
            <a:r>
              <a:rPr lang="en-US" altLang="ko-KR" dirty="0"/>
              <a:t>1. </a:t>
            </a:r>
            <a:r>
              <a:rPr lang="ko-KR" altLang="en-US" dirty="0"/>
              <a:t>혁신적인 브랜드 창업의 필요성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73E0F6A-BAF9-4B4B-A640-212447528499}"/>
              </a:ext>
            </a:extLst>
          </p:cNvPr>
          <p:cNvSpPr/>
          <p:nvPr/>
        </p:nvSpPr>
        <p:spPr bwMode="auto">
          <a:xfrm>
            <a:off x="838200" y="4419600"/>
            <a:ext cx="10026650" cy="115888"/>
          </a:xfrm>
          <a:prstGeom prst="rect">
            <a:avLst/>
          </a:prstGeom>
          <a:solidFill>
            <a:schemeClr val="tx2"/>
          </a:solidFill>
          <a:ln w="952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latinLnBrk="0" hangingPunct="1">
              <a:defRPr/>
            </a:pPr>
            <a:endParaRPr lang="ko-KR" altLang="en-US"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굴림" panose="020B0600000101010101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304E37F-209B-4DF1-8F78-144694E42AB3}"/>
              </a:ext>
            </a:extLst>
          </p:cNvPr>
          <p:cNvSpPr/>
          <p:nvPr/>
        </p:nvSpPr>
        <p:spPr bwMode="auto">
          <a:xfrm>
            <a:off x="10874375" y="4419600"/>
            <a:ext cx="1354138" cy="115888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latinLnBrk="0" hangingPunct="1">
              <a:defRPr/>
            </a:pPr>
            <a:endParaRPr lang="ko-KR" altLang="en-US"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굴림" panose="020B0600000101010101" pitchFamily="50" charset="-127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제목 1">
            <a:extLst>
              <a:ext uri="{FF2B5EF4-FFF2-40B4-BE49-F238E27FC236}">
                <a16:creationId xmlns:a16="http://schemas.microsoft.com/office/drawing/2014/main" id="{3BD1FD24-F219-4227-A314-DD80EA9EE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latinLnBrk="0" hangingPunct="1"/>
            <a:r>
              <a:rPr lang="en-US" altLang="ko-KR" dirty="0"/>
              <a:t>1. </a:t>
            </a:r>
            <a:r>
              <a:rPr lang="ko-KR" altLang="en-US" dirty="0"/>
              <a:t>혁신적인 브랜드 창업의 필요성</a:t>
            </a:r>
          </a:p>
        </p:txBody>
      </p:sp>
      <p:sp>
        <p:nvSpPr>
          <p:cNvPr id="6147" name="내용 개체 틀 2">
            <a:extLst>
              <a:ext uri="{FF2B5EF4-FFF2-40B4-BE49-F238E27FC236}">
                <a16:creationId xmlns:a16="http://schemas.microsoft.com/office/drawing/2014/main" id="{0A52CB51-0D10-4161-B630-BC98D034E9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4488" y="1304365"/>
            <a:ext cx="11517312" cy="5020235"/>
          </a:xfrm>
        </p:spPr>
        <p:txBody>
          <a:bodyPr/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800" u="sng" dirty="0"/>
              <a:t>차별화된 메뉴</a:t>
            </a:r>
            <a:r>
              <a:rPr lang="ko-KR" altLang="en-US" sz="1800" dirty="0"/>
              <a:t>와 </a:t>
            </a:r>
            <a:r>
              <a:rPr lang="ko-KR" altLang="en-US" sz="1800" u="sng" dirty="0"/>
              <a:t>서비스 프로세스</a:t>
            </a:r>
            <a:r>
              <a:rPr lang="ko-KR" altLang="en-US" sz="1800" dirty="0"/>
              <a:t>만 있으면 성공을 보장할 수 있을까</a:t>
            </a:r>
            <a:r>
              <a:rPr lang="en-US" altLang="ko-KR" sz="1800" dirty="0"/>
              <a:t>? </a:t>
            </a:r>
          </a:p>
          <a:p>
            <a:pPr marL="465138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800" dirty="0"/>
              <a:t>NO !  </a:t>
            </a:r>
            <a:r>
              <a:rPr lang="ko-KR" altLang="en-US" sz="1800" dirty="0"/>
              <a:t>경쟁점포보다 더 호감을 가지고 있고 더 좋아하며 뭔가 특별하다고 느끼지 않는 한 언제든지 다른 브랜드로 전환할 수 있음 </a:t>
            </a:r>
            <a:endParaRPr lang="en-US" altLang="ko-KR" sz="1800" dirty="0"/>
          </a:p>
          <a:p>
            <a:pPr marL="465138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800" dirty="0">
                <a:solidFill>
                  <a:srgbClr val="002060"/>
                </a:solidFill>
              </a:rPr>
              <a:t>스타벅스보다 더 맛있는 커피를 제공하고 매장이 더 </a:t>
            </a:r>
            <a:r>
              <a:rPr lang="ko-KR" altLang="en-US" sz="1800" dirty="0" err="1">
                <a:solidFill>
                  <a:srgbClr val="002060"/>
                </a:solidFill>
              </a:rPr>
              <a:t>인상적이어도</a:t>
            </a:r>
            <a:r>
              <a:rPr lang="ko-KR" altLang="en-US" sz="1800" dirty="0">
                <a:solidFill>
                  <a:srgbClr val="002060"/>
                </a:solidFill>
              </a:rPr>
              <a:t> 스타벅스를 따라 잡기 어려운 이유는 바로 </a:t>
            </a:r>
            <a:r>
              <a:rPr lang="ko-KR" altLang="en-US" sz="1800" dirty="0">
                <a:solidFill>
                  <a:srgbClr val="C00000"/>
                </a:solidFill>
              </a:rPr>
              <a:t>브랜드 차이</a:t>
            </a:r>
            <a:endParaRPr lang="en-US" altLang="ko-KR" sz="1800" dirty="0">
              <a:solidFill>
                <a:srgbClr val="C00000"/>
              </a:solidFill>
            </a:endParaRPr>
          </a:p>
          <a:p>
            <a:pPr marL="465138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800" dirty="0">
                <a:solidFill>
                  <a:srgbClr val="C00000"/>
                </a:solidFill>
              </a:rPr>
              <a:t>따라서 외식업 성공을 위해서는 브랜딩</a:t>
            </a:r>
            <a:r>
              <a:rPr lang="en-US" altLang="ko-KR" sz="1800" dirty="0">
                <a:solidFill>
                  <a:srgbClr val="C00000"/>
                </a:solidFill>
              </a:rPr>
              <a:t>(branding)</a:t>
            </a:r>
            <a:r>
              <a:rPr lang="ko-KR" altLang="en-US" sz="1800" dirty="0">
                <a:solidFill>
                  <a:srgbClr val="C00000"/>
                </a:solidFill>
              </a:rPr>
              <a:t>이 중요</a:t>
            </a:r>
            <a:r>
              <a:rPr lang="en-US" altLang="ko-KR" sz="1800" dirty="0">
                <a:solidFill>
                  <a:srgbClr val="C00000"/>
                </a:solidFill>
              </a:rPr>
              <a:t>!!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800" dirty="0"/>
              <a:t>일반 외식창업과 </a:t>
            </a:r>
            <a:r>
              <a:rPr lang="ko-KR" altLang="en-US" sz="1800" dirty="0">
                <a:solidFill>
                  <a:srgbClr val="C00000"/>
                </a:solidFill>
              </a:rPr>
              <a:t>외식 브랜드 창업</a:t>
            </a:r>
            <a:r>
              <a:rPr lang="ko-KR" altLang="en-US" sz="1800" dirty="0"/>
              <a:t>의 차이</a:t>
            </a:r>
            <a:endParaRPr lang="en-US" altLang="ko-KR" sz="1800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1863E48-C1A7-4620-964F-74C706E539CB}"/>
              </a:ext>
            </a:extLst>
          </p:cNvPr>
          <p:cNvSpPr/>
          <p:nvPr/>
        </p:nvSpPr>
        <p:spPr>
          <a:xfrm>
            <a:off x="8134390" y="4172744"/>
            <a:ext cx="3672408" cy="2304256"/>
          </a:xfrm>
          <a:prstGeom prst="rect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>
            <a:softEdge rad="635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A8FF59B-37FB-45E8-9A4A-FEB3D5B243C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2916" b="10608"/>
          <a:stretch/>
        </p:blipFill>
        <p:spPr>
          <a:xfrm>
            <a:off x="2058910" y="3630706"/>
            <a:ext cx="5671217" cy="3053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03724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제목 1">
            <a:extLst>
              <a:ext uri="{FF2B5EF4-FFF2-40B4-BE49-F238E27FC236}">
                <a16:creationId xmlns:a16="http://schemas.microsoft.com/office/drawing/2014/main" id="{3BD1FD24-F219-4227-A314-DD80EA9EE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latinLnBrk="0" hangingPunct="1"/>
            <a:r>
              <a:rPr lang="en-US" altLang="ko-KR" dirty="0"/>
              <a:t>1. </a:t>
            </a:r>
            <a:r>
              <a:rPr lang="ko-KR" altLang="en-US" dirty="0"/>
              <a:t>혁신적인 브랜드 창업의 필요성</a:t>
            </a:r>
          </a:p>
        </p:txBody>
      </p:sp>
      <p:sp>
        <p:nvSpPr>
          <p:cNvPr id="6147" name="내용 개체 틀 2">
            <a:extLst>
              <a:ext uri="{FF2B5EF4-FFF2-40B4-BE49-F238E27FC236}">
                <a16:creationId xmlns:a16="http://schemas.microsoft.com/office/drawing/2014/main" id="{0A52CB51-0D10-4161-B630-BC98D034E9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4488" y="1304365"/>
            <a:ext cx="11517312" cy="5020235"/>
          </a:xfrm>
        </p:spPr>
        <p:txBody>
          <a:bodyPr/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800" dirty="0"/>
              <a:t>브랜딩</a:t>
            </a:r>
            <a:r>
              <a:rPr lang="en-US" altLang="ko-KR" sz="1800" dirty="0"/>
              <a:t>(branding)</a:t>
            </a:r>
            <a:r>
              <a:rPr lang="ko-KR" altLang="en-US" sz="1800" dirty="0"/>
              <a:t>이란 부가가치를 더해 </a:t>
            </a:r>
            <a:r>
              <a:rPr lang="ko-KR" altLang="en-US" sz="1800" dirty="0">
                <a:solidFill>
                  <a:srgbClr val="C00000"/>
                </a:solidFill>
              </a:rPr>
              <a:t>평범</a:t>
            </a:r>
            <a:r>
              <a:rPr lang="en-US" altLang="ko-KR" sz="1800" dirty="0">
                <a:solidFill>
                  <a:srgbClr val="C00000"/>
                </a:solidFill>
              </a:rPr>
              <a:t>(</a:t>
            </a:r>
            <a:r>
              <a:rPr lang="ko-KR" altLang="en-US" sz="1800" dirty="0">
                <a:solidFill>
                  <a:srgbClr val="C00000"/>
                </a:solidFill>
              </a:rPr>
              <a:t>平凡</a:t>
            </a:r>
            <a:r>
              <a:rPr lang="en-US" altLang="ko-KR" sz="1800" dirty="0">
                <a:solidFill>
                  <a:srgbClr val="C00000"/>
                </a:solidFill>
              </a:rPr>
              <a:t>)</a:t>
            </a:r>
            <a:r>
              <a:rPr lang="ko-KR" altLang="en-US" sz="1800" dirty="0">
                <a:solidFill>
                  <a:srgbClr val="C00000"/>
                </a:solidFill>
              </a:rPr>
              <a:t>한 것을 비범</a:t>
            </a:r>
            <a:r>
              <a:rPr lang="en-US" altLang="ko-KR" sz="1800" dirty="0">
                <a:solidFill>
                  <a:srgbClr val="C00000"/>
                </a:solidFill>
              </a:rPr>
              <a:t>(</a:t>
            </a:r>
            <a:r>
              <a:rPr lang="ko-KR" altLang="en-US" sz="1800" dirty="0">
                <a:solidFill>
                  <a:srgbClr val="C00000"/>
                </a:solidFill>
              </a:rPr>
              <a:t>非凡</a:t>
            </a:r>
            <a:r>
              <a:rPr lang="en-US" altLang="ko-KR" sz="1800" dirty="0">
                <a:solidFill>
                  <a:srgbClr val="C00000"/>
                </a:solidFill>
              </a:rPr>
              <a:t>)</a:t>
            </a:r>
            <a:r>
              <a:rPr lang="ko-KR" altLang="en-US" sz="1800" dirty="0">
                <a:solidFill>
                  <a:srgbClr val="C00000"/>
                </a:solidFill>
              </a:rPr>
              <a:t>한 것으로 만드는 과정</a:t>
            </a:r>
            <a:endParaRPr lang="en-US" altLang="ko-KR" sz="1800" dirty="0">
              <a:solidFill>
                <a:srgbClr val="C00000"/>
              </a:solidFill>
            </a:endParaRPr>
          </a:p>
          <a:p>
            <a:pPr marL="465138" lvl="1" indent="-285750">
              <a:lnSpc>
                <a:spcPct val="150000"/>
              </a:lnSpc>
              <a:buClr>
                <a:srgbClr val="DE8848"/>
              </a:buClr>
              <a:buFont typeface="Arial" panose="020B0604020202020204" pitchFamily="34" charset="0"/>
              <a:buChar char="•"/>
            </a:pPr>
            <a:r>
              <a:rPr lang="ko-KR" altLang="en-US" sz="1800" dirty="0">
                <a:solidFill>
                  <a:srgbClr val="003366"/>
                </a:solidFill>
              </a:rPr>
              <a:t>마케팅 커뮤니케이션 활동은 제품 차원이 아닌 브랜드 차원에서 이루어짐</a:t>
            </a:r>
            <a:endParaRPr lang="en-US" altLang="ko-KR" sz="1800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800" dirty="0"/>
              <a:t>궁극적으로 무형적 자산인 브랜드 가치를 높여 브랜드를 사랑하는 충성고객을 많이 확보하고</a:t>
            </a:r>
            <a:r>
              <a:rPr lang="en-US" altLang="ko-KR" sz="1800" dirty="0"/>
              <a:t>, </a:t>
            </a:r>
            <a:r>
              <a:rPr lang="ko-KR" altLang="en-US" sz="1800" dirty="0"/>
              <a:t>철저한 품질관리를 통해 브랜드 관리 </a:t>
            </a:r>
            <a:endParaRPr lang="en-US" altLang="ko-KR" sz="18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4E5BB3D-391C-469F-9719-057A17E6B93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541" t="16937" r="3677" b="54955"/>
          <a:stretch/>
        </p:blipFill>
        <p:spPr>
          <a:xfrm>
            <a:off x="2208917" y="2941856"/>
            <a:ext cx="3455351" cy="234363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735FAE92-FBC2-4A1E-A1F5-7F2AAFDBC19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1149" r="26419"/>
          <a:stretch/>
        </p:blipFill>
        <p:spPr>
          <a:xfrm>
            <a:off x="6096000" y="3201809"/>
            <a:ext cx="3643504" cy="182372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4F93138-0BC9-4DE5-9552-F9C3634EEDF1}"/>
              </a:ext>
            </a:extLst>
          </p:cNvPr>
          <p:cNvSpPr txBox="1"/>
          <p:nvPr/>
        </p:nvSpPr>
        <p:spPr>
          <a:xfrm>
            <a:off x="4091575" y="5553635"/>
            <a:ext cx="4402166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400" dirty="0">
                <a:solidFill>
                  <a:srgbClr val="C00000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뻔하면 </a:t>
            </a:r>
            <a:r>
              <a:rPr lang="ko-KR" altLang="en-US" sz="2400" dirty="0" err="1">
                <a:solidFill>
                  <a:srgbClr val="C00000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까이고</a:t>
            </a:r>
            <a:r>
              <a:rPr lang="en-US" altLang="ko-KR" sz="2400" dirty="0">
                <a:solidFill>
                  <a:srgbClr val="C00000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, </a:t>
            </a:r>
            <a:r>
              <a:rPr lang="ko-KR" altLang="en-US" sz="2400" dirty="0">
                <a:solidFill>
                  <a:srgbClr val="C00000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묻히면 죽는 시대</a:t>
            </a:r>
            <a:endParaRPr lang="en-US" altLang="ko-KR" sz="2400" dirty="0">
              <a:solidFill>
                <a:srgbClr val="C00000"/>
              </a:solidFill>
              <a:latin typeface="서울남산 장체 M" panose="02020503020101020101" pitchFamily="18" charset="-127"/>
              <a:ea typeface="서울남산 장체 M" panose="02020503020101020101" pitchFamily="18" charset="-127"/>
            </a:endParaRPr>
          </a:p>
          <a:p>
            <a:pPr algn="ctr"/>
            <a:r>
              <a:rPr lang="ko-KR" altLang="en-US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핑크펭귄 또는 </a:t>
            </a:r>
            <a:r>
              <a:rPr lang="ko-KR" altLang="en-US" dirty="0" err="1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보라빛소</a:t>
            </a:r>
            <a:r>
              <a:rPr lang="en-US" altLang="ko-KR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(purple cow)</a:t>
            </a:r>
            <a:r>
              <a:rPr lang="ko-KR" altLang="en-US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가 되어야 함</a:t>
            </a:r>
          </a:p>
        </p:txBody>
      </p:sp>
    </p:spTree>
    <p:extLst>
      <p:ext uri="{BB962C8B-B14F-4D97-AF65-F5344CB8AC3E}">
        <p14:creationId xmlns:p14="http://schemas.microsoft.com/office/powerpoint/2010/main" val="18807159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텍스트 개체 틀 3">
            <a:extLst>
              <a:ext uri="{FF2B5EF4-FFF2-40B4-BE49-F238E27FC236}">
                <a16:creationId xmlns:a16="http://schemas.microsoft.com/office/drawing/2014/main" id="{55E0D41E-B433-48C0-8EF4-B71E6063E6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852738"/>
            <a:ext cx="10515600" cy="1500187"/>
          </a:xfrm>
        </p:spPr>
        <p:txBody>
          <a:bodyPr/>
          <a:lstStyle/>
          <a:p>
            <a:pPr eaLnBrk="1" latinLnBrk="0" hangingPunct="1"/>
            <a:r>
              <a:rPr lang="en-US" altLang="ko-KR" dirty="0"/>
              <a:t>2. </a:t>
            </a:r>
            <a:r>
              <a:rPr lang="ko-KR" altLang="en-US" dirty="0"/>
              <a:t>브랜드의 개념과 특징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183A278-AE7F-4EE7-A955-038237BDDAEF}"/>
              </a:ext>
            </a:extLst>
          </p:cNvPr>
          <p:cNvSpPr/>
          <p:nvPr/>
        </p:nvSpPr>
        <p:spPr bwMode="auto">
          <a:xfrm>
            <a:off x="838200" y="4419600"/>
            <a:ext cx="10026650" cy="115888"/>
          </a:xfrm>
          <a:prstGeom prst="rect">
            <a:avLst/>
          </a:prstGeom>
          <a:solidFill>
            <a:schemeClr val="tx2"/>
          </a:solidFill>
          <a:ln w="952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latinLnBrk="0" hangingPunct="1">
              <a:defRPr/>
            </a:pPr>
            <a:endParaRPr lang="ko-KR" altLang="en-US"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굴림" panose="020B0600000101010101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67BB001-53F6-42C3-B73D-465A883C494D}"/>
              </a:ext>
            </a:extLst>
          </p:cNvPr>
          <p:cNvSpPr/>
          <p:nvPr/>
        </p:nvSpPr>
        <p:spPr bwMode="auto">
          <a:xfrm>
            <a:off x="10874375" y="4419600"/>
            <a:ext cx="1354138" cy="115888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latinLnBrk="0" hangingPunct="1">
              <a:defRPr/>
            </a:pPr>
            <a:endParaRPr lang="ko-KR" altLang="en-US"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굴림" panose="020B0600000101010101" pitchFamily="50" charset="-127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제목 1">
            <a:extLst>
              <a:ext uri="{FF2B5EF4-FFF2-40B4-BE49-F238E27FC236}">
                <a16:creationId xmlns:a16="http://schemas.microsoft.com/office/drawing/2014/main" id="{3BD1FD24-F219-4227-A314-DD80EA9EE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latinLnBrk="0" hangingPunct="1"/>
            <a:r>
              <a:rPr lang="en-US" altLang="ko-KR" dirty="0"/>
              <a:t>2.  </a:t>
            </a:r>
            <a:r>
              <a:rPr lang="ko-KR" altLang="en-US" dirty="0"/>
              <a:t>브랜드의 개념과 특징</a:t>
            </a:r>
          </a:p>
        </p:txBody>
      </p:sp>
      <p:sp>
        <p:nvSpPr>
          <p:cNvPr id="6147" name="내용 개체 틀 2">
            <a:extLst>
              <a:ext uri="{FF2B5EF4-FFF2-40B4-BE49-F238E27FC236}">
                <a16:creationId xmlns:a16="http://schemas.microsoft.com/office/drawing/2014/main" id="{0A52CB51-0D10-4161-B630-BC98D034E9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4487" y="1344706"/>
            <a:ext cx="11704077" cy="4979894"/>
          </a:xfrm>
        </p:spPr>
        <p:txBody>
          <a:bodyPr/>
          <a:lstStyle/>
          <a:p>
            <a:pPr eaLnBrk="1" latinLnBrk="0" hangingPunct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/>
              <a:t>브랜드의 정의</a:t>
            </a:r>
            <a:endParaRPr lang="en-US" altLang="ko-KR" sz="2000" dirty="0"/>
          </a:p>
          <a:p>
            <a:pPr lvl="1" eaLnBrk="1" latinLnBrk="0" hangingPunct="1">
              <a:lnSpc>
                <a:spcPct val="150000"/>
              </a:lnSpc>
              <a:buClr>
                <a:srgbClr val="DE8848"/>
              </a:buClr>
              <a:buFont typeface="Wingdings" panose="05000000000000000000" pitchFamily="2" charset="2"/>
              <a:buChar char="§"/>
            </a:pPr>
            <a:r>
              <a:rPr lang="en-US" altLang="ko-KR" sz="1800" dirty="0">
                <a:solidFill>
                  <a:srgbClr val="003366"/>
                </a:solidFill>
              </a:rPr>
              <a:t>(</a:t>
            </a:r>
            <a:r>
              <a:rPr lang="ko-KR" altLang="en-US" sz="1800" dirty="0">
                <a:solidFill>
                  <a:srgbClr val="003366"/>
                </a:solidFill>
              </a:rPr>
              <a:t>초기 정의</a:t>
            </a:r>
            <a:r>
              <a:rPr lang="en-US" altLang="ko-KR" sz="1800" dirty="0">
                <a:solidFill>
                  <a:srgbClr val="003366"/>
                </a:solidFill>
              </a:rPr>
              <a:t>) </a:t>
            </a:r>
            <a:r>
              <a:rPr lang="ko-KR" altLang="en-US" sz="1800" dirty="0">
                <a:solidFill>
                  <a:srgbClr val="003366"/>
                </a:solidFill>
              </a:rPr>
              <a:t>판매자가 제품과 서비스를 특징짓고</a:t>
            </a:r>
            <a:r>
              <a:rPr lang="en-US" altLang="ko-KR" sz="1800" dirty="0">
                <a:solidFill>
                  <a:srgbClr val="003366"/>
                </a:solidFill>
              </a:rPr>
              <a:t>, </a:t>
            </a:r>
            <a:r>
              <a:rPr lang="ko-KR" altLang="en-US" sz="1800" dirty="0">
                <a:solidFill>
                  <a:srgbClr val="003366"/>
                </a:solidFill>
              </a:rPr>
              <a:t>이것들을 경쟁자의 제품과 서비스로부터 </a:t>
            </a:r>
            <a:r>
              <a:rPr lang="ko-KR" altLang="en-US" sz="1800" dirty="0" err="1">
                <a:solidFill>
                  <a:srgbClr val="003366"/>
                </a:solidFill>
              </a:rPr>
              <a:t>차별화시킬</a:t>
            </a:r>
            <a:r>
              <a:rPr lang="ko-KR" altLang="en-US" sz="1800" dirty="0">
                <a:solidFill>
                  <a:srgbClr val="003366"/>
                </a:solidFill>
              </a:rPr>
              <a:t> 목적으로 만들어진 </a:t>
            </a:r>
            <a:r>
              <a:rPr lang="en-US" altLang="ko-KR" sz="1800" dirty="0">
                <a:solidFill>
                  <a:srgbClr val="003366"/>
                </a:solidFill>
              </a:rPr>
              <a:t>‘</a:t>
            </a:r>
            <a:r>
              <a:rPr lang="ko-KR" altLang="en-US" sz="1800" dirty="0">
                <a:solidFill>
                  <a:srgbClr val="C00000"/>
                </a:solidFill>
              </a:rPr>
              <a:t>이름</a:t>
            </a:r>
            <a:r>
              <a:rPr lang="en-US" altLang="ko-KR" sz="1800" dirty="0">
                <a:solidFill>
                  <a:srgbClr val="C00000"/>
                </a:solidFill>
              </a:rPr>
              <a:t>, </a:t>
            </a:r>
            <a:r>
              <a:rPr lang="ko-KR" altLang="en-US" sz="1800" dirty="0">
                <a:solidFill>
                  <a:srgbClr val="C00000"/>
                </a:solidFill>
              </a:rPr>
              <a:t>어구</a:t>
            </a:r>
            <a:r>
              <a:rPr lang="en-US" altLang="ko-KR" sz="1800" dirty="0">
                <a:solidFill>
                  <a:srgbClr val="C00000"/>
                </a:solidFill>
              </a:rPr>
              <a:t>, </a:t>
            </a:r>
            <a:r>
              <a:rPr lang="ko-KR" altLang="en-US" sz="1800" dirty="0">
                <a:solidFill>
                  <a:srgbClr val="C00000"/>
                </a:solidFill>
              </a:rPr>
              <a:t>표시</a:t>
            </a:r>
            <a:r>
              <a:rPr lang="en-US" altLang="ko-KR" sz="1800" dirty="0">
                <a:solidFill>
                  <a:srgbClr val="C00000"/>
                </a:solidFill>
              </a:rPr>
              <a:t>, </a:t>
            </a:r>
            <a:r>
              <a:rPr lang="ko-KR" altLang="en-US" sz="1800" dirty="0">
                <a:solidFill>
                  <a:srgbClr val="C00000"/>
                </a:solidFill>
              </a:rPr>
              <a:t>심벌이나 디자인 또는 이들 조합</a:t>
            </a:r>
            <a:r>
              <a:rPr lang="en-US" altLang="ko-KR" sz="1800" dirty="0">
                <a:solidFill>
                  <a:srgbClr val="C00000"/>
                </a:solidFill>
              </a:rPr>
              <a:t>’</a:t>
            </a:r>
            <a:r>
              <a:rPr lang="ko-KR" altLang="en-US" sz="1800" dirty="0">
                <a:solidFill>
                  <a:srgbClr val="C00000"/>
                </a:solidFill>
              </a:rPr>
              <a:t> </a:t>
            </a:r>
            <a:r>
              <a:rPr lang="en-US" altLang="ko-KR" sz="1800" dirty="0">
                <a:solidFill>
                  <a:srgbClr val="002060"/>
                </a:solidFill>
                <a:sym typeface="Wingdings" panose="05000000000000000000" pitchFamily="2" charset="2"/>
              </a:rPr>
              <a:t> </a:t>
            </a:r>
            <a:r>
              <a:rPr lang="ko-KR" altLang="en-US" sz="1800" dirty="0">
                <a:solidFill>
                  <a:srgbClr val="002060"/>
                </a:solidFill>
                <a:sym typeface="Wingdings" panose="05000000000000000000" pitchFamily="2" charset="2"/>
              </a:rPr>
              <a:t>그럼</a:t>
            </a:r>
            <a:r>
              <a:rPr lang="en-US" altLang="ko-KR" sz="1800" dirty="0">
                <a:solidFill>
                  <a:srgbClr val="002060"/>
                </a:solidFill>
                <a:sym typeface="Wingdings" panose="05000000000000000000" pitchFamily="2" charset="2"/>
              </a:rPr>
              <a:t>, </a:t>
            </a:r>
            <a:r>
              <a:rPr lang="ko-KR" altLang="en-US" sz="1800" dirty="0">
                <a:solidFill>
                  <a:srgbClr val="002060"/>
                </a:solidFill>
                <a:sym typeface="Wingdings" panose="05000000000000000000" pitchFamily="2" charset="2"/>
              </a:rPr>
              <a:t>상표로 등록되어 있는 외식 기업의 이름은 모두 브랜드일까</a:t>
            </a:r>
            <a:r>
              <a:rPr lang="en-US" altLang="ko-KR" sz="1800" dirty="0">
                <a:solidFill>
                  <a:srgbClr val="002060"/>
                </a:solidFill>
                <a:sym typeface="Wingdings" panose="05000000000000000000" pitchFamily="2" charset="2"/>
              </a:rPr>
              <a:t>? </a:t>
            </a:r>
            <a:r>
              <a:rPr lang="ko-KR" altLang="en-US" sz="1800" dirty="0">
                <a:solidFill>
                  <a:srgbClr val="C00000"/>
                </a:solidFill>
                <a:sym typeface="Wingdings" panose="05000000000000000000" pitchFamily="2" charset="2"/>
              </a:rPr>
              <a:t>그렇지 않다</a:t>
            </a:r>
            <a:r>
              <a:rPr lang="en-US" altLang="ko-KR" sz="1800" dirty="0">
                <a:solidFill>
                  <a:srgbClr val="C00000"/>
                </a:solidFill>
                <a:sym typeface="Wingdings" panose="05000000000000000000" pitchFamily="2" charset="2"/>
              </a:rPr>
              <a:t>!</a:t>
            </a:r>
            <a:r>
              <a:rPr lang="en-US" altLang="ko-KR" sz="1800" dirty="0">
                <a:solidFill>
                  <a:srgbClr val="C00000"/>
                </a:solidFill>
              </a:rPr>
              <a:t>    </a:t>
            </a:r>
            <a:endParaRPr lang="en-US" altLang="ko-KR" sz="1800" dirty="0">
              <a:solidFill>
                <a:srgbClr val="003366"/>
              </a:solidFill>
            </a:endParaRPr>
          </a:p>
          <a:p>
            <a:pPr eaLnBrk="1" latinLnBrk="0" hangingPunct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/>
              <a:t>진짜 브랜드와 가짜 브랜드를 확인하는 </a:t>
            </a:r>
            <a:r>
              <a:rPr lang="en-US" altLang="ko-KR" sz="2000" dirty="0"/>
              <a:t>3</a:t>
            </a:r>
            <a:r>
              <a:rPr lang="ko-KR" altLang="en-US" sz="2000" dirty="0"/>
              <a:t>가지 </a:t>
            </a:r>
            <a:r>
              <a:rPr lang="en-US" altLang="ko-KR" sz="2000" dirty="0"/>
              <a:t>(</a:t>
            </a:r>
            <a:r>
              <a:rPr lang="ko-KR" altLang="en-US" sz="2000" dirty="0" err="1"/>
              <a:t>권민</a:t>
            </a:r>
            <a:r>
              <a:rPr lang="en-US" altLang="ko-KR" sz="2000" dirty="0"/>
              <a:t>, 2011)</a:t>
            </a:r>
          </a:p>
          <a:p>
            <a:pPr lvl="1" eaLnBrk="1" latinLnBrk="0" hangingPunct="1">
              <a:lnSpc>
                <a:spcPct val="150000"/>
              </a:lnSpc>
              <a:buClr>
                <a:srgbClr val="DE8848"/>
              </a:buClr>
              <a:buFont typeface="Wingdings" panose="05000000000000000000" pitchFamily="2" charset="2"/>
              <a:buChar char="§"/>
            </a:pPr>
            <a:r>
              <a:rPr lang="ko-KR" altLang="en-US" sz="1800" dirty="0">
                <a:solidFill>
                  <a:srgbClr val="003366"/>
                </a:solidFill>
              </a:rPr>
              <a:t>브랜드란 보이지 않는 것을 보이게 하고</a:t>
            </a:r>
            <a:r>
              <a:rPr lang="en-US" altLang="ko-KR" sz="1800" dirty="0">
                <a:solidFill>
                  <a:srgbClr val="003366"/>
                </a:solidFill>
              </a:rPr>
              <a:t>, </a:t>
            </a:r>
            <a:r>
              <a:rPr lang="ko-KR" altLang="en-US" sz="1800" dirty="0">
                <a:solidFill>
                  <a:srgbClr val="003366"/>
                </a:solidFill>
              </a:rPr>
              <a:t>보이는 것을 보이지 않게 한다 </a:t>
            </a:r>
            <a:r>
              <a:rPr lang="en-US" altLang="ko-KR" sz="1800" dirty="0">
                <a:solidFill>
                  <a:srgbClr val="003366"/>
                </a:solidFill>
                <a:sym typeface="Wingdings" panose="05000000000000000000" pitchFamily="2" charset="2"/>
              </a:rPr>
              <a:t></a:t>
            </a:r>
            <a:r>
              <a:rPr lang="en-US" altLang="ko-KR" sz="1800" dirty="0">
                <a:solidFill>
                  <a:srgbClr val="003366"/>
                </a:solidFill>
              </a:rPr>
              <a:t> </a:t>
            </a:r>
            <a:r>
              <a:rPr lang="ko-KR" altLang="en-US" sz="1800" dirty="0">
                <a:solidFill>
                  <a:srgbClr val="003366"/>
                </a:solidFill>
              </a:rPr>
              <a:t>디자인을 통해 보이지 않는 브랜드 철학과 콘셉트 나타냄</a:t>
            </a:r>
            <a:endParaRPr lang="en-US" altLang="ko-KR" sz="1800" dirty="0">
              <a:solidFill>
                <a:srgbClr val="003366"/>
              </a:solidFill>
            </a:endParaRPr>
          </a:p>
          <a:p>
            <a:pPr lvl="1" eaLnBrk="1" latinLnBrk="0" hangingPunct="1">
              <a:lnSpc>
                <a:spcPct val="150000"/>
              </a:lnSpc>
              <a:buClr>
                <a:srgbClr val="DE8848"/>
              </a:buClr>
              <a:buFont typeface="Wingdings" panose="05000000000000000000" pitchFamily="2" charset="2"/>
              <a:buChar char="§"/>
            </a:pPr>
            <a:r>
              <a:rPr lang="ko-KR" altLang="en-US" sz="1800" dirty="0">
                <a:solidFill>
                  <a:srgbClr val="003366"/>
                </a:solidFill>
              </a:rPr>
              <a:t>브랜드란 가질 수 없는 것을 가지게 하고</a:t>
            </a:r>
            <a:r>
              <a:rPr lang="en-US" altLang="ko-KR" sz="1800" dirty="0">
                <a:solidFill>
                  <a:srgbClr val="003366"/>
                </a:solidFill>
              </a:rPr>
              <a:t>, </a:t>
            </a:r>
            <a:r>
              <a:rPr lang="ko-KR" altLang="en-US" sz="1800" dirty="0">
                <a:solidFill>
                  <a:srgbClr val="003366"/>
                </a:solidFill>
              </a:rPr>
              <a:t>갖고 있는 것을 가질 수 없도록 하는 것 </a:t>
            </a:r>
            <a:r>
              <a:rPr lang="en-US" altLang="ko-KR" sz="1800" dirty="0">
                <a:solidFill>
                  <a:srgbClr val="003366"/>
                </a:solidFill>
                <a:sym typeface="Wingdings" panose="05000000000000000000" pitchFamily="2" charset="2"/>
              </a:rPr>
              <a:t></a:t>
            </a:r>
            <a:r>
              <a:rPr lang="en-US" altLang="ko-KR" sz="1800" dirty="0">
                <a:solidFill>
                  <a:srgbClr val="003366"/>
                </a:solidFill>
              </a:rPr>
              <a:t> </a:t>
            </a:r>
            <a:r>
              <a:rPr lang="ko-KR" altLang="en-US" sz="1800" dirty="0">
                <a:solidFill>
                  <a:srgbClr val="003366"/>
                </a:solidFill>
              </a:rPr>
              <a:t>가치를 의미</a:t>
            </a:r>
            <a:endParaRPr lang="en-US" altLang="ko-KR" sz="1800" dirty="0">
              <a:solidFill>
                <a:srgbClr val="003366"/>
              </a:solidFill>
            </a:endParaRPr>
          </a:p>
          <a:p>
            <a:pPr lvl="1" eaLnBrk="1" latinLnBrk="0" hangingPunct="1">
              <a:lnSpc>
                <a:spcPct val="150000"/>
              </a:lnSpc>
              <a:buClr>
                <a:srgbClr val="DE8848"/>
              </a:buClr>
              <a:buFont typeface="Wingdings" panose="05000000000000000000" pitchFamily="2" charset="2"/>
              <a:buChar char="§"/>
            </a:pPr>
            <a:r>
              <a:rPr lang="ko-KR" altLang="en-US" sz="1800" dirty="0">
                <a:solidFill>
                  <a:srgbClr val="003366"/>
                </a:solidFill>
              </a:rPr>
              <a:t>브랜드란 새로운 것을 익숙하게 하고 익숙한 것을 새롭게 하는 것 </a:t>
            </a:r>
            <a:r>
              <a:rPr lang="en-US" altLang="ko-KR" sz="1800" dirty="0">
                <a:solidFill>
                  <a:srgbClr val="003366"/>
                </a:solidFill>
                <a:sym typeface="Wingdings" panose="05000000000000000000" pitchFamily="2" charset="2"/>
              </a:rPr>
              <a:t></a:t>
            </a:r>
            <a:r>
              <a:rPr lang="en-US" altLang="ko-KR" sz="1800" dirty="0">
                <a:solidFill>
                  <a:srgbClr val="003366"/>
                </a:solidFill>
              </a:rPr>
              <a:t> </a:t>
            </a:r>
            <a:r>
              <a:rPr lang="ko-KR" altLang="en-US" sz="1800" dirty="0">
                <a:solidFill>
                  <a:srgbClr val="003366"/>
                </a:solidFill>
              </a:rPr>
              <a:t>새로운 </a:t>
            </a:r>
            <a:r>
              <a:rPr lang="en-US" altLang="ko-KR" sz="1800" dirty="0">
                <a:solidFill>
                  <a:srgbClr val="003366"/>
                </a:solidFill>
              </a:rPr>
              <a:t>‘</a:t>
            </a:r>
            <a:r>
              <a:rPr lang="ko-KR" altLang="en-US" sz="1800" dirty="0">
                <a:solidFill>
                  <a:srgbClr val="003366"/>
                </a:solidFill>
              </a:rPr>
              <a:t>체험</a:t>
            </a:r>
            <a:r>
              <a:rPr lang="en-US" altLang="ko-KR" sz="1800" dirty="0">
                <a:solidFill>
                  <a:srgbClr val="003366"/>
                </a:solidFill>
              </a:rPr>
              <a:t>’</a:t>
            </a:r>
            <a:r>
              <a:rPr lang="ko-KR" altLang="en-US" sz="1800" dirty="0">
                <a:solidFill>
                  <a:srgbClr val="003366"/>
                </a:solidFill>
              </a:rPr>
              <a:t>을 만드는 것</a:t>
            </a:r>
            <a:endParaRPr lang="en-US" altLang="ko-KR" sz="1800" dirty="0">
              <a:solidFill>
                <a:srgbClr val="003366"/>
              </a:solidFill>
            </a:endParaRPr>
          </a:p>
          <a:p>
            <a:pPr lvl="1" eaLnBrk="1" latinLnBrk="0" hangingPunct="1">
              <a:lnSpc>
                <a:spcPct val="150000"/>
              </a:lnSpc>
              <a:buClr>
                <a:srgbClr val="DE8848"/>
              </a:buClr>
              <a:buFont typeface="Wingdings" panose="05000000000000000000" pitchFamily="2" charset="2"/>
              <a:buChar char="§"/>
            </a:pPr>
            <a:r>
              <a:rPr lang="ko-KR" altLang="en-US" sz="1800" dirty="0">
                <a:solidFill>
                  <a:srgbClr val="003366"/>
                </a:solidFill>
              </a:rPr>
              <a:t>이 세가지 모두가 우리에게 의미로 전달 될 때 그것을 브랜드라 함 </a:t>
            </a:r>
            <a:endParaRPr lang="en-US" altLang="ko-KR" sz="1800" dirty="0">
              <a:solidFill>
                <a:srgbClr val="0033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46353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제목 1">
            <a:extLst>
              <a:ext uri="{FF2B5EF4-FFF2-40B4-BE49-F238E27FC236}">
                <a16:creationId xmlns:a16="http://schemas.microsoft.com/office/drawing/2014/main" id="{3BD1FD24-F219-4227-A314-DD80EA9EE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latinLnBrk="0" hangingPunct="1"/>
            <a:r>
              <a:rPr lang="en-US" altLang="ko-KR" dirty="0"/>
              <a:t>2.  </a:t>
            </a:r>
            <a:r>
              <a:rPr lang="ko-KR" altLang="en-US" dirty="0"/>
              <a:t>브랜드의 개념과 특징</a:t>
            </a:r>
          </a:p>
        </p:txBody>
      </p:sp>
      <p:sp>
        <p:nvSpPr>
          <p:cNvPr id="6147" name="내용 개체 틀 2">
            <a:extLst>
              <a:ext uri="{FF2B5EF4-FFF2-40B4-BE49-F238E27FC236}">
                <a16:creationId xmlns:a16="http://schemas.microsoft.com/office/drawing/2014/main" id="{0A52CB51-0D10-4161-B630-BC98D034E9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4487" y="1344706"/>
            <a:ext cx="11704077" cy="4979894"/>
          </a:xfrm>
        </p:spPr>
        <p:txBody>
          <a:bodyPr/>
          <a:lstStyle/>
          <a:p>
            <a:pPr eaLnBrk="1" latinLnBrk="0" hangingPunct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/>
              <a:t>진짜 브랜드가 되기 위한 법칙</a:t>
            </a:r>
            <a:endParaRPr lang="en-US" altLang="ko-KR" sz="2000" dirty="0"/>
          </a:p>
          <a:p>
            <a:pPr lvl="1" eaLnBrk="1" latinLnBrk="0" hangingPunct="1">
              <a:lnSpc>
                <a:spcPct val="150000"/>
              </a:lnSpc>
              <a:buClr>
                <a:srgbClr val="DE8848"/>
              </a:buClr>
              <a:buFont typeface="Wingdings" panose="05000000000000000000" pitchFamily="2" charset="2"/>
              <a:buChar char="§"/>
            </a:pPr>
            <a:r>
              <a:rPr lang="en-US" altLang="ko-KR" sz="1800" dirty="0">
                <a:solidFill>
                  <a:srgbClr val="003366"/>
                </a:solidFill>
              </a:rPr>
              <a:t>(</a:t>
            </a:r>
            <a:r>
              <a:rPr lang="ko-KR" altLang="en-US" sz="1800" dirty="0">
                <a:solidFill>
                  <a:srgbClr val="003366"/>
                </a:solidFill>
              </a:rPr>
              <a:t>브랜드 제</a:t>
            </a:r>
            <a:r>
              <a:rPr lang="en-US" altLang="ko-KR" sz="1800" dirty="0">
                <a:solidFill>
                  <a:srgbClr val="003366"/>
                </a:solidFill>
              </a:rPr>
              <a:t>1</a:t>
            </a:r>
            <a:r>
              <a:rPr lang="ko-KR" altLang="en-US" sz="1800" dirty="0">
                <a:solidFill>
                  <a:srgbClr val="003366"/>
                </a:solidFill>
              </a:rPr>
              <a:t>법칙</a:t>
            </a:r>
            <a:r>
              <a:rPr lang="en-US" altLang="ko-KR" sz="1800" dirty="0">
                <a:solidFill>
                  <a:srgbClr val="003366"/>
                </a:solidFill>
              </a:rPr>
              <a:t>) </a:t>
            </a:r>
            <a:r>
              <a:rPr lang="ko-KR" altLang="en-US" sz="1800" dirty="0">
                <a:solidFill>
                  <a:srgbClr val="003366"/>
                </a:solidFill>
              </a:rPr>
              <a:t>다르지 않으면 아무것도 아니다 </a:t>
            </a:r>
            <a:r>
              <a:rPr lang="en-US" altLang="ko-KR" sz="1800" dirty="0">
                <a:solidFill>
                  <a:srgbClr val="003366"/>
                </a:solidFill>
              </a:rPr>
              <a:t>= </a:t>
            </a:r>
            <a:r>
              <a:rPr lang="ko-KR" altLang="en-US" sz="1800" dirty="0">
                <a:solidFill>
                  <a:srgbClr val="003366"/>
                </a:solidFill>
              </a:rPr>
              <a:t>브랜드 차별화가 되어야 함 </a:t>
            </a:r>
            <a:endParaRPr lang="en-US" altLang="ko-KR" sz="1800" dirty="0">
              <a:solidFill>
                <a:srgbClr val="003366"/>
              </a:solidFill>
            </a:endParaRPr>
          </a:p>
          <a:p>
            <a:pPr lvl="1" eaLnBrk="1" latinLnBrk="0" hangingPunct="1">
              <a:lnSpc>
                <a:spcPct val="150000"/>
              </a:lnSpc>
              <a:buClr>
                <a:srgbClr val="DE8848"/>
              </a:buClr>
              <a:buFont typeface="Wingdings" panose="05000000000000000000" pitchFamily="2" charset="2"/>
              <a:buChar char="§"/>
            </a:pPr>
            <a:r>
              <a:rPr lang="en-US" altLang="ko-KR" sz="1800" dirty="0">
                <a:solidFill>
                  <a:srgbClr val="003366"/>
                </a:solidFill>
              </a:rPr>
              <a:t>(</a:t>
            </a:r>
            <a:r>
              <a:rPr lang="ko-KR" altLang="en-US" sz="1800" dirty="0">
                <a:solidFill>
                  <a:srgbClr val="003366"/>
                </a:solidFill>
              </a:rPr>
              <a:t>브랜드 제</a:t>
            </a:r>
            <a:r>
              <a:rPr lang="en-US" altLang="ko-KR" sz="1800" dirty="0">
                <a:solidFill>
                  <a:srgbClr val="003366"/>
                </a:solidFill>
              </a:rPr>
              <a:t>2</a:t>
            </a:r>
            <a:r>
              <a:rPr lang="ko-KR" altLang="en-US" sz="1800" dirty="0">
                <a:solidFill>
                  <a:srgbClr val="003366"/>
                </a:solidFill>
              </a:rPr>
              <a:t>법칙</a:t>
            </a:r>
            <a:r>
              <a:rPr lang="en-US" altLang="ko-KR" sz="1800" dirty="0">
                <a:solidFill>
                  <a:srgbClr val="003366"/>
                </a:solidFill>
              </a:rPr>
              <a:t>) </a:t>
            </a:r>
            <a:r>
              <a:rPr lang="ko-KR" altLang="en-US" sz="1800" dirty="0">
                <a:solidFill>
                  <a:srgbClr val="003366"/>
                </a:solidFill>
              </a:rPr>
              <a:t>남들이 모르면 아무것도 아니다 </a:t>
            </a:r>
            <a:r>
              <a:rPr lang="en-US" altLang="ko-KR" sz="1800" dirty="0">
                <a:solidFill>
                  <a:srgbClr val="003366"/>
                </a:solidFill>
              </a:rPr>
              <a:t>= </a:t>
            </a:r>
            <a:r>
              <a:rPr lang="ko-KR" altLang="en-US" sz="1800" dirty="0">
                <a:solidFill>
                  <a:srgbClr val="003366"/>
                </a:solidFill>
              </a:rPr>
              <a:t>브랜드 인지도가 높아야 함</a:t>
            </a:r>
            <a:endParaRPr lang="en-US" altLang="ko-KR" sz="1800" dirty="0">
              <a:solidFill>
                <a:srgbClr val="003366"/>
              </a:solidFill>
            </a:endParaRPr>
          </a:p>
          <a:p>
            <a:pPr eaLnBrk="1" latinLnBrk="0" hangingPunct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/>
              <a:t>확장된 브랜드의 정의</a:t>
            </a:r>
            <a:endParaRPr lang="en-US" altLang="ko-KR" sz="2000" dirty="0"/>
          </a:p>
          <a:p>
            <a:pPr lvl="1" eaLnBrk="1" latinLnBrk="0" hangingPunct="1">
              <a:lnSpc>
                <a:spcPct val="150000"/>
              </a:lnSpc>
              <a:buClr>
                <a:srgbClr val="DE8848"/>
              </a:buClr>
              <a:buFont typeface="Wingdings" panose="05000000000000000000" pitchFamily="2" charset="2"/>
              <a:buChar char="§"/>
            </a:pPr>
            <a:r>
              <a:rPr lang="en-US" altLang="ko-KR" sz="1800" dirty="0">
                <a:solidFill>
                  <a:srgbClr val="003366"/>
                </a:solidFill>
              </a:rPr>
              <a:t>'</a:t>
            </a:r>
            <a:r>
              <a:rPr lang="ko-KR" altLang="en-US" sz="1800" dirty="0">
                <a:solidFill>
                  <a:srgbClr val="003366"/>
                </a:solidFill>
              </a:rPr>
              <a:t>나의 것 </a:t>
            </a:r>
            <a:r>
              <a:rPr lang="en-US" altLang="ko-KR" sz="1800" dirty="0">
                <a:solidFill>
                  <a:srgbClr val="003366"/>
                </a:solidFill>
              </a:rPr>
              <a:t>(</a:t>
            </a:r>
            <a:r>
              <a:rPr lang="ko-KR" altLang="en-US" sz="1800" dirty="0">
                <a:solidFill>
                  <a:srgbClr val="003366"/>
                </a:solidFill>
              </a:rPr>
              <a:t>소유</a:t>
            </a:r>
            <a:r>
              <a:rPr lang="en-US" altLang="ko-KR" sz="1800" dirty="0">
                <a:solidFill>
                  <a:srgbClr val="003366"/>
                </a:solidFill>
              </a:rPr>
              <a:t>)'</a:t>
            </a:r>
            <a:r>
              <a:rPr lang="ko-KR" altLang="en-US" sz="1800" dirty="0">
                <a:solidFill>
                  <a:srgbClr val="003366"/>
                </a:solidFill>
              </a:rPr>
              <a:t>에서 </a:t>
            </a:r>
            <a:r>
              <a:rPr lang="en-US" altLang="ko-KR" sz="1800" dirty="0">
                <a:solidFill>
                  <a:srgbClr val="003366"/>
                </a:solidFill>
              </a:rPr>
              <a:t>'</a:t>
            </a:r>
            <a:r>
              <a:rPr lang="ko-KR" altLang="en-US" sz="1800" dirty="0">
                <a:solidFill>
                  <a:srgbClr val="003366"/>
                </a:solidFill>
              </a:rPr>
              <a:t>다른 것</a:t>
            </a:r>
            <a:r>
              <a:rPr lang="en-US" altLang="ko-KR" sz="1800" dirty="0">
                <a:solidFill>
                  <a:srgbClr val="003366"/>
                </a:solidFill>
              </a:rPr>
              <a:t>(</a:t>
            </a:r>
            <a:r>
              <a:rPr lang="ko-KR" altLang="en-US" sz="1800" dirty="0">
                <a:solidFill>
                  <a:srgbClr val="003366"/>
                </a:solidFill>
              </a:rPr>
              <a:t>차별화</a:t>
            </a:r>
            <a:r>
              <a:rPr lang="en-US" altLang="ko-KR" sz="1800" dirty="0">
                <a:solidFill>
                  <a:srgbClr val="003366"/>
                </a:solidFill>
              </a:rPr>
              <a:t>)'</a:t>
            </a:r>
            <a:r>
              <a:rPr lang="ko-KR" altLang="en-US" sz="1800" dirty="0">
                <a:solidFill>
                  <a:srgbClr val="003366"/>
                </a:solidFill>
              </a:rPr>
              <a:t>으로</a:t>
            </a:r>
            <a:endParaRPr lang="en-US" altLang="ko-KR" sz="1800" dirty="0">
              <a:solidFill>
                <a:srgbClr val="003366"/>
              </a:solidFill>
            </a:endParaRPr>
          </a:p>
          <a:p>
            <a:pPr lvl="1" eaLnBrk="1" latinLnBrk="0" hangingPunct="1">
              <a:lnSpc>
                <a:spcPct val="150000"/>
              </a:lnSpc>
              <a:buClr>
                <a:srgbClr val="DE8848"/>
              </a:buClr>
              <a:buFont typeface="Wingdings" panose="05000000000000000000" pitchFamily="2" charset="2"/>
              <a:buChar char="§"/>
            </a:pPr>
            <a:r>
              <a:rPr lang="ko-KR" altLang="en-US" sz="1800" dirty="0">
                <a:solidFill>
                  <a:srgbClr val="003366"/>
                </a:solidFill>
              </a:rPr>
              <a:t>단순한 </a:t>
            </a:r>
            <a:r>
              <a:rPr lang="en-US" altLang="ko-KR" sz="1800" dirty="0">
                <a:solidFill>
                  <a:srgbClr val="003366"/>
                </a:solidFill>
              </a:rPr>
              <a:t>‘</a:t>
            </a:r>
            <a:r>
              <a:rPr lang="ko-KR" altLang="en-US" sz="1800" dirty="0">
                <a:solidFill>
                  <a:srgbClr val="003366"/>
                </a:solidFill>
              </a:rPr>
              <a:t>상표</a:t>
            </a:r>
            <a:r>
              <a:rPr lang="en-US" altLang="ko-KR" sz="1800" dirty="0">
                <a:solidFill>
                  <a:srgbClr val="003366"/>
                </a:solidFill>
              </a:rPr>
              <a:t>’</a:t>
            </a:r>
            <a:r>
              <a:rPr lang="ko-KR" altLang="en-US" sz="1800" dirty="0">
                <a:solidFill>
                  <a:srgbClr val="003366"/>
                </a:solidFill>
              </a:rPr>
              <a:t>에서 </a:t>
            </a:r>
            <a:r>
              <a:rPr lang="en-US" altLang="ko-KR" sz="1800" dirty="0">
                <a:solidFill>
                  <a:srgbClr val="003366"/>
                </a:solidFill>
              </a:rPr>
              <a:t>'</a:t>
            </a:r>
            <a:r>
              <a:rPr lang="ko-KR" altLang="en-US" sz="1800" dirty="0">
                <a:solidFill>
                  <a:srgbClr val="003366"/>
                </a:solidFill>
              </a:rPr>
              <a:t>상징</a:t>
            </a:r>
            <a:r>
              <a:rPr lang="en-US" altLang="ko-KR" sz="1800" dirty="0">
                <a:solidFill>
                  <a:srgbClr val="003366"/>
                </a:solidFill>
              </a:rPr>
              <a:t>’</a:t>
            </a:r>
            <a:r>
              <a:rPr lang="ko-KR" altLang="en-US" sz="1800" dirty="0">
                <a:solidFill>
                  <a:srgbClr val="003366"/>
                </a:solidFill>
              </a:rPr>
              <a:t>으로</a:t>
            </a:r>
            <a:endParaRPr lang="en-US" altLang="ko-KR" sz="1800" dirty="0">
              <a:solidFill>
                <a:srgbClr val="003366"/>
              </a:solidFill>
            </a:endParaRPr>
          </a:p>
          <a:p>
            <a:pPr lvl="1" eaLnBrk="1" latinLnBrk="0" hangingPunct="1">
              <a:lnSpc>
                <a:spcPct val="150000"/>
              </a:lnSpc>
              <a:buClr>
                <a:srgbClr val="DE8848"/>
              </a:buClr>
              <a:buFont typeface="Wingdings" panose="05000000000000000000" pitchFamily="2" charset="2"/>
              <a:buChar char="§"/>
            </a:pPr>
            <a:r>
              <a:rPr lang="ko-KR" altLang="en-US" sz="1800" dirty="0">
                <a:solidFill>
                  <a:srgbClr val="003366"/>
                </a:solidFill>
              </a:rPr>
              <a:t>자기만의 독특한 </a:t>
            </a:r>
            <a:r>
              <a:rPr lang="en-US" altLang="ko-KR" sz="1800" dirty="0">
                <a:solidFill>
                  <a:srgbClr val="003366"/>
                </a:solidFill>
              </a:rPr>
              <a:t>'</a:t>
            </a:r>
            <a:r>
              <a:rPr lang="ko-KR" altLang="en-US" sz="1800" dirty="0" err="1">
                <a:solidFill>
                  <a:srgbClr val="003366"/>
                </a:solidFill>
              </a:rPr>
              <a:t>자기다움</a:t>
            </a:r>
            <a:r>
              <a:rPr lang="en-US" altLang="ko-KR" sz="1800" dirty="0">
                <a:solidFill>
                  <a:srgbClr val="003366"/>
                </a:solidFill>
              </a:rPr>
              <a:t>(</a:t>
            </a:r>
            <a:r>
              <a:rPr lang="ko-KR" altLang="en-US" sz="1800" dirty="0">
                <a:solidFill>
                  <a:srgbClr val="003366"/>
                </a:solidFill>
              </a:rPr>
              <a:t>아이덴티티</a:t>
            </a:r>
            <a:r>
              <a:rPr lang="en-US" altLang="ko-KR" sz="1800" dirty="0">
                <a:solidFill>
                  <a:srgbClr val="003366"/>
                </a:solidFill>
              </a:rPr>
              <a:t>)’, '</a:t>
            </a:r>
            <a:r>
              <a:rPr lang="ko-KR" altLang="en-US" sz="1800" dirty="0">
                <a:solidFill>
                  <a:srgbClr val="003366"/>
                </a:solidFill>
              </a:rPr>
              <a:t>자기만의 창업철학</a:t>
            </a:r>
            <a:r>
              <a:rPr lang="en-US" altLang="ko-KR" sz="1800" dirty="0">
                <a:solidFill>
                  <a:srgbClr val="003366"/>
                </a:solidFill>
              </a:rPr>
              <a:t>(</a:t>
            </a:r>
            <a:r>
              <a:rPr lang="ko-KR" altLang="en-US" sz="1800" dirty="0">
                <a:solidFill>
                  <a:srgbClr val="003366"/>
                </a:solidFill>
              </a:rPr>
              <a:t>정신</a:t>
            </a:r>
            <a:r>
              <a:rPr lang="en-US" altLang="ko-KR" sz="1800" dirty="0">
                <a:solidFill>
                  <a:srgbClr val="003366"/>
                </a:solidFill>
              </a:rPr>
              <a:t>, </a:t>
            </a:r>
            <a:r>
              <a:rPr lang="ko-KR" altLang="en-US" sz="1800" dirty="0">
                <a:solidFill>
                  <a:srgbClr val="003366"/>
                </a:solidFill>
              </a:rPr>
              <a:t>브랜드 영혼</a:t>
            </a:r>
            <a:r>
              <a:rPr lang="en-US" altLang="ko-KR" sz="1800" dirty="0">
                <a:solidFill>
                  <a:srgbClr val="003366"/>
                </a:solidFill>
              </a:rPr>
              <a:t>)</a:t>
            </a:r>
            <a:r>
              <a:rPr lang="ko-KR" altLang="en-US" sz="1800" dirty="0">
                <a:solidFill>
                  <a:srgbClr val="003366"/>
                </a:solidFill>
              </a:rPr>
              <a:t>이 함께 해야 함</a:t>
            </a:r>
            <a:endParaRPr lang="en-US" altLang="ko-KR" sz="1800" dirty="0">
              <a:solidFill>
                <a:srgbClr val="003366"/>
              </a:solidFill>
            </a:endParaRPr>
          </a:p>
          <a:p>
            <a:pPr eaLnBrk="1" latinLnBrk="0" hangingPunct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/>
              <a:t>본 장에서 말하는 브랜드 개발은 단순한 </a:t>
            </a:r>
            <a:r>
              <a:rPr lang="en-US" altLang="ko-KR" sz="2000" dirty="0"/>
              <a:t>'</a:t>
            </a:r>
            <a:r>
              <a:rPr lang="ko-KR" altLang="en-US" sz="2000" dirty="0"/>
              <a:t>상표 제작</a:t>
            </a:r>
            <a:r>
              <a:rPr lang="en-US" altLang="ko-KR" sz="2000" dirty="0"/>
              <a:t>’</a:t>
            </a:r>
            <a:r>
              <a:rPr lang="ko-KR" altLang="en-US" sz="2000" dirty="0"/>
              <a:t>이 아닌 </a:t>
            </a:r>
            <a:r>
              <a:rPr lang="en-US" altLang="ko-KR" sz="2000" dirty="0"/>
              <a:t>‘</a:t>
            </a:r>
            <a:r>
              <a:rPr lang="ko-KR" altLang="en-US" sz="2000" dirty="0" err="1"/>
              <a:t>자기다움의</a:t>
            </a:r>
            <a:r>
              <a:rPr lang="ko-KR" altLang="en-US" sz="2000" dirty="0"/>
              <a:t> 창업철학</a:t>
            </a:r>
            <a:r>
              <a:rPr lang="en-US" altLang="ko-KR" sz="2000" dirty="0"/>
              <a:t>/</a:t>
            </a:r>
            <a:r>
              <a:rPr lang="ko-KR" altLang="en-US" sz="2000" dirty="0"/>
              <a:t>정신</a:t>
            </a:r>
            <a:r>
              <a:rPr lang="en-US" altLang="ko-KR" sz="2000" dirty="0"/>
              <a:t>(</a:t>
            </a:r>
            <a:r>
              <a:rPr lang="ko-KR" altLang="en-US" sz="2000" dirty="0"/>
              <a:t>가치 및 존재의 이유</a:t>
            </a:r>
            <a:r>
              <a:rPr lang="en-US" altLang="ko-KR" sz="2000" dirty="0"/>
              <a:t>)’</a:t>
            </a:r>
            <a:r>
              <a:rPr lang="ko-KR" altLang="en-US" sz="2000" dirty="0"/>
              <a:t>이 들어 있는 브랜드 콘셉트를 매력적으로 보이게 디자인하고 기억에 오래 남을 독특한 브랜드 경험을 만드는 것을 목표로 함</a:t>
            </a:r>
            <a:endParaRPr lang="en-US" altLang="ko-KR" sz="2000" dirty="0"/>
          </a:p>
          <a:p>
            <a:pPr lvl="1" eaLnBrk="1" latinLnBrk="0" hangingPunct="1">
              <a:lnSpc>
                <a:spcPct val="150000"/>
              </a:lnSpc>
              <a:buClr>
                <a:srgbClr val="DE8848"/>
              </a:buClr>
              <a:buFont typeface="Wingdings" panose="05000000000000000000" pitchFamily="2" charset="2"/>
              <a:buChar char="§"/>
            </a:pPr>
            <a:r>
              <a:rPr lang="ko-KR" altLang="en-US" sz="1800" dirty="0">
                <a:solidFill>
                  <a:srgbClr val="003366"/>
                </a:solidFill>
              </a:rPr>
              <a:t>브랜드 아이덴티티 구성요소 디자인부터 마케팅 커뮤니케이션까지 전 과정에서 평범한 브랜드를 특별하고 비범하게 만드는 것이 핵심</a:t>
            </a:r>
            <a:endParaRPr lang="en-US" altLang="ko-KR" sz="1800" dirty="0">
              <a:solidFill>
                <a:srgbClr val="0033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52678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제목 1">
            <a:extLst>
              <a:ext uri="{FF2B5EF4-FFF2-40B4-BE49-F238E27FC236}">
                <a16:creationId xmlns:a16="http://schemas.microsoft.com/office/drawing/2014/main" id="{3BD1FD24-F219-4227-A314-DD80EA9EE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latinLnBrk="0" hangingPunct="1"/>
            <a:r>
              <a:rPr lang="en-US" altLang="ko-KR" dirty="0"/>
              <a:t>2.  </a:t>
            </a:r>
            <a:r>
              <a:rPr lang="ko-KR" altLang="en-US" dirty="0"/>
              <a:t>브랜드의 개념과 특징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DC3F88C-F023-48FA-8438-18C10BA962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0706" y="3227294"/>
            <a:ext cx="4882523" cy="3376740"/>
          </a:xfrm>
          <a:prstGeom prst="rect">
            <a:avLst/>
          </a:prstGeom>
        </p:spPr>
      </p:pic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B49F37AA-A430-41DC-B647-E88F1BA313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4485" y="1209863"/>
            <a:ext cx="11704077" cy="939820"/>
          </a:xfrm>
        </p:spPr>
        <p:txBody>
          <a:bodyPr/>
          <a:lstStyle/>
          <a:p>
            <a:pPr eaLnBrk="1" latinLnBrk="0" hangingPunct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/>
              <a:t>마케팅은 판촉을 불필요하게 하고</a:t>
            </a:r>
            <a:r>
              <a:rPr lang="en-US" altLang="ko-KR" sz="2000" dirty="0"/>
              <a:t>, </a:t>
            </a:r>
            <a:r>
              <a:rPr lang="ko-KR" altLang="en-US" sz="2000" dirty="0">
                <a:solidFill>
                  <a:srgbClr val="C00000"/>
                </a:solidFill>
              </a:rPr>
              <a:t>브랜딩</a:t>
            </a:r>
            <a:r>
              <a:rPr lang="en-US" altLang="ko-KR" sz="2000" dirty="0">
                <a:solidFill>
                  <a:srgbClr val="C00000"/>
                </a:solidFill>
              </a:rPr>
              <a:t>(branding)</a:t>
            </a:r>
            <a:r>
              <a:rPr lang="ko-KR" altLang="en-US" sz="2000" dirty="0">
                <a:solidFill>
                  <a:srgbClr val="C00000"/>
                </a:solidFill>
              </a:rPr>
              <a:t>은 마케팅</a:t>
            </a:r>
            <a:r>
              <a:rPr lang="en-US" altLang="ko-KR" sz="2000" dirty="0">
                <a:solidFill>
                  <a:srgbClr val="C00000"/>
                </a:solidFill>
              </a:rPr>
              <a:t>(marketing)</a:t>
            </a:r>
            <a:r>
              <a:rPr lang="ko-KR" altLang="en-US" sz="2000" dirty="0">
                <a:solidFill>
                  <a:srgbClr val="C00000"/>
                </a:solidFill>
              </a:rPr>
              <a:t>을 불필요하게 한다</a:t>
            </a:r>
            <a:r>
              <a:rPr lang="en-US" altLang="ko-KR" sz="2000" dirty="0"/>
              <a:t>!</a:t>
            </a:r>
          </a:p>
          <a:p>
            <a:pPr lvl="1" eaLnBrk="1" latinLnBrk="0" hangingPunct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800" dirty="0">
                <a:solidFill>
                  <a:srgbClr val="003366"/>
                </a:solidFill>
              </a:rPr>
              <a:t>성공적인 브랜딩은 기업이 고객에게 브랜드를 자랑하는 것이 아니라 고객이 먼저 찾고</a:t>
            </a:r>
            <a:r>
              <a:rPr lang="en-US" altLang="ko-KR" sz="1800" dirty="0">
                <a:solidFill>
                  <a:srgbClr val="003366"/>
                </a:solidFill>
              </a:rPr>
              <a:t>, </a:t>
            </a:r>
            <a:r>
              <a:rPr lang="ko-KR" altLang="en-US" sz="1800" dirty="0">
                <a:solidFill>
                  <a:srgbClr val="003366"/>
                </a:solidFill>
              </a:rPr>
              <a:t>지지하고</a:t>
            </a:r>
            <a:r>
              <a:rPr lang="en-US" altLang="ko-KR" sz="1800" dirty="0">
                <a:solidFill>
                  <a:srgbClr val="003366"/>
                </a:solidFill>
              </a:rPr>
              <a:t>, </a:t>
            </a:r>
            <a:r>
              <a:rPr lang="ko-KR" altLang="en-US" sz="1800" dirty="0">
                <a:solidFill>
                  <a:srgbClr val="003366"/>
                </a:solidFill>
              </a:rPr>
              <a:t>좋아하고</a:t>
            </a:r>
            <a:r>
              <a:rPr lang="en-US" altLang="ko-KR" sz="1800" dirty="0">
                <a:solidFill>
                  <a:srgbClr val="003366"/>
                </a:solidFill>
              </a:rPr>
              <a:t>, </a:t>
            </a:r>
            <a:r>
              <a:rPr lang="ko-KR" altLang="en-US" sz="1800" dirty="0">
                <a:solidFill>
                  <a:srgbClr val="003366"/>
                </a:solidFill>
              </a:rPr>
              <a:t>사랑하게 하는 것임</a:t>
            </a:r>
            <a:endParaRPr lang="en-US" altLang="ko-KR" sz="1800" dirty="0">
              <a:solidFill>
                <a:srgbClr val="003366"/>
              </a:solidFill>
            </a:endParaRPr>
          </a:p>
          <a:p>
            <a:pPr lvl="1" eaLnBrk="1" latinLnBrk="0" hangingPunct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800" dirty="0">
                <a:solidFill>
                  <a:srgbClr val="003366"/>
                </a:solidFill>
              </a:rPr>
              <a:t>그러기 위해서는 고객과의 공감대가 필요하며 </a:t>
            </a:r>
            <a:r>
              <a:rPr lang="ko-KR" altLang="en-US" sz="1800" dirty="0" err="1">
                <a:solidFill>
                  <a:srgbClr val="003366"/>
                </a:solidFill>
              </a:rPr>
              <a:t>팬덤을</a:t>
            </a:r>
            <a:r>
              <a:rPr lang="ko-KR" altLang="en-US" sz="1800" dirty="0">
                <a:solidFill>
                  <a:srgbClr val="003366"/>
                </a:solidFill>
              </a:rPr>
              <a:t> 형성해야 함</a:t>
            </a:r>
            <a:endParaRPr lang="en-US" altLang="ko-KR" sz="1800" dirty="0">
              <a:solidFill>
                <a:srgbClr val="003366"/>
              </a:solidFill>
            </a:endParaRPr>
          </a:p>
          <a:p>
            <a:pPr lvl="1" eaLnBrk="1" latinLnBrk="0" hangingPunct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800" dirty="0">
                <a:solidFill>
                  <a:srgbClr val="003366"/>
                </a:solidFill>
              </a:rPr>
              <a:t>미래 시장의 핵심고객은 </a:t>
            </a:r>
            <a:r>
              <a:rPr lang="en-US" altLang="ko-KR" sz="1800" dirty="0">
                <a:solidFill>
                  <a:srgbClr val="003366"/>
                </a:solidFill>
              </a:rPr>
              <a:t>MZ</a:t>
            </a:r>
            <a:r>
              <a:rPr lang="ko-KR" altLang="en-US" sz="1800" dirty="0">
                <a:solidFill>
                  <a:srgbClr val="003366"/>
                </a:solidFill>
              </a:rPr>
              <a:t>세대로 이들이 공감할 수 있는 가치와 브랜드 경험을 제공해야 함</a:t>
            </a:r>
            <a:endParaRPr lang="en-US" altLang="ko-KR" sz="1800" dirty="0">
              <a:solidFill>
                <a:srgbClr val="0033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56931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텍스트 개체 틀 3">
            <a:extLst>
              <a:ext uri="{FF2B5EF4-FFF2-40B4-BE49-F238E27FC236}">
                <a16:creationId xmlns:a16="http://schemas.microsoft.com/office/drawing/2014/main" id="{FF324CC6-386C-47B4-962C-1A73013DD1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852738"/>
            <a:ext cx="10515600" cy="1500187"/>
          </a:xfrm>
        </p:spPr>
        <p:txBody>
          <a:bodyPr/>
          <a:lstStyle/>
          <a:p>
            <a:pPr eaLnBrk="1" latinLnBrk="0" hangingPunct="1"/>
            <a:r>
              <a:rPr lang="en-US" altLang="ko-KR" dirty="0"/>
              <a:t>3. </a:t>
            </a:r>
            <a:r>
              <a:rPr lang="ko-KR" altLang="en-US" dirty="0"/>
              <a:t>브랜드 아이덴티티 개발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37BAE7D-4448-4DED-AA41-A453AEFF4AFF}"/>
              </a:ext>
            </a:extLst>
          </p:cNvPr>
          <p:cNvSpPr/>
          <p:nvPr/>
        </p:nvSpPr>
        <p:spPr bwMode="auto">
          <a:xfrm>
            <a:off x="838200" y="4419600"/>
            <a:ext cx="10026650" cy="115888"/>
          </a:xfrm>
          <a:prstGeom prst="rect">
            <a:avLst/>
          </a:prstGeom>
          <a:solidFill>
            <a:schemeClr val="tx2"/>
          </a:solidFill>
          <a:ln w="952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latinLnBrk="0" hangingPunct="1">
              <a:defRPr/>
            </a:pPr>
            <a:endParaRPr lang="ko-KR" altLang="en-US"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굴림" panose="020B0600000101010101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1EE0101-D47B-4C84-8321-38EF136351D0}"/>
              </a:ext>
            </a:extLst>
          </p:cNvPr>
          <p:cNvSpPr/>
          <p:nvPr/>
        </p:nvSpPr>
        <p:spPr bwMode="auto">
          <a:xfrm>
            <a:off x="10874375" y="4419600"/>
            <a:ext cx="1354138" cy="115888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latinLnBrk="0" hangingPunct="1">
              <a:defRPr/>
            </a:pPr>
            <a:endParaRPr lang="ko-KR" altLang="en-US"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굴림" panose="020B0600000101010101" pitchFamily="50" charset="-127"/>
            </a:endParaRPr>
          </a:p>
        </p:txBody>
      </p:sp>
      <p:grpSp>
        <p:nvGrpSpPr>
          <p:cNvPr id="6" name="Group 46">
            <a:extLst>
              <a:ext uri="{FF2B5EF4-FFF2-40B4-BE49-F238E27FC236}">
                <a16:creationId xmlns:a16="http://schemas.microsoft.com/office/drawing/2014/main" id="{BB3919A3-CB73-451A-A024-DB8C0CB3E4BC}"/>
              </a:ext>
            </a:extLst>
          </p:cNvPr>
          <p:cNvGrpSpPr>
            <a:grpSpLocks/>
          </p:cNvGrpSpPr>
          <p:nvPr/>
        </p:nvGrpSpPr>
        <p:grpSpPr bwMode="auto">
          <a:xfrm>
            <a:off x="6022975" y="2438400"/>
            <a:ext cx="6169015" cy="663286"/>
            <a:chOff x="1296" y="1824"/>
            <a:chExt cx="3886" cy="432"/>
          </a:xfrm>
        </p:grpSpPr>
        <p:sp>
          <p:nvSpPr>
            <p:cNvPr id="24" name="AutoShape 47">
              <a:extLst>
                <a:ext uri="{FF2B5EF4-FFF2-40B4-BE49-F238E27FC236}">
                  <a16:creationId xmlns:a16="http://schemas.microsoft.com/office/drawing/2014/main" id="{DC2CFFCE-8DE3-4A99-96E8-0EBFE7FE0170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536" y="1899"/>
              <a:ext cx="3402" cy="288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accent2">
                    <a:gamma/>
                    <a:tint val="21176"/>
                    <a:invGamma/>
                  </a:schemeClr>
                </a:gs>
                <a:gs pos="100000">
                  <a:schemeClr val="accent2"/>
                </a:gs>
              </a:gsLst>
              <a:lin ang="0" scaled="1"/>
            </a:gradFill>
            <a:ln w="12700" algn="ctr">
              <a:solidFill>
                <a:schemeClr val="bg1"/>
              </a:solidFill>
              <a:round/>
              <a:headEnd/>
              <a:tailEnd/>
            </a:ln>
            <a:effectLst>
              <a:outerShdw dist="99190" dir="2388334" algn="ctr" rotWithShape="0">
                <a:srgbClr val="333333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ko-KR" altLang="en-US">
                <a:latin typeface="08서울남산체 B" panose="02020603020101020101" pitchFamily="18" charset="-127"/>
                <a:ea typeface="08서울남산체 B" panose="02020603020101020101" pitchFamily="18" charset="-127"/>
              </a:endParaRPr>
            </a:p>
          </p:txBody>
        </p:sp>
        <p:sp>
          <p:nvSpPr>
            <p:cNvPr id="25" name="AutoShape 48">
              <a:extLst>
                <a:ext uri="{FF2B5EF4-FFF2-40B4-BE49-F238E27FC236}">
                  <a16:creationId xmlns:a16="http://schemas.microsoft.com/office/drawing/2014/main" id="{DE62540D-CCBE-4E3D-BFBB-4BC36EF3213A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296" y="1824"/>
              <a:ext cx="432" cy="432"/>
            </a:xfrm>
            <a:prstGeom prst="diamond">
              <a:avLst/>
            </a:prstGeom>
            <a:solidFill>
              <a:schemeClr val="accent2"/>
            </a:solidFill>
            <a:ln w="25400" algn="ctr">
              <a:solidFill>
                <a:schemeClr val="bg1"/>
              </a:solidFill>
              <a:miter lim="800000"/>
              <a:headEnd/>
              <a:tailEnd/>
            </a:ln>
            <a:effectLst>
              <a:outerShdw dist="63500" dir="2212194" algn="ctr" rotWithShape="0">
                <a:srgbClr val="333333">
                  <a:alpha val="50000"/>
                </a:srgbClr>
              </a:outerShdw>
            </a:effec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latinLnBrk="1" hangingPunct="1"/>
              <a:endParaRPr lang="ko-KR" altLang="en-US">
                <a:latin typeface="08서울남산체 B" panose="02020603020101020101" pitchFamily="18" charset="-127"/>
                <a:ea typeface="08서울남산체 B" panose="02020603020101020101" pitchFamily="18" charset="-127"/>
              </a:endParaRPr>
            </a:p>
          </p:txBody>
        </p:sp>
        <p:sp>
          <p:nvSpPr>
            <p:cNvPr id="26" name="Text Box 49">
              <a:extLst>
                <a:ext uri="{FF2B5EF4-FFF2-40B4-BE49-F238E27FC236}">
                  <a16:creationId xmlns:a16="http://schemas.microsoft.com/office/drawing/2014/main" id="{575A783F-4397-4C0F-90EA-B3EE286A1380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780" y="1934"/>
              <a:ext cx="3402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latinLnBrk="1"/>
              <a:r>
                <a:rPr lang="ko-KR" altLang="en-US" b="1" dirty="0">
                  <a:solidFill>
                    <a:srgbClr val="000000"/>
                  </a:solidFill>
                  <a:latin typeface="08서울남산체 B" panose="02020603020101020101" pitchFamily="18" charset="-127"/>
                  <a:ea typeface="08서울남산체 B" panose="02020603020101020101" pitchFamily="18" charset="-127"/>
                </a:rPr>
                <a:t>레스토랑 콘셉트 구체화</a:t>
              </a:r>
              <a:endParaRPr lang="en-US" altLang="ko-KR" b="1" dirty="0">
                <a:solidFill>
                  <a:srgbClr val="000000"/>
                </a:solidFill>
                <a:latin typeface="08서울남산체 B" panose="02020603020101020101" pitchFamily="18" charset="-127"/>
                <a:ea typeface="08서울남산체 B" panose="02020603020101020101" pitchFamily="18" charset="-127"/>
              </a:endParaRPr>
            </a:p>
          </p:txBody>
        </p:sp>
        <p:sp>
          <p:nvSpPr>
            <p:cNvPr id="27" name="Text Box 50">
              <a:extLst>
                <a:ext uri="{FF2B5EF4-FFF2-40B4-BE49-F238E27FC236}">
                  <a16:creationId xmlns:a16="http://schemas.microsoft.com/office/drawing/2014/main" id="{B4A69FCD-EEB3-4B11-BB1F-C5B12FA3ABDC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398" y="1886"/>
              <a:ext cx="213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92457" dir="9843276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 latinLnBrk="1"/>
              <a:r>
                <a:rPr lang="en-US" altLang="ko-KR" sz="2400">
                  <a:solidFill>
                    <a:schemeClr val="bg1"/>
                  </a:solidFill>
                  <a:latin typeface="08서울남산체 B" panose="02020603020101020101" pitchFamily="18" charset="-127"/>
                  <a:ea typeface="08서울남산체 B" panose="02020603020101020101" pitchFamily="18" charset="-127"/>
                </a:rPr>
                <a:t>1</a:t>
              </a:r>
            </a:p>
          </p:txBody>
        </p:sp>
      </p:grpSp>
      <p:grpSp>
        <p:nvGrpSpPr>
          <p:cNvPr id="9" name="Group 51">
            <a:extLst>
              <a:ext uri="{FF2B5EF4-FFF2-40B4-BE49-F238E27FC236}">
                <a16:creationId xmlns:a16="http://schemas.microsoft.com/office/drawing/2014/main" id="{0F9D4181-929C-406E-9392-16D87307ADBC}"/>
              </a:ext>
            </a:extLst>
          </p:cNvPr>
          <p:cNvGrpSpPr>
            <a:grpSpLocks/>
          </p:cNvGrpSpPr>
          <p:nvPr/>
        </p:nvGrpSpPr>
        <p:grpSpPr bwMode="auto">
          <a:xfrm>
            <a:off x="6022975" y="3249077"/>
            <a:ext cx="6169025" cy="663285"/>
            <a:chOff x="1296" y="1824"/>
            <a:chExt cx="3886" cy="432"/>
          </a:xfrm>
        </p:grpSpPr>
        <p:sp>
          <p:nvSpPr>
            <p:cNvPr id="20" name="AutoShape 52">
              <a:extLst>
                <a:ext uri="{FF2B5EF4-FFF2-40B4-BE49-F238E27FC236}">
                  <a16:creationId xmlns:a16="http://schemas.microsoft.com/office/drawing/2014/main" id="{947D1FDE-168B-4A80-881E-BDD60D594BA9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536" y="1899"/>
              <a:ext cx="3402" cy="288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accent1">
                    <a:gamma/>
                    <a:tint val="21176"/>
                    <a:invGamma/>
                  </a:schemeClr>
                </a:gs>
                <a:gs pos="100000">
                  <a:schemeClr val="accent1"/>
                </a:gs>
              </a:gsLst>
              <a:lin ang="0" scaled="1"/>
            </a:gradFill>
            <a:ln w="12700" algn="ctr">
              <a:solidFill>
                <a:schemeClr val="bg1"/>
              </a:solidFill>
              <a:round/>
              <a:headEnd/>
              <a:tailEnd/>
            </a:ln>
            <a:effectLst>
              <a:outerShdw dist="99190" dir="2388334" algn="ctr" rotWithShape="0">
                <a:srgbClr val="333333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ko-KR" altLang="en-US">
                <a:latin typeface="08서울남산체 B" panose="02020603020101020101" pitchFamily="18" charset="-127"/>
                <a:ea typeface="08서울남산체 B" panose="02020603020101020101" pitchFamily="18" charset="-127"/>
              </a:endParaRPr>
            </a:p>
          </p:txBody>
        </p:sp>
        <p:sp>
          <p:nvSpPr>
            <p:cNvPr id="21" name="AutoShape 53">
              <a:extLst>
                <a:ext uri="{FF2B5EF4-FFF2-40B4-BE49-F238E27FC236}">
                  <a16:creationId xmlns:a16="http://schemas.microsoft.com/office/drawing/2014/main" id="{9C8A8E25-C5E1-4CB6-948C-A93C46C12986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296" y="1824"/>
              <a:ext cx="432" cy="432"/>
            </a:xfrm>
            <a:prstGeom prst="diamond">
              <a:avLst/>
            </a:prstGeom>
            <a:solidFill>
              <a:schemeClr val="accent1"/>
            </a:solidFill>
            <a:ln w="25400" algn="ctr">
              <a:solidFill>
                <a:schemeClr val="bg1"/>
              </a:solidFill>
              <a:miter lim="800000"/>
              <a:headEnd/>
              <a:tailEnd/>
            </a:ln>
            <a:effectLst>
              <a:outerShdw dist="63500" dir="2212194" algn="ctr" rotWithShape="0">
                <a:srgbClr val="333333">
                  <a:alpha val="50000"/>
                </a:srgbClr>
              </a:outerShdw>
            </a:effec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latinLnBrk="1" hangingPunct="1"/>
              <a:endParaRPr lang="ko-KR" altLang="en-US">
                <a:latin typeface="08서울남산체 B" panose="02020603020101020101" pitchFamily="18" charset="-127"/>
                <a:ea typeface="08서울남산체 B" panose="02020603020101020101" pitchFamily="18" charset="-127"/>
              </a:endParaRPr>
            </a:p>
          </p:txBody>
        </p:sp>
        <p:sp>
          <p:nvSpPr>
            <p:cNvPr id="22" name="Text Box 54">
              <a:extLst>
                <a:ext uri="{FF2B5EF4-FFF2-40B4-BE49-F238E27FC236}">
                  <a16:creationId xmlns:a16="http://schemas.microsoft.com/office/drawing/2014/main" id="{791CBC6D-335B-4F66-916C-153504CFF17A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780" y="1934"/>
              <a:ext cx="3402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latinLnBrk="1"/>
              <a:r>
                <a:rPr lang="ko-KR" altLang="en-US" b="1" dirty="0">
                  <a:solidFill>
                    <a:srgbClr val="000000"/>
                  </a:solidFill>
                  <a:latin typeface="08서울남산체 B" panose="02020603020101020101" pitchFamily="18" charset="-127"/>
                  <a:ea typeface="08서울남산체 B" panose="02020603020101020101" pitchFamily="18" charset="-127"/>
                </a:rPr>
                <a:t>미래 핵심고객인 </a:t>
              </a:r>
              <a:r>
                <a:rPr lang="en-US" altLang="ko-KR" b="1" dirty="0">
                  <a:solidFill>
                    <a:srgbClr val="000000"/>
                  </a:solidFill>
                  <a:latin typeface="08서울남산체 B" panose="02020603020101020101" pitchFamily="18" charset="-127"/>
                  <a:ea typeface="08서울남산체 B" panose="02020603020101020101" pitchFamily="18" charset="-127"/>
                </a:rPr>
                <a:t>MZ </a:t>
              </a:r>
              <a:r>
                <a:rPr lang="ko-KR" altLang="en-US" b="1" dirty="0">
                  <a:solidFill>
                    <a:srgbClr val="000000"/>
                  </a:solidFill>
                  <a:latin typeface="08서울남산체 B" panose="02020603020101020101" pitchFamily="18" charset="-127"/>
                  <a:ea typeface="08서울남산체 B" panose="02020603020101020101" pitchFamily="18" charset="-127"/>
                </a:rPr>
                <a:t>세대의 특징</a:t>
              </a:r>
              <a:endParaRPr lang="en-US" altLang="ko-KR" b="1" dirty="0">
                <a:solidFill>
                  <a:srgbClr val="000000"/>
                </a:solidFill>
                <a:latin typeface="08서울남산체 B" panose="02020603020101020101" pitchFamily="18" charset="-127"/>
                <a:ea typeface="08서울남산체 B" panose="02020603020101020101" pitchFamily="18" charset="-127"/>
              </a:endParaRPr>
            </a:p>
          </p:txBody>
        </p:sp>
        <p:sp>
          <p:nvSpPr>
            <p:cNvPr id="23" name="Text Box 55">
              <a:extLst>
                <a:ext uri="{FF2B5EF4-FFF2-40B4-BE49-F238E27FC236}">
                  <a16:creationId xmlns:a16="http://schemas.microsoft.com/office/drawing/2014/main" id="{D830330B-A1B5-444B-A5BD-FAB32AAAD00B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398" y="1886"/>
              <a:ext cx="213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92457" dir="9843276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 latinLnBrk="1"/>
              <a:r>
                <a:rPr lang="en-US" altLang="ko-KR" sz="2400">
                  <a:solidFill>
                    <a:schemeClr val="bg1"/>
                  </a:solidFill>
                  <a:latin typeface="08서울남산체 B" panose="02020603020101020101" pitchFamily="18" charset="-127"/>
                  <a:ea typeface="08서울남산체 B" panose="02020603020101020101" pitchFamily="18" charset="-127"/>
                </a:rPr>
                <a:t>2</a:t>
              </a:r>
            </a:p>
          </p:txBody>
        </p:sp>
      </p:grpSp>
      <p:grpSp>
        <p:nvGrpSpPr>
          <p:cNvPr id="10" name="Group 56">
            <a:extLst>
              <a:ext uri="{FF2B5EF4-FFF2-40B4-BE49-F238E27FC236}">
                <a16:creationId xmlns:a16="http://schemas.microsoft.com/office/drawing/2014/main" id="{30CBD548-BA9A-41B7-A2B8-E25BB7EA06F3}"/>
              </a:ext>
            </a:extLst>
          </p:cNvPr>
          <p:cNvGrpSpPr>
            <a:grpSpLocks/>
          </p:cNvGrpSpPr>
          <p:nvPr/>
        </p:nvGrpSpPr>
        <p:grpSpPr bwMode="auto">
          <a:xfrm>
            <a:off x="6022975" y="4059759"/>
            <a:ext cx="6169025" cy="663285"/>
            <a:chOff x="1296" y="1824"/>
            <a:chExt cx="3886" cy="432"/>
          </a:xfrm>
        </p:grpSpPr>
        <p:sp>
          <p:nvSpPr>
            <p:cNvPr id="16" name="AutoShape 57">
              <a:extLst>
                <a:ext uri="{FF2B5EF4-FFF2-40B4-BE49-F238E27FC236}">
                  <a16:creationId xmlns:a16="http://schemas.microsoft.com/office/drawing/2014/main" id="{6BD2DFD3-21EB-4455-BB53-C35800A37833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536" y="1899"/>
              <a:ext cx="3402" cy="288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tx2">
                    <a:gamma/>
                    <a:tint val="21176"/>
                    <a:invGamma/>
                  </a:schemeClr>
                </a:gs>
                <a:gs pos="100000">
                  <a:schemeClr val="tx2"/>
                </a:gs>
              </a:gsLst>
              <a:lin ang="0" scaled="1"/>
            </a:gradFill>
            <a:ln w="12700" algn="ctr">
              <a:solidFill>
                <a:schemeClr val="bg1"/>
              </a:solidFill>
              <a:round/>
              <a:headEnd/>
              <a:tailEnd/>
            </a:ln>
            <a:effectLst>
              <a:outerShdw dist="99190" dir="2388334" algn="ctr" rotWithShape="0">
                <a:srgbClr val="333333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ko-KR" altLang="en-US">
                <a:latin typeface="08서울남산체 B" panose="02020603020101020101" pitchFamily="18" charset="-127"/>
                <a:ea typeface="08서울남산체 B" panose="02020603020101020101" pitchFamily="18" charset="-127"/>
              </a:endParaRPr>
            </a:p>
          </p:txBody>
        </p:sp>
        <p:sp>
          <p:nvSpPr>
            <p:cNvPr id="17" name="AutoShape 58">
              <a:extLst>
                <a:ext uri="{FF2B5EF4-FFF2-40B4-BE49-F238E27FC236}">
                  <a16:creationId xmlns:a16="http://schemas.microsoft.com/office/drawing/2014/main" id="{4F798B8C-524E-4BDA-93E5-668B3AE0C53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296" y="1824"/>
              <a:ext cx="432" cy="432"/>
            </a:xfrm>
            <a:prstGeom prst="diamond">
              <a:avLst/>
            </a:prstGeom>
            <a:solidFill>
              <a:schemeClr val="hlink"/>
            </a:solidFill>
            <a:ln w="25400" algn="ctr">
              <a:solidFill>
                <a:schemeClr val="bg1"/>
              </a:solidFill>
              <a:miter lim="800000"/>
              <a:headEnd/>
              <a:tailEnd/>
            </a:ln>
            <a:effectLst>
              <a:outerShdw dist="63500" dir="2212194" algn="ctr" rotWithShape="0">
                <a:srgbClr val="333333">
                  <a:alpha val="50000"/>
                </a:srgbClr>
              </a:outerShdw>
            </a:effec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latinLnBrk="1" hangingPunct="1"/>
              <a:endParaRPr lang="ko-KR" altLang="en-US">
                <a:latin typeface="08서울남산체 B" panose="02020603020101020101" pitchFamily="18" charset="-127"/>
                <a:ea typeface="08서울남산체 B" panose="02020603020101020101" pitchFamily="18" charset="-127"/>
              </a:endParaRPr>
            </a:p>
          </p:txBody>
        </p:sp>
        <p:sp>
          <p:nvSpPr>
            <p:cNvPr id="18" name="Text Box 59">
              <a:extLst>
                <a:ext uri="{FF2B5EF4-FFF2-40B4-BE49-F238E27FC236}">
                  <a16:creationId xmlns:a16="http://schemas.microsoft.com/office/drawing/2014/main" id="{03AC59C4-19F2-4C0D-8E04-C724E0450920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780" y="1934"/>
              <a:ext cx="3402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latinLnBrk="1"/>
              <a:r>
                <a:rPr lang="ko-KR" altLang="en-US" b="1" dirty="0">
                  <a:solidFill>
                    <a:srgbClr val="000000"/>
                  </a:solidFill>
                  <a:latin typeface="08서울남산체 B" panose="02020603020101020101" pitchFamily="18" charset="-127"/>
                  <a:ea typeface="08서울남산체 B" panose="02020603020101020101" pitchFamily="18" charset="-127"/>
                </a:rPr>
                <a:t>브랜드 포지셔닝이란 무엇인가</a:t>
              </a:r>
              <a:r>
                <a:rPr lang="en-US" altLang="ko-KR" b="1" dirty="0">
                  <a:solidFill>
                    <a:srgbClr val="000000"/>
                  </a:solidFill>
                  <a:latin typeface="08서울남산체 B" panose="02020603020101020101" pitchFamily="18" charset="-127"/>
                  <a:ea typeface="08서울남산체 B" panose="02020603020101020101" pitchFamily="18" charset="-127"/>
                </a:rPr>
                <a:t>?</a:t>
              </a:r>
            </a:p>
          </p:txBody>
        </p:sp>
        <p:sp>
          <p:nvSpPr>
            <p:cNvPr id="19" name="Text Box 60">
              <a:extLst>
                <a:ext uri="{FF2B5EF4-FFF2-40B4-BE49-F238E27FC236}">
                  <a16:creationId xmlns:a16="http://schemas.microsoft.com/office/drawing/2014/main" id="{507B9245-C4F3-4143-BAAC-0FA06D0341E9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398" y="1886"/>
              <a:ext cx="213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92457" dir="9843276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 latinLnBrk="1"/>
              <a:r>
                <a:rPr lang="en-US" altLang="ko-KR" sz="2400">
                  <a:solidFill>
                    <a:schemeClr val="bg1"/>
                  </a:solidFill>
                  <a:latin typeface="08서울남산체 B" panose="02020603020101020101" pitchFamily="18" charset="-127"/>
                  <a:ea typeface="08서울남산체 B" panose="02020603020101020101" pitchFamily="18" charset="-127"/>
                </a:rPr>
                <a:t>3</a:t>
              </a:r>
            </a:p>
          </p:txBody>
        </p:sp>
      </p:grpSp>
      <p:grpSp>
        <p:nvGrpSpPr>
          <p:cNvPr id="11" name="Group 61">
            <a:extLst>
              <a:ext uri="{FF2B5EF4-FFF2-40B4-BE49-F238E27FC236}">
                <a16:creationId xmlns:a16="http://schemas.microsoft.com/office/drawing/2014/main" id="{5FE21941-6C82-46CE-B81E-F3779D5E06D2}"/>
              </a:ext>
            </a:extLst>
          </p:cNvPr>
          <p:cNvGrpSpPr>
            <a:grpSpLocks/>
          </p:cNvGrpSpPr>
          <p:nvPr/>
        </p:nvGrpSpPr>
        <p:grpSpPr bwMode="auto">
          <a:xfrm>
            <a:off x="6022975" y="4944139"/>
            <a:ext cx="6169025" cy="663285"/>
            <a:chOff x="1296" y="1824"/>
            <a:chExt cx="3886" cy="432"/>
          </a:xfrm>
        </p:grpSpPr>
        <p:sp>
          <p:nvSpPr>
            <p:cNvPr id="12" name="AutoShape 62">
              <a:extLst>
                <a:ext uri="{FF2B5EF4-FFF2-40B4-BE49-F238E27FC236}">
                  <a16:creationId xmlns:a16="http://schemas.microsoft.com/office/drawing/2014/main" id="{868C2FAB-20E0-4667-9989-91323766F30A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536" y="1899"/>
              <a:ext cx="3402" cy="288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folHlink">
                    <a:gamma/>
                    <a:tint val="21176"/>
                    <a:invGamma/>
                  </a:schemeClr>
                </a:gs>
                <a:gs pos="100000">
                  <a:schemeClr val="folHlink"/>
                </a:gs>
              </a:gsLst>
              <a:lin ang="0" scaled="1"/>
            </a:gradFill>
            <a:ln w="12700" algn="ctr">
              <a:solidFill>
                <a:schemeClr val="bg1"/>
              </a:solidFill>
              <a:round/>
              <a:headEnd/>
              <a:tailEnd/>
            </a:ln>
            <a:effectLst>
              <a:outerShdw dist="99190" dir="2388334" algn="ctr" rotWithShape="0">
                <a:srgbClr val="333333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ko-KR" altLang="en-US">
                <a:latin typeface="08서울남산체 B" panose="02020603020101020101" pitchFamily="18" charset="-127"/>
                <a:ea typeface="08서울남산체 B" panose="02020603020101020101" pitchFamily="18" charset="-127"/>
              </a:endParaRPr>
            </a:p>
          </p:txBody>
        </p:sp>
        <p:sp>
          <p:nvSpPr>
            <p:cNvPr id="13" name="AutoShape 63">
              <a:extLst>
                <a:ext uri="{FF2B5EF4-FFF2-40B4-BE49-F238E27FC236}">
                  <a16:creationId xmlns:a16="http://schemas.microsoft.com/office/drawing/2014/main" id="{0405E100-5012-4127-B92A-61D7C62F42FA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296" y="1824"/>
              <a:ext cx="432" cy="432"/>
            </a:xfrm>
            <a:prstGeom prst="diamond">
              <a:avLst/>
            </a:prstGeom>
            <a:solidFill>
              <a:schemeClr val="folHlink"/>
            </a:solidFill>
            <a:ln w="25400" algn="ctr">
              <a:solidFill>
                <a:schemeClr val="bg1"/>
              </a:solidFill>
              <a:miter lim="800000"/>
              <a:headEnd/>
              <a:tailEnd/>
            </a:ln>
            <a:effectLst>
              <a:outerShdw dist="63500" dir="2212194" algn="ctr" rotWithShape="0">
                <a:srgbClr val="333333">
                  <a:alpha val="50000"/>
                </a:srgbClr>
              </a:outerShdw>
            </a:effec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latinLnBrk="1" hangingPunct="1"/>
              <a:endParaRPr lang="ko-KR" altLang="en-US">
                <a:latin typeface="08서울남산체 B" panose="02020603020101020101" pitchFamily="18" charset="-127"/>
                <a:ea typeface="08서울남산체 B" panose="02020603020101020101" pitchFamily="18" charset="-127"/>
              </a:endParaRPr>
            </a:p>
          </p:txBody>
        </p:sp>
        <p:sp>
          <p:nvSpPr>
            <p:cNvPr id="14" name="Text Box 64">
              <a:extLst>
                <a:ext uri="{FF2B5EF4-FFF2-40B4-BE49-F238E27FC236}">
                  <a16:creationId xmlns:a16="http://schemas.microsoft.com/office/drawing/2014/main" id="{D98786D3-DCAE-48D7-9B2A-6267FCCD50C4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780" y="1934"/>
              <a:ext cx="3402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latinLnBrk="1"/>
              <a:r>
                <a:rPr lang="ko-KR" altLang="en-US" b="1" dirty="0">
                  <a:solidFill>
                    <a:srgbClr val="000000"/>
                  </a:solidFill>
                  <a:latin typeface="08서울남산체 B" panose="02020603020101020101" pitchFamily="18" charset="-127"/>
                  <a:ea typeface="08서울남산체 B" panose="02020603020101020101" pitchFamily="18" charset="-127"/>
                </a:rPr>
                <a:t>브랜드 아이덴티티 개발 모델</a:t>
              </a:r>
              <a:endParaRPr lang="en-US" altLang="ko-KR" b="1" dirty="0">
                <a:solidFill>
                  <a:srgbClr val="000000"/>
                </a:solidFill>
                <a:latin typeface="08서울남산체 B" panose="02020603020101020101" pitchFamily="18" charset="-127"/>
                <a:ea typeface="08서울남산체 B" panose="02020603020101020101" pitchFamily="18" charset="-127"/>
              </a:endParaRPr>
            </a:p>
          </p:txBody>
        </p:sp>
        <p:sp>
          <p:nvSpPr>
            <p:cNvPr id="15" name="Text Box 65">
              <a:extLst>
                <a:ext uri="{FF2B5EF4-FFF2-40B4-BE49-F238E27FC236}">
                  <a16:creationId xmlns:a16="http://schemas.microsoft.com/office/drawing/2014/main" id="{32B1CD1D-3CEC-4C44-BE63-4E8F914E64DA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398" y="1886"/>
              <a:ext cx="213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92457" dir="9843276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 latinLnBrk="1"/>
              <a:r>
                <a:rPr lang="en-US" altLang="ko-KR" sz="2400" dirty="0">
                  <a:solidFill>
                    <a:schemeClr val="bg1"/>
                  </a:solidFill>
                  <a:latin typeface="08서울남산체 B" panose="02020603020101020101" pitchFamily="18" charset="-127"/>
                  <a:ea typeface="08서울남산체 B" panose="02020603020101020101" pitchFamily="18" charset="-127"/>
                </a:rPr>
                <a:t>4</a:t>
              </a:r>
            </a:p>
          </p:txBody>
        </p:sp>
      </p:grpSp>
      <p:grpSp>
        <p:nvGrpSpPr>
          <p:cNvPr id="28" name="Group 46">
            <a:extLst>
              <a:ext uri="{FF2B5EF4-FFF2-40B4-BE49-F238E27FC236}">
                <a16:creationId xmlns:a16="http://schemas.microsoft.com/office/drawing/2014/main" id="{CB350D04-9471-4DCA-AFDF-3C194024F0D9}"/>
              </a:ext>
            </a:extLst>
          </p:cNvPr>
          <p:cNvGrpSpPr>
            <a:grpSpLocks/>
          </p:cNvGrpSpPr>
          <p:nvPr/>
        </p:nvGrpSpPr>
        <p:grpSpPr bwMode="auto">
          <a:xfrm>
            <a:off x="6022985" y="5822378"/>
            <a:ext cx="6169015" cy="663286"/>
            <a:chOff x="1296" y="1824"/>
            <a:chExt cx="3886" cy="432"/>
          </a:xfrm>
        </p:grpSpPr>
        <p:sp>
          <p:nvSpPr>
            <p:cNvPr id="29" name="AutoShape 47">
              <a:extLst>
                <a:ext uri="{FF2B5EF4-FFF2-40B4-BE49-F238E27FC236}">
                  <a16:creationId xmlns:a16="http://schemas.microsoft.com/office/drawing/2014/main" id="{49D937FC-09D9-41E9-B9BC-EEE64DE60480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536" y="1899"/>
              <a:ext cx="3402" cy="288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accent2">
                    <a:gamma/>
                    <a:tint val="21176"/>
                    <a:invGamma/>
                  </a:schemeClr>
                </a:gs>
                <a:gs pos="100000">
                  <a:schemeClr val="accent2"/>
                </a:gs>
              </a:gsLst>
              <a:lin ang="0" scaled="1"/>
            </a:gradFill>
            <a:ln w="12700" algn="ctr">
              <a:solidFill>
                <a:schemeClr val="bg1"/>
              </a:solidFill>
              <a:round/>
              <a:headEnd/>
              <a:tailEnd/>
            </a:ln>
            <a:effectLst>
              <a:outerShdw dist="99190" dir="2388334" algn="ctr" rotWithShape="0">
                <a:srgbClr val="333333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ko-KR" altLang="en-US">
                <a:latin typeface="08서울남산체 B" panose="02020603020101020101" pitchFamily="18" charset="-127"/>
                <a:ea typeface="08서울남산체 B" panose="02020603020101020101" pitchFamily="18" charset="-127"/>
              </a:endParaRPr>
            </a:p>
          </p:txBody>
        </p:sp>
        <p:sp>
          <p:nvSpPr>
            <p:cNvPr id="30" name="AutoShape 48">
              <a:extLst>
                <a:ext uri="{FF2B5EF4-FFF2-40B4-BE49-F238E27FC236}">
                  <a16:creationId xmlns:a16="http://schemas.microsoft.com/office/drawing/2014/main" id="{7E5B679E-3419-4BD5-AF1C-D6EB57A1B924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296" y="1824"/>
              <a:ext cx="432" cy="432"/>
            </a:xfrm>
            <a:prstGeom prst="diamond">
              <a:avLst/>
            </a:prstGeom>
            <a:solidFill>
              <a:schemeClr val="accent2"/>
            </a:solidFill>
            <a:ln w="25400" algn="ctr">
              <a:solidFill>
                <a:schemeClr val="bg1"/>
              </a:solidFill>
              <a:miter lim="800000"/>
              <a:headEnd/>
              <a:tailEnd/>
            </a:ln>
            <a:effectLst>
              <a:outerShdw dist="63500" dir="2212194" algn="ctr" rotWithShape="0">
                <a:srgbClr val="333333">
                  <a:alpha val="50000"/>
                </a:srgbClr>
              </a:outerShdw>
            </a:effec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latinLnBrk="1" hangingPunct="1"/>
              <a:endParaRPr lang="ko-KR" altLang="en-US">
                <a:latin typeface="08서울남산체 B" panose="02020603020101020101" pitchFamily="18" charset="-127"/>
                <a:ea typeface="08서울남산체 B" panose="02020603020101020101" pitchFamily="18" charset="-127"/>
              </a:endParaRPr>
            </a:p>
          </p:txBody>
        </p:sp>
        <p:sp>
          <p:nvSpPr>
            <p:cNvPr id="31" name="Text Box 49">
              <a:extLst>
                <a:ext uri="{FF2B5EF4-FFF2-40B4-BE49-F238E27FC236}">
                  <a16:creationId xmlns:a16="http://schemas.microsoft.com/office/drawing/2014/main" id="{6AC042C3-06AE-472D-9A45-C71FA2ADF899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780" y="1934"/>
              <a:ext cx="3402" cy="24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latinLnBrk="1"/>
              <a:r>
                <a:rPr lang="ko-KR" altLang="en-US" b="1" dirty="0">
                  <a:solidFill>
                    <a:srgbClr val="000000"/>
                  </a:solidFill>
                  <a:latin typeface="08서울남산체 B" panose="02020603020101020101" pitchFamily="18" charset="-127"/>
                  <a:ea typeface="08서울남산체 B" panose="02020603020101020101" pitchFamily="18" charset="-127"/>
                </a:rPr>
                <a:t>브랜드 아이덴티티 실행요소 개발</a:t>
              </a:r>
              <a:endParaRPr lang="en-US" altLang="ko-KR" b="1" dirty="0">
                <a:solidFill>
                  <a:srgbClr val="000000"/>
                </a:solidFill>
                <a:latin typeface="08서울남산체 B" panose="02020603020101020101" pitchFamily="18" charset="-127"/>
                <a:ea typeface="08서울남산체 B" panose="02020603020101020101" pitchFamily="18" charset="-127"/>
              </a:endParaRPr>
            </a:p>
          </p:txBody>
        </p:sp>
        <p:sp>
          <p:nvSpPr>
            <p:cNvPr id="32" name="Text Box 50">
              <a:extLst>
                <a:ext uri="{FF2B5EF4-FFF2-40B4-BE49-F238E27FC236}">
                  <a16:creationId xmlns:a16="http://schemas.microsoft.com/office/drawing/2014/main" id="{14846C8C-BC0E-4D3E-8248-FBE33E0E9BE6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398" y="1886"/>
              <a:ext cx="213" cy="3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92457" dir="9843276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 latinLnBrk="1"/>
              <a:r>
                <a:rPr lang="en-US" altLang="ko-KR" sz="2400" dirty="0">
                  <a:solidFill>
                    <a:schemeClr val="bg1"/>
                  </a:solidFill>
                  <a:latin typeface="08서울남산체 B" panose="02020603020101020101" pitchFamily="18" charset="-127"/>
                  <a:ea typeface="08서울남산체 B" panose="02020603020101020101" pitchFamily="18" charset="-127"/>
                </a:rPr>
                <a:t>5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제목 1">
            <a:extLst>
              <a:ext uri="{FF2B5EF4-FFF2-40B4-BE49-F238E27FC236}">
                <a16:creationId xmlns:a16="http://schemas.microsoft.com/office/drawing/2014/main" id="{AAC64C6C-76C3-4D55-B2B6-B0463875E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9698037" cy="563563"/>
          </a:xfrm>
        </p:spPr>
        <p:txBody>
          <a:bodyPr/>
          <a:lstStyle/>
          <a:p>
            <a:pPr eaLnBrk="1" latinLnBrk="0" hangingPunct="1"/>
            <a:r>
              <a:rPr lang="en-US" altLang="ko-KR" dirty="0"/>
              <a:t>1) </a:t>
            </a:r>
            <a:r>
              <a:rPr lang="ko-KR" altLang="en-US" dirty="0"/>
              <a:t>레스토랑 콘셉트의 구체화</a:t>
            </a:r>
            <a:endParaRPr lang="ko-KR" altLang="en-US" sz="2000" dirty="0"/>
          </a:p>
        </p:txBody>
      </p:sp>
      <p:sp>
        <p:nvSpPr>
          <p:cNvPr id="16387" name="내용 개체 틀 2">
            <a:extLst>
              <a:ext uri="{FF2B5EF4-FFF2-40B4-BE49-F238E27FC236}">
                <a16:creationId xmlns:a16="http://schemas.microsoft.com/office/drawing/2014/main" id="{A019C3D6-C2D1-4366-A6CF-2FD12BD7DD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4688" y="1479176"/>
            <a:ext cx="11517312" cy="4858871"/>
          </a:xfrm>
        </p:spPr>
        <p:txBody>
          <a:bodyPr/>
          <a:lstStyle/>
          <a:p>
            <a:pPr eaLnBrk="1" latinLnBrk="0" hangingPunct="1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ko-KR" altLang="en-US" sz="2000" b="0" dirty="0"/>
              <a:t>목표고객이 누구 인가를 결정하는 것이 가장 중요</a:t>
            </a:r>
            <a:endParaRPr lang="en-US" altLang="ko-KR" sz="2000" b="0" dirty="0"/>
          </a:p>
          <a:p>
            <a:pPr eaLnBrk="1" latinLnBrk="0" hangingPunct="1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ko-KR" altLang="en-US" sz="2000" b="0" dirty="0"/>
              <a:t>목표고객의 기대나 요구사항을 반영하는 콘셉트 구성요소의 최적의 조합을 찾아야 함</a:t>
            </a:r>
            <a:endParaRPr lang="en-US" altLang="ko-KR" sz="2000" b="0" dirty="0"/>
          </a:p>
          <a:p>
            <a:pPr marL="536575" lvl="1" indent="-179388" eaLnBrk="1" latinLnBrk="0" hangingPunct="1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ko-KR" altLang="en-US" sz="1800" dirty="0"/>
              <a:t>목표고객이 선호하는 메뉴 종류나 메뉴 수</a:t>
            </a:r>
            <a:r>
              <a:rPr lang="en-US" altLang="ko-KR" sz="1800" dirty="0"/>
              <a:t>, </a:t>
            </a:r>
            <a:r>
              <a:rPr lang="ko-KR" altLang="en-US" sz="1800" dirty="0"/>
              <a:t>가격대</a:t>
            </a:r>
            <a:r>
              <a:rPr lang="en-US" altLang="ko-KR" sz="1800" dirty="0"/>
              <a:t>, </a:t>
            </a:r>
            <a:r>
              <a:rPr lang="ko-KR" altLang="en-US" sz="1800" dirty="0"/>
              <a:t>서비스 전달 방식</a:t>
            </a:r>
            <a:r>
              <a:rPr lang="en-US" altLang="ko-KR" sz="1800" dirty="0"/>
              <a:t>, </a:t>
            </a:r>
            <a:r>
              <a:rPr lang="ko-KR" altLang="en-US" sz="1800" dirty="0"/>
              <a:t>인적 서비스의 수준</a:t>
            </a:r>
            <a:r>
              <a:rPr lang="en-US" altLang="ko-KR" sz="1800" dirty="0"/>
              <a:t>, </a:t>
            </a:r>
            <a:r>
              <a:rPr lang="ko-KR" altLang="en-US" sz="1800" dirty="0"/>
              <a:t>물리적 환경 및 분위기</a:t>
            </a:r>
            <a:r>
              <a:rPr lang="en-US" altLang="ko-KR" sz="1800" dirty="0"/>
              <a:t>, </a:t>
            </a:r>
            <a:r>
              <a:rPr lang="ko-KR" altLang="en-US" sz="1800" dirty="0"/>
              <a:t>입지</a:t>
            </a:r>
            <a:r>
              <a:rPr lang="en-US" altLang="ko-KR" sz="1800" dirty="0"/>
              <a:t>, </a:t>
            </a:r>
            <a:r>
              <a:rPr lang="ko-KR" altLang="en-US" sz="1800" dirty="0"/>
              <a:t>커뮤니케이션 채널 등</a:t>
            </a:r>
            <a:endParaRPr lang="en-US" altLang="ko-KR" sz="1800" dirty="0"/>
          </a:p>
          <a:p>
            <a:pPr marL="536575" lvl="1" indent="-179388" eaLnBrk="1" latinLnBrk="0" hangingPunct="1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ko-KR" altLang="en-US" sz="1800" dirty="0"/>
              <a:t>점포 규모나 좌석수</a:t>
            </a:r>
            <a:r>
              <a:rPr lang="en-US" altLang="ko-KR" sz="1800" dirty="0"/>
              <a:t>,  </a:t>
            </a:r>
            <a:r>
              <a:rPr lang="ko-KR" altLang="en-US" sz="1800" dirty="0"/>
              <a:t>운영시간</a:t>
            </a:r>
            <a:r>
              <a:rPr lang="en-US" altLang="ko-KR" sz="1800" dirty="0"/>
              <a:t>, </a:t>
            </a:r>
            <a:r>
              <a:rPr lang="ko-KR" altLang="en-US" sz="1800" dirty="0"/>
              <a:t>좌석 회전율 등 점포 운영 관련 요소들도 구체화</a:t>
            </a:r>
            <a:endParaRPr lang="en-US" altLang="ko-KR" sz="2000" dirty="0"/>
          </a:p>
          <a:p>
            <a:pPr eaLnBrk="1" latinLnBrk="0" hangingPunct="1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ko-KR" altLang="en-US" sz="2000" b="0" dirty="0"/>
              <a:t>브랜드 포지셔닝 관점에서 레스토랑이 소비자들에게 어떻게 인식되기 원하는지를 브랜드 아이덴티티로 표현</a:t>
            </a:r>
            <a:endParaRPr lang="en-US" altLang="ko-KR" sz="2000" b="0" dirty="0"/>
          </a:p>
          <a:p>
            <a:pPr marL="536575" lvl="1" indent="-179388" eaLnBrk="1" latinLnBrk="0" hangingPunct="1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ko-KR" altLang="en-US" sz="1800" dirty="0"/>
              <a:t>핵심 아이덴티티</a:t>
            </a:r>
            <a:r>
              <a:rPr lang="en-US" altLang="ko-KR" sz="1800" dirty="0"/>
              <a:t>, </a:t>
            </a:r>
            <a:r>
              <a:rPr lang="ko-KR" altLang="en-US" sz="1800" dirty="0"/>
              <a:t>확장 아이덴티티</a:t>
            </a:r>
            <a:r>
              <a:rPr lang="en-US" altLang="ko-KR" sz="1800" dirty="0"/>
              <a:t>, </a:t>
            </a:r>
            <a:r>
              <a:rPr lang="ko-KR" altLang="en-US" sz="1800" dirty="0"/>
              <a:t>제공가치</a:t>
            </a:r>
            <a:endParaRPr lang="en-US" altLang="ko-KR" sz="1800" dirty="0"/>
          </a:p>
          <a:p>
            <a:pPr marL="536575" lvl="1" indent="-179388" eaLnBrk="1" latinLnBrk="0" hangingPunct="1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ko-KR" altLang="en-US" sz="1800" dirty="0"/>
              <a:t>브랜드 아이덴티티의 </a:t>
            </a:r>
            <a:r>
              <a:rPr lang="ko-KR" altLang="en-US" sz="1800" dirty="0" err="1"/>
              <a:t>디자인적인</a:t>
            </a:r>
            <a:r>
              <a:rPr lang="ko-KR" altLang="en-US" sz="1800" dirty="0"/>
              <a:t> 실행요소 구체화 </a:t>
            </a:r>
            <a:endParaRPr lang="en-US" altLang="ko-KR" sz="1800" dirty="0"/>
          </a:p>
          <a:p>
            <a:pPr marL="804862" lvl="2" indent="-179388" eaLnBrk="1" latinLnBrk="0" hangingPunct="1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ko-KR" altLang="en-US" sz="1600" dirty="0"/>
              <a:t>브랜드명</a:t>
            </a:r>
            <a:r>
              <a:rPr lang="en-US" altLang="ko-KR" sz="1600" dirty="0"/>
              <a:t>, </a:t>
            </a:r>
            <a:r>
              <a:rPr lang="ko-KR" altLang="en-US" sz="1600" dirty="0"/>
              <a:t>로고</a:t>
            </a:r>
            <a:r>
              <a:rPr lang="en-US" altLang="ko-KR" sz="1600" dirty="0"/>
              <a:t>, </a:t>
            </a:r>
            <a:r>
              <a:rPr lang="ko-KR" altLang="en-US" sz="1600" dirty="0"/>
              <a:t>슬로건</a:t>
            </a:r>
            <a:r>
              <a:rPr lang="en-US" altLang="ko-KR" sz="1600" dirty="0"/>
              <a:t>, </a:t>
            </a:r>
            <a:r>
              <a:rPr lang="ko-KR" altLang="en-US" sz="1600" dirty="0"/>
              <a:t>캐릭터</a:t>
            </a:r>
            <a:r>
              <a:rPr lang="en-US" altLang="ko-KR" sz="1600" dirty="0"/>
              <a:t>, </a:t>
            </a:r>
            <a:r>
              <a:rPr lang="ko-KR" altLang="en-US" sz="1600" dirty="0"/>
              <a:t>컬러</a:t>
            </a:r>
            <a:r>
              <a:rPr lang="en-US" altLang="ko-KR" sz="1600" dirty="0"/>
              <a:t>, </a:t>
            </a:r>
            <a:r>
              <a:rPr lang="ko-KR" altLang="en-US" sz="1600" dirty="0"/>
              <a:t>서체</a:t>
            </a:r>
            <a:r>
              <a:rPr lang="en-US" altLang="ko-KR" sz="1600" dirty="0"/>
              <a:t>, </a:t>
            </a:r>
            <a:r>
              <a:rPr lang="ko-KR" altLang="en-US" sz="1600" dirty="0"/>
              <a:t>패키지</a:t>
            </a:r>
            <a:r>
              <a:rPr lang="en-US" altLang="ko-KR" sz="1600" dirty="0"/>
              <a:t>, </a:t>
            </a:r>
            <a:r>
              <a:rPr lang="ko-KR" altLang="en-US" sz="1600" dirty="0"/>
              <a:t>징글 등</a:t>
            </a:r>
            <a:endParaRPr lang="en-US" altLang="ko-KR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제목 1">
            <a:extLst>
              <a:ext uri="{FF2B5EF4-FFF2-40B4-BE49-F238E27FC236}">
                <a16:creationId xmlns:a16="http://schemas.microsoft.com/office/drawing/2014/main" id="{AAC64C6C-76C3-4D55-B2B6-B0463875E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9698037" cy="563563"/>
          </a:xfrm>
        </p:spPr>
        <p:txBody>
          <a:bodyPr/>
          <a:lstStyle/>
          <a:p>
            <a:pPr eaLnBrk="1" latinLnBrk="0" hangingPunct="1"/>
            <a:r>
              <a:rPr lang="en-US" altLang="ko-KR" dirty="0"/>
              <a:t>2) </a:t>
            </a:r>
            <a:r>
              <a:rPr lang="ko-KR" altLang="en-US" dirty="0"/>
              <a:t>미래 핵심고객인 </a:t>
            </a:r>
            <a:r>
              <a:rPr lang="en-US" altLang="ko-KR" dirty="0"/>
              <a:t>MZ </a:t>
            </a:r>
            <a:r>
              <a:rPr lang="ko-KR" altLang="en-US" dirty="0"/>
              <a:t>세대의 특성</a:t>
            </a:r>
            <a:endParaRPr lang="ko-KR" altLang="en-US" sz="2000" dirty="0"/>
          </a:p>
        </p:txBody>
      </p:sp>
      <p:sp>
        <p:nvSpPr>
          <p:cNvPr id="16387" name="내용 개체 틀 2">
            <a:extLst>
              <a:ext uri="{FF2B5EF4-FFF2-40B4-BE49-F238E27FC236}">
                <a16:creationId xmlns:a16="http://schemas.microsoft.com/office/drawing/2014/main" id="{A019C3D6-C2D1-4366-A6CF-2FD12BD7DD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4688" y="1344707"/>
            <a:ext cx="11517312" cy="1600200"/>
          </a:xfrm>
        </p:spPr>
        <p:txBody>
          <a:bodyPr/>
          <a:lstStyle/>
          <a:p>
            <a:pPr eaLnBrk="1" latinLnBrk="0" hangingPunct="1">
              <a:buFont typeface="Wingdings" panose="05000000000000000000" pitchFamily="2" charset="2"/>
              <a:buChar char="§"/>
              <a:defRPr/>
            </a:pPr>
            <a:r>
              <a:rPr lang="en-US" altLang="ko-KR" sz="2000" b="0" dirty="0"/>
              <a:t>MZ</a:t>
            </a:r>
            <a:r>
              <a:rPr lang="ko-KR" altLang="en-US" sz="2000" b="0" dirty="0"/>
              <a:t>세대</a:t>
            </a:r>
            <a:r>
              <a:rPr lang="en-US" altLang="ko-KR" sz="2000" b="0" dirty="0"/>
              <a:t>(1981</a:t>
            </a:r>
            <a:r>
              <a:rPr lang="ko-KR" altLang="en-US" sz="2000" b="0" dirty="0"/>
              <a:t>년생</a:t>
            </a:r>
            <a:r>
              <a:rPr lang="en-US" altLang="ko-KR" sz="2000" b="0" dirty="0"/>
              <a:t>~2010</a:t>
            </a:r>
            <a:r>
              <a:rPr lang="ko-KR" altLang="en-US" sz="2000" b="0" dirty="0"/>
              <a:t>년생</a:t>
            </a:r>
            <a:r>
              <a:rPr lang="en-US" altLang="ko-KR" sz="2000" b="0" dirty="0"/>
              <a:t>)</a:t>
            </a:r>
            <a:r>
              <a:rPr lang="ko-KR" altLang="en-US" sz="2000" b="0" dirty="0"/>
              <a:t>는 미래 시장의 핵심 소비계층 </a:t>
            </a:r>
            <a:endParaRPr lang="en-US" altLang="ko-KR" sz="2000" b="0" dirty="0"/>
          </a:p>
          <a:p>
            <a:pPr marL="536575" lvl="1" indent="-179388" eaLnBrk="1" latinLnBrk="0" hangingPunct="1">
              <a:buFont typeface="Wingdings" panose="05000000000000000000" pitchFamily="2" charset="2"/>
              <a:buChar char="§"/>
              <a:defRPr/>
            </a:pPr>
            <a:r>
              <a:rPr lang="en-US" altLang="ko-KR" sz="1800" dirty="0"/>
              <a:t>2021</a:t>
            </a:r>
            <a:r>
              <a:rPr lang="ko-KR" altLang="en-US" sz="1800" dirty="0"/>
              <a:t>년 </a:t>
            </a:r>
            <a:r>
              <a:rPr lang="en-US" altLang="ko-KR" sz="1800" dirty="0"/>
              <a:t>4</a:t>
            </a:r>
            <a:r>
              <a:rPr lang="ko-KR" altLang="en-US" sz="1800" dirty="0"/>
              <a:t>월말 기준 전체 인구의 약 </a:t>
            </a:r>
            <a:r>
              <a:rPr lang="en-US" altLang="ko-KR" sz="1800" dirty="0"/>
              <a:t>36%</a:t>
            </a:r>
            <a:r>
              <a:rPr lang="ko-KR" altLang="en-US" sz="1800" dirty="0"/>
              <a:t>를 차지</a:t>
            </a:r>
            <a:endParaRPr lang="en-US" altLang="ko-KR" sz="1800" dirty="0"/>
          </a:p>
          <a:p>
            <a:pPr marL="536575" lvl="1" indent="-179388" eaLnBrk="1" latinLnBrk="0" hangingPunct="1">
              <a:buFont typeface="Wingdings" panose="05000000000000000000" pitchFamily="2" charset="2"/>
              <a:buChar char="§"/>
              <a:defRPr/>
            </a:pPr>
            <a:r>
              <a:rPr lang="ko-KR" altLang="en-US" sz="1800" dirty="0"/>
              <a:t>기존 세대의 구매력을 뛰어넘는 세대로 미래 사업의 성공은 이들이 좌우할 것으로 예상</a:t>
            </a:r>
            <a:endParaRPr lang="en-US" altLang="ko-KR" sz="1800" dirty="0"/>
          </a:p>
          <a:p>
            <a:pPr marL="536575" lvl="1" indent="-179388" eaLnBrk="1" latinLnBrk="0" hangingPunct="1">
              <a:buFont typeface="Wingdings" panose="05000000000000000000" pitchFamily="2" charset="2"/>
              <a:buChar char="§"/>
              <a:defRPr/>
            </a:pPr>
            <a:r>
              <a:rPr lang="en-US" altLang="ko-KR" sz="1800" dirty="0"/>
              <a:t>SNS</a:t>
            </a:r>
            <a:r>
              <a:rPr lang="ko-KR" altLang="en-US" sz="1800" dirty="0"/>
              <a:t>를 잘 활용하고 이슈를 빠르게 전달하는데 익숙해 기업들을 순식간에 흥하게 하거나 망하게 할 </a:t>
            </a:r>
            <a:r>
              <a:rPr lang="ko-KR" altLang="en-US" sz="1800" dirty="0" err="1"/>
              <a:t>수있음</a:t>
            </a:r>
            <a:r>
              <a:rPr lang="ko-KR" altLang="en-US" sz="1800" dirty="0"/>
              <a:t> </a:t>
            </a:r>
            <a:endParaRPr lang="en-US" altLang="ko-KR" sz="1800" dirty="0"/>
          </a:p>
          <a:p>
            <a:pPr marL="536575" lvl="1" indent="-179388" eaLnBrk="1" latinLnBrk="0" hangingPunct="1">
              <a:buFont typeface="Wingdings" panose="05000000000000000000" pitchFamily="2" charset="2"/>
              <a:buChar char="§"/>
              <a:defRPr/>
            </a:pPr>
            <a:endParaRPr lang="en-US" altLang="ko-KR" sz="1600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2B5A51EE-A7CF-4DB0-AE05-7B882DBCB6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8119" y="2693939"/>
            <a:ext cx="8450963" cy="3963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63997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제목 1">
            <a:extLst>
              <a:ext uri="{FF2B5EF4-FFF2-40B4-BE49-F238E27FC236}">
                <a16:creationId xmlns:a16="http://schemas.microsoft.com/office/drawing/2014/main" id="{AAC64C6C-76C3-4D55-B2B6-B0463875E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9698037" cy="563563"/>
          </a:xfrm>
        </p:spPr>
        <p:txBody>
          <a:bodyPr/>
          <a:lstStyle/>
          <a:p>
            <a:pPr eaLnBrk="1" latinLnBrk="0" hangingPunct="1"/>
            <a:r>
              <a:rPr lang="en-US" altLang="ko-KR" dirty="0"/>
              <a:t>2) </a:t>
            </a:r>
            <a:r>
              <a:rPr lang="ko-KR" altLang="en-US" dirty="0"/>
              <a:t>미래 핵심고객인 </a:t>
            </a:r>
            <a:r>
              <a:rPr lang="en-US" altLang="ko-KR" dirty="0"/>
              <a:t>MZ </a:t>
            </a:r>
            <a:r>
              <a:rPr lang="ko-KR" altLang="en-US" dirty="0"/>
              <a:t>세대의 특성</a:t>
            </a:r>
            <a:endParaRPr lang="ko-KR" altLang="en-US" sz="2000" dirty="0"/>
          </a:p>
        </p:txBody>
      </p:sp>
      <p:sp>
        <p:nvSpPr>
          <p:cNvPr id="16387" name="내용 개체 틀 2">
            <a:extLst>
              <a:ext uri="{FF2B5EF4-FFF2-40B4-BE49-F238E27FC236}">
                <a16:creationId xmlns:a16="http://schemas.microsoft.com/office/drawing/2014/main" id="{A019C3D6-C2D1-4366-A6CF-2FD12BD7DD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641" y="1371601"/>
            <a:ext cx="11642818" cy="1600200"/>
          </a:xfrm>
        </p:spPr>
        <p:txBody>
          <a:bodyPr/>
          <a:lstStyle/>
          <a:p>
            <a:pPr eaLnBrk="1" latinLnBrk="0" hangingPunct="1">
              <a:buFont typeface="Wingdings" panose="05000000000000000000" pitchFamily="2" charset="2"/>
              <a:buChar char="§"/>
              <a:defRPr/>
            </a:pPr>
            <a:r>
              <a:rPr lang="en-US" altLang="ko-KR" sz="2000" b="0" dirty="0"/>
              <a:t>SNS</a:t>
            </a:r>
            <a:r>
              <a:rPr lang="ko-KR" altLang="en-US" sz="2000" b="0" dirty="0"/>
              <a:t>와 인터넷</a:t>
            </a:r>
            <a:r>
              <a:rPr lang="en-US" altLang="ko-KR" sz="2000" b="0" dirty="0"/>
              <a:t>, </a:t>
            </a:r>
            <a:r>
              <a:rPr lang="ko-KR" altLang="en-US" sz="2000" b="0" dirty="0"/>
              <a:t>스마트폰에 익숙한 세대이며 메타버스라는 가상 세계에서 아바타로 생활 </a:t>
            </a:r>
            <a:endParaRPr lang="en-US" altLang="ko-KR" sz="2000" b="0" dirty="0"/>
          </a:p>
          <a:p>
            <a:pPr marL="536575" lvl="1" indent="-179388" eaLnBrk="1" latinLnBrk="0" hangingPunct="1">
              <a:buFont typeface="Wingdings" panose="05000000000000000000" pitchFamily="2" charset="2"/>
              <a:buChar char="§"/>
              <a:defRPr/>
            </a:pPr>
            <a:r>
              <a:rPr lang="ko-KR" altLang="en-US" sz="1800" dirty="0"/>
              <a:t>현실과 가상 세계의 구분을 두지 않고 가상세계에서도 평범한 일상과 비슷한 가상 일상을 즐김 </a:t>
            </a:r>
            <a:r>
              <a:rPr lang="en-US" altLang="ko-KR" sz="1800" dirty="0">
                <a:sym typeface="Wingdings" panose="05000000000000000000" pitchFamily="2" charset="2"/>
              </a:rPr>
              <a:t></a:t>
            </a:r>
            <a:r>
              <a:rPr lang="en-US" altLang="ko-KR" sz="1800" dirty="0"/>
              <a:t> </a:t>
            </a:r>
            <a:r>
              <a:rPr lang="ko-KR" altLang="en-US" sz="1800" dirty="0"/>
              <a:t>메타버스 마케팅을 주목하는 이유</a:t>
            </a:r>
            <a:endParaRPr lang="en-US" altLang="ko-KR" sz="1800" dirty="0"/>
          </a:p>
          <a:p>
            <a:pPr marL="536575" lvl="1" indent="-179388" eaLnBrk="1" latinLnBrk="0" hangingPunct="1">
              <a:buFont typeface="Wingdings" panose="05000000000000000000" pitchFamily="2" charset="2"/>
              <a:buChar char="§"/>
              <a:defRPr/>
            </a:pPr>
            <a:r>
              <a:rPr lang="ko-KR" altLang="en-US" sz="1800" dirty="0"/>
              <a:t>구찌</a:t>
            </a:r>
            <a:r>
              <a:rPr lang="en-US" altLang="ko-KR" sz="1800" dirty="0"/>
              <a:t>, </a:t>
            </a:r>
            <a:r>
              <a:rPr lang="ko-KR" altLang="en-US" sz="1800" dirty="0"/>
              <a:t>버버리</a:t>
            </a:r>
            <a:r>
              <a:rPr lang="en-US" altLang="ko-KR" sz="1800" dirty="0"/>
              <a:t>, </a:t>
            </a:r>
            <a:r>
              <a:rPr lang="ko-KR" altLang="en-US" sz="1800" dirty="0"/>
              <a:t>나이키</a:t>
            </a:r>
            <a:r>
              <a:rPr lang="en-US" altLang="ko-KR" sz="1800" dirty="0"/>
              <a:t>, </a:t>
            </a:r>
            <a:r>
              <a:rPr lang="ko-KR" altLang="en-US" sz="1800" dirty="0"/>
              <a:t>푸마 등 세계적인 명품기업들의 메타버스 마케팅은 </a:t>
            </a:r>
            <a:r>
              <a:rPr lang="en-US" altLang="ko-KR" sz="1800" dirty="0"/>
              <a:t>Z</a:t>
            </a:r>
            <a:r>
              <a:rPr lang="ko-KR" altLang="en-US" sz="1800" dirty="0"/>
              <a:t>세대에 큰 인기</a:t>
            </a:r>
            <a:endParaRPr lang="en-US" altLang="ko-KR" sz="1800" dirty="0"/>
          </a:p>
          <a:p>
            <a:pPr marL="536575" lvl="1" indent="-179388" eaLnBrk="1" latinLnBrk="0" hangingPunct="1">
              <a:buFont typeface="Wingdings" panose="05000000000000000000" pitchFamily="2" charset="2"/>
              <a:buChar char="§"/>
              <a:defRPr/>
            </a:pPr>
            <a:r>
              <a:rPr lang="ko-KR" altLang="en-US" sz="1800" dirty="0"/>
              <a:t>국내 식품업계와 외식업계들도 메타버스 마케팅을 시작했으며 가상공간에서 브랜드 경험의 기회를 제공</a:t>
            </a:r>
            <a:endParaRPr lang="en-US" altLang="ko-KR" sz="18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A42E635-A540-4902-955E-8D7DF5803D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2496" y="2977913"/>
            <a:ext cx="7507007" cy="3499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39550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제목 1">
            <a:extLst>
              <a:ext uri="{FF2B5EF4-FFF2-40B4-BE49-F238E27FC236}">
                <a16:creationId xmlns:a16="http://schemas.microsoft.com/office/drawing/2014/main" id="{AAC64C6C-76C3-4D55-B2B6-B0463875E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9698037" cy="563563"/>
          </a:xfrm>
        </p:spPr>
        <p:txBody>
          <a:bodyPr/>
          <a:lstStyle/>
          <a:p>
            <a:pPr eaLnBrk="1" latinLnBrk="0" hangingPunct="1"/>
            <a:r>
              <a:rPr lang="en-US" altLang="ko-KR" dirty="0"/>
              <a:t>2) </a:t>
            </a:r>
            <a:r>
              <a:rPr lang="ko-KR" altLang="en-US" dirty="0"/>
              <a:t>미래 핵심고객인 </a:t>
            </a:r>
            <a:r>
              <a:rPr lang="en-US" altLang="ko-KR" dirty="0"/>
              <a:t>MZ </a:t>
            </a:r>
            <a:r>
              <a:rPr lang="ko-KR" altLang="en-US" dirty="0"/>
              <a:t>세대의 특성</a:t>
            </a:r>
            <a:endParaRPr lang="ko-KR" altLang="en-US" sz="2000" dirty="0"/>
          </a:p>
        </p:txBody>
      </p:sp>
      <p:sp>
        <p:nvSpPr>
          <p:cNvPr id="16387" name="내용 개체 틀 2">
            <a:extLst>
              <a:ext uri="{FF2B5EF4-FFF2-40B4-BE49-F238E27FC236}">
                <a16:creationId xmlns:a16="http://schemas.microsoft.com/office/drawing/2014/main" id="{A019C3D6-C2D1-4366-A6CF-2FD12BD7DD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641" y="1371601"/>
            <a:ext cx="11642818" cy="1600200"/>
          </a:xfrm>
        </p:spPr>
        <p:txBody>
          <a:bodyPr/>
          <a:lstStyle/>
          <a:p>
            <a:pPr eaLnBrk="1" latinLnBrk="0" hangingPunct="1">
              <a:buFont typeface="Wingdings" panose="05000000000000000000" pitchFamily="2" charset="2"/>
              <a:buChar char="§"/>
              <a:defRPr/>
            </a:pPr>
            <a:r>
              <a:rPr lang="ko-KR" altLang="en-US" sz="2000" b="0" dirty="0"/>
              <a:t>모바일이나 온라인에서 물건을 구매하고</a:t>
            </a:r>
            <a:r>
              <a:rPr lang="en-US" altLang="ko-KR" sz="2000" b="0" dirty="0"/>
              <a:t>,</a:t>
            </a:r>
            <a:r>
              <a:rPr lang="ko-KR" altLang="en-US" sz="2000" b="0" dirty="0"/>
              <a:t> 텍스트보다는 이미지와 비주얼로 소통하는 것을 좋아함</a:t>
            </a:r>
            <a:endParaRPr lang="en-US" altLang="ko-KR" sz="2000" b="0" dirty="0"/>
          </a:p>
          <a:p>
            <a:pPr marL="536575" lvl="1" indent="-179388" eaLnBrk="1" latinLnBrk="0" hangingPunct="1">
              <a:buFont typeface="Wingdings" panose="05000000000000000000" pitchFamily="2" charset="2"/>
              <a:buChar char="§"/>
              <a:defRPr/>
            </a:pPr>
            <a:r>
              <a:rPr lang="ko-KR" altLang="en-US" sz="1800" dirty="0"/>
              <a:t>예쁘고 좋은 것은 인증샷으로 공유</a:t>
            </a:r>
            <a:endParaRPr lang="en-US" altLang="ko-KR" sz="1800" dirty="0"/>
          </a:p>
          <a:p>
            <a:pPr marL="536575" lvl="1" indent="-179388" eaLnBrk="1" latinLnBrk="0" hangingPunct="1">
              <a:buFont typeface="Wingdings" panose="05000000000000000000" pitchFamily="2" charset="2"/>
              <a:buChar char="§"/>
              <a:defRPr/>
            </a:pPr>
            <a:r>
              <a:rPr lang="ko-KR" altLang="en-US" sz="1800" dirty="0" err="1"/>
              <a:t>핫플레이스로</a:t>
            </a:r>
            <a:r>
              <a:rPr lang="ko-KR" altLang="en-US" sz="1800" dirty="0"/>
              <a:t> 불리는 인기 카페나 레스토랑은 맛있는 음식 제공은 기본이며</a:t>
            </a:r>
            <a:r>
              <a:rPr lang="en-US" altLang="ko-KR" sz="1800" dirty="0"/>
              <a:t>, </a:t>
            </a:r>
            <a:r>
              <a:rPr lang="ko-KR" altLang="en-US" sz="1800" dirty="0"/>
              <a:t>더 중요한 것은 </a:t>
            </a:r>
            <a:r>
              <a:rPr lang="en-US" altLang="ko-KR" sz="1800" dirty="0"/>
              <a:t>MZ </a:t>
            </a:r>
            <a:r>
              <a:rPr lang="ko-KR" altLang="en-US" sz="1800" dirty="0"/>
              <a:t>세대 마음을 사로 잡을 만한 </a:t>
            </a:r>
            <a:r>
              <a:rPr lang="ko-KR" altLang="en-US" sz="1800" dirty="0" err="1"/>
              <a:t>인스타그래머블한</a:t>
            </a:r>
            <a:r>
              <a:rPr lang="ko-KR" altLang="en-US" sz="1800" dirty="0"/>
              <a:t> 음식 </a:t>
            </a:r>
            <a:r>
              <a:rPr lang="ko-KR" altLang="en-US" sz="1800" dirty="0" err="1"/>
              <a:t>플레이팅과</a:t>
            </a:r>
            <a:r>
              <a:rPr lang="ko-KR" altLang="en-US" sz="1800" dirty="0"/>
              <a:t> 공간의 인테리어</a:t>
            </a:r>
            <a:endParaRPr lang="en-US" altLang="ko-KR" sz="1800" dirty="0"/>
          </a:p>
          <a:p>
            <a:pPr marL="536575" lvl="1" indent="-179388" eaLnBrk="1" latinLnBrk="0" hangingPunct="1">
              <a:buFont typeface="Wingdings" panose="05000000000000000000" pitchFamily="2" charset="2"/>
              <a:buChar char="§"/>
              <a:defRPr/>
            </a:pPr>
            <a:r>
              <a:rPr lang="ko-KR" altLang="en-US" sz="1800" dirty="0"/>
              <a:t>영국의 스케치 런던은 화사한 핑크칼라 </a:t>
            </a:r>
            <a:r>
              <a:rPr lang="ko-KR" altLang="en-US" sz="1800" dirty="0" err="1"/>
              <a:t>티룸과</a:t>
            </a:r>
            <a:r>
              <a:rPr lang="ko-KR" altLang="en-US" sz="1800" dirty="0"/>
              <a:t> 함께 화장실도 </a:t>
            </a:r>
            <a:r>
              <a:rPr lang="ko-KR" altLang="en-US" sz="1800" dirty="0" err="1"/>
              <a:t>인스타그래머블하게</a:t>
            </a:r>
            <a:r>
              <a:rPr lang="ko-KR" altLang="en-US" sz="1800" dirty="0"/>
              <a:t> 설계하여 계절 마다 디스플레이 변화를 주고 있음</a:t>
            </a:r>
            <a:endParaRPr lang="en-US" altLang="ko-KR" sz="1800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4D375170-3025-442A-8D3B-E42AA108F9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0125" y="3160059"/>
            <a:ext cx="8451749" cy="3576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89566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제목 1">
            <a:extLst>
              <a:ext uri="{FF2B5EF4-FFF2-40B4-BE49-F238E27FC236}">
                <a16:creationId xmlns:a16="http://schemas.microsoft.com/office/drawing/2014/main" id="{AAC64C6C-76C3-4D55-B2B6-B0463875E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9698037" cy="563563"/>
          </a:xfrm>
        </p:spPr>
        <p:txBody>
          <a:bodyPr/>
          <a:lstStyle/>
          <a:p>
            <a:pPr eaLnBrk="1" latinLnBrk="0" hangingPunct="1"/>
            <a:r>
              <a:rPr lang="en-US" altLang="ko-KR" dirty="0"/>
              <a:t>2) </a:t>
            </a:r>
            <a:r>
              <a:rPr lang="ko-KR" altLang="en-US" dirty="0"/>
              <a:t>미래 핵심고객인 </a:t>
            </a:r>
            <a:r>
              <a:rPr lang="en-US" altLang="ko-KR" dirty="0"/>
              <a:t>MZ </a:t>
            </a:r>
            <a:r>
              <a:rPr lang="ko-KR" altLang="en-US" dirty="0"/>
              <a:t>세대의 특성</a:t>
            </a:r>
            <a:endParaRPr lang="ko-KR" altLang="en-US" sz="2000" dirty="0"/>
          </a:p>
        </p:txBody>
      </p:sp>
      <p:sp>
        <p:nvSpPr>
          <p:cNvPr id="16387" name="내용 개체 틀 2">
            <a:extLst>
              <a:ext uri="{FF2B5EF4-FFF2-40B4-BE49-F238E27FC236}">
                <a16:creationId xmlns:a16="http://schemas.microsoft.com/office/drawing/2014/main" id="{A019C3D6-C2D1-4366-A6CF-2FD12BD7DD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641" y="1371601"/>
            <a:ext cx="11642818" cy="1600200"/>
          </a:xfrm>
        </p:spPr>
        <p:txBody>
          <a:bodyPr/>
          <a:lstStyle/>
          <a:p>
            <a:pPr eaLnBrk="1" latinLnBrk="0" hangingPunct="1">
              <a:buFont typeface="Wingdings" panose="05000000000000000000" pitchFamily="2" charset="2"/>
              <a:buChar char="§"/>
              <a:defRPr/>
            </a:pPr>
            <a:r>
              <a:rPr lang="ko-KR" altLang="en-US" sz="2000" b="0" dirty="0"/>
              <a:t>모르는 것이나 궁금한 것은 물어보지 않고 </a:t>
            </a:r>
            <a:r>
              <a:rPr lang="en-US" altLang="ko-KR" sz="2000" b="0" dirty="0"/>
              <a:t>‘</a:t>
            </a:r>
            <a:r>
              <a:rPr lang="ko-KR" altLang="en-US" sz="2000" b="0" dirty="0"/>
              <a:t>검색</a:t>
            </a:r>
            <a:r>
              <a:rPr lang="en-US" altLang="ko-KR" sz="2000" b="0" dirty="0"/>
              <a:t>’</a:t>
            </a:r>
            <a:r>
              <a:rPr lang="ko-KR" altLang="en-US" sz="2000" b="0" dirty="0"/>
              <a:t>함</a:t>
            </a:r>
            <a:endParaRPr lang="en-US" altLang="ko-KR" sz="1800" dirty="0"/>
          </a:p>
          <a:p>
            <a:pPr marL="536575" lvl="1" indent="-179388" eaLnBrk="1" latinLnBrk="0" hangingPunct="1">
              <a:buFont typeface="Wingdings" panose="05000000000000000000" pitchFamily="2" charset="2"/>
              <a:buChar char="§"/>
              <a:defRPr/>
            </a:pPr>
            <a:r>
              <a:rPr lang="ko-KR" altLang="en-US" sz="1800" dirty="0"/>
              <a:t>외식 브랜드에 대해 궁금하다면 먼저 검색을 할 것임</a:t>
            </a:r>
            <a:r>
              <a:rPr lang="en-US" altLang="ko-KR" sz="1800" dirty="0"/>
              <a:t>. </a:t>
            </a:r>
            <a:r>
              <a:rPr lang="ko-KR" altLang="en-US" sz="1800" dirty="0"/>
              <a:t>따라서 검색되지 않는다면 이들에게는 존재하지 않는 브랜드와 같음</a:t>
            </a:r>
            <a:endParaRPr lang="en-US" altLang="ko-KR" sz="1800" dirty="0"/>
          </a:p>
          <a:p>
            <a:pPr marL="536575" lvl="1" indent="-179388" eaLnBrk="1" latinLnBrk="0" hangingPunct="1">
              <a:buFont typeface="Wingdings" panose="05000000000000000000" pitchFamily="2" charset="2"/>
              <a:buChar char="§"/>
              <a:defRPr/>
            </a:pPr>
            <a:r>
              <a:rPr lang="ko-KR" altLang="en-US" sz="1800" dirty="0"/>
              <a:t>관심이 있거나 광고 등이 마음에 들어도 검색하는데</a:t>
            </a:r>
            <a:r>
              <a:rPr lang="en-US" altLang="ko-KR" sz="1800" dirty="0"/>
              <a:t>, </a:t>
            </a:r>
            <a:r>
              <a:rPr lang="ko-KR" altLang="en-US" sz="1800" dirty="0"/>
              <a:t>이때는 더 자세한 정보를 원한다는 것이며 여러분 브랜드를 만날 마음이 있다는 것임</a:t>
            </a:r>
            <a:endParaRPr lang="en-US" altLang="ko-KR" sz="1800" dirty="0"/>
          </a:p>
          <a:p>
            <a:pPr marL="536575" lvl="1" indent="-179388" eaLnBrk="1" latinLnBrk="0" hangingPunct="1">
              <a:buFont typeface="Wingdings" panose="05000000000000000000" pitchFamily="2" charset="2"/>
              <a:buChar char="§"/>
              <a:defRPr/>
            </a:pPr>
            <a:r>
              <a:rPr lang="en-US" altLang="ko-KR" sz="1800" dirty="0"/>
              <a:t>SNS</a:t>
            </a:r>
            <a:r>
              <a:rPr lang="ko-KR" altLang="en-US" sz="1800" dirty="0"/>
              <a:t>를 포함해 온라인 </a:t>
            </a:r>
            <a:r>
              <a:rPr lang="ko-KR" altLang="en-US" sz="1800" dirty="0" err="1"/>
              <a:t>어디엔가</a:t>
            </a:r>
            <a:r>
              <a:rPr lang="ko-KR" altLang="en-US" sz="1800" dirty="0"/>
              <a:t> 브랜드와 관련된 긍정적인 정보들이 많이 검색되도록 해야 이 세대에 접근이 가능함</a:t>
            </a:r>
            <a:endParaRPr lang="en-US" altLang="ko-KR" sz="18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AA62138-FC4E-4C98-8DDD-67DA9E8A1FD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8688" b="16795"/>
          <a:stretch/>
        </p:blipFill>
        <p:spPr>
          <a:xfrm>
            <a:off x="3615017" y="3542370"/>
            <a:ext cx="5396309" cy="279119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FEB6B91-F5F4-4918-AF26-7A388E80D04B}"/>
              </a:ext>
            </a:extLst>
          </p:cNvPr>
          <p:cNvSpPr txBox="1"/>
          <p:nvPr/>
        </p:nvSpPr>
        <p:spPr>
          <a:xfrm>
            <a:off x="513604" y="6292334"/>
            <a:ext cx="12811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*</a:t>
            </a:r>
            <a:r>
              <a:rPr lang="ko-KR" altLang="en-US" sz="1200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이미지 출처 </a:t>
            </a:r>
            <a:r>
              <a:rPr lang="en-US" altLang="ko-KR" sz="1200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: </a:t>
            </a:r>
            <a:r>
              <a:rPr lang="ko-KR" altLang="en-US" sz="1200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구글</a:t>
            </a:r>
          </a:p>
        </p:txBody>
      </p:sp>
    </p:spTree>
    <p:extLst>
      <p:ext uri="{BB962C8B-B14F-4D97-AF65-F5344CB8AC3E}">
        <p14:creationId xmlns:p14="http://schemas.microsoft.com/office/powerpoint/2010/main" val="31595337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제목 1">
            <a:extLst>
              <a:ext uri="{FF2B5EF4-FFF2-40B4-BE49-F238E27FC236}">
                <a16:creationId xmlns:a16="http://schemas.microsoft.com/office/drawing/2014/main" id="{AAC64C6C-76C3-4D55-B2B6-B0463875E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9698037" cy="563563"/>
          </a:xfrm>
        </p:spPr>
        <p:txBody>
          <a:bodyPr/>
          <a:lstStyle/>
          <a:p>
            <a:pPr eaLnBrk="1" latinLnBrk="0" hangingPunct="1"/>
            <a:r>
              <a:rPr lang="en-US" altLang="ko-KR" dirty="0"/>
              <a:t>2) </a:t>
            </a:r>
            <a:r>
              <a:rPr lang="ko-KR" altLang="en-US" dirty="0"/>
              <a:t>미래 핵심고객인 </a:t>
            </a:r>
            <a:r>
              <a:rPr lang="en-US" altLang="ko-KR" dirty="0"/>
              <a:t>MZ </a:t>
            </a:r>
            <a:r>
              <a:rPr lang="ko-KR" altLang="en-US" dirty="0"/>
              <a:t>세대의 특성</a:t>
            </a:r>
            <a:endParaRPr lang="ko-KR" altLang="en-US" sz="2000" dirty="0"/>
          </a:p>
        </p:txBody>
      </p:sp>
      <p:sp>
        <p:nvSpPr>
          <p:cNvPr id="16387" name="내용 개체 틀 2">
            <a:extLst>
              <a:ext uri="{FF2B5EF4-FFF2-40B4-BE49-F238E27FC236}">
                <a16:creationId xmlns:a16="http://schemas.microsoft.com/office/drawing/2014/main" id="{A019C3D6-C2D1-4366-A6CF-2FD12BD7DD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641" y="1371601"/>
            <a:ext cx="11642818" cy="1600200"/>
          </a:xfrm>
        </p:spPr>
        <p:txBody>
          <a:bodyPr/>
          <a:lstStyle/>
          <a:p>
            <a:pPr eaLnBrk="1" latinLnBrk="0" hangingPunct="1">
              <a:buFont typeface="Wingdings" panose="05000000000000000000" pitchFamily="2" charset="2"/>
              <a:buChar char="§"/>
              <a:defRPr/>
            </a:pPr>
            <a:r>
              <a:rPr lang="ko-KR" altLang="en-US" sz="2000" b="0" dirty="0"/>
              <a:t>자신의 개성과 취향을 중시하며 남들이 다 가진 것보다는 특별한 나만의 것을 원함</a:t>
            </a:r>
            <a:endParaRPr lang="en-US" altLang="ko-KR" sz="1800" dirty="0"/>
          </a:p>
          <a:p>
            <a:pPr marL="536575" lvl="1" indent="-179388" eaLnBrk="1" latinLnBrk="0" hangingPunct="1">
              <a:buFont typeface="Wingdings" panose="05000000000000000000" pitchFamily="2" charset="2"/>
              <a:buChar char="§"/>
              <a:defRPr/>
            </a:pPr>
            <a:r>
              <a:rPr lang="ko-KR" altLang="en-US" sz="1800" dirty="0"/>
              <a:t>추가 요금을 내서라도 자신만의 취향을 담아 직접 맞춤 제작할 수 있는 커스터마이징 서비스 선호</a:t>
            </a:r>
            <a:endParaRPr lang="en-US" altLang="ko-KR" sz="1800" dirty="0"/>
          </a:p>
          <a:p>
            <a:pPr marL="536575" lvl="1" indent="-179388" eaLnBrk="1" latinLnBrk="0" hangingPunct="1">
              <a:buFont typeface="Wingdings" panose="05000000000000000000" pitchFamily="2" charset="2"/>
              <a:buChar char="§"/>
              <a:defRPr/>
            </a:pPr>
            <a:r>
              <a:rPr lang="ko-KR" altLang="en-US" sz="1800" dirty="0" err="1"/>
              <a:t>컨버스</a:t>
            </a:r>
            <a:r>
              <a:rPr lang="ko-KR" altLang="en-US" sz="1800" dirty="0"/>
              <a:t> </a:t>
            </a:r>
            <a:r>
              <a:rPr lang="ko-KR" altLang="en-US" sz="1800" dirty="0" err="1"/>
              <a:t>스니커즈</a:t>
            </a:r>
            <a:r>
              <a:rPr lang="ko-KR" altLang="en-US" sz="1800" dirty="0"/>
              <a:t> 커스터마이징 서비스나 삼성 </a:t>
            </a:r>
            <a:r>
              <a:rPr lang="ko-KR" altLang="en-US" sz="1800" dirty="0" err="1"/>
              <a:t>비스포크</a:t>
            </a:r>
            <a:r>
              <a:rPr lang="ko-KR" altLang="en-US" sz="1800" dirty="0"/>
              <a:t> 맞춤형 냉장고가 인기를 끄는 이유 </a:t>
            </a:r>
            <a:endParaRPr lang="en-US" altLang="ko-KR" sz="1800" dirty="0"/>
          </a:p>
          <a:p>
            <a:pPr marL="536575" lvl="1" indent="-179388" eaLnBrk="1" latinLnBrk="0" hangingPunct="1">
              <a:buFont typeface="Wingdings" panose="05000000000000000000" pitchFamily="2" charset="2"/>
              <a:buChar char="§"/>
              <a:defRPr/>
            </a:pPr>
            <a:r>
              <a:rPr lang="ko-KR" altLang="en-US" sz="1800" dirty="0"/>
              <a:t>스타벅스의 </a:t>
            </a:r>
            <a:r>
              <a:rPr lang="en-US" altLang="ko-KR" sz="1800" dirty="0"/>
              <a:t>‘</a:t>
            </a:r>
            <a:r>
              <a:rPr lang="ko-KR" altLang="en-US" sz="1800" dirty="0"/>
              <a:t>나만의 커피</a:t>
            </a:r>
            <a:r>
              <a:rPr lang="en-US" altLang="ko-KR" sz="1800" dirty="0"/>
              <a:t>’ </a:t>
            </a:r>
            <a:r>
              <a:rPr lang="ko-KR" altLang="en-US" sz="1800" dirty="0"/>
              <a:t>메뉴는 음료 온도</a:t>
            </a:r>
            <a:r>
              <a:rPr lang="en-US" altLang="ko-KR" sz="1800" dirty="0"/>
              <a:t>, </a:t>
            </a:r>
            <a:r>
              <a:rPr lang="ko-KR" altLang="en-US" sz="1800" dirty="0"/>
              <a:t>사이즈</a:t>
            </a:r>
            <a:r>
              <a:rPr lang="en-US" altLang="ko-KR" sz="1800" dirty="0"/>
              <a:t>, </a:t>
            </a:r>
            <a:r>
              <a:rPr lang="ko-KR" altLang="en-US" sz="1800" dirty="0"/>
              <a:t>시럽</a:t>
            </a:r>
            <a:r>
              <a:rPr lang="en-US" altLang="ko-KR" sz="1800" dirty="0"/>
              <a:t>, </a:t>
            </a:r>
            <a:r>
              <a:rPr lang="ko-KR" altLang="en-US" sz="1800" dirty="0"/>
              <a:t>베이스</a:t>
            </a:r>
            <a:r>
              <a:rPr lang="en-US" altLang="ko-KR" sz="1800" dirty="0"/>
              <a:t>, </a:t>
            </a:r>
            <a:r>
              <a:rPr lang="ko-KR" altLang="en-US" sz="1800" dirty="0"/>
              <a:t>얼음</a:t>
            </a:r>
            <a:r>
              <a:rPr lang="en-US" altLang="ko-KR" sz="1800" dirty="0"/>
              <a:t>, </a:t>
            </a:r>
            <a:r>
              <a:rPr lang="ko-KR" altLang="en-US" sz="1800" dirty="0"/>
              <a:t>우유</a:t>
            </a:r>
            <a:r>
              <a:rPr lang="en-US" altLang="ko-KR" sz="1800" dirty="0"/>
              <a:t>, </a:t>
            </a:r>
            <a:r>
              <a:rPr lang="ko-KR" altLang="en-US" sz="1800" dirty="0"/>
              <a:t>거품</a:t>
            </a:r>
            <a:r>
              <a:rPr lang="en-US" altLang="ko-KR" sz="1800" dirty="0"/>
              <a:t>, </a:t>
            </a:r>
            <a:r>
              <a:rPr lang="ko-KR" altLang="en-US" sz="1800" dirty="0" err="1"/>
              <a:t>휘핑크림의</a:t>
            </a:r>
            <a:r>
              <a:rPr lang="ko-KR" altLang="en-US" sz="1800" dirty="0"/>
              <a:t> 양까지 개인 맞춤으로 제공</a:t>
            </a:r>
            <a:endParaRPr lang="en-US" altLang="ko-KR" sz="1800" dirty="0"/>
          </a:p>
          <a:p>
            <a:pPr marL="536575" lvl="1" indent="-179388" eaLnBrk="1" latinLnBrk="0" hangingPunct="1">
              <a:buFont typeface="Wingdings" panose="05000000000000000000" pitchFamily="2" charset="2"/>
              <a:buChar char="§"/>
              <a:defRPr/>
            </a:pPr>
            <a:r>
              <a:rPr lang="ko-KR" altLang="en-US" sz="1800" dirty="0" err="1"/>
              <a:t>나뚜루의</a:t>
            </a:r>
            <a:r>
              <a:rPr lang="ko-KR" altLang="en-US" sz="1800" dirty="0"/>
              <a:t> 맞춤형 아이스크림 케이크 콘셉트 매장인 </a:t>
            </a:r>
            <a:r>
              <a:rPr lang="en-US" altLang="ko-KR" sz="1800" dirty="0"/>
              <a:t>‘</a:t>
            </a:r>
            <a:r>
              <a:rPr lang="ko-KR" altLang="en-US" sz="1800" dirty="0" err="1"/>
              <a:t>마이케이크하우스</a:t>
            </a:r>
            <a:r>
              <a:rPr lang="ko-KR" altLang="en-US" sz="1800" dirty="0"/>
              <a:t> 바이 </a:t>
            </a:r>
            <a:r>
              <a:rPr lang="ko-KR" altLang="en-US" sz="1800" dirty="0" err="1"/>
              <a:t>나뚜루＇는</a:t>
            </a:r>
            <a:r>
              <a:rPr lang="ko-KR" altLang="en-US" sz="1800" dirty="0"/>
              <a:t> 소비자가 </a:t>
            </a:r>
            <a:r>
              <a:rPr lang="ko-KR" altLang="en-US" sz="1800" dirty="0" err="1"/>
              <a:t>원하는대로</a:t>
            </a:r>
            <a:r>
              <a:rPr lang="ko-KR" altLang="en-US" sz="1800" dirty="0"/>
              <a:t> 케이크를 제작</a:t>
            </a:r>
            <a:endParaRPr lang="en-US" altLang="ko-KR" sz="1800" dirty="0"/>
          </a:p>
          <a:p>
            <a:pPr marL="536575" lvl="1" indent="-179388" eaLnBrk="1" latinLnBrk="0" hangingPunct="1">
              <a:buFont typeface="Wingdings" panose="05000000000000000000" pitchFamily="2" charset="2"/>
              <a:buChar char="§"/>
              <a:defRPr/>
            </a:pPr>
            <a:r>
              <a:rPr lang="ko-KR" altLang="en-US" sz="1800" dirty="0"/>
              <a:t>급식소의 다양한 채식 선택 옵션 등도 동물권이나 환경을 의식해 채식을 선택하고자 하는 고객의 만족도를 높이고 있음</a:t>
            </a:r>
            <a:endParaRPr lang="en-US" altLang="ko-KR" sz="18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C162088-DAEB-429B-BACE-5548507127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1541" y="1257282"/>
            <a:ext cx="1475376" cy="985321"/>
          </a:xfrm>
          <a:prstGeom prst="rect">
            <a:avLst/>
          </a:prstGeom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B8C9CF93-8007-4B4C-8466-15C8AE9D07C9}"/>
              </a:ext>
            </a:extLst>
          </p:cNvPr>
          <p:cNvGrpSpPr/>
          <p:nvPr/>
        </p:nvGrpSpPr>
        <p:grpSpPr>
          <a:xfrm>
            <a:off x="1129834" y="3691464"/>
            <a:ext cx="9799172" cy="2841566"/>
            <a:chOff x="1129834" y="3691464"/>
            <a:chExt cx="9799172" cy="2841566"/>
          </a:xfrm>
        </p:grpSpPr>
        <p:pic>
          <p:nvPicPr>
            <p:cNvPr id="2" name="그림 1">
              <a:extLst>
                <a:ext uri="{FF2B5EF4-FFF2-40B4-BE49-F238E27FC236}">
                  <a16:creationId xmlns:a16="http://schemas.microsoft.com/office/drawing/2014/main" id="{8C58D0DB-0BF6-4A9A-9463-F7417B64C2F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29834" y="3691464"/>
              <a:ext cx="6728012" cy="2841566"/>
            </a:xfrm>
            <a:prstGeom prst="rect">
              <a:avLst/>
            </a:prstGeom>
          </p:spPr>
        </p:pic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A282AD52-E723-4A82-A8C9-B531961F80ED}"/>
                </a:ext>
              </a:extLst>
            </p:cNvPr>
            <p:cNvGrpSpPr/>
            <p:nvPr/>
          </p:nvGrpSpPr>
          <p:grpSpPr>
            <a:xfrm>
              <a:off x="7966174" y="3792070"/>
              <a:ext cx="2962832" cy="2164977"/>
              <a:chOff x="7966174" y="3792070"/>
              <a:chExt cx="2962832" cy="2164977"/>
            </a:xfrm>
          </p:grpSpPr>
          <p:pic>
            <p:nvPicPr>
              <p:cNvPr id="5" name="그림 4">
                <a:extLst>
                  <a:ext uri="{FF2B5EF4-FFF2-40B4-BE49-F238E27FC236}">
                    <a16:creationId xmlns:a16="http://schemas.microsoft.com/office/drawing/2014/main" id="{7C79FC96-9990-4C1A-8BBF-DC881718892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/>
              <a:srcRect b="24902"/>
              <a:stretch/>
            </p:blipFill>
            <p:spPr>
              <a:xfrm>
                <a:off x="7966174" y="3792070"/>
                <a:ext cx="2962832" cy="2164977"/>
              </a:xfrm>
              <a:prstGeom prst="rect">
                <a:avLst/>
              </a:prstGeom>
            </p:spPr>
          </p:pic>
          <p:pic>
            <p:nvPicPr>
              <p:cNvPr id="6" name="그림 5">
                <a:extLst>
                  <a:ext uri="{FF2B5EF4-FFF2-40B4-BE49-F238E27FC236}">
                    <a16:creationId xmlns:a16="http://schemas.microsoft.com/office/drawing/2014/main" id="{BD821DC7-837F-4E35-B3D5-9DEFE8EC008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/>
              <a:srcRect l="26201" t="7490" r="27458" b="7599"/>
              <a:stretch/>
            </p:blipFill>
            <p:spPr>
              <a:xfrm>
                <a:off x="10047835" y="4087905"/>
                <a:ext cx="662787" cy="679076"/>
              </a:xfrm>
              <a:prstGeom prst="rect">
                <a:avLst/>
              </a:prstGeom>
            </p:spPr>
          </p:pic>
        </p:grp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DDAC5F86-CEDE-46E1-8B0B-2B933F01C796}"/>
              </a:ext>
            </a:extLst>
          </p:cNvPr>
          <p:cNvSpPr txBox="1"/>
          <p:nvPr/>
        </p:nvSpPr>
        <p:spPr>
          <a:xfrm>
            <a:off x="7966174" y="6256031"/>
            <a:ext cx="12811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*</a:t>
            </a:r>
            <a:r>
              <a:rPr lang="ko-KR" altLang="en-US" sz="1200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이미지 출처 </a:t>
            </a:r>
            <a:r>
              <a:rPr lang="en-US" altLang="ko-KR" sz="1200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: </a:t>
            </a:r>
            <a:r>
              <a:rPr lang="ko-KR" altLang="en-US" sz="1200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구글</a:t>
            </a:r>
          </a:p>
        </p:txBody>
      </p:sp>
    </p:spTree>
    <p:extLst>
      <p:ext uri="{BB962C8B-B14F-4D97-AF65-F5344CB8AC3E}">
        <p14:creationId xmlns:p14="http://schemas.microsoft.com/office/powerpoint/2010/main" val="34620227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제목 1">
            <a:extLst>
              <a:ext uri="{FF2B5EF4-FFF2-40B4-BE49-F238E27FC236}">
                <a16:creationId xmlns:a16="http://schemas.microsoft.com/office/drawing/2014/main" id="{AAC64C6C-76C3-4D55-B2B6-B0463875E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9698037" cy="563563"/>
          </a:xfrm>
        </p:spPr>
        <p:txBody>
          <a:bodyPr/>
          <a:lstStyle/>
          <a:p>
            <a:pPr eaLnBrk="1" latinLnBrk="0" hangingPunct="1"/>
            <a:r>
              <a:rPr lang="en-US" altLang="ko-KR" dirty="0"/>
              <a:t>2) </a:t>
            </a:r>
            <a:r>
              <a:rPr lang="ko-KR" altLang="en-US" dirty="0"/>
              <a:t>미래 핵심고객인 </a:t>
            </a:r>
            <a:r>
              <a:rPr lang="en-US" altLang="ko-KR" dirty="0"/>
              <a:t>MZ </a:t>
            </a:r>
            <a:r>
              <a:rPr lang="ko-KR" altLang="en-US" dirty="0"/>
              <a:t>세대의 특성</a:t>
            </a:r>
            <a:endParaRPr lang="ko-KR" altLang="en-US" sz="2000" dirty="0"/>
          </a:p>
        </p:txBody>
      </p:sp>
      <p:sp>
        <p:nvSpPr>
          <p:cNvPr id="16387" name="내용 개체 틀 2">
            <a:extLst>
              <a:ext uri="{FF2B5EF4-FFF2-40B4-BE49-F238E27FC236}">
                <a16:creationId xmlns:a16="http://schemas.microsoft.com/office/drawing/2014/main" id="{A019C3D6-C2D1-4366-A6CF-2FD12BD7DD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641" y="1371600"/>
            <a:ext cx="11642818" cy="2433917"/>
          </a:xfrm>
        </p:spPr>
        <p:txBody>
          <a:bodyPr/>
          <a:lstStyle/>
          <a:p>
            <a:pPr eaLnBrk="1" latinLnBrk="0" hangingPunct="1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ko-KR" altLang="en-US" sz="2000" b="0" dirty="0"/>
              <a:t>가치 있다고 생각하는 상품</a:t>
            </a:r>
            <a:r>
              <a:rPr lang="en-US" altLang="ko-KR" sz="2000" b="0" dirty="0"/>
              <a:t>, </a:t>
            </a:r>
            <a:r>
              <a:rPr lang="ko-KR" altLang="en-US" sz="2000" b="0" dirty="0"/>
              <a:t>명품</a:t>
            </a:r>
            <a:r>
              <a:rPr lang="en-US" altLang="ko-KR" sz="2000" b="0" dirty="0"/>
              <a:t>, </a:t>
            </a:r>
            <a:r>
              <a:rPr lang="ko-KR" altLang="en-US" sz="2000" b="0" dirty="0"/>
              <a:t>한정판 제품에는 아낌없이 지불하나 식품과 생필품은 </a:t>
            </a:r>
            <a:r>
              <a:rPr lang="ko-KR" altLang="en-US" sz="2000" b="0" dirty="0" err="1"/>
              <a:t>가성비</a:t>
            </a:r>
            <a:r>
              <a:rPr lang="ko-KR" altLang="en-US" sz="2000" b="0" dirty="0"/>
              <a:t> 따짐</a:t>
            </a:r>
            <a:endParaRPr lang="en-US" altLang="ko-KR" sz="1800" dirty="0"/>
          </a:p>
          <a:p>
            <a:pPr marL="536575" lvl="1" indent="-179388" eaLnBrk="1" latinLnBrk="0" hangingPunct="1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ko-KR" altLang="en-US" sz="1800" dirty="0"/>
              <a:t>이러한 소비패턴을 </a:t>
            </a:r>
            <a:r>
              <a:rPr lang="ko-KR" altLang="en-US" sz="1800" dirty="0" err="1"/>
              <a:t>자린고비</a:t>
            </a:r>
            <a:r>
              <a:rPr lang="ko-KR" altLang="en-US" sz="1800" dirty="0"/>
              <a:t> </a:t>
            </a:r>
            <a:r>
              <a:rPr lang="ko-KR" altLang="en-US" sz="1800" dirty="0" err="1"/>
              <a:t>플렉스</a:t>
            </a:r>
            <a:r>
              <a:rPr lang="en-US" altLang="ko-KR" sz="1800" dirty="0"/>
              <a:t>(flex)</a:t>
            </a:r>
            <a:r>
              <a:rPr lang="ko-KR" altLang="en-US" sz="1800" dirty="0"/>
              <a:t> 소비라 하는데 코로나</a:t>
            </a:r>
            <a:r>
              <a:rPr lang="en-US" altLang="ko-KR" sz="1800" dirty="0"/>
              <a:t>19</a:t>
            </a:r>
            <a:r>
              <a:rPr lang="ko-KR" altLang="en-US" sz="1800" dirty="0"/>
              <a:t>로 해외여행을 못 가는 것에 대한 보복성 소비로 보거나</a:t>
            </a:r>
            <a:r>
              <a:rPr lang="en-US" altLang="ko-KR" sz="1800" dirty="0"/>
              <a:t>, SNS </a:t>
            </a:r>
            <a:r>
              <a:rPr lang="ko-KR" altLang="en-US" sz="1800" dirty="0"/>
              <a:t>등을 통해 타인의 소비를 따라하는 모방소비와 과시소비로 보는 견해 존재</a:t>
            </a:r>
            <a:endParaRPr lang="en-US" altLang="ko-KR" sz="1800" dirty="0"/>
          </a:p>
          <a:p>
            <a:pPr marL="804862" lvl="2" indent="-179388" eaLnBrk="1" latinLnBrk="0" hangingPunct="1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ko-KR" altLang="en-US" sz="1400" dirty="0"/>
              <a:t>특급 호텔에서의 </a:t>
            </a:r>
            <a:r>
              <a:rPr lang="ko-KR" altLang="en-US" sz="1400" dirty="0" err="1"/>
              <a:t>호캉스</a:t>
            </a:r>
            <a:r>
              <a:rPr lang="ko-KR" altLang="en-US" sz="1400" dirty="0"/>
              <a:t> </a:t>
            </a:r>
            <a:r>
              <a:rPr lang="en-US" altLang="ko-KR" sz="1400" dirty="0"/>
              <a:t>(</a:t>
            </a:r>
            <a:r>
              <a:rPr lang="ko-KR" altLang="en-US" sz="1400" dirty="0"/>
              <a:t>호텔</a:t>
            </a:r>
            <a:r>
              <a:rPr lang="en-US" altLang="ko-KR" sz="1400" dirty="0"/>
              <a:t>+</a:t>
            </a:r>
            <a:r>
              <a:rPr lang="ko-KR" altLang="en-US" sz="1400" dirty="0"/>
              <a:t>바캉스</a:t>
            </a:r>
            <a:r>
              <a:rPr lang="en-US" altLang="ko-KR" sz="1400" dirty="0"/>
              <a:t>) </a:t>
            </a:r>
            <a:r>
              <a:rPr lang="ko-KR" altLang="en-US" sz="1400" dirty="0"/>
              <a:t>또는 </a:t>
            </a:r>
            <a:r>
              <a:rPr lang="ko-KR" altLang="en-US" sz="1400" dirty="0" err="1"/>
              <a:t>워케이션</a:t>
            </a:r>
            <a:r>
              <a:rPr lang="en-US" altLang="ko-KR" sz="1400" dirty="0"/>
              <a:t>(</a:t>
            </a:r>
            <a:r>
              <a:rPr lang="en-US" altLang="ko-KR" sz="1400" dirty="0" err="1"/>
              <a:t>workation</a:t>
            </a:r>
            <a:r>
              <a:rPr lang="en-US" altLang="ko-KR" sz="1400" dirty="0"/>
              <a:t>), ‘</a:t>
            </a:r>
            <a:r>
              <a:rPr lang="ko-KR" altLang="en-US" sz="1400" dirty="0"/>
              <a:t>호텔에서 한달 살기</a:t>
            </a:r>
            <a:r>
              <a:rPr lang="en-US" altLang="ko-KR" sz="1400" dirty="0"/>
              <a:t>’ </a:t>
            </a:r>
            <a:r>
              <a:rPr lang="ko-KR" altLang="en-US" sz="1400" dirty="0"/>
              <a:t>상품</a:t>
            </a:r>
            <a:r>
              <a:rPr lang="en-US" altLang="ko-KR" sz="1400" dirty="0"/>
              <a:t>, </a:t>
            </a:r>
            <a:r>
              <a:rPr lang="ko-KR" altLang="en-US" sz="1400" dirty="0"/>
              <a:t>고가의 호텔 뷔페레스토랑 수요 급증 사례 등 </a:t>
            </a:r>
            <a:endParaRPr lang="en-US" altLang="ko-KR" sz="1400" dirty="0"/>
          </a:p>
          <a:p>
            <a:pPr marL="536575" lvl="1" indent="-179388" eaLnBrk="1" latinLnBrk="0" hangingPunct="1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ko-KR" altLang="en-US" sz="1800" dirty="0"/>
              <a:t>그러나 이 세대는 누구보다도 온라인 커머스에 익숙한 세대이며</a:t>
            </a:r>
            <a:r>
              <a:rPr lang="en-US" altLang="ko-KR" sz="1800" dirty="0"/>
              <a:t>, </a:t>
            </a:r>
            <a:r>
              <a:rPr lang="ko-KR" altLang="en-US" sz="1800" dirty="0"/>
              <a:t>온라인 플랫폼의 발달로 명품 구매 접근성이 좋아 진 점과 명품 브랜드들의 혁신적인 디지털 마케팅의 영향이라고 할 수 있음</a:t>
            </a:r>
            <a:endParaRPr lang="en-US" altLang="ko-KR" sz="1800" dirty="0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E9EE74E2-3DD6-462F-AFFE-046C488D5EA7}"/>
              </a:ext>
            </a:extLst>
          </p:cNvPr>
          <p:cNvGrpSpPr/>
          <p:nvPr/>
        </p:nvGrpSpPr>
        <p:grpSpPr>
          <a:xfrm>
            <a:off x="800098" y="4232554"/>
            <a:ext cx="10591804" cy="2219254"/>
            <a:chOff x="800098" y="4232554"/>
            <a:chExt cx="10591804" cy="2219254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948C9FF7-4919-4DB0-9F72-BC5AC96ABA9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00098" y="4232554"/>
              <a:ext cx="3951194" cy="2219254"/>
            </a:xfrm>
            <a:prstGeom prst="rect">
              <a:avLst/>
            </a:prstGeom>
          </p:spPr>
        </p:pic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83DEDC6A-CA09-44FD-A016-D745DEF798A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b="22152"/>
            <a:stretch/>
          </p:blipFill>
          <p:spPr>
            <a:xfrm>
              <a:off x="4881181" y="4232554"/>
              <a:ext cx="2429638" cy="2219254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53420050-C808-48D4-9C6C-7DB9EC73F6B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446562" y="4232554"/>
              <a:ext cx="3945340" cy="2219254"/>
            </a:xfrm>
            <a:prstGeom prst="rect">
              <a:avLst/>
            </a:prstGeom>
          </p:spPr>
        </p:pic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52710513-D066-46FF-B62C-6528A20AE2C2}"/>
              </a:ext>
            </a:extLst>
          </p:cNvPr>
          <p:cNvSpPr txBox="1"/>
          <p:nvPr/>
        </p:nvSpPr>
        <p:spPr>
          <a:xfrm>
            <a:off x="800098" y="6477000"/>
            <a:ext cx="12811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*</a:t>
            </a:r>
            <a:r>
              <a:rPr lang="ko-KR" altLang="en-US" sz="1200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이미지 출처 </a:t>
            </a:r>
            <a:r>
              <a:rPr lang="en-US" altLang="ko-KR" sz="1200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: </a:t>
            </a:r>
            <a:r>
              <a:rPr lang="ko-KR" altLang="en-US" sz="1200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구글</a:t>
            </a:r>
          </a:p>
        </p:txBody>
      </p:sp>
    </p:spTree>
    <p:extLst>
      <p:ext uri="{BB962C8B-B14F-4D97-AF65-F5344CB8AC3E}">
        <p14:creationId xmlns:p14="http://schemas.microsoft.com/office/powerpoint/2010/main" val="1187375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제목 1">
            <a:extLst>
              <a:ext uri="{FF2B5EF4-FFF2-40B4-BE49-F238E27FC236}">
                <a16:creationId xmlns:a16="http://schemas.microsoft.com/office/drawing/2014/main" id="{AAC64C6C-76C3-4D55-B2B6-B0463875E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9698037" cy="563563"/>
          </a:xfrm>
        </p:spPr>
        <p:txBody>
          <a:bodyPr/>
          <a:lstStyle/>
          <a:p>
            <a:pPr eaLnBrk="1" latinLnBrk="0" hangingPunct="1"/>
            <a:r>
              <a:rPr lang="en-US" altLang="ko-KR" dirty="0"/>
              <a:t>2) </a:t>
            </a:r>
            <a:r>
              <a:rPr lang="ko-KR" altLang="en-US" dirty="0"/>
              <a:t>미래 핵심고객인 </a:t>
            </a:r>
            <a:r>
              <a:rPr lang="en-US" altLang="ko-KR" dirty="0"/>
              <a:t>MZ </a:t>
            </a:r>
            <a:r>
              <a:rPr lang="ko-KR" altLang="en-US" dirty="0"/>
              <a:t>세대의 특성</a:t>
            </a:r>
            <a:endParaRPr lang="ko-KR" altLang="en-US" sz="2000" dirty="0"/>
          </a:p>
        </p:txBody>
      </p:sp>
      <p:sp>
        <p:nvSpPr>
          <p:cNvPr id="16387" name="내용 개체 틀 2">
            <a:extLst>
              <a:ext uri="{FF2B5EF4-FFF2-40B4-BE49-F238E27FC236}">
                <a16:creationId xmlns:a16="http://schemas.microsoft.com/office/drawing/2014/main" id="{A019C3D6-C2D1-4366-A6CF-2FD12BD7DD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641" y="1371600"/>
            <a:ext cx="11642818" cy="2433917"/>
          </a:xfrm>
        </p:spPr>
        <p:txBody>
          <a:bodyPr/>
          <a:lstStyle/>
          <a:p>
            <a:pPr eaLnBrk="1" latinLnBrk="0" hangingPunct="1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ko-KR" altLang="en-US" sz="2000" b="0" dirty="0"/>
              <a:t>짧은 유행에 사람들과 함께 참여하고 그 안에서 재미를 찾고</a:t>
            </a:r>
            <a:r>
              <a:rPr lang="en-US" altLang="ko-KR" sz="2000" b="0" dirty="0"/>
              <a:t>, </a:t>
            </a:r>
            <a:r>
              <a:rPr lang="ko-KR" altLang="en-US" sz="2000" b="0" dirty="0"/>
              <a:t>얼마 지나지 않아 새로운 놀거리로 </a:t>
            </a:r>
            <a:r>
              <a:rPr lang="ko-KR" altLang="en-US" sz="2000" b="0" dirty="0" err="1"/>
              <a:t>넘어감</a:t>
            </a:r>
            <a:endParaRPr lang="en-US" altLang="ko-KR" sz="1800" dirty="0"/>
          </a:p>
          <a:p>
            <a:pPr marL="536575" lvl="1" indent="-179388" eaLnBrk="1" latinLnBrk="0" hangingPunct="1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ko-KR" altLang="en-US" sz="1800" dirty="0"/>
              <a:t>빙그레 </a:t>
            </a:r>
            <a:r>
              <a:rPr lang="ko-KR" altLang="en-US" sz="1800" dirty="0" err="1"/>
              <a:t>바나나맛</a:t>
            </a:r>
            <a:r>
              <a:rPr lang="ko-KR" altLang="en-US" sz="1800" dirty="0"/>
              <a:t> 우유가 실시한 </a:t>
            </a:r>
            <a:r>
              <a:rPr lang="en-US" altLang="ko-KR" sz="1800" dirty="0"/>
              <a:t>#</a:t>
            </a:r>
            <a:r>
              <a:rPr lang="ko-KR" altLang="en-US" sz="1800" dirty="0"/>
              <a:t>채워 바나나 캠페인</a:t>
            </a:r>
            <a:r>
              <a:rPr lang="en-US" altLang="ko-KR" sz="1800" dirty="0"/>
              <a:t> </a:t>
            </a:r>
            <a:r>
              <a:rPr lang="ko-KR" altLang="en-US" sz="1800" dirty="0"/>
              <a:t>사례</a:t>
            </a:r>
            <a:endParaRPr lang="en-US" altLang="ko-KR" sz="1800" dirty="0"/>
          </a:p>
          <a:p>
            <a:pPr marL="536575" lvl="1" indent="-179388" eaLnBrk="1" latinLnBrk="0" hangingPunct="1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ko-KR" altLang="en-US" sz="1800" dirty="0"/>
              <a:t>팔도 </a:t>
            </a:r>
            <a:r>
              <a:rPr lang="ko-KR" altLang="en-US" sz="1800" dirty="0" err="1"/>
              <a:t>비빔면</a:t>
            </a:r>
            <a:r>
              <a:rPr lang="en-US" altLang="ko-KR" sz="1800" dirty="0"/>
              <a:t>,</a:t>
            </a:r>
            <a:r>
              <a:rPr lang="ko-KR" altLang="en-US" sz="1800" dirty="0"/>
              <a:t> 농심 너구리 라면</a:t>
            </a:r>
            <a:r>
              <a:rPr lang="en-US" altLang="ko-KR" sz="1800" dirty="0"/>
              <a:t>, </a:t>
            </a:r>
            <a:r>
              <a:rPr lang="ko-KR" altLang="en-US" sz="1800" dirty="0" err="1"/>
              <a:t>곰표</a:t>
            </a:r>
            <a:r>
              <a:rPr lang="ko-KR" altLang="en-US" sz="1800" dirty="0"/>
              <a:t> 한정판 </a:t>
            </a:r>
            <a:r>
              <a:rPr lang="ko-KR" altLang="en-US" sz="1800" dirty="0" err="1"/>
              <a:t>굿즈</a:t>
            </a:r>
            <a:r>
              <a:rPr lang="en-US" altLang="ko-KR" sz="1800" dirty="0"/>
              <a:t>, </a:t>
            </a:r>
            <a:r>
              <a:rPr lang="ko-KR" altLang="en-US" sz="1800" dirty="0" err="1"/>
              <a:t>라떼는</a:t>
            </a:r>
            <a:r>
              <a:rPr lang="ko-KR" altLang="en-US" sz="1800" dirty="0"/>
              <a:t> 말이야 열풍 등 </a:t>
            </a:r>
            <a:endParaRPr lang="en-US" altLang="ko-KR" sz="1800" dirty="0"/>
          </a:p>
          <a:p>
            <a:pPr marL="536575" lvl="1" indent="-179388" eaLnBrk="1" latinLnBrk="0" hangingPunct="1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ko-KR" altLang="en-US" sz="1800" dirty="0"/>
              <a:t>이들의 관심을 끌기 위해서는 제공하는 서비스나 캠페인 모두 단순하면서 재미가 있어야 함</a:t>
            </a:r>
            <a:endParaRPr lang="en-US" altLang="ko-KR" sz="1800" dirty="0"/>
          </a:p>
          <a:p>
            <a:pPr marL="536575" lvl="1" indent="-179388" eaLnBrk="1" latinLnBrk="0" hangingPunct="1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ko-KR" altLang="en-US" sz="1800" dirty="0"/>
              <a:t>참여와 공감을 이끌어내야 </a:t>
            </a:r>
            <a:r>
              <a:rPr lang="en-US" altLang="ko-KR" sz="1800" dirty="0"/>
              <a:t>SNS</a:t>
            </a:r>
            <a:r>
              <a:rPr lang="ko-KR" altLang="en-US" sz="1800" dirty="0"/>
              <a:t>를 통해 전파되고 홍보 됨 </a:t>
            </a:r>
            <a:endParaRPr lang="en-US" altLang="ko-KR" sz="1800" dirty="0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341D0C06-BBE0-4740-B8C1-385A8B113247}"/>
              </a:ext>
            </a:extLst>
          </p:cNvPr>
          <p:cNvGrpSpPr/>
          <p:nvPr/>
        </p:nvGrpSpPr>
        <p:grpSpPr>
          <a:xfrm>
            <a:off x="668137" y="3971362"/>
            <a:ext cx="10855726" cy="2671483"/>
            <a:chOff x="686081" y="3913092"/>
            <a:chExt cx="10855726" cy="2671483"/>
          </a:xfrm>
        </p:grpSpPr>
        <p:pic>
          <p:nvPicPr>
            <p:cNvPr id="2" name="그림 1">
              <a:extLst>
                <a:ext uri="{FF2B5EF4-FFF2-40B4-BE49-F238E27FC236}">
                  <a16:creationId xmlns:a16="http://schemas.microsoft.com/office/drawing/2014/main" id="{59642F74-E37F-46CD-B526-6568C9C53BB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86081" y="3913092"/>
              <a:ext cx="5944909" cy="2671483"/>
            </a:xfrm>
            <a:prstGeom prst="rect">
              <a:avLst/>
            </a:prstGeom>
          </p:spPr>
        </p:pic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A4BE1B48-DB8A-4EBE-B236-B64408BEE51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324632" y="3913092"/>
              <a:ext cx="2217175" cy="2217175"/>
            </a:xfrm>
            <a:prstGeom prst="rect">
              <a:avLst/>
            </a:prstGeom>
          </p:spPr>
        </p:pic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2C375A49-B093-4F77-AB3D-5252054B7E9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10683" r="8451"/>
            <a:stretch/>
          </p:blipFill>
          <p:spPr>
            <a:xfrm>
              <a:off x="6630990" y="3913092"/>
              <a:ext cx="2693642" cy="2217175"/>
            </a:xfrm>
            <a:prstGeom prst="rect">
              <a:avLst/>
            </a:prstGeom>
          </p:spPr>
        </p:pic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5F381790-6DF1-4FF2-8633-735023B99652}"/>
              </a:ext>
            </a:extLst>
          </p:cNvPr>
          <p:cNvSpPr txBox="1"/>
          <p:nvPr/>
        </p:nvSpPr>
        <p:spPr>
          <a:xfrm>
            <a:off x="6678747" y="6421615"/>
            <a:ext cx="12811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*</a:t>
            </a:r>
            <a:r>
              <a:rPr lang="ko-KR" altLang="en-US" sz="1200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이미지 출처 </a:t>
            </a:r>
            <a:r>
              <a:rPr lang="en-US" altLang="ko-KR" sz="1200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: </a:t>
            </a:r>
            <a:r>
              <a:rPr lang="ko-KR" altLang="en-US" sz="1200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구글</a:t>
            </a:r>
          </a:p>
        </p:txBody>
      </p:sp>
    </p:spTree>
    <p:extLst>
      <p:ext uri="{BB962C8B-B14F-4D97-AF65-F5344CB8AC3E}">
        <p14:creationId xmlns:p14="http://schemas.microsoft.com/office/powerpoint/2010/main" val="33971954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제목 1">
            <a:extLst>
              <a:ext uri="{FF2B5EF4-FFF2-40B4-BE49-F238E27FC236}">
                <a16:creationId xmlns:a16="http://schemas.microsoft.com/office/drawing/2014/main" id="{AAC64C6C-76C3-4D55-B2B6-B0463875E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9698037" cy="563563"/>
          </a:xfrm>
        </p:spPr>
        <p:txBody>
          <a:bodyPr/>
          <a:lstStyle/>
          <a:p>
            <a:pPr eaLnBrk="1" latinLnBrk="0" hangingPunct="1"/>
            <a:r>
              <a:rPr lang="en-US" altLang="ko-KR" dirty="0"/>
              <a:t>2) </a:t>
            </a:r>
            <a:r>
              <a:rPr lang="ko-KR" altLang="en-US" dirty="0"/>
              <a:t>미래 핵심고객인 </a:t>
            </a:r>
            <a:r>
              <a:rPr lang="en-US" altLang="ko-KR" dirty="0"/>
              <a:t>MZ </a:t>
            </a:r>
            <a:r>
              <a:rPr lang="ko-KR" altLang="en-US" dirty="0"/>
              <a:t>세대의 특성</a:t>
            </a:r>
            <a:endParaRPr lang="ko-KR" altLang="en-US" sz="2000" dirty="0"/>
          </a:p>
        </p:txBody>
      </p:sp>
      <p:sp>
        <p:nvSpPr>
          <p:cNvPr id="16387" name="내용 개체 틀 2">
            <a:extLst>
              <a:ext uri="{FF2B5EF4-FFF2-40B4-BE49-F238E27FC236}">
                <a16:creationId xmlns:a16="http://schemas.microsoft.com/office/drawing/2014/main" id="{A019C3D6-C2D1-4366-A6CF-2FD12BD7DD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641" y="1371600"/>
            <a:ext cx="11642818" cy="2433917"/>
          </a:xfrm>
        </p:spPr>
        <p:txBody>
          <a:bodyPr/>
          <a:lstStyle/>
          <a:p>
            <a:pPr eaLnBrk="1" latinLnBrk="0" hangingPunct="1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ko-KR" altLang="en-US" sz="2000" b="0" dirty="0"/>
              <a:t>짧은 유행에 사람들과 함께 참여하고 그 안에서 재미를 찾고</a:t>
            </a:r>
            <a:r>
              <a:rPr lang="en-US" altLang="ko-KR" sz="2000" b="0" dirty="0"/>
              <a:t>, </a:t>
            </a:r>
            <a:r>
              <a:rPr lang="ko-KR" altLang="en-US" sz="2000" b="0" dirty="0"/>
              <a:t>얼마 지나지 않아 새로운 놀거리로 넘어가는 경향</a:t>
            </a:r>
            <a:endParaRPr lang="en-US" altLang="ko-KR" sz="1800" dirty="0"/>
          </a:p>
          <a:p>
            <a:pPr marL="536575" lvl="1" indent="-179388" eaLnBrk="1" latinLnBrk="0" hangingPunct="1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ko-KR" altLang="en-US" sz="1800" dirty="0"/>
              <a:t>게임 형식의 재미난 대결에 고객을 참여시킴으로 특별한 브랜드 경험을 제공한 스타벅스의 </a:t>
            </a:r>
            <a:r>
              <a:rPr lang="en-US" altLang="ko-KR" sz="1800" dirty="0"/>
              <a:t>‘YES or NO, Sandwich’ </a:t>
            </a:r>
            <a:r>
              <a:rPr lang="ko-KR" altLang="en-US" sz="1800" dirty="0"/>
              <a:t>캠페인 사례</a:t>
            </a:r>
            <a:endParaRPr lang="en-US" altLang="ko-KR" sz="18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58195A7-4FAD-41CE-80CD-0FD8B76593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2326" y="2729574"/>
            <a:ext cx="6487347" cy="3747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18621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제목 1">
            <a:extLst>
              <a:ext uri="{FF2B5EF4-FFF2-40B4-BE49-F238E27FC236}">
                <a16:creationId xmlns:a16="http://schemas.microsoft.com/office/drawing/2014/main" id="{AAC64C6C-76C3-4D55-B2B6-B0463875E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9698037" cy="563563"/>
          </a:xfrm>
        </p:spPr>
        <p:txBody>
          <a:bodyPr/>
          <a:lstStyle/>
          <a:p>
            <a:pPr eaLnBrk="1" latinLnBrk="0" hangingPunct="1"/>
            <a:r>
              <a:rPr lang="en-US" altLang="ko-KR" dirty="0"/>
              <a:t>2) </a:t>
            </a:r>
            <a:r>
              <a:rPr lang="ko-KR" altLang="en-US" dirty="0"/>
              <a:t>미래 핵심고객인 </a:t>
            </a:r>
            <a:r>
              <a:rPr lang="en-US" altLang="ko-KR" dirty="0"/>
              <a:t>MZ </a:t>
            </a:r>
            <a:r>
              <a:rPr lang="ko-KR" altLang="en-US" dirty="0"/>
              <a:t>세대의 특성</a:t>
            </a:r>
            <a:endParaRPr lang="ko-KR" altLang="en-US" sz="2000" dirty="0"/>
          </a:p>
        </p:txBody>
      </p:sp>
      <p:sp>
        <p:nvSpPr>
          <p:cNvPr id="16387" name="내용 개체 틀 2">
            <a:extLst>
              <a:ext uri="{FF2B5EF4-FFF2-40B4-BE49-F238E27FC236}">
                <a16:creationId xmlns:a16="http://schemas.microsoft.com/office/drawing/2014/main" id="{A019C3D6-C2D1-4366-A6CF-2FD12BD7DD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641" y="1371600"/>
            <a:ext cx="11642818" cy="1842247"/>
          </a:xfrm>
        </p:spPr>
        <p:txBody>
          <a:bodyPr/>
          <a:lstStyle/>
          <a:p>
            <a:pPr eaLnBrk="1" latinLnBrk="0" hangingPunct="1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ko-KR" altLang="en-US" sz="2000" b="0" dirty="0"/>
              <a:t>짧고 굵은 콘텐츠를 즐기는 문화가 확산되고 있는 가운데 </a:t>
            </a:r>
            <a:r>
              <a:rPr lang="en-US" altLang="ko-KR" sz="2000" b="0" dirty="0"/>
              <a:t>MZ</a:t>
            </a:r>
            <a:r>
              <a:rPr lang="ko-KR" altLang="en-US" sz="2000" b="0" dirty="0"/>
              <a:t>세대의 </a:t>
            </a:r>
            <a:r>
              <a:rPr lang="ko-KR" altLang="en-US" sz="2000" b="0" dirty="0" err="1"/>
              <a:t>숏폼</a:t>
            </a:r>
            <a:r>
              <a:rPr lang="ko-KR" altLang="en-US" sz="2000" b="0" dirty="0"/>
              <a:t> 콘텐츠 선호도 높음</a:t>
            </a:r>
            <a:endParaRPr lang="en-US" altLang="ko-KR" sz="1800" dirty="0"/>
          </a:p>
          <a:p>
            <a:pPr marL="536575" lvl="1" indent="-179388" eaLnBrk="1" latinLnBrk="0" hangingPunct="1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ko-KR" altLang="en-US" sz="1800" dirty="0"/>
              <a:t>짧은 시간 안에 이해시키고 웃기거나 감동을 줄 수 있는 콘텐츠를 만들어 브랜드를 매력적으로 어필하는 것이 중요</a:t>
            </a:r>
            <a:endParaRPr lang="en-US" altLang="ko-KR" sz="1800" dirty="0"/>
          </a:p>
          <a:p>
            <a:pPr marL="536575" lvl="1" indent="-179388" eaLnBrk="1" latinLnBrk="0" hangingPunct="1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en-US" altLang="ko-KR" sz="1800" dirty="0"/>
              <a:t>2019</a:t>
            </a:r>
            <a:r>
              <a:rPr lang="ko-KR" altLang="en-US" sz="1800" dirty="0"/>
              <a:t>년 동원 </a:t>
            </a:r>
            <a:r>
              <a:rPr lang="en-US" altLang="ko-KR" sz="1800" dirty="0"/>
              <a:t>F&amp;B</a:t>
            </a:r>
            <a:r>
              <a:rPr lang="ko-KR" altLang="en-US" sz="1800" dirty="0"/>
              <a:t>의 </a:t>
            </a:r>
            <a:r>
              <a:rPr lang="en-US" altLang="ko-KR" sz="1800" dirty="0"/>
              <a:t>‘</a:t>
            </a:r>
            <a:r>
              <a:rPr lang="ko-KR" altLang="en-US" sz="1800" dirty="0"/>
              <a:t>맛의 </a:t>
            </a:r>
            <a:r>
              <a:rPr lang="ko-KR" altLang="en-US" sz="1800" dirty="0" err="1"/>
              <a:t>대참치</a:t>
            </a:r>
            <a:r>
              <a:rPr lang="en-US" altLang="ko-KR" sz="1800" dirty="0"/>
              <a:t>’</a:t>
            </a:r>
            <a:r>
              <a:rPr lang="ko-KR" altLang="en-US" sz="1800" dirty="0"/>
              <a:t> 캠페인 성공 사례</a:t>
            </a:r>
            <a:endParaRPr lang="en-US" altLang="ko-KR" sz="1800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B19F581B-F713-46EE-A8CA-9C2B84897B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3503" y="3382193"/>
            <a:ext cx="4650878" cy="2613794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F32040DB-5CB9-4531-898E-AE0EA9594F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7122" y="3384713"/>
            <a:ext cx="4650878" cy="261127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C765563-780F-4D6D-BC07-2FF6BA327867}"/>
              </a:ext>
            </a:extLst>
          </p:cNvPr>
          <p:cNvSpPr txBox="1"/>
          <p:nvPr/>
        </p:nvSpPr>
        <p:spPr>
          <a:xfrm>
            <a:off x="513604" y="6292334"/>
            <a:ext cx="12811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*</a:t>
            </a:r>
            <a:r>
              <a:rPr lang="ko-KR" altLang="en-US" sz="1200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이미지 출처 </a:t>
            </a:r>
            <a:r>
              <a:rPr lang="en-US" altLang="ko-KR" sz="1200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: </a:t>
            </a:r>
            <a:r>
              <a:rPr lang="ko-KR" altLang="en-US" sz="1200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구글</a:t>
            </a:r>
          </a:p>
        </p:txBody>
      </p:sp>
    </p:spTree>
    <p:extLst>
      <p:ext uri="{BB962C8B-B14F-4D97-AF65-F5344CB8AC3E}">
        <p14:creationId xmlns:p14="http://schemas.microsoft.com/office/powerpoint/2010/main" val="39049405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제목 1">
            <a:extLst>
              <a:ext uri="{FF2B5EF4-FFF2-40B4-BE49-F238E27FC236}">
                <a16:creationId xmlns:a16="http://schemas.microsoft.com/office/drawing/2014/main" id="{AAC64C6C-76C3-4D55-B2B6-B0463875E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9698037" cy="563563"/>
          </a:xfrm>
        </p:spPr>
        <p:txBody>
          <a:bodyPr/>
          <a:lstStyle/>
          <a:p>
            <a:pPr eaLnBrk="1" latinLnBrk="0" hangingPunct="1"/>
            <a:r>
              <a:rPr lang="en-US" altLang="ko-KR" dirty="0"/>
              <a:t>2) </a:t>
            </a:r>
            <a:r>
              <a:rPr lang="ko-KR" altLang="en-US" dirty="0"/>
              <a:t>미래 핵심고객인 </a:t>
            </a:r>
            <a:r>
              <a:rPr lang="en-US" altLang="ko-KR" dirty="0"/>
              <a:t>MZ </a:t>
            </a:r>
            <a:r>
              <a:rPr lang="ko-KR" altLang="en-US" dirty="0"/>
              <a:t>세대의 특성</a:t>
            </a:r>
            <a:endParaRPr lang="ko-KR" altLang="en-US" sz="2000" dirty="0"/>
          </a:p>
        </p:txBody>
      </p:sp>
      <p:sp>
        <p:nvSpPr>
          <p:cNvPr id="16387" name="내용 개체 틀 2">
            <a:extLst>
              <a:ext uri="{FF2B5EF4-FFF2-40B4-BE49-F238E27FC236}">
                <a16:creationId xmlns:a16="http://schemas.microsoft.com/office/drawing/2014/main" id="{A019C3D6-C2D1-4366-A6CF-2FD12BD7DD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641" y="1371600"/>
            <a:ext cx="11642818" cy="1842247"/>
          </a:xfrm>
        </p:spPr>
        <p:txBody>
          <a:bodyPr/>
          <a:lstStyle/>
          <a:p>
            <a:pPr eaLnBrk="1" latinLnBrk="0" hangingPunct="1">
              <a:buFont typeface="Wingdings" panose="05000000000000000000" pitchFamily="2" charset="2"/>
              <a:buChar char="§"/>
              <a:defRPr/>
            </a:pPr>
            <a:r>
              <a:rPr lang="ko-KR" altLang="en-US" sz="2000" b="0" dirty="0"/>
              <a:t>개념 있는 소비를 선호</a:t>
            </a:r>
            <a:endParaRPr lang="en-US" altLang="ko-KR" sz="1800" dirty="0"/>
          </a:p>
          <a:p>
            <a:pPr marL="536575" lvl="1" indent="-179388" eaLnBrk="1" latinLnBrk="0" hangingPunct="1">
              <a:buFont typeface="Wingdings" panose="05000000000000000000" pitchFamily="2" charset="2"/>
              <a:buChar char="§"/>
              <a:defRPr/>
            </a:pPr>
            <a:r>
              <a:rPr lang="ko-KR" altLang="en-US" sz="1800" dirty="0"/>
              <a:t>자신의 가치관과 신념을 드러내는 </a:t>
            </a:r>
            <a:r>
              <a:rPr lang="ko-KR" altLang="en-US" sz="1800" dirty="0" err="1"/>
              <a:t>미닝아웃</a:t>
            </a:r>
            <a:r>
              <a:rPr lang="ko-KR" altLang="en-US" sz="1800" dirty="0"/>
              <a:t> 소비를 선호</a:t>
            </a:r>
            <a:endParaRPr lang="en-US" altLang="ko-KR" sz="1800" dirty="0"/>
          </a:p>
          <a:p>
            <a:pPr marL="536575" lvl="1" indent="-179388" eaLnBrk="1" latinLnBrk="0" hangingPunct="1">
              <a:buFont typeface="Wingdings" panose="05000000000000000000" pitchFamily="2" charset="2"/>
              <a:buChar char="§"/>
              <a:defRPr/>
            </a:pPr>
            <a:r>
              <a:rPr lang="ko-KR" altLang="en-US" sz="1800" dirty="0"/>
              <a:t>공정하고 올바른 것을 추구하고 정직한 기업을 선호</a:t>
            </a:r>
            <a:endParaRPr lang="en-US" altLang="ko-KR" sz="1800" dirty="0"/>
          </a:p>
          <a:p>
            <a:pPr marL="536575" lvl="1" indent="-179388" eaLnBrk="1" latinLnBrk="0" hangingPunct="1">
              <a:buFont typeface="Wingdings" panose="05000000000000000000" pitchFamily="2" charset="2"/>
              <a:buChar char="§"/>
              <a:defRPr/>
            </a:pPr>
            <a:r>
              <a:rPr lang="ko-KR" altLang="en-US" sz="1800" dirty="0"/>
              <a:t>환경</a:t>
            </a:r>
            <a:r>
              <a:rPr lang="en-US" altLang="ko-KR" sz="1800" dirty="0"/>
              <a:t>, </a:t>
            </a:r>
            <a:r>
              <a:rPr lang="ko-KR" altLang="en-US" sz="1800" dirty="0"/>
              <a:t>윤리</a:t>
            </a:r>
            <a:r>
              <a:rPr lang="en-US" altLang="ko-KR" sz="1800" dirty="0"/>
              <a:t>, </a:t>
            </a:r>
            <a:r>
              <a:rPr lang="ko-KR" altLang="en-US" sz="1800" dirty="0"/>
              <a:t>인권</a:t>
            </a:r>
            <a:r>
              <a:rPr lang="en-US" altLang="ko-KR" sz="1800" dirty="0"/>
              <a:t>, </a:t>
            </a:r>
            <a:r>
              <a:rPr lang="ko-KR" altLang="en-US" sz="1800" dirty="0" err="1"/>
              <a:t>동물권</a:t>
            </a:r>
            <a:r>
              <a:rPr lang="ko-KR" altLang="en-US" sz="1800" dirty="0"/>
              <a:t> 등 자신의 가치관에 맞는 제품</a:t>
            </a:r>
            <a:r>
              <a:rPr lang="en-US" altLang="ko-KR" sz="1800" dirty="0"/>
              <a:t>/</a:t>
            </a:r>
            <a:r>
              <a:rPr lang="ko-KR" altLang="en-US" sz="1800" dirty="0"/>
              <a:t>서비스를 구매하고 부도덕하거나 신뢰를 떨어뜨린 기업은 불매운동까지 펼침</a:t>
            </a:r>
            <a:endParaRPr lang="en-US" altLang="ko-KR" sz="1800" dirty="0"/>
          </a:p>
          <a:p>
            <a:pPr marL="536575" lvl="1" indent="-179388" eaLnBrk="1" latinLnBrk="0" hangingPunct="1">
              <a:buFont typeface="Wingdings" panose="05000000000000000000" pitchFamily="2" charset="2"/>
              <a:buChar char="§"/>
              <a:defRPr/>
            </a:pPr>
            <a:r>
              <a:rPr lang="ko-KR" altLang="en-US" sz="1800" dirty="0"/>
              <a:t>공정무역 커피</a:t>
            </a:r>
            <a:r>
              <a:rPr lang="en-US" altLang="ko-KR" sz="1800" dirty="0"/>
              <a:t>, </a:t>
            </a:r>
            <a:r>
              <a:rPr lang="ko-KR" altLang="en-US" sz="1800" dirty="0" err="1"/>
              <a:t>무라벨</a:t>
            </a:r>
            <a:r>
              <a:rPr lang="ko-KR" altLang="en-US" sz="1800" dirty="0"/>
              <a:t> 생수</a:t>
            </a:r>
            <a:r>
              <a:rPr lang="en-US" altLang="ko-KR" sz="1800" dirty="0"/>
              <a:t>, </a:t>
            </a:r>
            <a:r>
              <a:rPr lang="ko-KR" altLang="en-US" sz="1800" dirty="0" err="1"/>
              <a:t>종이빨대</a:t>
            </a:r>
            <a:r>
              <a:rPr lang="en-US" altLang="ko-KR" sz="1800" dirty="0"/>
              <a:t>, </a:t>
            </a:r>
            <a:r>
              <a:rPr lang="ko-KR" altLang="en-US" sz="1800" dirty="0"/>
              <a:t>용기나 포장지 없는 </a:t>
            </a:r>
            <a:r>
              <a:rPr lang="ko-KR" altLang="en-US" sz="1800" dirty="0" err="1"/>
              <a:t>제로웨이스트</a:t>
            </a:r>
            <a:r>
              <a:rPr lang="ko-KR" altLang="en-US" sz="1800" dirty="0"/>
              <a:t> 숍</a:t>
            </a:r>
            <a:r>
              <a:rPr lang="en-US" altLang="ko-KR" sz="1800" dirty="0"/>
              <a:t>, </a:t>
            </a:r>
            <a:r>
              <a:rPr lang="ko-KR" altLang="en-US" sz="1800" dirty="0"/>
              <a:t>친환경 배송 서비스 등 선호</a:t>
            </a:r>
            <a:endParaRPr lang="en-US" altLang="ko-KR" sz="1800" dirty="0"/>
          </a:p>
          <a:p>
            <a:pPr marL="536575" lvl="1" indent="-179388" eaLnBrk="1" latinLnBrk="0" hangingPunct="1">
              <a:buFont typeface="Wingdings" panose="05000000000000000000" pitchFamily="2" charset="2"/>
              <a:buChar char="§"/>
              <a:defRPr/>
            </a:pPr>
            <a:r>
              <a:rPr lang="en-US" altLang="ko-KR" sz="1800" dirty="0"/>
              <a:t>‘</a:t>
            </a:r>
            <a:r>
              <a:rPr lang="ko-KR" altLang="en-US" sz="1800" dirty="0"/>
              <a:t>덕분에 </a:t>
            </a:r>
            <a:r>
              <a:rPr lang="ko-KR" altLang="en-US" sz="1800" dirty="0" err="1"/>
              <a:t>챌린지</a:t>
            </a:r>
            <a:r>
              <a:rPr lang="en-US" altLang="ko-KR" sz="1800" dirty="0"/>
              <a:t>’ </a:t>
            </a:r>
            <a:r>
              <a:rPr lang="ko-KR" altLang="en-US" sz="1800" dirty="0"/>
              <a:t>같은 공익 캠페인이나 착한 기업 제품을 적극적으로 애용 </a:t>
            </a:r>
            <a:endParaRPr lang="en-US" altLang="ko-KR" sz="1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765563-780F-4D6D-BC07-2FF6BA327867}"/>
              </a:ext>
            </a:extLst>
          </p:cNvPr>
          <p:cNvSpPr txBox="1"/>
          <p:nvPr/>
        </p:nvSpPr>
        <p:spPr>
          <a:xfrm>
            <a:off x="513604" y="6292334"/>
            <a:ext cx="12811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*</a:t>
            </a:r>
            <a:r>
              <a:rPr lang="ko-KR" altLang="en-US" sz="1200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이미지 출처 </a:t>
            </a:r>
            <a:r>
              <a:rPr lang="en-US" altLang="ko-KR" sz="1200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: </a:t>
            </a:r>
            <a:r>
              <a:rPr lang="ko-KR" altLang="en-US" sz="1200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구글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5925825-F955-46C9-9DA4-2244C83281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6473" y="3890403"/>
            <a:ext cx="2395683" cy="1595997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DAC7C465-FC01-491B-ADD1-E316D3D2CB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0946" y="3890401"/>
            <a:ext cx="3759690" cy="1595997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ACAEBCE-8C46-46F4-B023-14D6227F5BEE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59530"/>
          <a:stretch/>
        </p:blipFill>
        <p:spPr>
          <a:xfrm>
            <a:off x="831477" y="3515015"/>
            <a:ext cx="1281120" cy="221064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9E0D482A-0566-49A7-B05A-6CFF5BE3C4B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96032" y="3890402"/>
            <a:ext cx="2844914" cy="159599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15A65FB-407B-45B9-A0EE-57F78985FE10}"/>
              </a:ext>
            </a:extLst>
          </p:cNvPr>
          <p:cNvSpPr txBox="1"/>
          <p:nvPr/>
        </p:nvSpPr>
        <p:spPr>
          <a:xfrm>
            <a:off x="1221393" y="5778554"/>
            <a:ext cx="103941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000" dirty="0">
                <a:solidFill>
                  <a:srgbClr val="C00000"/>
                </a:solidFill>
                <a:highlight>
                  <a:srgbClr val="FFFF00"/>
                </a:highlight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MZ</a:t>
            </a:r>
            <a:r>
              <a:rPr lang="ko-KR" altLang="en-US" sz="2000" dirty="0">
                <a:solidFill>
                  <a:srgbClr val="C00000"/>
                </a:solidFill>
                <a:highlight>
                  <a:srgbClr val="FFFF00"/>
                </a:highlight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세대는 기존 세대와는 분명히 다른 개성과 취향</a:t>
            </a:r>
            <a:r>
              <a:rPr lang="en-US" altLang="ko-KR" sz="2000" dirty="0">
                <a:solidFill>
                  <a:srgbClr val="C00000"/>
                </a:solidFill>
                <a:highlight>
                  <a:srgbClr val="FFFF00"/>
                </a:highlight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, </a:t>
            </a:r>
            <a:r>
              <a:rPr lang="ko-KR" altLang="en-US" sz="2000" dirty="0">
                <a:solidFill>
                  <a:srgbClr val="C00000"/>
                </a:solidFill>
                <a:highlight>
                  <a:srgbClr val="FFFF00"/>
                </a:highlight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가치관을 가지고 있음을 바탕으로 브랜딩 전략 수립 필요</a:t>
            </a:r>
            <a:r>
              <a:rPr lang="en-US" altLang="ko-KR" sz="2000" dirty="0">
                <a:solidFill>
                  <a:srgbClr val="C00000"/>
                </a:solidFill>
                <a:highlight>
                  <a:srgbClr val="FFFF00"/>
                </a:highlight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18442660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제목 1">
            <a:extLst>
              <a:ext uri="{FF2B5EF4-FFF2-40B4-BE49-F238E27FC236}">
                <a16:creationId xmlns:a16="http://schemas.microsoft.com/office/drawing/2014/main" id="{AAC64C6C-76C3-4D55-B2B6-B0463875E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9698037" cy="563563"/>
          </a:xfrm>
        </p:spPr>
        <p:txBody>
          <a:bodyPr/>
          <a:lstStyle/>
          <a:p>
            <a:pPr eaLnBrk="1" latinLnBrk="0" hangingPunct="1"/>
            <a:r>
              <a:rPr lang="en-US" altLang="ko-KR" dirty="0"/>
              <a:t>3) </a:t>
            </a:r>
            <a:r>
              <a:rPr lang="ko-KR" altLang="en-US" dirty="0"/>
              <a:t>브랜드 </a:t>
            </a:r>
            <a:r>
              <a:rPr lang="ko-KR" altLang="en-US" dirty="0" err="1"/>
              <a:t>포지션닝이란</a:t>
            </a:r>
            <a:r>
              <a:rPr lang="ko-KR" altLang="en-US" dirty="0"/>
              <a:t> 무엇인가</a:t>
            </a:r>
            <a:r>
              <a:rPr lang="en-US" altLang="ko-KR" dirty="0"/>
              <a:t>?</a:t>
            </a:r>
            <a:endParaRPr lang="ko-KR" altLang="en-US" sz="2000" dirty="0"/>
          </a:p>
        </p:txBody>
      </p:sp>
      <p:sp>
        <p:nvSpPr>
          <p:cNvPr id="16387" name="내용 개체 틀 2">
            <a:extLst>
              <a:ext uri="{FF2B5EF4-FFF2-40B4-BE49-F238E27FC236}">
                <a16:creationId xmlns:a16="http://schemas.microsoft.com/office/drawing/2014/main" id="{A019C3D6-C2D1-4366-A6CF-2FD12BD7DD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641" y="1371600"/>
            <a:ext cx="11642818" cy="1842247"/>
          </a:xfrm>
        </p:spPr>
        <p:txBody>
          <a:bodyPr/>
          <a:lstStyle/>
          <a:p>
            <a:pPr eaLnBrk="1" latinLnBrk="0" hangingPunct="1">
              <a:buFont typeface="Wingdings" panose="05000000000000000000" pitchFamily="2" charset="2"/>
              <a:buChar char="§"/>
              <a:defRPr/>
            </a:pPr>
            <a:r>
              <a:rPr lang="ko-KR" altLang="en-US" sz="2000" b="0" dirty="0"/>
              <a:t>넘쳐나는 경쟁 브랜드 가운데 고객들 마음속에 브랜드를 각인 시키고 호감을 갖게 하는 것은 갈수록 어려워지고 있음</a:t>
            </a:r>
            <a:endParaRPr lang="en-US" altLang="ko-KR" sz="2000" b="0" dirty="0"/>
          </a:p>
          <a:p>
            <a:pPr eaLnBrk="1" latinLnBrk="0" hangingPunct="1">
              <a:buFont typeface="Wingdings" panose="05000000000000000000" pitchFamily="2" charset="2"/>
              <a:buChar char="§"/>
              <a:defRPr/>
            </a:pPr>
            <a:r>
              <a:rPr lang="ko-KR" altLang="en-US" sz="2000" b="0" dirty="0"/>
              <a:t>브랜드 포지셔닝이란 어떤 매력으로 시장에서 경쟁할 것인가</a:t>
            </a:r>
            <a:r>
              <a:rPr lang="en-US" altLang="ko-KR" sz="2000" b="0" dirty="0"/>
              <a:t>, </a:t>
            </a:r>
            <a:r>
              <a:rPr lang="ko-KR" altLang="en-US" sz="2000" b="0" dirty="0"/>
              <a:t>고객 마음속에 내 브랜드의 정체성</a:t>
            </a:r>
            <a:r>
              <a:rPr lang="en-US" altLang="ko-KR" sz="2000" b="0" dirty="0"/>
              <a:t>(</a:t>
            </a:r>
            <a:r>
              <a:rPr lang="ko-KR" altLang="en-US" sz="2000" b="0" dirty="0"/>
              <a:t>매력포인트</a:t>
            </a:r>
            <a:r>
              <a:rPr lang="en-US" altLang="ko-KR" sz="2000" b="0" dirty="0"/>
              <a:t>=</a:t>
            </a:r>
            <a:r>
              <a:rPr lang="ko-KR" altLang="en-US" sz="2000" b="0" dirty="0"/>
              <a:t>아이덴티티</a:t>
            </a:r>
            <a:r>
              <a:rPr lang="en-US" altLang="ko-KR" sz="2000" b="0" dirty="0"/>
              <a:t>)</a:t>
            </a:r>
            <a:r>
              <a:rPr lang="ko-KR" altLang="en-US" sz="2000" b="0" dirty="0"/>
              <a:t>을 어떻게 자리잡을 것인가를 결정하는 것이며</a:t>
            </a:r>
            <a:endParaRPr lang="en-US" altLang="ko-KR" sz="2000" b="0" dirty="0"/>
          </a:p>
          <a:p>
            <a:pPr eaLnBrk="1" latinLnBrk="0" hangingPunct="1">
              <a:buFont typeface="Wingdings" panose="05000000000000000000" pitchFamily="2" charset="2"/>
              <a:buChar char="§"/>
              <a:defRPr/>
            </a:pPr>
            <a:r>
              <a:rPr lang="ko-KR" altLang="en-US" sz="2000" b="0" dirty="0"/>
              <a:t>경쟁 브랜드와 차별화되는 독특한 매력 포인트를 찾아 커뮤니케이션함으로써 고객 머릿속에 강력히 자리 잡는 과정임</a:t>
            </a:r>
            <a:endParaRPr lang="en-US" altLang="ko-KR" sz="2000" b="0" dirty="0"/>
          </a:p>
          <a:p>
            <a:pPr eaLnBrk="1" latinLnBrk="0" hangingPunct="1">
              <a:buFont typeface="Wingdings" panose="05000000000000000000" pitchFamily="2" charset="2"/>
              <a:buChar char="§"/>
              <a:defRPr/>
            </a:pPr>
            <a:r>
              <a:rPr lang="ko-KR" altLang="en-US" sz="2000" b="0" dirty="0"/>
              <a:t>자신의 매력포인트를 잘 표현하여 성공한 사례</a:t>
            </a:r>
            <a:endParaRPr lang="en-US" altLang="ko-KR" sz="2000" b="0" dirty="0"/>
          </a:p>
          <a:p>
            <a:pPr lvl="1" eaLnBrk="1" latinLnBrk="0" hangingPunct="1">
              <a:buFont typeface="Wingdings" panose="05000000000000000000" pitchFamily="2" charset="2"/>
              <a:buChar char="§"/>
              <a:defRPr/>
            </a:pPr>
            <a:r>
              <a:rPr lang="ko-KR" altLang="en-US" sz="1800" dirty="0" err="1"/>
              <a:t>희스토리푸드의</a:t>
            </a:r>
            <a:r>
              <a:rPr lang="ko-KR" altLang="en-US" sz="1800" dirty="0"/>
              <a:t> 순대실록</a:t>
            </a:r>
            <a:r>
              <a:rPr lang="en-US" altLang="ko-KR" sz="1800" dirty="0"/>
              <a:t>, </a:t>
            </a:r>
            <a:r>
              <a:rPr lang="ko-KR" altLang="en-US" sz="1800" dirty="0" err="1"/>
              <a:t>스윗비</a:t>
            </a:r>
            <a:r>
              <a:rPr lang="ko-KR" altLang="en-US" sz="1800" dirty="0"/>
              <a:t> 소프트아이스크림</a:t>
            </a:r>
            <a:r>
              <a:rPr lang="en-US" altLang="ko-KR" sz="1800" dirty="0"/>
              <a:t>, </a:t>
            </a:r>
            <a:r>
              <a:rPr lang="ko-KR" altLang="en-US" sz="1800" dirty="0"/>
              <a:t>남다른 </a:t>
            </a:r>
            <a:r>
              <a:rPr lang="ko-KR" altLang="en-US" sz="1800" dirty="0" err="1"/>
              <a:t>감자탕</a:t>
            </a:r>
            <a:r>
              <a:rPr lang="ko-KR" altLang="en-US" sz="1800" dirty="0"/>
              <a:t> 등</a:t>
            </a:r>
            <a:r>
              <a:rPr lang="en-US" altLang="ko-KR" sz="1800" dirty="0"/>
              <a:t> 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B757DC54-8758-4534-873C-ADE731DECF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641" y="3765176"/>
            <a:ext cx="5765233" cy="2577009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C70A368D-7560-4330-80EB-28BFBE911E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1401" y="3831036"/>
            <a:ext cx="5177958" cy="2445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91117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제목 1">
            <a:extLst>
              <a:ext uri="{FF2B5EF4-FFF2-40B4-BE49-F238E27FC236}">
                <a16:creationId xmlns:a16="http://schemas.microsoft.com/office/drawing/2014/main" id="{AAC64C6C-76C3-4D55-B2B6-B0463875E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9698037" cy="563563"/>
          </a:xfrm>
        </p:spPr>
        <p:txBody>
          <a:bodyPr/>
          <a:lstStyle/>
          <a:p>
            <a:pPr eaLnBrk="1" latinLnBrk="0" hangingPunct="1"/>
            <a:r>
              <a:rPr lang="en-US" altLang="ko-KR" dirty="0"/>
              <a:t>3) </a:t>
            </a:r>
            <a:r>
              <a:rPr lang="ko-KR" altLang="en-US" dirty="0"/>
              <a:t>브랜드 </a:t>
            </a:r>
            <a:r>
              <a:rPr lang="ko-KR" altLang="en-US" dirty="0" err="1"/>
              <a:t>포지션닝이란</a:t>
            </a:r>
            <a:r>
              <a:rPr lang="ko-KR" altLang="en-US" dirty="0"/>
              <a:t> 무엇인가</a:t>
            </a:r>
            <a:r>
              <a:rPr lang="en-US" altLang="ko-KR" dirty="0"/>
              <a:t>?</a:t>
            </a:r>
            <a:endParaRPr lang="ko-KR" altLang="en-US" sz="20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1730C01-1F18-44F0-AA96-D9BD19F619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2552" y="3239621"/>
            <a:ext cx="7016718" cy="282136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70FB29C2-A0D3-470C-B007-DE66384F78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4600" y="1719620"/>
            <a:ext cx="2946467" cy="1303245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7FDC3C20-1766-40A6-A6C6-65B52F69F5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7178" y="1344061"/>
            <a:ext cx="2707510" cy="2300459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81304204-8DA8-4214-903D-988B011E4054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10995" b="5062"/>
          <a:stretch/>
        </p:blipFill>
        <p:spPr>
          <a:xfrm>
            <a:off x="1041310" y="3760524"/>
            <a:ext cx="3326421" cy="216963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390AA04-848A-48BA-9DFF-9825B05E3D10}"/>
              </a:ext>
            </a:extLst>
          </p:cNvPr>
          <p:cNvSpPr txBox="1"/>
          <p:nvPr/>
        </p:nvSpPr>
        <p:spPr>
          <a:xfrm>
            <a:off x="1728130" y="6097042"/>
            <a:ext cx="1952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[</a:t>
            </a:r>
            <a:r>
              <a:rPr lang="ko-KR" altLang="en-US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기존 </a:t>
            </a:r>
            <a:r>
              <a:rPr lang="ko-KR" altLang="en-US" dirty="0" err="1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감자탕</a:t>
            </a:r>
            <a:r>
              <a:rPr lang="ko-KR" altLang="en-US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 브랜드</a:t>
            </a:r>
            <a:r>
              <a:rPr lang="en-US" altLang="ko-KR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]</a:t>
            </a:r>
            <a:endParaRPr lang="ko-KR" altLang="en-US" dirty="0">
              <a:latin typeface="서울남산 장체 M" panose="02020503020101020101" pitchFamily="18" charset="-127"/>
              <a:ea typeface="서울남산 장체 M" panose="020205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216235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제목 1">
            <a:extLst>
              <a:ext uri="{FF2B5EF4-FFF2-40B4-BE49-F238E27FC236}">
                <a16:creationId xmlns:a16="http://schemas.microsoft.com/office/drawing/2014/main" id="{AAC64C6C-76C3-4D55-B2B6-B0463875E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9698037" cy="563563"/>
          </a:xfrm>
        </p:spPr>
        <p:txBody>
          <a:bodyPr/>
          <a:lstStyle/>
          <a:p>
            <a:pPr eaLnBrk="1" latinLnBrk="0" hangingPunct="1"/>
            <a:r>
              <a:rPr lang="en-US" altLang="ko-KR" dirty="0"/>
              <a:t>4) </a:t>
            </a:r>
            <a:r>
              <a:rPr lang="ko-KR" altLang="en-US" dirty="0"/>
              <a:t>브랜드 아이덴티티 개발 모델</a:t>
            </a:r>
            <a:endParaRPr lang="ko-KR" altLang="en-US" sz="2000" dirty="0"/>
          </a:p>
        </p:txBody>
      </p:sp>
      <p:sp>
        <p:nvSpPr>
          <p:cNvPr id="16387" name="내용 개체 틀 2">
            <a:extLst>
              <a:ext uri="{FF2B5EF4-FFF2-40B4-BE49-F238E27FC236}">
                <a16:creationId xmlns:a16="http://schemas.microsoft.com/office/drawing/2014/main" id="{A019C3D6-C2D1-4366-A6CF-2FD12BD7DD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641" y="1371600"/>
            <a:ext cx="11642818" cy="1842247"/>
          </a:xfrm>
        </p:spPr>
        <p:txBody>
          <a:bodyPr/>
          <a:lstStyle/>
          <a:p>
            <a:pPr eaLnBrk="1" latinLnBrk="0" hangingPunct="1">
              <a:buFont typeface="Wingdings" panose="05000000000000000000" pitchFamily="2" charset="2"/>
              <a:buChar char="§"/>
              <a:defRPr/>
            </a:pPr>
            <a:r>
              <a:rPr lang="ko-KR" altLang="en-US" sz="2000" b="0" dirty="0"/>
              <a:t>브랜드 아이덴티티</a:t>
            </a:r>
            <a:r>
              <a:rPr lang="en-US" altLang="ko-KR" sz="2000" b="0" dirty="0"/>
              <a:t>(brand identity)</a:t>
            </a:r>
            <a:r>
              <a:rPr lang="ko-KR" altLang="en-US" sz="2000" b="0" dirty="0"/>
              <a:t>란 기업이 목표고객에게 심어주고 싶은 브랜드의 가치와 의미를 반영하는 바람직한 연상이나 이미지를 말함</a:t>
            </a:r>
            <a:endParaRPr lang="en-US" altLang="ko-KR" sz="2000" b="0" dirty="0"/>
          </a:p>
          <a:p>
            <a:pPr eaLnBrk="1" latinLnBrk="0" hangingPunct="1">
              <a:buFont typeface="Wingdings" panose="05000000000000000000" pitchFamily="2" charset="2"/>
              <a:buChar char="§"/>
              <a:defRPr/>
            </a:pPr>
            <a:r>
              <a:rPr lang="ko-KR" altLang="en-US" sz="2000" b="0" dirty="0"/>
              <a:t>기업이 지향하는 가치관이나 차별화 요소를 함축하여 목표고객에게 전달하는데</a:t>
            </a:r>
            <a:r>
              <a:rPr lang="en-US" altLang="ko-KR" sz="2000" b="0" dirty="0"/>
              <a:t> </a:t>
            </a:r>
            <a:r>
              <a:rPr lang="ko-KR" altLang="en-US" sz="2000" b="0" dirty="0"/>
              <a:t>매우</a:t>
            </a:r>
            <a:r>
              <a:rPr lang="en-US" altLang="ko-KR" sz="2000" b="0" dirty="0"/>
              <a:t> </a:t>
            </a:r>
            <a:r>
              <a:rPr lang="ko-KR" altLang="en-US" sz="2000" b="0" dirty="0"/>
              <a:t>유용한 마케팅 커뮤니케이션 도구</a:t>
            </a:r>
            <a:endParaRPr lang="en-US" altLang="ko-KR" sz="2000" b="0" dirty="0"/>
          </a:p>
          <a:p>
            <a:pPr eaLnBrk="1" latinLnBrk="0" hangingPunct="1">
              <a:buFont typeface="Wingdings" panose="05000000000000000000" pitchFamily="2" charset="2"/>
              <a:buChar char="§"/>
              <a:defRPr/>
            </a:pPr>
            <a:r>
              <a:rPr lang="ko-KR" altLang="en-US" sz="2000" b="0" dirty="0"/>
              <a:t>브랜드 이미지</a:t>
            </a:r>
            <a:r>
              <a:rPr lang="en-US" altLang="ko-KR" sz="2000" b="0" dirty="0"/>
              <a:t>(brand image)</a:t>
            </a:r>
            <a:r>
              <a:rPr lang="ko-KR" altLang="en-US" sz="2000" b="0" dirty="0"/>
              <a:t>는 고객이 특정 브랜드에 대해 가지는 생각이나 느낌</a:t>
            </a:r>
            <a:r>
              <a:rPr lang="en-US" altLang="ko-KR" sz="2000" b="0" dirty="0"/>
              <a:t>, </a:t>
            </a:r>
            <a:r>
              <a:rPr lang="ko-KR" altLang="en-US" sz="2000" b="0" dirty="0"/>
              <a:t>연상을 말함 </a:t>
            </a:r>
            <a:endParaRPr lang="en-US" altLang="ko-KR" sz="2000" b="0" dirty="0"/>
          </a:p>
          <a:p>
            <a:pPr eaLnBrk="1" latinLnBrk="0" hangingPunct="1">
              <a:buFont typeface="Wingdings" panose="05000000000000000000" pitchFamily="2" charset="2"/>
              <a:buChar char="§"/>
              <a:defRPr/>
            </a:pPr>
            <a:r>
              <a:rPr lang="ko-KR" altLang="en-US" sz="2000" b="0" dirty="0"/>
              <a:t>브랜드 아이덴티티와 브랜드 이미지를 일치하도록 만드는 것이 브랜드 마케팅의 목표이자 브랜드 마케터의 역할 </a:t>
            </a:r>
            <a:endParaRPr lang="en-US" altLang="ko-KR" sz="18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5CF864B-BA14-4673-8656-8FFE56837B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8599" y="3255199"/>
            <a:ext cx="4365813" cy="3336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17002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제목 1">
            <a:extLst>
              <a:ext uri="{FF2B5EF4-FFF2-40B4-BE49-F238E27FC236}">
                <a16:creationId xmlns:a16="http://schemas.microsoft.com/office/drawing/2014/main" id="{AAC64C6C-76C3-4D55-B2B6-B0463875E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9698037" cy="563563"/>
          </a:xfrm>
        </p:spPr>
        <p:txBody>
          <a:bodyPr/>
          <a:lstStyle/>
          <a:p>
            <a:pPr eaLnBrk="1" latinLnBrk="0" hangingPunct="1"/>
            <a:r>
              <a:rPr lang="en-US" altLang="ko-KR" dirty="0"/>
              <a:t>4) </a:t>
            </a:r>
            <a:r>
              <a:rPr lang="ko-KR" altLang="en-US" dirty="0"/>
              <a:t>브랜드 아이덴티티 개발 모델</a:t>
            </a:r>
            <a:endParaRPr lang="ko-KR" altLang="en-US" sz="2000" dirty="0"/>
          </a:p>
        </p:txBody>
      </p:sp>
      <p:sp>
        <p:nvSpPr>
          <p:cNvPr id="16387" name="내용 개체 틀 2">
            <a:extLst>
              <a:ext uri="{FF2B5EF4-FFF2-40B4-BE49-F238E27FC236}">
                <a16:creationId xmlns:a16="http://schemas.microsoft.com/office/drawing/2014/main" id="{A019C3D6-C2D1-4366-A6CF-2FD12BD7DD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641" y="1371601"/>
            <a:ext cx="11642818" cy="430306"/>
          </a:xfrm>
        </p:spPr>
        <p:txBody>
          <a:bodyPr/>
          <a:lstStyle/>
          <a:p>
            <a:pPr eaLnBrk="1" latinLnBrk="0" hangingPunct="1">
              <a:buFont typeface="Wingdings" panose="05000000000000000000" pitchFamily="2" charset="2"/>
              <a:buChar char="§"/>
              <a:defRPr/>
            </a:pPr>
            <a:r>
              <a:rPr lang="ko-KR" altLang="en-US" sz="2000" b="0" dirty="0" err="1"/>
              <a:t>아커</a:t>
            </a:r>
            <a:r>
              <a:rPr lang="en-US" altLang="ko-KR" sz="2000" b="0" dirty="0"/>
              <a:t>(Aaker)</a:t>
            </a:r>
            <a:r>
              <a:rPr lang="ko-KR" altLang="en-US" sz="2000" b="0" dirty="0"/>
              <a:t>의 브랜드 아이덴티티 개발 과정</a:t>
            </a:r>
            <a:endParaRPr lang="en-US" altLang="ko-KR" sz="1800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083E5220-A743-49B2-93B1-79F64D1363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641" y="1942465"/>
            <a:ext cx="5265008" cy="4383741"/>
          </a:xfrm>
          <a:prstGeom prst="rect">
            <a:avLst/>
          </a:prstGeom>
        </p:spPr>
      </p:pic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77578012-C069-4C4E-8AB5-CE19006187BE}"/>
              </a:ext>
            </a:extLst>
          </p:cNvPr>
          <p:cNvSpPr txBox="1">
            <a:spLocks/>
          </p:cNvSpPr>
          <p:nvPr/>
        </p:nvSpPr>
        <p:spPr bwMode="auto">
          <a:xfrm>
            <a:off x="5734423" y="2450727"/>
            <a:ext cx="6024936" cy="1956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defRPr sz="2400" b="1" kern="120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+mn-cs"/>
              </a:defRPr>
            </a:lvl1pPr>
            <a:lvl2pPr marL="179388" indent="277813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defRPr sz="2400" kern="1200">
                <a:solidFill>
                  <a:schemeClr val="tx1"/>
                </a:solidFill>
                <a:latin typeface="서울남산 장체 L" panose="02020503020101020101" pitchFamily="18" charset="-127"/>
                <a:ea typeface="서울남산 장체 L" panose="02020503020101020101" pitchFamily="18" charset="-127"/>
                <a:cs typeface="+mn-cs"/>
              </a:defRPr>
            </a:lvl2pPr>
            <a:lvl3pPr marL="447675" indent="46672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defRPr sz="2000" kern="1200">
                <a:solidFill>
                  <a:schemeClr val="tx1"/>
                </a:solidFill>
                <a:latin typeface="서울남산 장체 L" panose="02020503020101020101" pitchFamily="18" charset="-127"/>
                <a:ea typeface="서울남산 장체 L" panose="02020503020101020101" pitchFamily="18" charset="-127"/>
                <a:cs typeface="+mn-cs"/>
              </a:defRPr>
            </a:lvl3pPr>
            <a:lvl4pPr marL="627063" indent="744538" algn="l" rtl="0" eaLnBrk="0" fontAlgn="base" latinLnBrk="1" hangingPunct="0">
              <a:spcBef>
                <a:spcPct val="2000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서울남산 장체 L" panose="02020503020101020101" pitchFamily="18" charset="-127"/>
                <a:ea typeface="서울남산 장체 L" panose="02020503020101020101" pitchFamily="18" charset="-127"/>
                <a:cs typeface="+mn-cs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ern="1200">
                <a:solidFill>
                  <a:schemeClr val="tx1"/>
                </a:solidFill>
                <a:latin typeface="서울남산 장체 L" panose="02020503020101020101" pitchFamily="18" charset="-127"/>
                <a:ea typeface="서울남산 장체 L" panose="02020503020101020101" pitchFamily="18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36575" lvl="1" indent="-179388" eaLnBrk="1" latinLnBrk="0" hangingPunct="1">
              <a:buFont typeface="Wingdings" panose="05000000000000000000" pitchFamily="2" charset="2"/>
              <a:buChar char="§"/>
              <a:defRPr/>
            </a:pPr>
            <a:r>
              <a:rPr lang="en-US" altLang="ko-KR" sz="1600" dirty="0"/>
              <a:t>1</a:t>
            </a:r>
            <a:r>
              <a:rPr lang="ko-KR" altLang="en-US" sz="1600" dirty="0"/>
              <a:t>단계 상황분석에서는 시장 트렌드를 적절하게 반영하고 소비자의 욕구와 세분화된 시장의 특성을 이해해야 함</a:t>
            </a:r>
            <a:endParaRPr lang="en-US" altLang="ko-KR" sz="1600" dirty="0"/>
          </a:p>
          <a:p>
            <a:pPr marL="536575" lvl="1" indent="-179388" eaLnBrk="1" latinLnBrk="0" hangingPunct="1">
              <a:buFont typeface="Wingdings" panose="05000000000000000000" pitchFamily="2" charset="2"/>
              <a:buChar char="§"/>
              <a:defRPr/>
            </a:pPr>
            <a:r>
              <a:rPr lang="ko-KR" altLang="en-US" sz="1600" dirty="0"/>
              <a:t>자사가 지닌 강점을 살리면서 경쟁사와는 차별화되어야 하고 경쟁사의 약점을 공격하고 강점을 무력화 시킬 수 있어야 함</a:t>
            </a:r>
            <a:endParaRPr lang="en-US" altLang="ko-KR" sz="1600" dirty="0"/>
          </a:p>
          <a:p>
            <a:pPr marL="536575" lvl="1" indent="-179388" eaLnBrk="1" latinLnBrk="0" hangingPunct="1">
              <a:buFont typeface="Wingdings" panose="05000000000000000000" pitchFamily="2" charset="2"/>
              <a:buChar char="§"/>
              <a:defRPr/>
            </a:pPr>
            <a:r>
              <a:rPr lang="ko-KR" altLang="en-US" sz="1600" dirty="0"/>
              <a:t>경쟁사가 충족시켜주지 못하고 있는 고객의 니즈 등을 찾아냄으로써 새로운 사업 기회 발견 가능</a:t>
            </a:r>
            <a:endParaRPr lang="en-US" altLang="ko-KR" sz="16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43AC5D1-DFE5-4B20-B650-C899E24E24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9153" y="4145276"/>
            <a:ext cx="4856082" cy="1701054"/>
          </a:xfrm>
          <a:prstGeom prst="rect">
            <a:avLst/>
          </a:prstGeom>
        </p:spPr>
      </p:pic>
      <p:sp>
        <p:nvSpPr>
          <p:cNvPr id="5" name="말풍선: 사각형 4">
            <a:extLst>
              <a:ext uri="{FF2B5EF4-FFF2-40B4-BE49-F238E27FC236}">
                <a16:creationId xmlns:a16="http://schemas.microsoft.com/office/drawing/2014/main" id="{6266EDA5-037C-4945-A2A7-4383D090DC32}"/>
              </a:ext>
            </a:extLst>
          </p:cNvPr>
          <p:cNvSpPr/>
          <p:nvPr/>
        </p:nvSpPr>
        <p:spPr bwMode="auto">
          <a:xfrm>
            <a:off x="5995030" y="2124634"/>
            <a:ext cx="5764329" cy="3853851"/>
          </a:xfrm>
          <a:prstGeom prst="wedgeRectCallout">
            <a:avLst>
              <a:gd name="adj1" fmla="val -57546"/>
              <a:gd name="adj2" fmla="val -46522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09293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제목 1">
            <a:extLst>
              <a:ext uri="{FF2B5EF4-FFF2-40B4-BE49-F238E27FC236}">
                <a16:creationId xmlns:a16="http://schemas.microsoft.com/office/drawing/2014/main" id="{AAC64C6C-76C3-4D55-B2B6-B0463875E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9698037" cy="563563"/>
          </a:xfrm>
        </p:spPr>
        <p:txBody>
          <a:bodyPr/>
          <a:lstStyle/>
          <a:p>
            <a:pPr eaLnBrk="1" latinLnBrk="0" hangingPunct="1"/>
            <a:r>
              <a:rPr lang="en-US" altLang="ko-KR" dirty="0"/>
              <a:t>4) </a:t>
            </a:r>
            <a:r>
              <a:rPr lang="ko-KR" altLang="en-US" dirty="0"/>
              <a:t>브랜드 아이덴티티 개발 모델</a:t>
            </a:r>
            <a:endParaRPr lang="ko-KR" altLang="en-US" sz="2000" dirty="0"/>
          </a:p>
        </p:txBody>
      </p:sp>
      <p:sp>
        <p:nvSpPr>
          <p:cNvPr id="16387" name="내용 개체 틀 2">
            <a:extLst>
              <a:ext uri="{FF2B5EF4-FFF2-40B4-BE49-F238E27FC236}">
                <a16:creationId xmlns:a16="http://schemas.microsoft.com/office/drawing/2014/main" id="{A019C3D6-C2D1-4366-A6CF-2FD12BD7DD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641" y="1371601"/>
            <a:ext cx="11642818" cy="430306"/>
          </a:xfrm>
        </p:spPr>
        <p:txBody>
          <a:bodyPr/>
          <a:lstStyle/>
          <a:p>
            <a:pPr eaLnBrk="1" latinLnBrk="0" hangingPunct="1">
              <a:buFont typeface="Wingdings" panose="05000000000000000000" pitchFamily="2" charset="2"/>
              <a:buChar char="§"/>
              <a:defRPr/>
            </a:pPr>
            <a:r>
              <a:rPr lang="ko-KR" altLang="en-US" sz="2000" b="0" dirty="0" err="1"/>
              <a:t>아커</a:t>
            </a:r>
            <a:r>
              <a:rPr lang="en-US" altLang="ko-KR" sz="2000" b="0" dirty="0"/>
              <a:t>(Aaker)</a:t>
            </a:r>
            <a:r>
              <a:rPr lang="ko-KR" altLang="en-US" sz="2000" b="0" dirty="0"/>
              <a:t>의 브랜드 아이덴티티 개발 과정</a:t>
            </a:r>
            <a:endParaRPr lang="en-US" altLang="ko-KR" sz="1800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083E5220-A743-49B2-93B1-79F64D1363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641" y="1942465"/>
            <a:ext cx="5265008" cy="4383741"/>
          </a:xfrm>
          <a:prstGeom prst="rect">
            <a:avLst/>
          </a:prstGeom>
        </p:spPr>
      </p:pic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77578012-C069-4C4E-8AB5-CE19006187BE}"/>
              </a:ext>
            </a:extLst>
          </p:cNvPr>
          <p:cNvSpPr txBox="1">
            <a:spLocks/>
          </p:cNvSpPr>
          <p:nvPr/>
        </p:nvSpPr>
        <p:spPr bwMode="auto">
          <a:xfrm>
            <a:off x="5734423" y="2228945"/>
            <a:ext cx="6024936" cy="35398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defRPr sz="2400" b="1" kern="120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+mn-cs"/>
              </a:defRPr>
            </a:lvl1pPr>
            <a:lvl2pPr marL="179388" indent="277813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defRPr sz="2400" kern="1200">
                <a:solidFill>
                  <a:schemeClr val="tx1"/>
                </a:solidFill>
                <a:latin typeface="서울남산 장체 L" panose="02020503020101020101" pitchFamily="18" charset="-127"/>
                <a:ea typeface="서울남산 장체 L" panose="02020503020101020101" pitchFamily="18" charset="-127"/>
                <a:cs typeface="+mn-cs"/>
              </a:defRPr>
            </a:lvl2pPr>
            <a:lvl3pPr marL="447675" indent="46672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defRPr sz="2000" kern="1200">
                <a:solidFill>
                  <a:schemeClr val="tx1"/>
                </a:solidFill>
                <a:latin typeface="서울남산 장체 L" panose="02020503020101020101" pitchFamily="18" charset="-127"/>
                <a:ea typeface="서울남산 장체 L" panose="02020503020101020101" pitchFamily="18" charset="-127"/>
                <a:cs typeface="+mn-cs"/>
              </a:defRPr>
            </a:lvl3pPr>
            <a:lvl4pPr marL="627063" indent="744538" algn="l" rtl="0" eaLnBrk="0" fontAlgn="base" latinLnBrk="1" hangingPunct="0">
              <a:spcBef>
                <a:spcPct val="2000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서울남산 장체 L" panose="02020503020101020101" pitchFamily="18" charset="-127"/>
                <a:ea typeface="서울남산 장체 L" panose="02020503020101020101" pitchFamily="18" charset="-127"/>
                <a:cs typeface="+mn-cs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ern="1200">
                <a:solidFill>
                  <a:schemeClr val="tx1"/>
                </a:solidFill>
                <a:latin typeface="서울남산 장체 L" panose="02020503020101020101" pitchFamily="18" charset="-127"/>
                <a:ea typeface="서울남산 장체 L" panose="02020503020101020101" pitchFamily="18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36575" lvl="1" indent="-179388" eaLnBrk="1" latinLnBrk="0" hangingPunct="1">
              <a:buFont typeface="Wingdings" panose="05000000000000000000" pitchFamily="2" charset="2"/>
              <a:buChar char="§"/>
              <a:defRPr/>
            </a:pPr>
            <a:r>
              <a:rPr lang="en-US" altLang="ko-KR" sz="1600" dirty="0"/>
              <a:t>2</a:t>
            </a:r>
            <a:r>
              <a:rPr lang="ko-KR" altLang="en-US" sz="1600" dirty="0"/>
              <a:t>단계는 브랜드 아이덴티티를 정의하는 단계로 고객이 제품이나 서비스를 더욱 매력적으로 느끼게 하려고 서비스의 특성을 </a:t>
            </a:r>
            <a:r>
              <a:rPr lang="ko-KR" altLang="en-US" sz="1600" dirty="0" err="1"/>
              <a:t>상징화하여</a:t>
            </a:r>
            <a:r>
              <a:rPr lang="ko-KR" altLang="en-US" sz="1600" dirty="0"/>
              <a:t> 서비스 가치를 높이는 바람직한 </a:t>
            </a:r>
            <a:r>
              <a:rPr lang="en-US" altLang="ko-KR" sz="1600" dirty="0"/>
              <a:t>‘</a:t>
            </a:r>
            <a:r>
              <a:rPr lang="ko-KR" altLang="en-US" sz="1600" dirty="0"/>
              <a:t>연상</a:t>
            </a:r>
            <a:r>
              <a:rPr lang="en-US" altLang="ko-KR" sz="1600" dirty="0"/>
              <a:t>’</a:t>
            </a:r>
            <a:r>
              <a:rPr lang="ko-KR" altLang="en-US" sz="1600" dirty="0"/>
              <a:t>의 집합 도출하는 과정</a:t>
            </a:r>
            <a:endParaRPr lang="en-US" altLang="ko-KR" sz="1600" dirty="0"/>
          </a:p>
          <a:p>
            <a:pPr marL="536575" lvl="1" indent="-179388" eaLnBrk="1" latinLnBrk="0" hangingPunct="1">
              <a:buFont typeface="Wingdings" panose="05000000000000000000" pitchFamily="2" charset="2"/>
              <a:buChar char="§"/>
              <a:defRPr/>
            </a:pPr>
            <a:r>
              <a:rPr lang="ko-KR" altLang="en-US" sz="1600" dirty="0"/>
              <a:t>브랜드 아이덴티티는 핵심 아이덴티티와</a:t>
            </a:r>
            <a:r>
              <a:rPr lang="en-US" altLang="ko-KR" sz="1600" dirty="0"/>
              <a:t> </a:t>
            </a:r>
            <a:r>
              <a:rPr lang="ko-KR" altLang="en-US" sz="1600" dirty="0"/>
              <a:t>확장 아이덴티티 등으로 구성</a:t>
            </a:r>
            <a:endParaRPr lang="en-US" altLang="ko-KR" sz="1600" dirty="0"/>
          </a:p>
          <a:p>
            <a:pPr marL="536575" lvl="1" indent="-179388" eaLnBrk="1" latinLnBrk="0" hangingPunct="1">
              <a:buFont typeface="Wingdings" panose="05000000000000000000" pitchFamily="2" charset="2"/>
              <a:buChar char="§"/>
              <a:defRPr/>
            </a:pPr>
            <a:r>
              <a:rPr lang="en-US" altLang="ko-KR" sz="1600" dirty="0"/>
              <a:t>(</a:t>
            </a:r>
            <a:r>
              <a:rPr lang="ko-KR" altLang="en-US" sz="1600" dirty="0"/>
              <a:t>핵심 아이덴티티</a:t>
            </a:r>
            <a:r>
              <a:rPr lang="en-US" altLang="ko-KR" sz="1600" dirty="0"/>
              <a:t>)</a:t>
            </a:r>
            <a:r>
              <a:rPr lang="ko-KR" altLang="en-US" sz="1600" dirty="0"/>
              <a:t>는 브랜드의 중심이 되는 정신과 기본적 가치를 의미하되 시간이 흘러도 변하지 않는 특성을 가지며 함축적이고 추상적인 경우 많음</a:t>
            </a:r>
            <a:endParaRPr lang="en-US" altLang="ko-KR" sz="1600" dirty="0"/>
          </a:p>
          <a:p>
            <a:pPr marL="536575" lvl="1" indent="-179388" eaLnBrk="1" latinLnBrk="0" hangingPunct="1">
              <a:buFont typeface="Wingdings" panose="05000000000000000000" pitchFamily="2" charset="2"/>
              <a:buChar char="§"/>
              <a:defRPr/>
            </a:pPr>
            <a:r>
              <a:rPr lang="en-US" altLang="ko-KR" sz="1600" dirty="0"/>
              <a:t>(</a:t>
            </a:r>
            <a:r>
              <a:rPr lang="ko-KR" altLang="en-US" sz="1600" dirty="0"/>
              <a:t>확장 아이덴티티</a:t>
            </a:r>
            <a:r>
              <a:rPr lang="en-US" altLang="ko-KR" sz="1600" dirty="0"/>
              <a:t>)</a:t>
            </a:r>
            <a:r>
              <a:rPr lang="ko-KR" altLang="en-US" sz="1600" dirty="0"/>
              <a:t>는 좀 더 구체적으로 설명할 수 있는 다양한 요소들로 브랜드의 의미를 소비자들에게 가시적으로 전달하는 역할</a:t>
            </a:r>
            <a:endParaRPr lang="en-US" altLang="ko-KR" sz="1600" dirty="0"/>
          </a:p>
          <a:p>
            <a:pPr marL="536575" lvl="1" indent="-179388" eaLnBrk="1" latinLnBrk="0" hangingPunct="1">
              <a:buFont typeface="Wingdings" panose="05000000000000000000" pitchFamily="2" charset="2"/>
              <a:buChar char="§"/>
              <a:defRPr/>
            </a:pPr>
            <a:r>
              <a:rPr lang="ko-KR" altLang="en-US" sz="1600" dirty="0"/>
              <a:t>맥도날드의 즐거움</a:t>
            </a:r>
            <a:r>
              <a:rPr lang="en-US" altLang="ko-KR" sz="1600" dirty="0"/>
              <a:t>, BR31</a:t>
            </a:r>
            <a:r>
              <a:rPr lang="ko-KR" altLang="en-US" sz="1600" dirty="0"/>
              <a:t>의 </a:t>
            </a:r>
            <a:r>
              <a:rPr lang="ko-KR" altLang="en-US" sz="1600" dirty="0" err="1"/>
              <a:t>해피</a:t>
            </a:r>
            <a:r>
              <a:rPr lang="en-US" altLang="ko-KR" sz="1600" dirty="0"/>
              <a:t>, </a:t>
            </a:r>
            <a:r>
              <a:rPr lang="ko-KR" altLang="en-US" sz="1600" dirty="0"/>
              <a:t>애플의 혁신 처럼 고객에게 전달하고자 하는 궁극적인 브랜드 가치로서 브랜드를 통해 떠올리기 바라는 짧은 핵심 단어들을 말함</a:t>
            </a:r>
            <a:endParaRPr lang="en-US" altLang="ko-KR" sz="1600" dirty="0"/>
          </a:p>
          <a:p>
            <a:pPr marL="536575" lvl="1" indent="-179388" eaLnBrk="1" latinLnBrk="0" hangingPunct="1">
              <a:buFont typeface="Wingdings" panose="05000000000000000000" pitchFamily="2" charset="2"/>
              <a:buChar char="§"/>
              <a:defRPr/>
            </a:pPr>
            <a:r>
              <a:rPr lang="ko-KR" altLang="en-US" sz="1600" dirty="0"/>
              <a:t>외식 브랜드들은 행복</a:t>
            </a:r>
            <a:r>
              <a:rPr lang="en-US" altLang="ko-KR" sz="1600" dirty="0"/>
              <a:t>, </a:t>
            </a:r>
            <a:r>
              <a:rPr lang="ko-KR" altLang="en-US" sz="1600" dirty="0"/>
              <a:t>즐거움</a:t>
            </a:r>
            <a:r>
              <a:rPr lang="en-US" altLang="ko-KR" sz="1600" dirty="0"/>
              <a:t>, </a:t>
            </a:r>
            <a:r>
              <a:rPr lang="ko-KR" altLang="en-US" sz="1600" dirty="0"/>
              <a:t>건강</a:t>
            </a:r>
            <a:r>
              <a:rPr lang="en-US" altLang="ko-KR" sz="1600" dirty="0"/>
              <a:t>, </a:t>
            </a:r>
            <a:r>
              <a:rPr lang="ko-KR" altLang="en-US" sz="1600" dirty="0"/>
              <a:t>사랑</a:t>
            </a:r>
            <a:r>
              <a:rPr lang="en-US" altLang="ko-KR" sz="1600" dirty="0"/>
              <a:t>, </a:t>
            </a:r>
            <a:r>
              <a:rPr lang="ko-KR" altLang="en-US" sz="1600" dirty="0"/>
              <a:t>만족 등의 단어를 주로 사용</a:t>
            </a:r>
            <a:endParaRPr lang="en-US" altLang="ko-KR" sz="1600" dirty="0"/>
          </a:p>
          <a:p>
            <a:pPr marL="536575" lvl="1" indent="-179388" eaLnBrk="1" latinLnBrk="0" hangingPunct="1">
              <a:buFont typeface="Wingdings" panose="05000000000000000000" pitchFamily="2" charset="2"/>
              <a:buChar char="§"/>
              <a:defRPr/>
            </a:pPr>
            <a:endParaRPr lang="en-US" altLang="ko-KR" sz="1600" dirty="0"/>
          </a:p>
        </p:txBody>
      </p:sp>
      <p:sp>
        <p:nvSpPr>
          <p:cNvPr id="5" name="말풍선: 사각형 4">
            <a:extLst>
              <a:ext uri="{FF2B5EF4-FFF2-40B4-BE49-F238E27FC236}">
                <a16:creationId xmlns:a16="http://schemas.microsoft.com/office/drawing/2014/main" id="{6266EDA5-037C-4945-A2A7-4383D090DC32}"/>
              </a:ext>
            </a:extLst>
          </p:cNvPr>
          <p:cNvSpPr/>
          <p:nvPr/>
        </p:nvSpPr>
        <p:spPr bwMode="auto">
          <a:xfrm>
            <a:off x="5995030" y="2124634"/>
            <a:ext cx="5764329" cy="3853851"/>
          </a:xfrm>
          <a:prstGeom prst="wedgeRectCallout">
            <a:avLst>
              <a:gd name="adj1" fmla="val -57079"/>
              <a:gd name="adj2" fmla="val -11281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883579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제목 1">
            <a:extLst>
              <a:ext uri="{FF2B5EF4-FFF2-40B4-BE49-F238E27FC236}">
                <a16:creationId xmlns:a16="http://schemas.microsoft.com/office/drawing/2014/main" id="{AAC64C6C-76C3-4D55-B2B6-B0463875E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9698037" cy="563563"/>
          </a:xfrm>
        </p:spPr>
        <p:txBody>
          <a:bodyPr/>
          <a:lstStyle/>
          <a:p>
            <a:pPr eaLnBrk="1" latinLnBrk="0" hangingPunct="1"/>
            <a:r>
              <a:rPr lang="en-US" altLang="ko-KR" dirty="0"/>
              <a:t>4) </a:t>
            </a:r>
            <a:r>
              <a:rPr lang="ko-KR" altLang="en-US" dirty="0"/>
              <a:t>브랜드 아이덴티티 개발 모델</a:t>
            </a:r>
            <a:endParaRPr lang="ko-KR" altLang="en-US" sz="2000" dirty="0"/>
          </a:p>
        </p:txBody>
      </p:sp>
      <p:sp>
        <p:nvSpPr>
          <p:cNvPr id="16387" name="내용 개체 틀 2">
            <a:extLst>
              <a:ext uri="{FF2B5EF4-FFF2-40B4-BE49-F238E27FC236}">
                <a16:creationId xmlns:a16="http://schemas.microsoft.com/office/drawing/2014/main" id="{A019C3D6-C2D1-4366-A6CF-2FD12BD7DD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641" y="1371601"/>
            <a:ext cx="11642818" cy="430306"/>
          </a:xfrm>
        </p:spPr>
        <p:txBody>
          <a:bodyPr/>
          <a:lstStyle/>
          <a:p>
            <a:pPr eaLnBrk="1" latinLnBrk="0" hangingPunct="1">
              <a:buFont typeface="Wingdings" panose="05000000000000000000" pitchFamily="2" charset="2"/>
              <a:buChar char="§"/>
              <a:defRPr/>
            </a:pPr>
            <a:r>
              <a:rPr lang="ko-KR" altLang="en-US" sz="2000" b="0" dirty="0" err="1"/>
              <a:t>아커</a:t>
            </a:r>
            <a:r>
              <a:rPr lang="en-US" altLang="ko-KR" sz="2000" b="0" dirty="0"/>
              <a:t>(Aaker)</a:t>
            </a:r>
            <a:r>
              <a:rPr lang="ko-KR" altLang="en-US" sz="2000" b="0" dirty="0"/>
              <a:t>의 브랜드 아이덴티티 개발 과정</a:t>
            </a:r>
            <a:endParaRPr lang="en-US" altLang="ko-KR" sz="1800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083E5220-A743-49B2-93B1-79F64D1363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641" y="1942465"/>
            <a:ext cx="5265008" cy="4383741"/>
          </a:xfrm>
          <a:prstGeom prst="rect">
            <a:avLst/>
          </a:prstGeom>
        </p:spPr>
      </p:pic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77578012-C069-4C4E-8AB5-CE19006187BE}"/>
              </a:ext>
            </a:extLst>
          </p:cNvPr>
          <p:cNvSpPr txBox="1">
            <a:spLocks/>
          </p:cNvSpPr>
          <p:nvPr/>
        </p:nvSpPr>
        <p:spPr bwMode="auto">
          <a:xfrm>
            <a:off x="5734423" y="1731403"/>
            <a:ext cx="6024936" cy="35398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defRPr sz="2400" b="1" kern="120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+mn-cs"/>
              </a:defRPr>
            </a:lvl1pPr>
            <a:lvl2pPr marL="179388" indent="277813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defRPr sz="2400" kern="1200">
                <a:solidFill>
                  <a:schemeClr val="tx1"/>
                </a:solidFill>
                <a:latin typeface="서울남산 장체 L" panose="02020503020101020101" pitchFamily="18" charset="-127"/>
                <a:ea typeface="서울남산 장체 L" panose="02020503020101020101" pitchFamily="18" charset="-127"/>
                <a:cs typeface="+mn-cs"/>
              </a:defRPr>
            </a:lvl2pPr>
            <a:lvl3pPr marL="447675" indent="46672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defRPr sz="2000" kern="1200">
                <a:solidFill>
                  <a:schemeClr val="tx1"/>
                </a:solidFill>
                <a:latin typeface="서울남산 장체 L" panose="02020503020101020101" pitchFamily="18" charset="-127"/>
                <a:ea typeface="서울남산 장체 L" panose="02020503020101020101" pitchFamily="18" charset="-127"/>
                <a:cs typeface="+mn-cs"/>
              </a:defRPr>
            </a:lvl3pPr>
            <a:lvl4pPr marL="627063" indent="744538" algn="l" rtl="0" eaLnBrk="0" fontAlgn="base" latinLnBrk="1" hangingPunct="0">
              <a:spcBef>
                <a:spcPct val="2000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서울남산 장체 L" panose="02020503020101020101" pitchFamily="18" charset="-127"/>
                <a:ea typeface="서울남산 장체 L" panose="02020503020101020101" pitchFamily="18" charset="-127"/>
                <a:cs typeface="+mn-cs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ern="1200">
                <a:solidFill>
                  <a:schemeClr val="tx1"/>
                </a:solidFill>
                <a:latin typeface="서울남산 장체 L" panose="02020503020101020101" pitchFamily="18" charset="-127"/>
                <a:ea typeface="서울남산 장체 L" panose="02020503020101020101" pitchFamily="18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36575" lvl="1" indent="-179388" eaLnBrk="1" latinLnBrk="0" hangingPunct="1">
              <a:buFont typeface="Wingdings" panose="05000000000000000000" pitchFamily="2" charset="2"/>
              <a:buChar char="§"/>
              <a:defRPr/>
            </a:pPr>
            <a:r>
              <a:rPr lang="ko-KR" altLang="en-US" sz="1600" dirty="0"/>
              <a:t>브랜드 아이덴티티는 아래 사례와</a:t>
            </a:r>
            <a:r>
              <a:rPr lang="en-US" altLang="ko-KR" sz="1600" dirty="0"/>
              <a:t> </a:t>
            </a:r>
            <a:r>
              <a:rPr lang="ko-KR" altLang="en-US" sz="1600" dirty="0"/>
              <a:t>같은 다양한 연상들이 </a:t>
            </a:r>
            <a:r>
              <a:rPr lang="ko-KR" altLang="en-US" sz="1600" dirty="0" err="1"/>
              <a:t>담겨짐</a:t>
            </a:r>
            <a:r>
              <a:rPr lang="ko-KR" altLang="en-US" sz="1600" dirty="0"/>
              <a:t> </a:t>
            </a:r>
            <a:endParaRPr lang="en-US" altLang="ko-KR" sz="1600" dirty="0"/>
          </a:p>
          <a:p>
            <a:pPr marL="804862" lvl="2" indent="-179388" eaLnBrk="1" latinLnBrk="0" hangingPunct="1">
              <a:buFont typeface="Wingdings" panose="05000000000000000000" pitchFamily="2" charset="2"/>
              <a:buChar char="§"/>
              <a:defRPr/>
            </a:pPr>
            <a:r>
              <a:rPr lang="ko-KR" altLang="en-US" sz="1400" dirty="0"/>
              <a:t>핵심 서비스 상품과 관련한 카테고리 </a:t>
            </a:r>
            <a:r>
              <a:rPr lang="en-US" altLang="ko-KR" sz="1400" dirty="0"/>
              <a:t>– </a:t>
            </a:r>
            <a:r>
              <a:rPr lang="ko-KR" altLang="en-US" sz="1400" dirty="0"/>
              <a:t>레스토랑 콘셉트 내에서 가장 먼저 떠오르는 대표 브랜드</a:t>
            </a:r>
            <a:endParaRPr lang="en-US" altLang="ko-KR" sz="1400" dirty="0"/>
          </a:p>
          <a:p>
            <a:pPr marL="804862" lvl="2" indent="-179388" eaLnBrk="1" latinLnBrk="0" hangingPunct="1">
              <a:buFont typeface="Wingdings" panose="05000000000000000000" pitchFamily="2" charset="2"/>
              <a:buChar char="§"/>
              <a:defRPr/>
            </a:pPr>
            <a:r>
              <a:rPr lang="ko-KR" altLang="en-US" sz="1400" dirty="0"/>
              <a:t>핵심 상품의 특성 </a:t>
            </a:r>
            <a:r>
              <a:rPr lang="en-US" altLang="ko-KR" sz="1400" dirty="0"/>
              <a:t>- </a:t>
            </a:r>
            <a:r>
              <a:rPr lang="ko-KR" altLang="en-US" sz="1400" dirty="0"/>
              <a:t>맛</a:t>
            </a:r>
            <a:r>
              <a:rPr lang="en-US" altLang="ko-KR" sz="1400" dirty="0"/>
              <a:t>, </a:t>
            </a:r>
            <a:r>
              <a:rPr lang="ko-KR" altLang="en-US" sz="1400" dirty="0"/>
              <a:t>가격</a:t>
            </a:r>
            <a:r>
              <a:rPr lang="en-US" altLang="ko-KR" sz="1400" dirty="0"/>
              <a:t>, </a:t>
            </a:r>
            <a:r>
              <a:rPr lang="ko-KR" altLang="en-US" sz="1400" dirty="0"/>
              <a:t>디자인 등</a:t>
            </a:r>
            <a:endParaRPr lang="en-US" altLang="ko-KR" sz="1400" dirty="0"/>
          </a:p>
          <a:p>
            <a:pPr marL="804862" lvl="2" indent="-179388" eaLnBrk="1" latinLnBrk="0" hangingPunct="1">
              <a:buFont typeface="Wingdings" panose="05000000000000000000" pitchFamily="2" charset="2"/>
              <a:buChar char="§"/>
              <a:defRPr/>
            </a:pPr>
            <a:r>
              <a:rPr lang="ko-KR" altLang="en-US" sz="1400" dirty="0"/>
              <a:t>우수한 품질</a:t>
            </a:r>
            <a:endParaRPr lang="en-US" altLang="ko-KR" sz="1400" dirty="0"/>
          </a:p>
          <a:p>
            <a:pPr marL="804862" lvl="2" indent="-179388" eaLnBrk="1" latinLnBrk="0" hangingPunct="1">
              <a:buFont typeface="Wingdings" panose="05000000000000000000" pitchFamily="2" charset="2"/>
              <a:buChar char="§"/>
              <a:defRPr/>
            </a:pPr>
            <a:r>
              <a:rPr lang="ko-KR" altLang="en-US" sz="1400" dirty="0"/>
              <a:t>사용 상황 </a:t>
            </a:r>
            <a:r>
              <a:rPr lang="en-US" altLang="ko-KR" sz="1400" dirty="0"/>
              <a:t>(</a:t>
            </a:r>
            <a:r>
              <a:rPr lang="ko-KR" altLang="en-US" sz="1400" dirty="0"/>
              <a:t>예</a:t>
            </a:r>
            <a:r>
              <a:rPr lang="en-US" altLang="ko-KR" sz="1400" dirty="0"/>
              <a:t>, </a:t>
            </a:r>
            <a:r>
              <a:rPr lang="ko-KR" altLang="en-US" sz="1400" dirty="0" err="1"/>
              <a:t>산펠레그리노는</a:t>
            </a:r>
            <a:r>
              <a:rPr lang="ko-KR" altLang="en-US" sz="1400" dirty="0"/>
              <a:t> 식사할 때 마시는 탄산수로 연상되는 브랜드</a:t>
            </a:r>
            <a:r>
              <a:rPr lang="en-US" altLang="ko-KR" sz="1400" dirty="0"/>
              <a:t>)</a:t>
            </a:r>
          </a:p>
          <a:p>
            <a:pPr marL="804862" lvl="2" indent="-179388" eaLnBrk="1" latinLnBrk="0" hangingPunct="1">
              <a:buFont typeface="Wingdings" panose="05000000000000000000" pitchFamily="2" charset="2"/>
              <a:buChar char="§"/>
              <a:defRPr/>
            </a:pPr>
            <a:r>
              <a:rPr lang="ko-KR" altLang="en-US" sz="1400" dirty="0"/>
              <a:t>이용고객 </a:t>
            </a:r>
            <a:r>
              <a:rPr lang="en-US" altLang="ko-KR" sz="1400" dirty="0"/>
              <a:t>- </a:t>
            </a:r>
            <a:r>
              <a:rPr lang="ko-KR" altLang="en-US" sz="1400" dirty="0"/>
              <a:t>성별</a:t>
            </a:r>
            <a:r>
              <a:rPr lang="en-US" altLang="ko-KR" sz="1400" dirty="0"/>
              <a:t>, </a:t>
            </a:r>
            <a:r>
              <a:rPr lang="ko-KR" altLang="en-US" sz="1400" dirty="0" err="1"/>
              <a:t>나이대</a:t>
            </a:r>
            <a:r>
              <a:rPr lang="ko-KR" altLang="en-US" sz="1400" dirty="0"/>
              <a:t> 등</a:t>
            </a:r>
            <a:endParaRPr lang="en-US" altLang="ko-KR" sz="1400" dirty="0"/>
          </a:p>
          <a:p>
            <a:pPr marL="536575" lvl="1" indent="-179388" eaLnBrk="1" latinLnBrk="0" hangingPunct="1">
              <a:buFont typeface="Wingdings" panose="05000000000000000000" pitchFamily="2" charset="2"/>
              <a:buChar char="§"/>
              <a:defRPr/>
            </a:pPr>
            <a:r>
              <a:rPr lang="ko-KR" altLang="en-US" sz="1600" dirty="0"/>
              <a:t>브랜드를 사람이라고 생각 할 때 고객이 브랜드에 대해 가지는 연상도 포함</a:t>
            </a:r>
            <a:r>
              <a:rPr lang="en-US" altLang="ko-KR" sz="1600" dirty="0"/>
              <a:t>. </a:t>
            </a:r>
            <a:r>
              <a:rPr lang="ko-KR" altLang="en-US" sz="1600" dirty="0"/>
              <a:t>예</a:t>
            </a:r>
            <a:r>
              <a:rPr lang="en-US" altLang="ko-KR" sz="1600" dirty="0"/>
              <a:t>,</a:t>
            </a:r>
            <a:r>
              <a:rPr lang="ko-KR" altLang="en-US" sz="1600" dirty="0"/>
              <a:t>세련된</a:t>
            </a:r>
            <a:r>
              <a:rPr lang="en-US" altLang="ko-KR" sz="1600" dirty="0"/>
              <a:t>, </a:t>
            </a:r>
            <a:r>
              <a:rPr lang="ko-KR" altLang="en-US" sz="1600" dirty="0"/>
              <a:t>활동적인</a:t>
            </a:r>
            <a:r>
              <a:rPr lang="en-US" altLang="ko-KR" sz="1600" dirty="0"/>
              <a:t>, </a:t>
            </a:r>
            <a:r>
              <a:rPr lang="ko-KR" altLang="en-US" sz="1600" dirty="0"/>
              <a:t>정직한</a:t>
            </a:r>
            <a:r>
              <a:rPr lang="en-US" altLang="ko-KR" sz="1600" dirty="0"/>
              <a:t>, </a:t>
            </a:r>
            <a:r>
              <a:rPr lang="ko-KR" altLang="en-US" sz="1600" dirty="0"/>
              <a:t>따뜻한</a:t>
            </a:r>
            <a:r>
              <a:rPr lang="en-US" altLang="ko-KR" sz="1600" dirty="0"/>
              <a:t>, </a:t>
            </a:r>
            <a:r>
              <a:rPr lang="ko-KR" altLang="en-US" sz="1600" dirty="0"/>
              <a:t>편안한</a:t>
            </a:r>
            <a:r>
              <a:rPr lang="en-US" altLang="ko-KR" sz="1600" dirty="0"/>
              <a:t>, </a:t>
            </a:r>
            <a:r>
              <a:rPr lang="ko-KR" altLang="en-US" sz="1600" dirty="0"/>
              <a:t>배려하는 등</a:t>
            </a:r>
            <a:endParaRPr lang="en-US" altLang="ko-KR" sz="1400" dirty="0"/>
          </a:p>
          <a:p>
            <a:pPr marL="536575" lvl="1" indent="-179388" eaLnBrk="1" latinLnBrk="0" hangingPunct="1">
              <a:buFont typeface="Wingdings" panose="05000000000000000000" pitchFamily="2" charset="2"/>
              <a:buChar char="§"/>
              <a:defRPr/>
            </a:pPr>
            <a:r>
              <a:rPr lang="ko-KR" altLang="en-US" sz="1600" dirty="0"/>
              <a:t>브랜드에 등장하는 모델의 성별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나이대</a:t>
            </a:r>
            <a:r>
              <a:rPr lang="en-US" altLang="ko-KR" sz="1600" dirty="0"/>
              <a:t>, </a:t>
            </a:r>
            <a:r>
              <a:rPr lang="ko-KR" altLang="en-US" sz="1600" dirty="0"/>
              <a:t>이미지는 브랜드 이미지에 전이되고 제품과 관련된 사용 상황이나 맥락</a:t>
            </a:r>
            <a:r>
              <a:rPr lang="en-US" altLang="ko-KR" sz="1600" dirty="0"/>
              <a:t>, </a:t>
            </a:r>
            <a:r>
              <a:rPr lang="ko-KR" altLang="en-US" sz="1600" dirty="0"/>
              <a:t>카피  등은 브랜드와 관련된 연상과 아이덴티티를 만들어내는데 큰 역할</a:t>
            </a:r>
            <a:endParaRPr lang="en-US" altLang="ko-KR" sz="1600" dirty="0"/>
          </a:p>
        </p:txBody>
      </p:sp>
      <p:sp>
        <p:nvSpPr>
          <p:cNvPr id="5" name="말풍선: 사각형 4">
            <a:extLst>
              <a:ext uri="{FF2B5EF4-FFF2-40B4-BE49-F238E27FC236}">
                <a16:creationId xmlns:a16="http://schemas.microsoft.com/office/drawing/2014/main" id="{6266EDA5-037C-4945-A2A7-4383D090DC32}"/>
              </a:ext>
            </a:extLst>
          </p:cNvPr>
          <p:cNvSpPr/>
          <p:nvPr/>
        </p:nvSpPr>
        <p:spPr bwMode="auto">
          <a:xfrm>
            <a:off x="5995030" y="1586754"/>
            <a:ext cx="5764329" cy="4890246"/>
          </a:xfrm>
          <a:prstGeom prst="wedgeRectCallout">
            <a:avLst>
              <a:gd name="adj1" fmla="val -57079"/>
              <a:gd name="adj2" fmla="val -11281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66424AF-B911-42CB-898E-F9E4B835F5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2661" y="4907768"/>
            <a:ext cx="3929066" cy="1446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75969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제목 1">
            <a:extLst>
              <a:ext uri="{FF2B5EF4-FFF2-40B4-BE49-F238E27FC236}">
                <a16:creationId xmlns:a16="http://schemas.microsoft.com/office/drawing/2014/main" id="{AAC64C6C-76C3-4D55-B2B6-B0463875E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9698037" cy="563563"/>
          </a:xfrm>
        </p:spPr>
        <p:txBody>
          <a:bodyPr/>
          <a:lstStyle/>
          <a:p>
            <a:pPr eaLnBrk="1" latinLnBrk="0" hangingPunct="1"/>
            <a:r>
              <a:rPr lang="en-US" altLang="ko-KR" dirty="0"/>
              <a:t>4) </a:t>
            </a:r>
            <a:r>
              <a:rPr lang="ko-KR" altLang="en-US" dirty="0"/>
              <a:t>브랜드 아이덴티티 개발 모델</a:t>
            </a:r>
            <a:endParaRPr lang="ko-KR" altLang="en-US" sz="2000" dirty="0"/>
          </a:p>
        </p:txBody>
      </p:sp>
      <p:sp>
        <p:nvSpPr>
          <p:cNvPr id="16387" name="내용 개체 틀 2">
            <a:extLst>
              <a:ext uri="{FF2B5EF4-FFF2-40B4-BE49-F238E27FC236}">
                <a16:creationId xmlns:a16="http://schemas.microsoft.com/office/drawing/2014/main" id="{A019C3D6-C2D1-4366-A6CF-2FD12BD7DD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641" y="1371601"/>
            <a:ext cx="11642818" cy="430306"/>
          </a:xfrm>
        </p:spPr>
        <p:txBody>
          <a:bodyPr/>
          <a:lstStyle/>
          <a:p>
            <a:pPr eaLnBrk="1" latinLnBrk="0" hangingPunct="1">
              <a:buFont typeface="Wingdings" panose="05000000000000000000" pitchFamily="2" charset="2"/>
              <a:buChar char="§"/>
              <a:defRPr/>
            </a:pPr>
            <a:r>
              <a:rPr lang="ko-KR" altLang="en-US" sz="2000" b="0" dirty="0" err="1"/>
              <a:t>아커</a:t>
            </a:r>
            <a:r>
              <a:rPr lang="en-US" altLang="ko-KR" sz="2000" b="0" dirty="0"/>
              <a:t>(Aaker)</a:t>
            </a:r>
            <a:r>
              <a:rPr lang="ko-KR" altLang="en-US" sz="2000" b="0" dirty="0"/>
              <a:t>의 브랜드 아이덴티티 개발 과정</a:t>
            </a:r>
            <a:endParaRPr lang="en-US" altLang="ko-KR" sz="1800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083E5220-A743-49B2-93B1-79F64D1363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641" y="1942465"/>
            <a:ext cx="5265008" cy="4383741"/>
          </a:xfrm>
          <a:prstGeom prst="rect">
            <a:avLst/>
          </a:prstGeom>
        </p:spPr>
      </p:pic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77578012-C069-4C4E-8AB5-CE19006187BE}"/>
              </a:ext>
            </a:extLst>
          </p:cNvPr>
          <p:cNvSpPr txBox="1">
            <a:spLocks/>
          </p:cNvSpPr>
          <p:nvPr/>
        </p:nvSpPr>
        <p:spPr bwMode="auto">
          <a:xfrm>
            <a:off x="5734423" y="2436768"/>
            <a:ext cx="6024936" cy="35398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defRPr sz="2400" b="1" kern="120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+mn-cs"/>
              </a:defRPr>
            </a:lvl1pPr>
            <a:lvl2pPr marL="179388" indent="277813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defRPr sz="2400" kern="1200">
                <a:solidFill>
                  <a:schemeClr val="tx1"/>
                </a:solidFill>
                <a:latin typeface="서울남산 장체 L" panose="02020503020101020101" pitchFamily="18" charset="-127"/>
                <a:ea typeface="서울남산 장체 L" panose="02020503020101020101" pitchFamily="18" charset="-127"/>
                <a:cs typeface="+mn-cs"/>
              </a:defRPr>
            </a:lvl2pPr>
            <a:lvl3pPr marL="447675" indent="46672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defRPr sz="2000" kern="1200">
                <a:solidFill>
                  <a:schemeClr val="tx1"/>
                </a:solidFill>
                <a:latin typeface="서울남산 장체 L" panose="02020503020101020101" pitchFamily="18" charset="-127"/>
                <a:ea typeface="서울남산 장체 L" panose="02020503020101020101" pitchFamily="18" charset="-127"/>
                <a:cs typeface="+mn-cs"/>
              </a:defRPr>
            </a:lvl3pPr>
            <a:lvl4pPr marL="627063" indent="744538" algn="l" rtl="0" eaLnBrk="0" fontAlgn="base" latinLnBrk="1" hangingPunct="0">
              <a:spcBef>
                <a:spcPct val="2000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서울남산 장체 L" panose="02020503020101020101" pitchFamily="18" charset="-127"/>
                <a:ea typeface="서울남산 장체 L" panose="02020503020101020101" pitchFamily="18" charset="-127"/>
                <a:cs typeface="+mn-cs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ern="1200">
                <a:solidFill>
                  <a:schemeClr val="tx1"/>
                </a:solidFill>
                <a:latin typeface="서울남산 장체 L" panose="02020503020101020101" pitchFamily="18" charset="-127"/>
                <a:ea typeface="서울남산 장체 L" panose="02020503020101020101" pitchFamily="18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36575" lvl="1" indent="-179388" eaLnBrk="1" latinLnBrk="0" hangingPunct="1">
              <a:buFont typeface="Wingdings" panose="05000000000000000000" pitchFamily="2" charset="2"/>
              <a:buChar char="§"/>
              <a:defRPr/>
            </a:pPr>
            <a:r>
              <a:rPr lang="ko-KR" altLang="en-US" sz="1600" dirty="0"/>
              <a:t>앞에서 분석한 브랜드 관련한 연상들을 총체적으로 결합하여 브랜드가 소비자들에게 제안하는 가치를 정리</a:t>
            </a:r>
            <a:endParaRPr lang="en-US" altLang="ko-KR" sz="1600" dirty="0"/>
          </a:p>
          <a:p>
            <a:pPr marL="536575" lvl="1" indent="-179388" eaLnBrk="1" latinLnBrk="0" hangingPunct="1">
              <a:buFont typeface="Wingdings" panose="05000000000000000000" pitchFamily="2" charset="2"/>
              <a:buChar char="§"/>
              <a:defRPr/>
            </a:pPr>
            <a:r>
              <a:rPr lang="ko-KR" altLang="en-US" sz="1600" dirty="0"/>
              <a:t>가치 제안은 핵심 편익을 중심으로 기능적 가치</a:t>
            </a:r>
            <a:r>
              <a:rPr lang="en-US" altLang="ko-KR" sz="1600" dirty="0"/>
              <a:t>, </a:t>
            </a:r>
            <a:r>
              <a:rPr lang="ko-KR" altLang="en-US" sz="1600" dirty="0"/>
              <a:t>정서적</a:t>
            </a:r>
            <a:r>
              <a:rPr lang="en-US" altLang="ko-KR" sz="1600" dirty="0"/>
              <a:t> </a:t>
            </a:r>
            <a:r>
              <a:rPr lang="ko-KR" altLang="en-US" sz="1600" dirty="0"/>
              <a:t>가치</a:t>
            </a:r>
            <a:r>
              <a:rPr lang="en-US" altLang="ko-KR" sz="1600" dirty="0"/>
              <a:t>, </a:t>
            </a:r>
            <a:r>
              <a:rPr lang="ko-KR" altLang="en-US" sz="1600" dirty="0"/>
              <a:t>상징적 가치로 분류  </a:t>
            </a:r>
            <a:endParaRPr lang="en-US" altLang="ko-KR" sz="1600" dirty="0"/>
          </a:p>
          <a:p>
            <a:pPr marL="804862" lvl="2" indent="-179388" eaLnBrk="1" latinLnBrk="0" hangingPunct="1">
              <a:buFont typeface="Wingdings" panose="05000000000000000000" pitchFamily="2" charset="2"/>
              <a:buChar char="§"/>
              <a:defRPr/>
            </a:pPr>
            <a:r>
              <a:rPr lang="ko-KR" altLang="en-US" sz="1400" dirty="0"/>
              <a:t>외식 서비스의 일반적 속성</a:t>
            </a:r>
            <a:r>
              <a:rPr lang="en-US" altLang="ko-KR" sz="1400" dirty="0"/>
              <a:t>(</a:t>
            </a:r>
            <a:r>
              <a:rPr lang="ko-KR" altLang="en-US" sz="1400" dirty="0"/>
              <a:t>맛</a:t>
            </a:r>
            <a:r>
              <a:rPr lang="en-US" altLang="ko-KR" sz="1400" dirty="0"/>
              <a:t>, </a:t>
            </a:r>
            <a:r>
              <a:rPr lang="ko-KR" altLang="en-US" sz="1400" dirty="0"/>
              <a:t>서비스</a:t>
            </a:r>
            <a:r>
              <a:rPr lang="en-US" altLang="ko-KR" sz="1400" dirty="0"/>
              <a:t> </a:t>
            </a:r>
            <a:r>
              <a:rPr lang="ko-KR" altLang="en-US" sz="1400" dirty="0"/>
              <a:t>등</a:t>
            </a:r>
            <a:r>
              <a:rPr lang="en-US" altLang="ko-KR" sz="1400" dirty="0"/>
              <a:t>)</a:t>
            </a:r>
            <a:r>
              <a:rPr lang="ko-KR" altLang="en-US" sz="1400" dirty="0"/>
              <a:t>은 기능적 편익</a:t>
            </a:r>
            <a:endParaRPr lang="en-US" altLang="ko-KR" sz="1400" dirty="0"/>
          </a:p>
          <a:p>
            <a:pPr marL="804862" lvl="2" indent="-179388" eaLnBrk="1" latinLnBrk="0" hangingPunct="1">
              <a:buFont typeface="Wingdings" panose="05000000000000000000" pitchFamily="2" charset="2"/>
              <a:buChar char="§"/>
              <a:defRPr/>
            </a:pPr>
            <a:r>
              <a:rPr lang="ko-KR" altLang="en-US" sz="1400" dirty="0"/>
              <a:t>소비자가 특정 브랜드의 사용 경험을 통해 긍정적인 감정</a:t>
            </a:r>
            <a:r>
              <a:rPr lang="en-US" altLang="ko-KR" sz="1400" dirty="0"/>
              <a:t>(</a:t>
            </a:r>
            <a:r>
              <a:rPr lang="ko-KR" altLang="en-US" sz="1400" dirty="0"/>
              <a:t>행복</a:t>
            </a:r>
            <a:r>
              <a:rPr lang="en-US" altLang="ko-KR" sz="1400" dirty="0"/>
              <a:t>, </a:t>
            </a:r>
            <a:r>
              <a:rPr lang="ko-KR" altLang="en-US" sz="1400" dirty="0"/>
              <a:t>기쁨 등</a:t>
            </a:r>
            <a:r>
              <a:rPr lang="en-US" altLang="ko-KR" sz="1400" dirty="0"/>
              <a:t>)</a:t>
            </a:r>
            <a:r>
              <a:rPr lang="ko-KR" altLang="en-US" sz="1400" dirty="0"/>
              <a:t>을 느끼는 것은 정서적 편익</a:t>
            </a:r>
            <a:endParaRPr lang="en-US" altLang="ko-KR" sz="1400" dirty="0"/>
          </a:p>
          <a:p>
            <a:pPr marL="804862" lvl="2" indent="-179388" eaLnBrk="1" latinLnBrk="0" hangingPunct="1">
              <a:buFont typeface="Wingdings" panose="05000000000000000000" pitchFamily="2" charset="2"/>
              <a:buChar char="§"/>
              <a:defRPr/>
            </a:pPr>
            <a:r>
              <a:rPr lang="ko-KR" altLang="en-US" sz="1400" dirty="0"/>
              <a:t>소비자들이 브랜드의 이용을 통해 특정의 자아 이미지를 표현할 수  있음을 강조하는 것은 상징적 편익  </a:t>
            </a:r>
            <a:r>
              <a:rPr lang="en-US" altLang="ko-KR" sz="1400" dirty="0"/>
              <a:t>(</a:t>
            </a:r>
            <a:r>
              <a:rPr lang="ko-KR" altLang="en-US" sz="1400" dirty="0"/>
              <a:t>예</a:t>
            </a:r>
            <a:r>
              <a:rPr lang="en-US" altLang="ko-KR" sz="1400" dirty="0"/>
              <a:t>, </a:t>
            </a:r>
            <a:r>
              <a:rPr lang="ko-KR" altLang="en-US" sz="1400" dirty="0"/>
              <a:t>스타벅스 커피를 마시는 것이 세련된 자아 이미지를 표현한다고 인식하는 것</a:t>
            </a:r>
            <a:r>
              <a:rPr lang="en-US" altLang="ko-KR" sz="1400" dirty="0"/>
              <a:t>)</a:t>
            </a:r>
          </a:p>
          <a:p>
            <a:pPr marL="536575" lvl="1" indent="-179388" eaLnBrk="1" latinLnBrk="0" hangingPunct="1">
              <a:buFont typeface="Wingdings" panose="05000000000000000000" pitchFamily="2" charset="2"/>
              <a:buChar char="§"/>
              <a:defRPr/>
            </a:pPr>
            <a:r>
              <a:rPr lang="ko-KR" altLang="en-US" sz="1600" dirty="0"/>
              <a:t>외식사업은 </a:t>
            </a:r>
            <a:r>
              <a:rPr lang="en-US" altLang="ko-KR" sz="1600" dirty="0"/>
              <a:t>3</a:t>
            </a:r>
            <a:r>
              <a:rPr lang="ko-KR" altLang="en-US" sz="1600" dirty="0"/>
              <a:t>가지 편익 모두를 제공할 수 있음</a:t>
            </a:r>
            <a:endParaRPr lang="en-US" altLang="ko-KR" sz="1600" dirty="0"/>
          </a:p>
        </p:txBody>
      </p:sp>
      <p:sp>
        <p:nvSpPr>
          <p:cNvPr id="5" name="말풍선: 사각형 4">
            <a:extLst>
              <a:ext uri="{FF2B5EF4-FFF2-40B4-BE49-F238E27FC236}">
                <a16:creationId xmlns:a16="http://schemas.microsoft.com/office/drawing/2014/main" id="{6266EDA5-037C-4945-A2A7-4383D090DC32}"/>
              </a:ext>
            </a:extLst>
          </p:cNvPr>
          <p:cNvSpPr/>
          <p:nvPr/>
        </p:nvSpPr>
        <p:spPr bwMode="auto">
          <a:xfrm>
            <a:off x="5995030" y="2228944"/>
            <a:ext cx="5764329" cy="3257455"/>
          </a:xfrm>
          <a:prstGeom prst="wedgeRectCallout">
            <a:avLst>
              <a:gd name="adj1" fmla="val -57545"/>
              <a:gd name="adj2" fmla="val 35067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377233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제목 1">
            <a:extLst>
              <a:ext uri="{FF2B5EF4-FFF2-40B4-BE49-F238E27FC236}">
                <a16:creationId xmlns:a16="http://schemas.microsoft.com/office/drawing/2014/main" id="{AAC64C6C-76C3-4D55-B2B6-B0463875E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9698037" cy="563563"/>
          </a:xfrm>
        </p:spPr>
        <p:txBody>
          <a:bodyPr/>
          <a:lstStyle/>
          <a:p>
            <a:pPr eaLnBrk="1" latinLnBrk="0" hangingPunct="1"/>
            <a:r>
              <a:rPr lang="en-US" altLang="ko-KR" dirty="0"/>
              <a:t>4) </a:t>
            </a:r>
            <a:r>
              <a:rPr lang="ko-KR" altLang="en-US" dirty="0"/>
              <a:t>브랜드 아이덴티티 개발 모델</a:t>
            </a:r>
            <a:endParaRPr lang="ko-KR" altLang="en-US" sz="2000" dirty="0"/>
          </a:p>
        </p:txBody>
      </p:sp>
      <p:sp>
        <p:nvSpPr>
          <p:cNvPr id="16387" name="내용 개체 틀 2">
            <a:extLst>
              <a:ext uri="{FF2B5EF4-FFF2-40B4-BE49-F238E27FC236}">
                <a16:creationId xmlns:a16="http://schemas.microsoft.com/office/drawing/2014/main" id="{A019C3D6-C2D1-4366-A6CF-2FD12BD7DD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641" y="1371601"/>
            <a:ext cx="11642818" cy="430306"/>
          </a:xfrm>
        </p:spPr>
        <p:txBody>
          <a:bodyPr/>
          <a:lstStyle/>
          <a:p>
            <a:pPr eaLnBrk="1" latinLnBrk="0" hangingPunct="1">
              <a:buFont typeface="Wingdings" panose="05000000000000000000" pitchFamily="2" charset="2"/>
              <a:buChar char="§"/>
              <a:defRPr/>
            </a:pPr>
            <a:r>
              <a:rPr lang="ko-KR" altLang="en-US" sz="2000" b="0" dirty="0" err="1"/>
              <a:t>아커</a:t>
            </a:r>
            <a:r>
              <a:rPr lang="en-US" altLang="ko-KR" sz="2000" b="0" dirty="0"/>
              <a:t>(Aaker)</a:t>
            </a:r>
            <a:r>
              <a:rPr lang="ko-KR" altLang="en-US" sz="2000" b="0" dirty="0"/>
              <a:t>의 브랜드 아이덴티티 개발 과정</a:t>
            </a:r>
            <a:endParaRPr lang="en-US" altLang="ko-KR" sz="1800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083E5220-A743-49B2-93B1-79F64D1363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641" y="1942465"/>
            <a:ext cx="5265008" cy="4383741"/>
          </a:xfrm>
          <a:prstGeom prst="rect">
            <a:avLst/>
          </a:prstGeom>
        </p:spPr>
      </p:pic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77578012-C069-4C4E-8AB5-CE19006187BE}"/>
              </a:ext>
            </a:extLst>
          </p:cNvPr>
          <p:cNvSpPr txBox="1">
            <a:spLocks/>
          </p:cNvSpPr>
          <p:nvPr/>
        </p:nvSpPr>
        <p:spPr bwMode="auto">
          <a:xfrm>
            <a:off x="5734423" y="2436768"/>
            <a:ext cx="6024936" cy="35398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defRPr sz="2400" b="1" kern="120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+mn-cs"/>
              </a:defRPr>
            </a:lvl1pPr>
            <a:lvl2pPr marL="179388" indent="277813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defRPr sz="2400" kern="1200">
                <a:solidFill>
                  <a:schemeClr val="tx1"/>
                </a:solidFill>
                <a:latin typeface="서울남산 장체 L" panose="02020503020101020101" pitchFamily="18" charset="-127"/>
                <a:ea typeface="서울남산 장체 L" panose="02020503020101020101" pitchFamily="18" charset="-127"/>
                <a:cs typeface="+mn-cs"/>
              </a:defRPr>
            </a:lvl2pPr>
            <a:lvl3pPr marL="447675" indent="46672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defRPr sz="2000" kern="1200">
                <a:solidFill>
                  <a:schemeClr val="tx1"/>
                </a:solidFill>
                <a:latin typeface="서울남산 장체 L" panose="02020503020101020101" pitchFamily="18" charset="-127"/>
                <a:ea typeface="서울남산 장체 L" panose="02020503020101020101" pitchFamily="18" charset="-127"/>
                <a:cs typeface="+mn-cs"/>
              </a:defRPr>
            </a:lvl3pPr>
            <a:lvl4pPr marL="627063" indent="744538" algn="l" rtl="0" eaLnBrk="0" fontAlgn="base" latinLnBrk="1" hangingPunct="0">
              <a:spcBef>
                <a:spcPct val="2000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서울남산 장체 L" panose="02020503020101020101" pitchFamily="18" charset="-127"/>
                <a:ea typeface="서울남산 장체 L" panose="02020503020101020101" pitchFamily="18" charset="-127"/>
                <a:cs typeface="+mn-cs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ern="1200">
                <a:solidFill>
                  <a:schemeClr val="tx1"/>
                </a:solidFill>
                <a:latin typeface="서울남산 장체 L" panose="02020503020101020101" pitchFamily="18" charset="-127"/>
                <a:ea typeface="서울남산 장체 L" panose="02020503020101020101" pitchFamily="18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36575" lvl="1" indent="-179388" eaLnBrk="1" latinLnBrk="0" hangingPunct="1">
              <a:buFont typeface="Wingdings" panose="05000000000000000000" pitchFamily="2" charset="2"/>
              <a:buChar char="§"/>
              <a:defRPr/>
            </a:pPr>
            <a:r>
              <a:rPr lang="en-US" altLang="ko-KR" sz="1600" dirty="0"/>
              <a:t>4</a:t>
            </a:r>
            <a:r>
              <a:rPr lang="ko-KR" altLang="en-US" sz="1600" dirty="0"/>
              <a:t>단계에서는 브랜드 아이덴티티를 구성하는 다양한 요소들을 시각적 또는 감각적으로 표현하는 과정</a:t>
            </a:r>
            <a:endParaRPr lang="en-US" altLang="ko-KR" sz="1600" dirty="0"/>
          </a:p>
          <a:p>
            <a:pPr marL="536575" lvl="1" indent="-179388" eaLnBrk="1" latinLnBrk="0" hangingPunct="1">
              <a:buFont typeface="Wingdings" panose="05000000000000000000" pitchFamily="2" charset="2"/>
              <a:buChar char="§"/>
              <a:defRPr/>
            </a:pPr>
            <a:r>
              <a:rPr lang="ko-KR" altLang="en-US" sz="1600" dirty="0"/>
              <a:t>여러가지 요소들을 일관성 있게 결합하여 사용할 때 브랜드 아이덴티티가 가장 잘 실현 될 수 있으며 브랜드 </a:t>
            </a:r>
            <a:r>
              <a:rPr lang="ko-KR" altLang="en-US" sz="1600" dirty="0" err="1"/>
              <a:t>에쿼티를</a:t>
            </a:r>
            <a:r>
              <a:rPr lang="ko-KR" altLang="en-US" sz="1600" dirty="0"/>
              <a:t> 상승 시킬 수 있음</a:t>
            </a:r>
            <a:endParaRPr lang="en-US" altLang="ko-KR" sz="1600" dirty="0"/>
          </a:p>
          <a:p>
            <a:pPr marL="536575" lvl="1" indent="-179388" eaLnBrk="1" latinLnBrk="0" hangingPunct="1">
              <a:buFont typeface="Wingdings" panose="05000000000000000000" pitchFamily="2" charset="2"/>
              <a:buChar char="§"/>
              <a:defRPr/>
            </a:pPr>
            <a:r>
              <a:rPr lang="ko-KR" altLang="en-US" sz="1600" dirty="0"/>
              <a:t>실행 요소 개발 시 다음의 </a:t>
            </a:r>
            <a:r>
              <a:rPr lang="en-US" altLang="ko-KR" sz="1600" dirty="0"/>
              <a:t>5</a:t>
            </a:r>
            <a:r>
              <a:rPr lang="ko-KR" altLang="en-US" sz="1600" dirty="0"/>
              <a:t>가지 요소 고려</a:t>
            </a:r>
            <a:endParaRPr lang="en-US" altLang="ko-KR" sz="1600" dirty="0"/>
          </a:p>
          <a:p>
            <a:pPr marL="804862" lvl="2" indent="-179388" eaLnBrk="1" latinLnBrk="0" hangingPunct="1">
              <a:buFont typeface="Wingdings" panose="05000000000000000000" pitchFamily="2" charset="2"/>
              <a:buChar char="§"/>
              <a:defRPr/>
            </a:pPr>
            <a:r>
              <a:rPr lang="ko-KR" altLang="en-US" sz="1200" dirty="0"/>
              <a:t>쉽게 눈에 띄고 잘 회상 될 수 있는 기억 용이성</a:t>
            </a:r>
            <a:endParaRPr lang="en-US" altLang="ko-KR" sz="1200" dirty="0"/>
          </a:p>
          <a:p>
            <a:pPr marL="804862" lvl="2" indent="-179388" eaLnBrk="1" latinLnBrk="0" hangingPunct="1">
              <a:buFont typeface="Wingdings" panose="05000000000000000000" pitchFamily="2" charset="2"/>
              <a:buChar char="§"/>
              <a:defRPr/>
            </a:pPr>
            <a:r>
              <a:rPr lang="ko-KR" altLang="en-US" sz="1200" dirty="0"/>
              <a:t>제공하는 상품에 관한 정보와 구체적인 특징을 전달 할 수 있는 </a:t>
            </a:r>
            <a:r>
              <a:rPr lang="ko-KR" altLang="en-US" sz="1200" dirty="0" err="1"/>
              <a:t>유의미성</a:t>
            </a:r>
            <a:endParaRPr lang="en-US" altLang="ko-KR" sz="1200" dirty="0"/>
          </a:p>
          <a:p>
            <a:pPr marL="804862" lvl="2" indent="-179388" eaLnBrk="1" latinLnBrk="0" hangingPunct="1">
              <a:buFont typeface="Wingdings" panose="05000000000000000000" pitchFamily="2" charset="2"/>
              <a:buChar char="§"/>
              <a:defRPr/>
            </a:pPr>
            <a:r>
              <a:rPr lang="ko-KR" altLang="en-US" sz="1200" dirty="0"/>
              <a:t>지리적 범위 확대나 다른 콘셉트의 브랜드로 확장할 때 기여 할 수 있는 </a:t>
            </a:r>
            <a:r>
              <a:rPr lang="ko-KR" altLang="en-US" sz="1200" dirty="0" err="1"/>
              <a:t>전이성</a:t>
            </a:r>
            <a:endParaRPr lang="en-US" altLang="ko-KR" sz="1200" dirty="0"/>
          </a:p>
          <a:p>
            <a:pPr marL="804862" lvl="2" indent="-179388" eaLnBrk="1" latinLnBrk="0" hangingPunct="1">
              <a:buFont typeface="Wingdings" panose="05000000000000000000" pitchFamily="2" charset="2"/>
              <a:buChar char="§"/>
              <a:defRPr/>
            </a:pPr>
            <a:r>
              <a:rPr lang="ko-KR" altLang="en-US" sz="1200" dirty="0"/>
              <a:t>시장 환경이나 소비자 기호 변화에 유연하게 적응할 수 있는 가능성</a:t>
            </a:r>
            <a:endParaRPr lang="en-US" altLang="ko-KR" sz="1200" dirty="0"/>
          </a:p>
          <a:p>
            <a:pPr marL="804862" lvl="2" indent="-179388" eaLnBrk="1" latinLnBrk="0" hangingPunct="1">
              <a:buFont typeface="Wingdings" panose="05000000000000000000" pitchFamily="2" charset="2"/>
              <a:buChar char="§"/>
              <a:defRPr/>
            </a:pPr>
            <a:r>
              <a:rPr lang="ko-KR" altLang="en-US" sz="1200" dirty="0"/>
              <a:t>경쟁사의 침해로부터의 법적 보호를 받을 수 있는 가능성</a:t>
            </a:r>
            <a:endParaRPr lang="en-US" altLang="ko-KR" sz="1200" dirty="0"/>
          </a:p>
        </p:txBody>
      </p:sp>
      <p:sp>
        <p:nvSpPr>
          <p:cNvPr id="5" name="말풍선: 사각형 4">
            <a:extLst>
              <a:ext uri="{FF2B5EF4-FFF2-40B4-BE49-F238E27FC236}">
                <a16:creationId xmlns:a16="http://schemas.microsoft.com/office/drawing/2014/main" id="{6266EDA5-037C-4945-A2A7-4383D090DC32}"/>
              </a:ext>
            </a:extLst>
          </p:cNvPr>
          <p:cNvSpPr/>
          <p:nvPr/>
        </p:nvSpPr>
        <p:spPr bwMode="auto">
          <a:xfrm>
            <a:off x="5995030" y="2228944"/>
            <a:ext cx="5764329" cy="3257455"/>
          </a:xfrm>
          <a:prstGeom prst="wedgeRectCallout">
            <a:avLst>
              <a:gd name="adj1" fmla="val -57312"/>
              <a:gd name="adj2" fmla="val 56533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984265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제목 1">
            <a:extLst>
              <a:ext uri="{FF2B5EF4-FFF2-40B4-BE49-F238E27FC236}">
                <a16:creationId xmlns:a16="http://schemas.microsoft.com/office/drawing/2014/main" id="{AAC64C6C-76C3-4D55-B2B6-B0463875E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9698037" cy="563563"/>
          </a:xfrm>
        </p:spPr>
        <p:txBody>
          <a:bodyPr/>
          <a:lstStyle/>
          <a:p>
            <a:pPr eaLnBrk="1" latinLnBrk="0" hangingPunct="1"/>
            <a:r>
              <a:rPr lang="en-US" altLang="ko-KR" dirty="0"/>
              <a:t>5) </a:t>
            </a:r>
            <a:r>
              <a:rPr lang="ko-KR" altLang="en-US" dirty="0"/>
              <a:t>브랜드 아이덴티티 실행요소 개발 </a:t>
            </a:r>
            <a:r>
              <a:rPr lang="en-US" altLang="ko-KR" dirty="0"/>
              <a:t>- </a:t>
            </a:r>
            <a:r>
              <a:rPr lang="ko-KR" altLang="en-US" dirty="0">
                <a:solidFill>
                  <a:srgbClr val="FFC000"/>
                </a:solidFill>
              </a:rPr>
              <a:t>브랜드명</a:t>
            </a:r>
            <a:r>
              <a:rPr lang="ko-KR" altLang="en-US" dirty="0">
                <a:solidFill>
                  <a:srgbClr val="FFFF00"/>
                </a:solidFill>
              </a:rPr>
              <a:t> </a:t>
            </a:r>
            <a:endParaRPr lang="ko-KR" altLang="en-US" sz="2000" dirty="0">
              <a:solidFill>
                <a:srgbClr val="FFFF00"/>
              </a:solidFill>
            </a:endParaRPr>
          </a:p>
        </p:txBody>
      </p:sp>
      <p:sp>
        <p:nvSpPr>
          <p:cNvPr id="16387" name="내용 개체 틀 2">
            <a:extLst>
              <a:ext uri="{FF2B5EF4-FFF2-40B4-BE49-F238E27FC236}">
                <a16:creationId xmlns:a16="http://schemas.microsoft.com/office/drawing/2014/main" id="{A019C3D6-C2D1-4366-A6CF-2FD12BD7DD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641" y="1371600"/>
            <a:ext cx="11642818" cy="1842247"/>
          </a:xfrm>
        </p:spPr>
        <p:txBody>
          <a:bodyPr/>
          <a:lstStyle/>
          <a:p>
            <a:pPr eaLnBrk="1" latinLnBrk="0" hangingPunct="1">
              <a:buFont typeface="Wingdings" panose="05000000000000000000" pitchFamily="2" charset="2"/>
              <a:buChar char="§"/>
              <a:defRPr/>
            </a:pPr>
            <a:r>
              <a:rPr lang="ko-KR" altLang="en-US" sz="2000" b="0" dirty="0"/>
              <a:t>브랜드명은 브랜드에 있어 가장 본질적인 요소</a:t>
            </a:r>
            <a:r>
              <a:rPr lang="en-US" altLang="ko-KR" sz="2000" b="0" dirty="0"/>
              <a:t>, </a:t>
            </a:r>
            <a:r>
              <a:rPr lang="ko-KR" altLang="en-US" sz="2000" b="0" dirty="0"/>
              <a:t>해당 제품의 존재와 원산지의 주요 특징을 나타내는 브랜드 핵심요소</a:t>
            </a:r>
          </a:p>
          <a:p>
            <a:pPr eaLnBrk="1" latinLnBrk="0" hangingPunct="1">
              <a:buFont typeface="Wingdings" panose="05000000000000000000" pitchFamily="2" charset="2"/>
              <a:buChar char="§"/>
              <a:defRPr/>
            </a:pPr>
            <a:r>
              <a:rPr lang="ko-KR" altLang="en-US" sz="2000" b="0" dirty="0"/>
              <a:t>경쟁자보다 유리한 언어를 찾아 마케팅 활동을 효과적으로 지원하며</a:t>
            </a:r>
            <a:r>
              <a:rPr lang="en-US" altLang="ko-KR" sz="2000" b="0" dirty="0"/>
              <a:t>, </a:t>
            </a:r>
            <a:r>
              <a:rPr lang="ko-KR" altLang="en-US" sz="2000" b="0" dirty="0"/>
              <a:t>브랜드를 인지하는 속도 및 브랜드 이미지에 영향</a:t>
            </a:r>
          </a:p>
          <a:p>
            <a:pPr eaLnBrk="1" latinLnBrk="0" hangingPunct="1">
              <a:buFont typeface="Wingdings" panose="05000000000000000000" pitchFamily="2" charset="2"/>
              <a:buChar char="§"/>
              <a:defRPr/>
            </a:pPr>
            <a:r>
              <a:rPr lang="ko-KR" altLang="en-US" sz="2000" b="0" dirty="0"/>
              <a:t>브랜드 네이밍</a:t>
            </a:r>
            <a:r>
              <a:rPr lang="en-US" altLang="ko-KR" sz="2000" b="0" dirty="0"/>
              <a:t>(naming) </a:t>
            </a:r>
            <a:r>
              <a:rPr lang="ko-KR" altLang="en-US" sz="2000" b="0" dirty="0"/>
              <a:t>시 고려해야 할 사항</a:t>
            </a:r>
            <a:endParaRPr lang="en-US" altLang="ko-KR" sz="2000" b="0" dirty="0"/>
          </a:p>
          <a:p>
            <a:pPr lvl="1" eaLnBrk="1" latinLnBrk="0" hangingPunct="1">
              <a:buFont typeface="Wingdings" panose="05000000000000000000" pitchFamily="2" charset="2"/>
              <a:buChar char="§"/>
              <a:defRPr/>
            </a:pPr>
            <a:r>
              <a:rPr lang="ko-KR" altLang="en-US" sz="1800" dirty="0"/>
              <a:t>브랜드마케팅의 첫 단추는 ‘경쟁자보다 유리한 </a:t>
            </a:r>
            <a:r>
              <a:rPr lang="en-US" altLang="ko-KR" sz="1800" dirty="0"/>
              <a:t>NAME’</a:t>
            </a:r>
            <a:r>
              <a:rPr lang="ko-KR" altLang="en-US" sz="1800" dirty="0"/>
              <a:t>을 빨리 확보하는 것</a:t>
            </a:r>
          </a:p>
          <a:p>
            <a:pPr lvl="1" eaLnBrk="1" latinLnBrk="0" hangingPunct="1">
              <a:buFont typeface="Wingdings" panose="05000000000000000000" pitchFamily="2" charset="2"/>
              <a:buChar char="§"/>
              <a:defRPr/>
            </a:pPr>
            <a:r>
              <a:rPr lang="ko-KR" altLang="en-US" sz="1800" dirty="0"/>
              <a:t>네이밍은 단순한 언어적 창조작업이 아닌 ‘마케팅 전략의 언어적 전환 작업’ </a:t>
            </a:r>
            <a:r>
              <a:rPr lang="en-US" altLang="ko-KR" sz="1800" dirty="0"/>
              <a:t>= </a:t>
            </a:r>
            <a:r>
              <a:rPr lang="ko-KR" altLang="en-US" sz="1800" dirty="0"/>
              <a:t>마케팅에 유리한 언어 찾기</a:t>
            </a:r>
            <a:r>
              <a:rPr lang="en-US" altLang="ko-KR" sz="1800" dirty="0"/>
              <a:t>!!</a:t>
            </a:r>
          </a:p>
          <a:p>
            <a:pPr lvl="1" eaLnBrk="1" latinLnBrk="0" hangingPunct="1">
              <a:buFont typeface="Wingdings" panose="05000000000000000000" pitchFamily="2" charset="2"/>
              <a:buChar char="§"/>
              <a:defRPr/>
            </a:pPr>
            <a:r>
              <a:rPr lang="ko-KR" altLang="en-US" sz="1800" dirty="0"/>
              <a:t>발음하거나 쓰고 기억하기 쉬운 언어</a:t>
            </a:r>
          </a:p>
          <a:p>
            <a:pPr lvl="1" eaLnBrk="1" latinLnBrk="0" hangingPunct="1">
              <a:buFont typeface="Wingdings" panose="05000000000000000000" pitchFamily="2" charset="2"/>
              <a:buChar char="§"/>
              <a:defRPr/>
            </a:pPr>
            <a:r>
              <a:rPr lang="ko-KR" altLang="en-US" sz="1800" dirty="0"/>
              <a:t>법적으로 보호받을 수 있는 상표 등록 가능여부</a:t>
            </a:r>
            <a:endParaRPr lang="en-US" altLang="ko-KR" sz="1800" dirty="0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D7D6B11B-667D-4948-9110-45EF80FCEDBC}"/>
              </a:ext>
            </a:extLst>
          </p:cNvPr>
          <p:cNvGrpSpPr/>
          <p:nvPr/>
        </p:nvGrpSpPr>
        <p:grpSpPr>
          <a:xfrm>
            <a:off x="4659759" y="4227652"/>
            <a:ext cx="7226044" cy="1997665"/>
            <a:chOff x="1631504" y="1468540"/>
            <a:chExt cx="8784976" cy="2545928"/>
          </a:xfrm>
        </p:grpSpPr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C1DCC34F-DA0B-4EE1-AF39-3B3A12B9E1FF}"/>
                </a:ext>
              </a:extLst>
            </p:cNvPr>
            <p:cNvGrpSpPr/>
            <p:nvPr/>
          </p:nvGrpSpPr>
          <p:grpSpPr>
            <a:xfrm>
              <a:off x="2356254" y="2269598"/>
              <a:ext cx="7294489" cy="1744870"/>
              <a:chOff x="2356254" y="2269598"/>
              <a:chExt cx="7294489" cy="1744870"/>
            </a:xfrm>
          </p:grpSpPr>
          <p:pic>
            <p:nvPicPr>
              <p:cNvPr id="9" name="그림 8">
                <a:extLst>
                  <a:ext uri="{FF2B5EF4-FFF2-40B4-BE49-F238E27FC236}">
                    <a16:creationId xmlns:a16="http://schemas.microsoft.com/office/drawing/2014/main" id="{B0AC2CD1-9769-4300-9320-9B87EB600CC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356254" y="2432578"/>
                <a:ext cx="3024335" cy="1306514"/>
              </a:xfrm>
              <a:prstGeom prst="rect">
                <a:avLst/>
              </a:prstGeom>
            </p:spPr>
          </p:pic>
          <p:pic>
            <p:nvPicPr>
              <p:cNvPr id="10" name="그림 9">
                <a:extLst>
                  <a:ext uri="{FF2B5EF4-FFF2-40B4-BE49-F238E27FC236}">
                    <a16:creationId xmlns:a16="http://schemas.microsoft.com/office/drawing/2014/main" id="{F63EEE72-2528-41CE-BA20-6874E3BE945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974385" y="2271057"/>
                <a:ext cx="1676358" cy="1743411"/>
              </a:xfrm>
              <a:prstGeom prst="rect">
                <a:avLst/>
              </a:prstGeom>
            </p:spPr>
          </p:pic>
          <p:pic>
            <p:nvPicPr>
              <p:cNvPr id="11" name="그림 10">
                <a:extLst>
                  <a:ext uri="{FF2B5EF4-FFF2-40B4-BE49-F238E27FC236}">
                    <a16:creationId xmlns:a16="http://schemas.microsoft.com/office/drawing/2014/main" id="{9E0E6BEC-07FF-4407-80B7-BD721935E5E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708049" y="2269598"/>
                <a:ext cx="1430461" cy="1687944"/>
              </a:xfrm>
              <a:prstGeom prst="rect">
                <a:avLst/>
              </a:prstGeom>
            </p:spPr>
          </p:pic>
        </p:grpSp>
        <p:sp>
          <p:nvSpPr>
            <p:cNvPr id="8" name="Rectangle 2">
              <a:extLst>
                <a:ext uri="{FF2B5EF4-FFF2-40B4-BE49-F238E27FC236}">
                  <a16:creationId xmlns:a16="http://schemas.microsoft.com/office/drawing/2014/main" id="{3499600D-DE14-4830-A278-FBBE403AD9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1504" y="1468540"/>
              <a:ext cx="8784976" cy="53340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anchor="ctr"/>
            <a:lstStyle>
              <a:lvl1pPr latinLnBrk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28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20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ko-KR" sz="1800" dirty="0">
                  <a:highlight>
                    <a:srgbClr val="FFFF00"/>
                  </a:highlight>
                  <a:latin typeface="서울남산 장체 M" panose="02020503020101020101" pitchFamily="18" charset="-127"/>
                  <a:ea typeface="서울남산 장체 M" panose="02020503020101020101" pitchFamily="18" charset="-127"/>
                </a:rPr>
                <a:t>Q. </a:t>
              </a:r>
              <a:r>
                <a:rPr lang="ko-KR" altLang="en-US" sz="1800" dirty="0">
                  <a:highlight>
                    <a:srgbClr val="FFFF00"/>
                  </a:highlight>
                  <a:latin typeface="서울남산 장체 M" panose="02020503020101020101" pitchFamily="18" charset="-127"/>
                  <a:ea typeface="서울남산 장체 M" panose="02020503020101020101" pitchFamily="18" charset="-127"/>
                </a:rPr>
                <a:t>첫 단추 </a:t>
              </a:r>
              <a:r>
                <a:rPr lang="en-US" altLang="ko-KR" sz="1800" dirty="0">
                  <a:highlight>
                    <a:srgbClr val="FFFF00"/>
                  </a:highlight>
                  <a:latin typeface="서울남산 장체 M" panose="02020503020101020101" pitchFamily="18" charset="-127"/>
                  <a:ea typeface="서울남산 장체 M" panose="02020503020101020101" pitchFamily="18" charset="-127"/>
                </a:rPr>
                <a:t>: </a:t>
              </a:r>
              <a:r>
                <a:rPr lang="ko-KR" altLang="en-US" sz="1800" dirty="0">
                  <a:highlight>
                    <a:srgbClr val="FFFF00"/>
                  </a:highlight>
                  <a:latin typeface="서울남산 장체 M" panose="02020503020101020101" pitchFamily="18" charset="-127"/>
                  <a:ea typeface="서울남산 장체 M" panose="02020503020101020101" pitchFamily="18" charset="-127"/>
                </a:rPr>
                <a:t>다음 중 </a:t>
              </a:r>
              <a:r>
                <a:rPr lang="ko-KR" altLang="en-US" sz="1800" dirty="0">
                  <a:solidFill>
                    <a:srgbClr val="C00000"/>
                  </a:solidFill>
                  <a:highlight>
                    <a:srgbClr val="FFFF00"/>
                  </a:highlight>
                  <a:latin typeface="서울남산 장체 M" panose="02020503020101020101" pitchFamily="18" charset="-127"/>
                  <a:ea typeface="서울남산 장체 M" panose="02020503020101020101" pitchFamily="18" charset="-127"/>
                </a:rPr>
                <a:t>마케팅적으로 유리한 </a:t>
              </a:r>
              <a:r>
                <a:rPr lang="ko-KR" altLang="en-US" sz="1800" dirty="0" err="1">
                  <a:solidFill>
                    <a:srgbClr val="C00000"/>
                  </a:solidFill>
                  <a:highlight>
                    <a:srgbClr val="FFFF00"/>
                  </a:highlight>
                  <a:latin typeface="서울남산 장체 M" panose="02020503020101020101" pitchFamily="18" charset="-127"/>
                  <a:ea typeface="서울남산 장체 M" panose="02020503020101020101" pitchFamily="18" charset="-127"/>
                </a:rPr>
                <a:t>네이밍</a:t>
              </a:r>
              <a:r>
                <a:rPr lang="en-US" altLang="ko-KR" sz="1800" dirty="0">
                  <a:solidFill>
                    <a:srgbClr val="C00000"/>
                  </a:solidFill>
                  <a:highlight>
                    <a:srgbClr val="FFFF00"/>
                  </a:highlight>
                  <a:latin typeface="서울남산 장체 M" panose="02020503020101020101" pitchFamily="18" charset="-127"/>
                  <a:ea typeface="서울남산 장체 M" panose="02020503020101020101" pitchFamily="18" charset="-127"/>
                </a:rPr>
                <a:t>(</a:t>
              </a:r>
              <a:r>
                <a:rPr lang="ko-KR" altLang="en-US" sz="1800" dirty="0">
                  <a:solidFill>
                    <a:srgbClr val="C00000"/>
                  </a:solidFill>
                  <a:highlight>
                    <a:srgbClr val="FFFF00"/>
                  </a:highlight>
                  <a:latin typeface="서울남산 장체 M" panose="02020503020101020101" pitchFamily="18" charset="-127"/>
                  <a:ea typeface="서울남산 장체 M" panose="02020503020101020101" pitchFamily="18" charset="-127"/>
                </a:rPr>
                <a:t>언어</a:t>
              </a:r>
              <a:r>
                <a:rPr lang="en-US" altLang="ko-KR" sz="1800" dirty="0">
                  <a:solidFill>
                    <a:srgbClr val="C00000"/>
                  </a:solidFill>
                  <a:highlight>
                    <a:srgbClr val="FFFF00"/>
                  </a:highlight>
                  <a:latin typeface="서울남산 장체 M" panose="02020503020101020101" pitchFamily="18" charset="-127"/>
                  <a:ea typeface="서울남산 장체 M" panose="02020503020101020101" pitchFamily="18" charset="-127"/>
                </a:rPr>
                <a:t>)</a:t>
              </a:r>
              <a:r>
                <a:rPr lang="ko-KR" altLang="en-US" sz="1800" dirty="0">
                  <a:highlight>
                    <a:srgbClr val="FFFF00"/>
                  </a:highlight>
                  <a:latin typeface="서울남산 장체 M" panose="02020503020101020101" pitchFamily="18" charset="-127"/>
                  <a:ea typeface="서울남산 장체 M" panose="02020503020101020101" pitchFamily="18" charset="-127"/>
                </a:rPr>
                <a:t>은</a:t>
              </a:r>
              <a:r>
                <a:rPr lang="en-US" altLang="ko-KR" sz="1800" dirty="0">
                  <a:highlight>
                    <a:srgbClr val="FFFF00"/>
                  </a:highlight>
                  <a:latin typeface="서울남산 장체 M" panose="02020503020101020101" pitchFamily="18" charset="-127"/>
                  <a:ea typeface="서울남산 장체 M" panose="02020503020101020101" pitchFamily="18" charset="-127"/>
                </a:rPr>
                <a:t>?</a:t>
              </a:r>
              <a:endParaRPr lang="ko-KR" altLang="en-US" sz="1800" dirty="0">
                <a:highlight>
                  <a:srgbClr val="FFFF00"/>
                </a:highlight>
                <a:latin typeface="서울남산 장체 M" panose="02020503020101020101" pitchFamily="18" charset="-127"/>
                <a:ea typeface="서울남산 장체 M" panose="02020503020101020101" pitchFamily="18" charset="-127"/>
              </a:endParaRPr>
            </a:p>
          </p:txBody>
        </p:sp>
      </p:grpSp>
      <p:sp>
        <p:nvSpPr>
          <p:cNvPr id="12" name="모서리가 둥근 직사각형 71">
            <a:extLst>
              <a:ext uri="{FF2B5EF4-FFF2-40B4-BE49-F238E27FC236}">
                <a16:creationId xmlns:a16="http://schemas.microsoft.com/office/drawing/2014/main" id="{50259DB3-747E-464D-9337-D0496CEDBD84}"/>
              </a:ext>
            </a:extLst>
          </p:cNvPr>
          <p:cNvSpPr/>
          <p:nvPr/>
        </p:nvSpPr>
        <p:spPr>
          <a:xfrm>
            <a:off x="995363" y="4608000"/>
            <a:ext cx="1705348" cy="1409566"/>
          </a:xfrm>
          <a:prstGeom prst="roundRect">
            <a:avLst/>
          </a:prstGeom>
          <a:blipFill dpi="0"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159295C0-AB8B-464C-8D59-B6AED6DE4AE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99888" y="4595748"/>
            <a:ext cx="1925603" cy="142181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2D7E623-C853-4028-9814-223E8AC66221}"/>
              </a:ext>
            </a:extLst>
          </p:cNvPr>
          <p:cNvSpPr txBox="1"/>
          <p:nvPr/>
        </p:nvSpPr>
        <p:spPr>
          <a:xfrm>
            <a:off x="1228316" y="6086818"/>
            <a:ext cx="12394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&lt;</a:t>
            </a:r>
            <a:r>
              <a:rPr lang="ko-KR" altLang="en-US" sz="1200" dirty="0" err="1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비비고의</a:t>
            </a:r>
            <a:r>
              <a:rPr lang="ko-KR" altLang="en-US" sz="1200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 </a:t>
            </a:r>
            <a:r>
              <a:rPr lang="ko-KR" altLang="en-US" sz="1200" dirty="0" err="1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첫단추</a:t>
            </a:r>
            <a:r>
              <a:rPr lang="en-US" altLang="ko-KR" sz="1200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&gt;</a:t>
            </a:r>
            <a:endParaRPr lang="ko-KR" altLang="en-US" sz="1200" dirty="0">
              <a:latin typeface="서울남산 장체 M" panose="02020503020101020101" pitchFamily="18" charset="-127"/>
              <a:ea typeface="서울남산 장체 M" panose="020205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39903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제목 1">
            <a:extLst>
              <a:ext uri="{FF2B5EF4-FFF2-40B4-BE49-F238E27FC236}">
                <a16:creationId xmlns:a16="http://schemas.microsoft.com/office/drawing/2014/main" id="{AAC64C6C-76C3-4D55-B2B6-B0463875E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9698037" cy="563563"/>
          </a:xfrm>
        </p:spPr>
        <p:txBody>
          <a:bodyPr/>
          <a:lstStyle/>
          <a:p>
            <a:pPr eaLnBrk="1" latinLnBrk="0" hangingPunct="1"/>
            <a:r>
              <a:rPr lang="en-US" altLang="ko-KR" dirty="0"/>
              <a:t>5) </a:t>
            </a:r>
            <a:r>
              <a:rPr lang="ko-KR" altLang="en-US" dirty="0"/>
              <a:t>브랜드 아이덴티티 실행요소 개발 </a:t>
            </a:r>
            <a:r>
              <a:rPr lang="en-US" altLang="ko-KR" dirty="0"/>
              <a:t>- </a:t>
            </a:r>
            <a:r>
              <a:rPr lang="ko-KR" altLang="en-US" dirty="0">
                <a:solidFill>
                  <a:srgbClr val="FFC000"/>
                </a:solidFill>
              </a:rPr>
              <a:t>로고</a:t>
            </a:r>
            <a:r>
              <a:rPr lang="ko-KR" altLang="en-US" dirty="0">
                <a:solidFill>
                  <a:srgbClr val="FFFF00"/>
                </a:solidFill>
              </a:rPr>
              <a:t> </a:t>
            </a:r>
            <a:endParaRPr lang="ko-KR" altLang="en-US" sz="2000" dirty="0">
              <a:solidFill>
                <a:srgbClr val="FFFF00"/>
              </a:solidFill>
            </a:endParaRPr>
          </a:p>
        </p:txBody>
      </p:sp>
      <p:sp>
        <p:nvSpPr>
          <p:cNvPr id="16387" name="내용 개체 틀 2">
            <a:extLst>
              <a:ext uri="{FF2B5EF4-FFF2-40B4-BE49-F238E27FC236}">
                <a16:creationId xmlns:a16="http://schemas.microsoft.com/office/drawing/2014/main" id="{A019C3D6-C2D1-4366-A6CF-2FD12BD7DD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641" y="1371600"/>
            <a:ext cx="11199065" cy="1842247"/>
          </a:xfrm>
        </p:spPr>
        <p:txBody>
          <a:bodyPr/>
          <a:lstStyle/>
          <a:p>
            <a:pPr eaLnBrk="1" latinLnBrk="0" hangingPunct="1">
              <a:buFont typeface="Wingdings" panose="05000000000000000000" pitchFamily="2" charset="2"/>
              <a:buChar char="§"/>
              <a:defRPr/>
            </a:pPr>
            <a:r>
              <a:rPr lang="ko-KR" altLang="en-US" sz="2000" b="0" dirty="0"/>
              <a:t>브랜드 인지도를 높이기 위해 브랜드 이름을 시각적으로 만든 독특한 글자체</a:t>
            </a:r>
            <a:r>
              <a:rPr lang="en-US" altLang="ko-KR" sz="2000" b="0" dirty="0"/>
              <a:t>(</a:t>
            </a:r>
            <a:r>
              <a:rPr lang="ko-KR" altLang="en-US" sz="2000" b="0" dirty="0"/>
              <a:t>문자마크</a:t>
            </a:r>
            <a:r>
              <a:rPr lang="en-US" altLang="ko-KR" sz="2000" b="0" dirty="0"/>
              <a:t>) </a:t>
            </a:r>
            <a:r>
              <a:rPr lang="ko-KR" altLang="en-US" sz="2000" b="0" dirty="0"/>
              <a:t>또는 심벌</a:t>
            </a:r>
            <a:r>
              <a:rPr lang="en-US" altLang="ko-KR" sz="2000" b="0" dirty="0"/>
              <a:t>(symbol)</a:t>
            </a:r>
            <a:r>
              <a:rPr lang="ko-KR" altLang="en-US" sz="2000" b="0" dirty="0"/>
              <a:t>이나 종합적인 상징체계</a:t>
            </a:r>
            <a:r>
              <a:rPr lang="en-US" altLang="ko-KR" sz="2000" b="0" dirty="0"/>
              <a:t>(</a:t>
            </a:r>
            <a:r>
              <a:rPr lang="ko-KR" altLang="en-US" sz="2000" b="0" dirty="0" err="1"/>
              <a:t>비문자</a:t>
            </a:r>
            <a:r>
              <a:rPr lang="ko-KR" altLang="en-US" sz="2000" b="0" dirty="0"/>
              <a:t> 마크</a:t>
            </a:r>
            <a:r>
              <a:rPr lang="en-US" altLang="ko-KR" sz="2000" b="0" dirty="0"/>
              <a:t>)</a:t>
            </a:r>
          </a:p>
          <a:p>
            <a:pPr lvl="1" eaLnBrk="1" latinLnBrk="0" hangingPunct="1">
              <a:buFont typeface="Wingdings" panose="05000000000000000000" pitchFamily="2" charset="2"/>
              <a:buChar char="§"/>
              <a:defRPr/>
            </a:pPr>
            <a:r>
              <a:rPr lang="ko-KR" altLang="en-US" sz="1800" dirty="0"/>
              <a:t>브랜드의 상징성을 내포하는 중요한 브랜드 표출방법</a:t>
            </a:r>
          </a:p>
          <a:p>
            <a:pPr lvl="1" eaLnBrk="1" latinLnBrk="0" hangingPunct="1">
              <a:buFont typeface="Wingdings" panose="05000000000000000000" pitchFamily="2" charset="2"/>
              <a:buChar char="§"/>
              <a:defRPr/>
            </a:pPr>
            <a:r>
              <a:rPr lang="ko-KR" altLang="en-US" sz="1800" dirty="0"/>
              <a:t>브랜드를 인지하는 데 유용</a:t>
            </a:r>
          </a:p>
          <a:p>
            <a:pPr lvl="1" eaLnBrk="1" latinLnBrk="0" hangingPunct="1">
              <a:buFont typeface="Wingdings" panose="05000000000000000000" pitchFamily="2" charset="2"/>
              <a:buChar char="§"/>
              <a:defRPr/>
            </a:pPr>
            <a:r>
              <a:rPr lang="ko-KR" altLang="en-US" sz="1800" dirty="0"/>
              <a:t>전이성과 법적 보호 가능성 높음</a:t>
            </a:r>
            <a:endParaRPr lang="en-US" altLang="ko-KR" sz="1800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13C6F94D-BD8F-4E8B-96A1-6550D35EC8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3563" y="3429000"/>
            <a:ext cx="8064874" cy="2803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32991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제목 1">
            <a:extLst>
              <a:ext uri="{FF2B5EF4-FFF2-40B4-BE49-F238E27FC236}">
                <a16:creationId xmlns:a16="http://schemas.microsoft.com/office/drawing/2014/main" id="{AAC64C6C-76C3-4D55-B2B6-B0463875E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9698037" cy="563563"/>
          </a:xfrm>
        </p:spPr>
        <p:txBody>
          <a:bodyPr/>
          <a:lstStyle/>
          <a:p>
            <a:pPr eaLnBrk="1" latinLnBrk="0" hangingPunct="1"/>
            <a:r>
              <a:rPr lang="en-US" altLang="ko-KR" dirty="0"/>
              <a:t>5) </a:t>
            </a:r>
            <a:r>
              <a:rPr lang="ko-KR" altLang="en-US" dirty="0"/>
              <a:t>브랜드 아이덴티티 실행요소 개발 </a:t>
            </a:r>
            <a:r>
              <a:rPr lang="en-US" altLang="ko-KR" dirty="0"/>
              <a:t>- </a:t>
            </a:r>
            <a:r>
              <a:rPr lang="ko-KR" altLang="en-US" dirty="0">
                <a:solidFill>
                  <a:srgbClr val="FFC000"/>
                </a:solidFill>
              </a:rPr>
              <a:t>슬로건</a:t>
            </a:r>
            <a:r>
              <a:rPr lang="ko-KR" altLang="en-US" dirty="0">
                <a:solidFill>
                  <a:srgbClr val="FFFF00"/>
                </a:solidFill>
              </a:rPr>
              <a:t> </a:t>
            </a:r>
            <a:endParaRPr lang="ko-KR" altLang="en-US" sz="2000" dirty="0">
              <a:solidFill>
                <a:srgbClr val="FFFF00"/>
              </a:solidFill>
            </a:endParaRPr>
          </a:p>
        </p:txBody>
      </p:sp>
      <p:sp>
        <p:nvSpPr>
          <p:cNvPr id="16387" name="내용 개체 틀 2">
            <a:extLst>
              <a:ext uri="{FF2B5EF4-FFF2-40B4-BE49-F238E27FC236}">
                <a16:creationId xmlns:a16="http://schemas.microsoft.com/office/drawing/2014/main" id="{A019C3D6-C2D1-4366-A6CF-2FD12BD7DD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1241" y="1442737"/>
            <a:ext cx="11199065" cy="1842247"/>
          </a:xfrm>
        </p:spPr>
        <p:txBody>
          <a:bodyPr/>
          <a:lstStyle/>
          <a:p>
            <a:pPr eaLnBrk="1" latinLnBrk="0" hangingPunct="1">
              <a:buFont typeface="Wingdings" panose="05000000000000000000" pitchFamily="2" charset="2"/>
              <a:buChar char="§"/>
              <a:defRPr/>
            </a:pPr>
            <a:r>
              <a:rPr lang="ko-KR" altLang="en-US" sz="2000" b="0" dirty="0"/>
              <a:t>브랜드의 핵심정보를 전달해주는 짧은 문구</a:t>
            </a:r>
            <a:endParaRPr lang="en-US" altLang="ko-KR" sz="2000" b="0" dirty="0"/>
          </a:p>
          <a:p>
            <a:pPr lvl="1" eaLnBrk="1" latinLnBrk="0" hangingPunct="1">
              <a:buFont typeface="Wingdings" panose="05000000000000000000" pitchFamily="2" charset="2"/>
              <a:buChar char="§"/>
              <a:defRPr/>
            </a:pPr>
            <a:r>
              <a:rPr lang="ko-KR" altLang="en-US" sz="1800" dirty="0"/>
              <a:t>브랜드의 이미지를 암시적으로 소비자의 기억 속에 </a:t>
            </a:r>
            <a:r>
              <a:rPr lang="ko-KR" altLang="en-US" sz="1800" dirty="0" err="1"/>
              <a:t>포지셔닝하는</a:t>
            </a:r>
            <a:r>
              <a:rPr lang="ko-KR" altLang="en-US" sz="1800" dirty="0"/>
              <a:t> 방법</a:t>
            </a:r>
          </a:p>
          <a:p>
            <a:pPr lvl="1" eaLnBrk="1" latinLnBrk="0" hangingPunct="1">
              <a:buFont typeface="Wingdings" panose="05000000000000000000" pitchFamily="2" charset="2"/>
              <a:buChar char="§"/>
              <a:defRPr/>
            </a:pPr>
            <a:r>
              <a:rPr lang="ko-KR" altLang="en-US" sz="1800" dirty="0"/>
              <a:t>브랜드의 감성적</a:t>
            </a:r>
            <a:r>
              <a:rPr lang="en-US" altLang="ko-KR" sz="1800" dirty="0"/>
              <a:t>·</a:t>
            </a:r>
            <a:r>
              <a:rPr lang="ko-KR" altLang="en-US" sz="1800" dirty="0"/>
              <a:t>기능적 편익을 소비자들에게 효과적으로 알림</a:t>
            </a:r>
          </a:p>
          <a:p>
            <a:pPr lvl="1" eaLnBrk="1" latinLnBrk="0" hangingPunct="1">
              <a:buFont typeface="Wingdings" panose="05000000000000000000" pitchFamily="2" charset="2"/>
              <a:buChar char="§"/>
              <a:defRPr/>
            </a:pPr>
            <a:r>
              <a:rPr lang="ko-KR" altLang="en-US" sz="1800" dirty="0"/>
              <a:t>전이성은 다소 제한적이나 법적 보호 가능성은 높음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D487641-075B-41D8-BC44-6E516E90D7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0773" y="3623140"/>
            <a:ext cx="4057650" cy="2336122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AE161349-082F-44BD-ACE6-C0C4A75DDA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73577" y="3623140"/>
            <a:ext cx="4329882" cy="2336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13750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제목 1">
            <a:extLst>
              <a:ext uri="{FF2B5EF4-FFF2-40B4-BE49-F238E27FC236}">
                <a16:creationId xmlns:a16="http://schemas.microsoft.com/office/drawing/2014/main" id="{AAC64C6C-76C3-4D55-B2B6-B0463875E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9698037" cy="563563"/>
          </a:xfrm>
        </p:spPr>
        <p:txBody>
          <a:bodyPr/>
          <a:lstStyle/>
          <a:p>
            <a:pPr eaLnBrk="1" latinLnBrk="0" hangingPunct="1"/>
            <a:r>
              <a:rPr lang="en-US" altLang="ko-KR" dirty="0"/>
              <a:t>5) </a:t>
            </a:r>
            <a:r>
              <a:rPr lang="ko-KR" altLang="en-US" dirty="0"/>
              <a:t>브랜드 아이덴티티 실행요소 개발 </a:t>
            </a:r>
            <a:r>
              <a:rPr lang="en-US" altLang="ko-KR" dirty="0"/>
              <a:t>– </a:t>
            </a:r>
            <a:r>
              <a:rPr lang="ko-KR" altLang="en-US" dirty="0">
                <a:solidFill>
                  <a:srgbClr val="FFC000"/>
                </a:solidFill>
              </a:rPr>
              <a:t>캐릭터</a:t>
            </a:r>
            <a:r>
              <a:rPr lang="ko-KR" altLang="en-US" dirty="0">
                <a:solidFill>
                  <a:srgbClr val="FFFF00"/>
                </a:solidFill>
              </a:rPr>
              <a:t> </a:t>
            </a:r>
            <a:endParaRPr lang="ko-KR" altLang="en-US" sz="2000" dirty="0">
              <a:solidFill>
                <a:srgbClr val="FFFF00"/>
              </a:solidFill>
            </a:endParaRPr>
          </a:p>
        </p:txBody>
      </p:sp>
      <p:sp>
        <p:nvSpPr>
          <p:cNvPr id="16387" name="내용 개체 틀 2">
            <a:extLst>
              <a:ext uri="{FF2B5EF4-FFF2-40B4-BE49-F238E27FC236}">
                <a16:creationId xmlns:a16="http://schemas.microsoft.com/office/drawing/2014/main" id="{A019C3D6-C2D1-4366-A6CF-2FD12BD7DD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1241" y="1442737"/>
            <a:ext cx="11199065" cy="1842247"/>
          </a:xfrm>
        </p:spPr>
        <p:txBody>
          <a:bodyPr/>
          <a:lstStyle/>
          <a:p>
            <a:pPr eaLnBrk="1" latinLnBrk="0" hangingPunct="1">
              <a:buFont typeface="Wingdings" panose="05000000000000000000" pitchFamily="2" charset="2"/>
              <a:buChar char="§"/>
              <a:defRPr/>
            </a:pPr>
            <a:r>
              <a:rPr lang="ko-KR" altLang="en-US" sz="2000" b="0" dirty="0"/>
              <a:t>브랜드 심벌로 애니메이션 또는 살아 있는 인물로 표현되며 브랜드 이미지를 전달</a:t>
            </a:r>
            <a:endParaRPr lang="en-US" altLang="ko-KR" sz="2000" b="0" dirty="0"/>
          </a:p>
          <a:p>
            <a:pPr lvl="1" eaLnBrk="1" latinLnBrk="0" hangingPunct="1">
              <a:buFont typeface="Wingdings" panose="05000000000000000000" pitchFamily="2" charset="2"/>
              <a:buChar char="§"/>
              <a:defRPr/>
            </a:pPr>
            <a:r>
              <a:rPr lang="ko-KR" altLang="en-US" sz="1800" dirty="0"/>
              <a:t>브랜드 </a:t>
            </a:r>
            <a:r>
              <a:rPr lang="ko-KR" altLang="en-US" sz="1800" dirty="0" err="1"/>
              <a:t>인지시</a:t>
            </a:r>
            <a:r>
              <a:rPr lang="ko-KR" altLang="en-US" sz="1800" dirty="0"/>
              <a:t> 유용</a:t>
            </a:r>
            <a:r>
              <a:rPr lang="en-US" altLang="ko-KR" sz="1800" dirty="0"/>
              <a:t>, </a:t>
            </a:r>
            <a:r>
              <a:rPr lang="ko-KR" altLang="en-US" sz="1800" dirty="0" err="1"/>
              <a:t>비제품</a:t>
            </a:r>
            <a:r>
              <a:rPr lang="ko-KR" altLang="en-US" sz="1800" dirty="0"/>
              <a:t> 관련 이미지와 브랜드 개성을 나타내는 데 활용</a:t>
            </a:r>
          </a:p>
          <a:p>
            <a:pPr lvl="1" eaLnBrk="1" latinLnBrk="0" hangingPunct="1">
              <a:buFont typeface="Wingdings" panose="05000000000000000000" pitchFamily="2" charset="2"/>
              <a:buChar char="§"/>
              <a:defRPr/>
            </a:pPr>
            <a:r>
              <a:rPr lang="ko-KR" altLang="en-US" sz="1800" dirty="0"/>
              <a:t>이미지와 특성이 목표시장에 적합하도록 계속해서 새롭게 리뉴얼</a:t>
            </a:r>
          </a:p>
          <a:p>
            <a:pPr lvl="1" eaLnBrk="1" latinLnBrk="0" hangingPunct="1">
              <a:buFont typeface="Wingdings" panose="05000000000000000000" pitchFamily="2" charset="2"/>
              <a:buChar char="§"/>
              <a:defRPr/>
            </a:pPr>
            <a:r>
              <a:rPr lang="ko-KR" altLang="en-US" sz="1800" dirty="0"/>
              <a:t>전이성은 다소 제한적이나 법적 보호 가능성은 높음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92776B95-4E86-4020-A437-96E28A19E8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4547" y="3429000"/>
            <a:ext cx="7474230" cy="2784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463865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제목 1">
            <a:extLst>
              <a:ext uri="{FF2B5EF4-FFF2-40B4-BE49-F238E27FC236}">
                <a16:creationId xmlns:a16="http://schemas.microsoft.com/office/drawing/2014/main" id="{AAC64C6C-76C3-4D55-B2B6-B0463875E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9698037" cy="563563"/>
          </a:xfrm>
        </p:spPr>
        <p:txBody>
          <a:bodyPr/>
          <a:lstStyle/>
          <a:p>
            <a:pPr eaLnBrk="1" latinLnBrk="0" hangingPunct="1"/>
            <a:r>
              <a:rPr lang="en-US" altLang="ko-KR" dirty="0"/>
              <a:t>5) </a:t>
            </a:r>
            <a:r>
              <a:rPr lang="ko-KR" altLang="en-US" dirty="0"/>
              <a:t>브랜드 아이덴티티 실행요소 개발 </a:t>
            </a:r>
            <a:r>
              <a:rPr lang="en-US" altLang="ko-KR" dirty="0"/>
              <a:t>– </a:t>
            </a:r>
            <a:r>
              <a:rPr lang="ko-KR" altLang="en-US" dirty="0">
                <a:solidFill>
                  <a:srgbClr val="FFC000"/>
                </a:solidFill>
              </a:rPr>
              <a:t>캐릭터</a:t>
            </a:r>
            <a:r>
              <a:rPr lang="ko-KR" altLang="en-US" dirty="0">
                <a:solidFill>
                  <a:srgbClr val="FFFF00"/>
                </a:solidFill>
              </a:rPr>
              <a:t> </a:t>
            </a:r>
            <a:endParaRPr lang="ko-KR" altLang="en-US" sz="2000" dirty="0">
              <a:solidFill>
                <a:srgbClr val="FFFF00"/>
              </a:solidFill>
            </a:endParaRPr>
          </a:p>
        </p:txBody>
      </p:sp>
      <p:sp>
        <p:nvSpPr>
          <p:cNvPr id="16387" name="내용 개체 틀 2">
            <a:extLst>
              <a:ext uri="{FF2B5EF4-FFF2-40B4-BE49-F238E27FC236}">
                <a16:creationId xmlns:a16="http://schemas.microsoft.com/office/drawing/2014/main" id="{A019C3D6-C2D1-4366-A6CF-2FD12BD7DD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1241" y="1442737"/>
            <a:ext cx="11199065" cy="1842247"/>
          </a:xfrm>
        </p:spPr>
        <p:txBody>
          <a:bodyPr/>
          <a:lstStyle/>
          <a:p>
            <a:pPr eaLnBrk="1" latinLnBrk="0" hangingPunct="1">
              <a:buFont typeface="Wingdings" panose="05000000000000000000" pitchFamily="2" charset="2"/>
              <a:buChar char="§"/>
              <a:defRPr/>
            </a:pPr>
            <a:r>
              <a:rPr lang="ko-KR" altLang="en-US" sz="2000" b="0" dirty="0"/>
              <a:t>캐릭터는 시간이 지나면 </a:t>
            </a:r>
            <a:r>
              <a:rPr lang="ko-KR" altLang="en-US" sz="2000" b="0" dirty="0" err="1"/>
              <a:t>올드한</a:t>
            </a:r>
            <a:r>
              <a:rPr lang="ko-KR" altLang="en-US" sz="2000" b="0" dirty="0"/>
              <a:t> 이미지가 생기게 되므로 정기적인 리뉴얼이 필요</a:t>
            </a:r>
            <a:endParaRPr lang="en-US" altLang="ko-KR" sz="2000" b="0" dirty="0"/>
          </a:p>
          <a:p>
            <a:pPr eaLnBrk="1" latinLnBrk="0" hangingPunct="1">
              <a:buFont typeface="Wingdings" panose="05000000000000000000" pitchFamily="2" charset="2"/>
              <a:buChar char="§"/>
              <a:defRPr/>
            </a:pPr>
            <a:r>
              <a:rPr lang="ko-KR" altLang="en-US" sz="2000" b="0" dirty="0"/>
              <a:t>대표적인 사례로 </a:t>
            </a:r>
            <a:r>
              <a:rPr lang="en-US" altLang="ko-KR" sz="2000" b="0" dirty="0"/>
              <a:t>KFC</a:t>
            </a:r>
            <a:r>
              <a:rPr lang="ko-KR" altLang="en-US" sz="2000" b="0" dirty="0"/>
              <a:t>를 들 수 있으며</a:t>
            </a:r>
            <a:r>
              <a:rPr lang="en-US" altLang="ko-KR" sz="2000" b="0" dirty="0"/>
              <a:t>, </a:t>
            </a:r>
            <a:r>
              <a:rPr lang="ko-KR" altLang="en-US" sz="2000" b="0" dirty="0"/>
              <a:t>최근에는 커널 </a:t>
            </a:r>
            <a:r>
              <a:rPr lang="ko-KR" altLang="en-US" sz="2000" b="0" dirty="0" err="1"/>
              <a:t>샌더스를</a:t>
            </a:r>
            <a:r>
              <a:rPr lang="ko-KR" altLang="en-US" sz="2000" b="0" dirty="0"/>
              <a:t> 가상의 </a:t>
            </a:r>
            <a:r>
              <a:rPr lang="ko-KR" altLang="en-US" sz="2000" b="0" dirty="0" err="1"/>
              <a:t>인스타그램</a:t>
            </a:r>
            <a:r>
              <a:rPr lang="ko-KR" altLang="en-US" sz="2000" b="0" dirty="0"/>
              <a:t> </a:t>
            </a:r>
            <a:r>
              <a:rPr lang="ko-KR" altLang="en-US" sz="2000" b="0" dirty="0" err="1"/>
              <a:t>인플루언서로</a:t>
            </a:r>
            <a:r>
              <a:rPr lang="ko-KR" altLang="en-US" sz="2000" b="0" dirty="0"/>
              <a:t> 등장시키는 기발한 패러디 마케팅으로 젊은 세대들과 혁신적으로 소통하며 큰 호응을 얻음 </a:t>
            </a:r>
            <a:endParaRPr lang="en-US" altLang="ko-KR" sz="2000" b="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BB1DFC3-C5E5-4AF2-9CED-F7F0186754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053" y="3160058"/>
            <a:ext cx="6035394" cy="2442882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B10E1B6E-64CA-483A-8E55-A43A49F723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8999" y="3243812"/>
            <a:ext cx="3876675" cy="2400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205980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제목 1">
            <a:extLst>
              <a:ext uri="{FF2B5EF4-FFF2-40B4-BE49-F238E27FC236}">
                <a16:creationId xmlns:a16="http://schemas.microsoft.com/office/drawing/2014/main" id="{AAC64C6C-76C3-4D55-B2B6-B0463875E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9698037" cy="563563"/>
          </a:xfrm>
        </p:spPr>
        <p:txBody>
          <a:bodyPr/>
          <a:lstStyle/>
          <a:p>
            <a:pPr eaLnBrk="1" latinLnBrk="0" hangingPunct="1"/>
            <a:r>
              <a:rPr lang="en-US" altLang="ko-KR" dirty="0"/>
              <a:t>5) </a:t>
            </a:r>
            <a:r>
              <a:rPr lang="ko-KR" altLang="en-US" dirty="0"/>
              <a:t>브랜드 아이덴티티 실행요소 개발 </a:t>
            </a:r>
            <a:r>
              <a:rPr lang="en-US" altLang="ko-KR" dirty="0"/>
              <a:t>– </a:t>
            </a:r>
            <a:r>
              <a:rPr lang="ko-KR" altLang="en-US" dirty="0">
                <a:solidFill>
                  <a:srgbClr val="FFC000"/>
                </a:solidFill>
              </a:rPr>
              <a:t>컬러</a:t>
            </a:r>
            <a:r>
              <a:rPr lang="ko-KR" altLang="en-US" dirty="0">
                <a:solidFill>
                  <a:srgbClr val="FFFF00"/>
                </a:solidFill>
              </a:rPr>
              <a:t> </a:t>
            </a:r>
            <a:endParaRPr lang="ko-KR" altLang="en-US" sz="2000" dirty="0">
              <a:solidFill>
                <a:srgbClr val="FFFF00"/>
              </a:solidFill>
            </a:endParaRPr>
          </a:p>
        </p:txBody>
      </p:sp>
      <p:sp>
        <p:nvSpPr>
          <p:cNvPr id="16387" name="내용 개체 틀 2">
            <a:extLst>
              <a:ext uri="{FF2B5EF4-FFF2-40B4-BE49-F238E27FC236}">
                <a16:creationId xmlns:a16="http://schemas.microsoft.com/office/drawing/2014/main" id="{A019C3D6-C2D1-4366-A6CF-2FD12BD7DD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1241" y="1442737"/>
            <a:ext cx="11199065" cy="1842247"/>
          </a:xfrm>
        </p:spPr>
        <p:txBody>
          <a:bodyPr/>
          <a:lstStyle/>
          <a:p>
            <a:pPr eaLnBrk="1" latinLnBrk="0" hangingPunct="1">
              <a:buFont typeface="Wingdings" panose="05000000000000000000" pitchFamily="2" charset="2"/>
              <a:buChar char="§"/>
              <a:defRPr/>
            </a:pPr>
            <a:r>
              <a:rPr lang="ko-KR" altLang="en-US" sz="2000" b="0" dirty="0"/>
              <a:t>브랜드 컬러는 감성시대에 브랜드 중요 요소로 인식되며 브랜드 첫인상과 호감에 영향 미침</a:t>
            </a:r>
          </a:p>
          <a:p>
            <a:pPr eaLnBrk="1" latinLnBrk="0" hangingPunct="1">
              <a:buFont typeface="Wingdings" panose="05000000000000000000" pitchFamily="2" charset="2"/>
              <a:buChar char="§"/>
              <a:defRPr/>
            </a:pPr>
            <a:r>
              <a:rPr lang="ko-KR" altLang="en-US" sz="2000" b="0" dirty="0"/>
              <a:t>브랜드 아이덴티티를 </a:t>
            </a:r>
            <a:r>
              <a:rPr lang="ko-KR" altLang="en-US" sz="2000" b="0" dirty="0" err="1"/>
              <a:t>강화시키거나</a:t>
            </a:r>
            <a:r>
              <a:rPr lang="ko-KR" altLang="en-US" sz="2000" b="0" dirty="0"/>
              <a:t> 커뮤니케이션 하는 데 중요하게 작용</a:t>
            </a:r>
          </a:p>
          <a:p>
            <a:pPr eaLnBrk="1" latinLnBrk="0" hangingPunct="1">
              <a:buFont typeface="Wingdings" panose="05000000000000000000" pitchFamily="2" charset="2"/>
              <a:buChar char="§"/>
              <a:defRPr/>
            </a:pPr>
            <a:r>
              <a:rPr lang="ko-KR" altLang="en-US" sz="2000" b="0" dirty="0"/>
              <a:t>제품 자체에 대한 인지도에도 영향을 미침</a:t>
            </a:r>
            <a:endParaRPr lang="en-US" altLang="ko-KR" sz="2000" b="0" dirty="0"/>
          </a:p>
          <a:p>
            <a:pPr lvl="1" eaLnBrk="1" latinLnBrk="0" hangingPunct="1">
              <a:buFont typeface="Wingdings" panose="05000000000000000000" pitchFamily="2" charset="2"/>
              <a:buChar char="§"/>
              <a:defRPr/>
            </a:pPr>
            <a:r>
              <a:rPr lang="ko-KR" altLang="en-US" sz="1800" b="0" dirty="0"/>
              <a:t>패스트푸드는 케첩과 </a:t>
            </a:r>
            <a:r>
              <a:rPr lang="ko-KR" altLang="en-US" sz="1800" b="0" dirty="0" err="1"/>
              <a:t>머스터드소스가</a:t>
            </a:r>
            <a:r>
              <a:rPr lang="ko-KR" altLang="en-US" sz="1800" b="0" dirty="0"/>
              <a:t> 연상되는 붉은 색과 노란색을 주로 많이 사용</a:t>
            </a:r>
            <a:endParaRPr lang="en-US" altLang="ko-KR" sz="1800" b="0" dirty="0"/>
          </a:p>
          <a:p>
            <a:pPr lvl="1" eaLnBrk="1" latinLnBrk="0" hangingPunct="1">
              <a:buFont typeface="Wingdings" panose="05000000000000000000" pitchFamily="2" charset="2"/>
              <a:buChar char="§"/>
              <a:defRPr/>
            </a:pPr>
            <a:r>
              <a:rPr lang="ko-KR" altLang="en-US" sz="1800" b="0" dirty="0"/>
              <a:t>파리바게트의 파란색은 세련되고 미래지향적인 이미지를 잘 전달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317B32B4-B0C0-4347-A571-2D9768DE9E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9185" y="3429000"/>
            <a:ext cx="10163175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63536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제목 1">
            <a:extLst>
              <a:ext uri="{FF2B5EF4-FFF2-40B4-BE49-F238E27FC236}">
                <a16:creationId xmlns:a16="http://schemas.microsoft.com/office/drawing/2014/main" id="{AAC64C6C-76C3-4D55-B2B6-B0463875E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9698037" cy="563563"/>
          </a:xfrm>
        </p:spPr>
        <p:txBody>
          <a:bodyPr/>
          <a:lstStyle/>
          <a:p>
            <a:pPr eaLnBrk="1" latinLnBrk="0" hangingPunct="1"/>
            <a:r>
              <a:rPr lang="en-US" altLang="ko-KR" dirty="0"/>
              <a:t>5) </a:t>
            </a:r>
            <a:r>
              <a:rPr lang="ko-KR" altLang="en-US" dirty="0"/>
              <a:t>브랜드 아이덴티티 실행요소 개발 </a:t>
            </a:r>
            <a:r>
              <a:rPr lang="en-US" altLang="ko-KR" dirty="0"/>
              <a:t>– </a:t>
            </a:r>
            <a:r>
              <a:rPr lang="ko-KR" altLang="en-US" dirty="0">
                <a:solidFill>
                  <a:srgbClr val="FFC000"/>
                </a:solidFill>
              </a:rPr>
              <a:t>서체</a:t>
            </a:r>
            <a:r>
              <a:rPr lang="ko-KR" altLang="en-US" dirty="0">
                <a:solidFill>
                  <a:srgbClr val="FFFF00"/>
                </a:solidFill>
              </a:rPr>
              <a:t> </a:t>
            </a:r>
            <a:endParaRPr lang="ko-KR" altLang="en-US" sz="2000" dirty="0">
              <a:solidFill>
                <a:srgbClr val="FFFF00"/>
              </a:solidFill>
            </a:endParaRPr>
          </a:p>
        </p:txBody>
      </p:sp>
      <p:sp>
        <p:nvSpPr>
          <p:cNvPr id="16387" name="내용 개체 틀 2">
            <a:extLst>
              <a:ext uri="{FF2B5EF4-FFF2-40B4-BE49-F238E27FC236}">
                <a16:creationId xmlns:a16="http://schemas.microsoft.com/office/drawing/2014/main" id="{A019C3D6-C2D1-4366-A6CF-2FD12BD7DD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1241" y="1442737"/>
            <a:ext cx="11199065" cy="1842247"/>
          </a:xfrm>
        </p:spPr>
        <p:txBody>
          <a:bodyPr/>
          <a:lstStyle/>
          <a:p>
            <a:pPr eaLnBrk="1" latinLnBrk="0" hangingPunct="1">
              <a:buFont typeface="Wingdings" panose="05000000000000000000" pitchFamily="2" charset="2"/>
              <a:buChar char="§"/>
              <a:defRPr/>
            </a:pPr>
            <a:r>
              <a:rPr lang="ko-KR" altLang="en-US" sz="2000" b="0" dirty="0"/>
              <a:t>브랜드 이미지에 따라 브랜드 전용 서체를 사용</a:t>
            </a:r>
          </a:p>
          <a:p>
            <a:pPr eaLnBrk="1" latinLnBrk="0" hangingPunct="1">
              <a:buFont typeface="Wingdings" panose="05000000000000000000" pitchFamily="2" charset="2"/>
              <a:buChar char="§"/>
              <a:defRPr/>
            </a:pPr>
            <a:r>
              <a:rPr lang="ko-KR" altLang="en-US" sz="2000" b="0" dirty="0"/>
              <a:t>브랜드가 가진 고유한 서체만으로도 해당 브랜드를 쉽게 연상시키며</a:t>
            </a:r>
            <a:r>
              <a:rPr lang="en-US" altLang="ko-KR" sz="2000" b="0" dirty="0"/>
              <a:t>, </a:t>
            </a:r>
            <a:r>
              <a:rPr lang="ko-KR" altLang="en-US" sz="2000" b="0" dirty="0"/>
              <a:t>동시에 홍보 효과 가져옴</a:t>
            </a:r>
            <a:endParaRPr lang="en-US" altLang="ko-KR" sz="2000" b="0" dirty="0"/>
          </a:p>
          <a:p>
            <a:pPr eaLnBrk="1" latinLnBrk="0" hangingPunct="1">
              <a:buFont typeface="Wingdings" panose="05000000000000000000" pitchFamily="2" charset="2"/>
              <a:buChar char="§"/>
              <a:defRPr/>
            </a:pPr>
            <a:r>
              <a:rPr lang="ko-KR" altLang="en-US" sz="2000" b="0" dirty="0"/>
              <a:t>전용 서체는 가장 친근한 시선에서 고객과 직관적으로 소통하는 효과적인 브랜딩 방법 중 하나</a:t>
            </a:r>
            <a:endParaRPr lang="ko-KR" altLang="en-US" sz="1800" b="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A2B6612-68E9-482C-A05E-3AE2AE3418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9517" y="2922637"/>
            <a:ext cx="8355900" cy="1721042"/>
          </a:xfrm>
          <a:prstGeom prst="rect">
            <a:avLst/>
          </a:prstGeom>
        </p:spPr>
      </p:pic>
      <p:pic>
        <p:nvPicPr>
          <p:cNvPr id="6" name="_x98083664" descr="DRW000012ec785e">
            <a:extLst>
              <a:ext uri="{FF2B5EF4-FFF2-40B4-BE49-F238E27FC236}">
                <a16:creationId xmlns:a16="http://schemas.microsoft.com/office/drawing/2014/main" id="{B3733645-D4B6-4175-B5D5-11E868C077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356602" y="4864096"/>
            <a:ext cx="8503704" cy="1102332"/>
          </a:xfrm>
          <a:prstGeom prst="rect">
            <a:avLst/>
          </a:prstGeom>
          <a:noFill/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32AFB068-02EE-4505-8A07-48CC622F26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660" y="4587344"/>
            <a:ext cx="2897715" cy="1655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1485914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제목 1">
            <a:extLst>
              <a:ext uri="{FF2B5EF4-FFF2-40B4-BE49-F238E27FC236}">
                <a16:creationId xmlns:a16="http://schemas.microsoft.com/office/drawing/2014/main" id="{AAC64C6C-76C3-4D55-B2B6-B0463875E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9698037" cy="563563"/>
          </a:xfrm>
        </p:spPr>
        <p:txBody>
          <a:bodyPr/>
          <a:lstStyle/>
          <a:p>
            <a:pPr eaLnBrk="1" latinLnBrk="0" hangingPunct="1"/>
            <a:r>
              <a:rPr lang="en-US" altLang="ko-KR" dirty="0"/>
              <a:t>5) </a:t>
            </a:r>
            <a:r>
              <a:rPr lang="ko-KR" altLang="en-US" dirty="0"/>
              <a:t>브랜드 아이덴티티 실행요소 개발 </a:t>
            </a:r>
            <a:r>
              <a:rPr lang="en-US" altLang="ko-KR" dirty="0"/>
              <a:t>– </a:t>
            </a:r>
            <a:r>
              <a:rPr lang="ko-KR" altLang="en-US" dirty="0">
                <a:solidFill>
                  <a:srgbClr val="FFC000"/>
                </a:solidFill>
              </a:rPr>
              <a:t>패키지</a:t>
            </a:r>
            <a:r>
              <a:rPr lang="ko-KR" altLang="en-US" dirty="0">
                <a:solidFill>
                  <a:srgbClr val="FFFF00"/>
                </a:solidFill>
              </a:rPr>
              <a:t> </a:t>
            </a:r>
            <a:endParaRPr lang="ko-KR" altLang="en-US" sz="2000" dirty="0">
              <a:solidFill>
                <a:srgbClr val="FFFF00"/>
              </a:solidFill>
            </a:endParaRPr>
          </a:p>
        </p:txBody>
      </p:sp>
      <p:sp>
        <p:nvSpPr>
          <p:cNvPr id="16387" name="내용 개체 틀 2">
            <a:extLst>
              <a:ext uri="{FF2B5EF4-FFF2-40B4-BE49-F238E27FC236}">
                <a16:creationId xmlns:a16="http://schemas.microsoft.com/office/drawing/2014/main" id="{A019C3D6-C2D1-4366-A6CF-2FD12BD7DD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1241" y="1442737"/>
            <a:ext cx="11199065" cy="1842247"/>
          </a:xfrm>
        </p:spPr>
        <p:txBody>
          <a:bodyPr/>
          <a:lstStyle/>
          <a:p>
            <a:pPr eaLnBrk="1" latinLnBrk="0" hangingPunct="1">
              <a:buFont typeface="Wingdings" panose="05000000000000000000" pitchFamily="2" charset="2"/>
              <a:buChar char="§"/>
              <a:defRPr/>
            </a:pPr>
            <a:r>
              <a:rPr lang="ko-KR" altLang="en-US" sz="2000" b="0" dirty="0"/>
              <a:t>특정 브랜드를 식별할 수 있도록 도움을 주는 시각적 브랜드 요소 </a:t>
            </a:r>
            <a:endParaRPr lang="en-US" altLang="ko-KR" sz="2000" b="0" dirty="0"/>
          </a:p>
          <a:p>
            <a:pPr lvl="1" eaLnBrk="1" latinLnBrk="0" hangingPunct="1">
              <a:buFont typeface="Wingdings" panose="05000000000000000000" pitchFamily="2" charset="2"/>
              <a:buChar char="§"/>
              <a:defRPr/>
            </a:pPr>
            <a:r>
              <a:rPr lang="ko-KR" altLang="en-US" sz="1800" b="0" dirty="0"/>
              <a:t>이미지 차별화 수단으로 활용</a:t>
            </a:r>
            <a:r>
              <a:rPr lang="en-US" altLang="ko-KR" sz="1800" b="0" dirty="0"/>
              <a:t>, </a:t>
            </a:r>
            <a:r>
              <a:rPr lang="ko-KR" altLang="en-US" sz="1800" b="0" dirty="0"/>
              <a:t>말 없는 세일즈맨</a:t>
            </a:r>
          </a:p>
          <a:p>
            <a:pPr lvl="1" eaLnBrk="1" latinLnBrk="0" hangingPunct="1">
              <a:buFont typeface="Wingdings" panose="05000000000000000000" pitchFamily="2" charset="2"/>
              <a:buChar char="§"/>
              <a:defRPr/>
            </a:pPr>
            <a:r>
              <a:rPr lang="ko-KR" altLang="en-US" sz="1800" b="0" dirty="0"/>
              <a:t>브랜드 연상을 강화</a:t>
            </a:r>
            <a:r>
              <a:rPr lang="en-US" altLang="ko-KR" sz="1800" b="0" dirty="0"/>
              <a:t>, </a:t>
            </a:r>
            <a:r>
              <a:rPr lang="ko-KR" altLang="en-US" sz="1800" b="0" dirty="0"/>
              <a:t>의미 </a:t>
            </a:r>
            <a:r>
              <a:rPr lang="ko-KR" altLang="en-US" sz="1800" b="0" dirty="0" err="1"/>
              <a:t>전달력</a:t>
            </a:r>
            <a:r>
              <a:rPr lang="ko-KR" altLang="en-US" sz="1800" b="0" dirty="0"/>
              <a:t> 및 </a:t>
            </a:r>
            <a:r>
              <a:rPr lang="ko-KR" altLang="en-US" sz="1800" b="0" dirty="0" err="1"/>
              <a:t>전이성</a:t>
            </a:r>
            <a:r>
              <a:rPr lang="ko-KR" altLang="en-US" sz="1800" b="0" dirty="0"/>
              <a:t> 우수</a:t>
            </a:r>
          </a:p>
          <a:p>
            <a:pPr lvl="1" eaLnBrk="1" latinLnBrk="0" hangingPunct="1">
              <a:buFont typeface="Wingdings" panose="05000000000000000000" pitchFamily="2" charset="2"/>
              <a:buChar char="§"/>
              <a:defRPr/>
            </a:pPr>
            <a:r>
              <a:rPr lang="ko-KR" altLang="en-US" sz="1800" b="0" dirty="0"/>
              <a:t>쉽게 모방될 수 있는 단점</a:t>
            </a:r>
          </a:p>
          <a:p>
            <a:pPr lvl="1" eaLnBrk="1" latinLnBrk="0" hangingPunct="1">
              <a:buFont typeface="Wingdings" panose="05000000000000000000" pitchFamily="2" charset="2"/>
              <a:buChar char="§"/>
              <a:defRPr/>
            </a:pPr>
            <a:r>
              <a:rPr lang="ko-KR" altLang="en-US" sz="1800" b="0" dirty="0"/>
              <a:t>패키지 디자인의 </a:t>
            </a:r>
            <a:r>
              <a:rPr lang="en-US" altLang="ko-KR" sz="1800" b="0" dirty="0"/>
              <a:t>7</a:t>
            </a:r>
            <a:r>
              <a:rPr lang="ko-KR" altLang="en-US" sz="1800" b="0" dirty="0"/>
              <a:t>대 구성요소 </a:t>
            </a:r>
            <a:r>
              <a:rPr lang="en-US" altLang="ko-KR" sz="1800" b="0" dirty="0"/>
              <a:t>(</a:t>
            </a:r>
            <a:r>
              <a:rPr lang="ko-KR" altLang="en-US" sz="1800" b="0" dirty="0"/>
              <a:t>네이밍</a:t>
            </a:r>
            <a:r>
              <a:rPr lang="en-US" altLang="ko-KR" sz="1800" b="0" dirty="0"/>
              <a:t>, </a:t>
            </a:r>
            <a:r>
              <a:rPr lang="ko-KR" altLang="en-US" sz="1800" b="0" dirty="0"/>
              <a:t>로고</a:t>
            </a:r>
            <a:r>
              <a:rPr lang="en-US" altLang="ko-KR" sz="1800" b="0" dirty="0"/>
              <a:t>, </a:t>
            </a:r>
            <a:r>
              <a:rPr lang="ko-KR" altLang="en-US" sz="1800" dirty="0"/>
              <a:t>컬러</a:t>
            </a:r>
            <a:r>
              <a:rPr lang="en-US" altLang="ko-KR" sz="1800" b="0" dirty="0"/>
              <a:t>, </a:t>
            </a:r>
            <a:r>
              <a:rPr lang="ko-KR" altLang="en-US" sz="1800" b="0" dirty="0"/>
              <a:t>캐릭터</a:t>
            </a:r>
            <a:r>
              <a:rPr lang="en-US" altLang="ko-KR" sz="1800" b="0" dirty="0"/>
              <a:t>, </a:t>
            </a:r>
            <a:r>
              <a:rPr lang="ko-KR" altLang="en-US" sz="1800" b="0" dirty="0"/>
              <a:t>서체</a:t>
            </a:r>
            <a:r>
              <a:rPr lang="en-US" altLang="ko-KR" sz="1800" b="0" dirty="0"/>
              <a:t>, </a:t>
            </a:r>
            <a:r>
              <a:rPr lang="ko-KR" altLang="en-US" sz="1800" b="0" dirty="0"/>
              <a:t>레이아웃</a:t>
            </a:r>
            <a:r>
              <a:rPr lang="en-US" altLang="ko-KR" sz="1800" b="0" dirty="0"/>
              <a:t>, </a:t>
            </a:r>
            <a:r>
              <a:rPr lang="ko-KR" altLang="en-US" sz="1800" b="0" dirty="0"/>
              <a:t>일러스트레이션</a:t>
            </a:r>
            <a:r>
              <a:rPr lang="en-US" altLang="ko-KR" sz="1800" b="0" dirty="0"/>
              <a:t>)</a:t>
            </a:r>
            <a:endParaRPr lang="ko-KR" altLang="en-US" sz="2000" b="0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04A8CF6B-29CC-4210-B9CE-411FC1E7A5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7899" y="3573017"/>
            <a:ext cx="2555501" cy="2555501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3E1F710E-D91D-43BB-A8DB-41D35F9EE4E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4528"/>
          <a:stretch/>
        </p:blipFill>
        <p:spPr>
          <a:xfrm>
            <a:off x="1281954" y="3334109"/>
            <a:ext cx="3429000" cy="293082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F718B96-F15A-47CF-9F3D-22A628A9A23D}"/>
              </a:ext>
            </a:extLst>
          </p:cNvPr>
          <p:cNvSpPr txBox="1"/>
          <p:nvPr/>
        </p:nvSpPr>
        <p:spPr>
          <a:xfrm>
            <a:off x="5361328" y="6416550"/>
            <a:ext cx="14077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&lt;</a:t>
            </a:r>
            <a:r>
              <a:rPr lang="ko-KR" altLang="en-US" dirty="0" err="1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노티드</a:t>
            </a:r>
            <a:r>
              <a:rPr lang="ko-KR" altLang="en-US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 도넛</a:t>
            </a:r>
            <a:r>
              <a:rPr lang="en-US" altLang="ko-KR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&gt;</a:t>
            </a:r>
            <a:endParaRPr lang="ko-KR" altLang="en-US" dirty="0">
              <a:latin typeface="서울남산 장체 M" panose="02020503020101020101" pitchFamily="18" charset="-127"/>
              <a:ea typeface="서울남산 장체 M" panose="02020503020101020101" pitchFamily="18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D4D87ADA-8BB4-4C34-B3A0-07A35BC379B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29608"/>
          <a:stretch/>
        </p:blipFill>
        <p:spPr>
          <a:xfrm>
            <a:off x="4938126" y="3334109"/>
            <a:ext cx="2775712" cy="293082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3534724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제목 1">
            <a:extLst>
              <a:ext uri="{FF2B5EF4-FFF2-40B4-BE49-F238E27FC236}">
                <a16:creationId xmlns:a16="http://schemas.microsoft.com/office/drawing/2014/main" id="{AAC64C6C-76C3-4D55-B2B6-B0463875E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9698037" cy="563563"/>
          </a:xfrm>
        </p:spPr>
        <p:txBody>
          <a:bodyPr/>
          <a:lstStyle/>
          <a:p>
            <a:pPr eaLnBrk="1" latinLnBrk="0" hangingPunct="1"/>
            <a:r>
              <a:rPr lang="en-US" altLang="ko-KR" dirty="0"/>
              <a:t>5) </a:t>
            </a:r>
            <a:r>
              <a:rPr lang="ko-KR" altLang="en-US" dirty="0"/>
              <a:t>브랜드 아이덴티티 실행요소 개발 </a:t>
            </a:r>
            <a:r>
              <a:rPr lang="en-US" altLang="ko-KR" dirty="0"/>
              <a:t>– </a:t>
            </a:r>
            <a:r>
              <a:rPr lang="ko-KR" altLang="en-US" dirty="0">
                <a:solidFill>
                  <a:srgbClr val="FFC000"/>
                </a:solidFill>
              </a:rPr>
              <a:t>징글</a:t>
            </a:r>
            <a:r>
              <a:rPr lang="ko-KR" altLang="en-US" dirty="0">
                <a:solidFill>
                  <a:srgbClr val="FFFF00"/>
                </a:solidFill>
              </a:rPr>
              <a:t> </a:t>
            </a:r>
            <a:endParaRPr lang="ko-KR" altLang="en-US" sz="2000" dirty="0">
              <a:solidFill>
                <a:srgbClr val="FFFF00"/>
              </a:solidFill>
            </a:endParaRPr>
          </a:p>
        </p:txBody>
      </p:sp>
      <p:sp>
        <p:nvSpPr>
          <p:cNvPr id="16387" name="내용 개체 틀 2">
            <a:extLst>
              <a:ext uri="{FF2B5EF4-FFF2-40B4-BE49-F238E27FC236}">
                <a16:creationId xmlns:a16="http://schemas.microsoft.com/office/drawing/2014/main" id="{A019C3D6-C2D1-4366-A6CF-2FD12BD7DD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1241" y="1442737"/>
            <a:ext cx="11199065" cy="1842247"/>
          </a:xfrm>
        </p:spPr>
        <p:txBody>
          <a:bodyPr/>
          <a:lstStyle/>
          <a:p>
            <a:pPr eaLnBrk="1" latinLnBrk="0" hangingPunct="1">
              <a:buFont typeface="Wingdings" panose="05000000000000000000" pitchFamily="2" charset="2"/>
              <a:buChar char="§"/>
              <a:defRPr/>
            </a:pPr>
            <a:r>
              <a:rPr lang="ko-KR" altLang="en-US" sz="2000" b="0" dirty="0"/>
              <a:t>소비자나 대중에게 브랜드를 알리려는 음악적 전달 수단</a:t>
            </a:r>
            <a:endParaRPr lang="en-US" altLang="ko-KR" sz="2000" b="0" dirty="0"/>
          </a:p>
          <a:p>
            <a:pPr eaLnBrk="1" latinLnBrk="0" hangingPunct="1">
              <a:buFont typeface="Wingdings" panose="05000000000000000000" pitchFamily="2" charset="2"/>
              <a:buChar char="§"/>
              <a:defRPr/>
            </a:pPr>
            <a:r>
              <a:rPr lang="ko-KR" altLang="en-US" sz="2000" b="0" dirty="0"/>
              <a:t>오감 중 청각을 이용하여 멜로디나 효과음 등으로 소비자로 하여금 특정 브랜드를 떠올리게 하는 기법</a:t>
            </a:r>
            <a:endParaRPr lang="en-US" altLang="ko-KR" sz="2000" b="0" dirty="0"/>
          </a:p>
          <a:p>
            <a:pPr eaLnBrk="1" latinLnBrk="0" hangingPunct="1">
              <a:buFont typeface="Wingdings" panose="05000000000000000000" pitchFamily="2" charset="2"/>
              <a:buChar char="§"/>
              <a:defRPr/>
            </a:pPr>
            <a:r>
              <a:rPr lang="ko-KR" altLang="en-US" sz="2000" b="0" dirty="0"/>
              <a:t>브랜드나 상품의 이미지와 잘 맞게 만들어진 </a:t>
            </a:r>
            <a:r>
              <a:rPr lang="ko-KR" altLang="en-US" sz="2000" b="0" dirty="0" err="1"/>
              <a:t>징글의</a:t>
            </a:r>
            <a:r>
              <a:rPr lang="ko-KR" altLang="en-US" sz="2000" b="0" dirty="0"/>
              <a:t> 파급효과는 매우 높으며 오랫동안 소비자의 인식에 각인 될 수 있음</a:t>
            </a:r>
            <a:endParaRPr lang="en-US" altLang="ko-KR" sz="2000" b="0" dirty="0"/>
          </a:p>
          <a:p>
            <a:pPr lvl="1" eaLnBrk="1" latinLnBrk="0" hangingPunct="1">
              <a:buFont typeface="Wingdings" panose="05000000000000000000" pitchFamily="2" charset="2"/>
              <a:buChar char="§"/>
              <a:defRPr/>
            </a:pPr>
            <a:r>
              <a:rPr lang="ko-KR" altLang="en-US" sz="1800" b="0" dirty="0"/>
              <a:t>맥도날드의 </a:t>
            </a:r>
            <a:r>
              <a:rPr lang="en-US" altLang="ko-KR" sz="1800" b="0" dirty="0"/>
              <a:t>‘</a:t>
            </a:r>
            <a:r>
              <a:rPr lang="ko-KR" altLang="en-US" sz="1800" b="0" dirty="0" err="1"/>
              <a:t>빠라빠빠빠</a:t>
            </a:r>
            <a:r>
              <a:rPr lang="en-US" altLang="ko-KR" sz="1800" b="0" dirty="0"/>
              <a:t>~’</a:t>
            </a:r>
          </a:p>
          <a:p>
            <a:pPr lvl="1" eaLnBrk="1" latinLnBrk="0" hangingPunct="1">
              <a:buFont typeface="Wingdings" panose="05000000000000000000" pitchFamily="2" charset="2"/>
              <a:buChar char="§"/>
              <a:defRPr/>
            </a:pPr>
            <a:r>
              <a:rPr lang="ko-KR" altLang="en-US" sz="1800" b="0" dirty="0"/>
              <a:t>농심 </a:t>
            </a:r>
            <a:r>
              <a:rPr lang="ko-KR" altLang="en-US" sz="1800" b="0" dirty="0" err="1"/>
              <a:t>새우깡의</a:t>
            </a:r>
            <a:r>
              <a:rPr lang="ko-KR" altLang="en-US" sz="1800" b="0" dirty="0"/>
              <a:t> </a:t>
            </a:r>
            <a:r>
              <a:rPr lang="en-US" altLang="ko-KR" sz="1800" b="0" dirty="0"/>
              <a:t>‘</a:t>
            </a:r>
            <a:r>
              <a:rPr lang="ko-KR" altLang="en-US" sz="1800" b="0" dirty="0"/>
              <a:t>손이 가요 손이 가</a:t>
            </a:r>
            <a:r>
              <a:rPr lang="en-US" altLang="ko-KR" sz="1800" b="0" dirty="0"/>
              <a:t>~ </a:t>
            </a:r>
            <a:r>
              <a:rPr lang="ko-KR" altLang="en-US" sz="1800" b="0" dirty="0" err="1"/>
              <a:t>새우깡에</a:t>
            </a:r>
            <a:r>
              <a:rPr lang="ko-KR" altLang="en-US" sz="1800" b="0" dirty="0"/>
              <a:t> </a:t>
            </a:r>
            <a:r>
              <a:rPr lang="ko-KR" altLang="en-US" sz="1800" b="0" dirty="0" err="1"/>
              <a:t>손이가요</a:t>
            </a:r>
            <a:r>
              <a:rPr lang="en-US" altLang="ko-KR" sz="1800" b="0" dirty="0"/>
              <a:t>~’</a:t>
            </a:r>
          </a:p>
          <a:p>
            <a:pPr lvl="1" eaLnBrk="1" latinLnBrk="0" hangingPunct="1">
              <a:buFont typeface="Wingdings" panose="05000000000000000000" pitchFamily="2" charset="2"/>
              <a:buChar char="§"/>
              <a:defRPr/>
            </a:pPr>
            <a:r>
              <a:rPr lang="ko-KR" altLang="en-US" sz="1800" b="0" dirty="0"/>
              <a:t>하이마트의 </a:t>
            </a:r>
            <a:r>
              <a:rPr lang="en-US" altLang="ko-KR" sz="1800" b="0" dirty="0"/>
              <a:t>‘</a:t>
            </a:r>
            <a:r>
              <a:rPr lang="ko-KR" altLang="en-US" sz="1800" b="0" dirty="0"/>
              <a:t>하이 마트로 가요</a:t>
            </a:r>
            <a:r>
              <a:rPr lang="en-US" altLang="ko-KR" sz="1800" b="0" dirty="0"/>
              <a:t>~’</a:t>
            </a:r>
            <a:endParaRPr lang="en-US" altLang="ko-KR" sz="2000" b="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AADAE4C-E17F-43C1-863A-378BE13074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9032" y="4014787"/>
            <a:ext cx="3497461" cy="246221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694EF61E-C4C2-4CA9-858A-A1D09864A2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50773" y="4014787"/>
            <a:ext cx="3810000" cy="246221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1C3EACA-1395-4E4C-B3A6-4AC23714DC89}"/>
              </a:ext>
            </a:extLst>
          </p:cNvPr>
          <p:cNvSpPr txBox="1"/>
          <p:nvPr/>
        </p:nvSpPr>
        <p:spPr>
          <a:xfrm>
            <a:off x="661241" y="6477000"/>
            <a:ext cx="12811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*</a:t>
            </a:r>
            <a:r>
              <a:rPr lang="ko-KR" altLang="en-US" sz="1200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이미지 출처 </a:t>
            </a:r>
            <a:r>
              <a:rPr lang="en-US" altLang="ko-KR" sz="1200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: </a:t>
            </a:r>
            <a:r>
              <a:rPr lang="ko-KR" altLang="en-US" sz="1200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구글</a:t>
            </a:r>
          </a:p>
        </p:txBody>
      </p:sp>
    </p:spTree>
    <p:extLst>
      <p:ext uri="{BB962C8B-B14F-4D97-AF65-F5344CB8AC3E}">
        <p14:creationId xmlns:p14="http://schemas.microsoft.com/office/powerpoint/2010/main" val="274502362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텍스트 개체 틀 3">
            <a:extLst>
              <a:ext uri="{FF2B5EF4-FFF2-40B4-BE49-F238E27FC236}">
                <a16:creationId xmlns:a16="http://schemas.microsoft.com/office/drawing/2014/main" id="{55E0D41E-B433-48C0-8EF4-B71E6063E6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852738"/>
            <a:ext cx="10515600" cy="1500187"/>
          </a:xfrm>
        </p:spPr>
        <p:txBody>
          <a:bodyPr/>
          <a:lstStyle/>
          <a:p>
            <a:pPr eaLnBrk="1" latinLnBrk="0" hangingPunct="1"/>
            <a:r>
              <a:rPr lang="en-US" altLang="ko-KR" dirty="0"/>
              <a:t>4. </a:t>
            </a:r>
            <a:r>
              <a:rPr lang="ko-KR" altLang="en-US" dirty="0"/>
              <a:t>브랜드 </a:t>
            </a:r>
            <a:r>
              <a:rPr lang="ko-KR" altLang="en-US" dirty="0" err="1"/>
              <a:t>에쿼티</a:t>
            </a:r>
            <a:r>
              <a:rPr lang="ko-KR" altLang="en-US" dirty="0"/>
              <a:t> 관리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183A278-AE7F-4EE7-A955-038237BDDAEF}"/>
              </a:ext>
            </a:extLst>
          </p:cNvPr>
          <p:cNvSpPr/>
          <p:nvPr/>
        </p:nvSpPr>
        <p:spPr bwMode="auto">
          <a:xfrm>
            <a:off x="838200" y="4419600"/>
            <a:ext cx="10026650" cy="115888"/>
          </a:xfrm>
          <a:prstGeom prst="rect">
            <a:avLst/>
          </a:prstGeom>
          <a:solidFill>
            <a:schemeClr val="tx2"/>
          </a:solidFill>
          <a:ln w="952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latinLnBrk="0" hangingPunct="1">
              <a:defRPr/>
            </a:pPr>
            <a:endParaRPr lang="ko-KR" altLang="en-US"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굴림" panose="020B0600000101010101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67BB001-53F6-42C3-B73D-465A883C494D}"/>
              </a:ext>
            </a:extLst>
          </p:cNvPr>
          <p:cNvSpPr/>
          <p:nvPr/>
        </p:nvSpPr>
        <p:spPr bwMode="auto">
          <a:xfrm>
            <a:off x="10874375" y="4419600"/>
            <a:ext cx="1354138" cy="115888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latinLnBrk="0" hangingPunct="1">
              <a:defRPr/>
            </a:pPr>
            <a:endParaRPr lang="ko-KR" altLang="en-US"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488208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DAD7E5-525E-4CD1-AB82-3A85CDF30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latinLnBrk="0" hangingPunct="1"/>
            <a:r>
              <a:rPr lang="en-US" altLang="ko-KR" dirty="0"/>
              <a:t>4. </a:t>
            </a:r>
            <a:r>
              <a:rPr lang="ko-KR" altLang="en-US" dirty="0"/>
              <a:t>브랜드 </a:t>
            </a:r>
            <a:r>
              <a:rPr lang="ko-KR" altLang="en-US" dirty="0" err="1"/>
              <a:t>에쿼티</a:t>
            </a:r>
            <a:r>
              <a:rPr lang="ko-KR" altLang="en-US" dirty="0"/>
              <a:t> 관리</a:t>
            </a:r>
            <a:endParaRPr lang="ko-KR" altLang="en-US" sz="2000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F8C39FF-32C7-4ADC-8571-245DF068D5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4488" y="1076325"/>
            <a:ext cx="11847512" cy="5248275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/>
              <a:t> </a:t>
            </a:r>
            <a:r>
              <a:rPr lang="ko-KR" altLang="en-US" sz="2000" dirty="0"/>
              <a:t>브랜드 마케팅의 핵심은 브랜드 아이덴티티의 체계적인 관리를 통해 강력한 브랜드 </a:t>
            </a:r>
            <a:r>
              <a:rPr lang="ko-KR" altLang="en-US" sz="2000" dirty="0" err="1"/>
              <a:t>에쿼티</a:t>
            </a:r>
            <a:r>
              <a:rPr lang="ko-KR" altLang="en-US" sz="2000" dirty="0"/>
              <a:t> </a:t>
            </a:r>
            <a:r>
              <a:rPr lang="en-US" altLang="ko-KR" sz="2000" dirty="0"/>
              <a:t>(brand equity)</a:t>
            </a:r>
            <a:r>
              <a:rPr lang="ko-KR" altLang="en-US" sz="2000" dirty="0"/>
              <a:t>를 높이는 것</a:t>
            </a:r>
            <a:endParaRPr lang="en-US" altLang="ko-KR" sz="20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/>
              <a:t>브랜드 </a:t>
            </a:r>
            <a:r>
              <a:rPr lang="ko-KR" altLang="en-US" sz="2000" dirty="0" err="1"/>
              <a:t>에쿼티</a:t>
            </a:r>
            <a:r>
              <a:rPr lang="en-US" altLang="ko-KR" sz="2000" dirty="0"/>
              <a:t>(brand equity)</a:t>
            </a:r>
            <a:r>
              <a:rPr lang="ko-KR" altLang="en-US" sz="2000" dirty="0"/>
              <a:t>의 정의</a:t>
            </a:r>
            <a:endParaRPr lang="en-US" altLang="ko-KR" sz="20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ko-KR" altLang="en-US" sz="1800" dirty="0"/>
              <a:t>브랜드 네임이나 심벌과 연계되어 기업과 그 기업의 고객을 위한 제품이나 서비스와 관련된 브랜드 자산</a:t>
            </a:r>
            <a:r>
              <a:rPr lang="en-US" altLang="ko-KR" sz="1800" dirty="0"/>
              <a:t>(assets)</a:t>
            </a:r>
            <a:r>
              <a:rPr lang="ko-KR" altLang="en-US" sz="1800" dirty="0"/>
              <a:t>에서 브랜드 부채</a:t>
            </a:r>
            <a:r>
              <a:rPr lang="en-US" altLang="ko-KR" sz="1800" dirty="0"/>
              <a:t>(liabilities)</a:t>
            </a:r>
            <a:r>
              <a:rPr lang="ko-KR" altLang="en-US" sz="1800" dirty="0"/>
              <a:t>를 뺀 것</a:t>
            </a:r>
            <a:endParaRPr lang="en-US" altLang="ko-KR" sz="18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ko-KR" altLang="en-US" sz="1800" dirty="0"/>
              <a:t>소비자의 브랜드 지식으로서 </a:t>
            </a:r>
            <a:r>
              <a:rPr lang="en-US" altLang="ko-KR" sz="1800" dirty="0"/>
              <a:t>‘</a:t>
            </a:r>
            <a:r>
              <a:rPr lang="ko-KR" altLang="en-US" sz="1800" dirty="0"/>
              <a:t>지각된 품질‘</a:t>
            </a:r>
            <a:r>
              <a:rPr lang="en-US" altLang="ko-KR" sz="1800" dirty="0"/>
              <a:t>, ‘</a:t>
            </a:r>
            <a:r>
              <a:rPr lang="ko-KR" altLang="en-US" sz="1800" dirty="0"/>
              <a:t>브랜드 인지도‘</a:t>
            </a:r>
            <a:r>
              <a:rPr lang="en-US" altLang="ko-KR" sz="1800" dirty="0"/>
              <a:t>, ‘</a:t>
            </a:r>
            <a:r>
              <a:rPr lang="ko-KR" altLang="en-US" sz="1800" dirty="0"/>
              <a:t>브랜드 이미지</a:t>
            </a:r>
            <a:r>
              <a:rPr lang="en-US" altLang="ko-KR" sz="1800" dirty="0"/>
              <a:t>/</a:t>
            </a:r>
            <a:r>
              <a:rPr lang="ko-KR" altLang="en-US" sz="1800" dirty="0"/>
              <a:t>연상</a:t>
            </a:r>
            <a:r>
              <a:rPr lang="en-US" altLang="ko-KR" sz="1800" dirty="0"/>
              <a:t>’ </a:t>
            </a:r>
            <a:r>
              <a:rPr lang="ko-KR" altLang="en-US" sz="1800" dirty="0"/>
              <a:t>등으로 구성되어 있음 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34ADE06-2640-4173-82A5-A3DE58686DF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0462"/>
          <a:stretch/>
        </p:blipFill>
        <p:spPr>
          <a:xfrm>
            <a:off x="978688" y="3775001"/>
            <a:ext cx="6275500" cy="218563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3E69D40-FAAF-492C-9EA2-4EC35FA2B8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4131" y="5941766"/>
            <a:ext cx="5087020" cy="801471"/>
          </a:xfrm>
          <a:prstGeom prst="rect">
            <a:avLst/>
          </a:prstGeom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AA87F882-E8D4-4D14-957F-8069757988F7}"/>
              </a:ext>
            </a:extLst>
          </p:cNvPr>
          <p:cNvGrpSpPr/>
          <p:nvPr/>
        </p:nvGrpSpPr>
        <p:grpSpPr>
          <a:xfrm>
            <a:off x="8202707" y="3775001"/>
            <a:ext cx="3469340" cy="2968236"/>
            <a:chOff x="695400" y="2049751"/>
            <a:chExt cx="4320480" cy="4392488"/>
          </a:xfrm>
        </p:grpSpPr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id="{47006FA3-5849-4A11-86B8-3491DE3E097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95400" y="2049751"/>
              <a:ext cx="4320480" cy="4392488"/>
              <a:chOff x="2195736" y="1844824"/>
              <a:chExt cx="4391025" cy="3686175"/>
            </a:xfrm>
          </p:grpSpPr>
          <p:pic>
            <p:nvPicPr>
              <p:cNvPr id="11" name="그림 2">
                <a:extLst>
                  <a:ext uri="{FF2B5EF4-FFF2-40B4-BE49-F238E27FC236}">
                    <a16:creationId xmlns:a16="http://schemas.microsoft.com/office/drawing/2014/main" id="{D06E4A24-D7F5-49BF-9560-4D098EE816A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195736" y="1844824"/>
                <a:ext cx="4391025" cy="36861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516B26A9-E7C3-4562-B458-772EEFCFF53C}"/>
                  </a:ext>
                </a:extLst>
              </p:cNvPr>
              <p:cNvSpPr/>
              <p:nvPr/>
            </p:nvSpPr>
            <p:spPr>
              <a:xfrm>
                <a:off x="4859561" y="5157937"/>
                <a:ext cx="1727200" cy="28733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latinLnBrk="1" hangingPunct="1">
                  <a:defRPr/>
                </a:pPr>
                <a:endParaRPr lang="ko-KR" altLang="en-US">
                  <a:latin typeface="서울남산 장체 M" panose="02020503020101020101" pitchFamily="18" charset="-127"/>
                  <a:ea typeface="서울남산 장체 M" panose="02020503020101020101" pitchFamily="18" charset="-127"/>
                </a:endParaRPr>
              </a:p>
            </p:txBody>
          </p:sp>
        </p:grp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CF2330F1-1B23-4DEA-83C7-70EACDD0D1C4}"/>
                </a:ext>
              </a:extLst>
            </p:cNvPr>
            <p:cNvSpPr/>
            <p:nvPr/>
          </p:nvSpPr>
          <p:spPr>
            <a:xfrm>
              <a:off x="2927647" y="4231316"/>
              <a:ext cx="1924965" cy="1638619"/>
            </a:xfrm>
            <a:prstGeom prst="rect">
              <a:avLst/>
            </a:prstGeom>
            <a:noFill/>
            <a:ln w="38100">
              <a:solidFill>
                <a:srgbClr val="C00000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서울남산 장체 M" panose="02020503020101020101" pitchFamily="18" charset="-127"/>
                <a:ea typeface="서울남산 장체 M" panose="02020503020101020101" pitchFamily="18" charset="-127"/>
              </a:endParaRP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D1CCA59E-280D-4368-AEAC-8F9475A8C898}"/>
              </a:ext>
            </a:extLst>
          </p:cNvPr>
          <p:cNvSpPr txBox="1"/>
          <p:nvPr/>
        </p:nvSpPr>
        <p:spPr>
          <a:xfrm>
            <a:off x="3167299" y="3491753"/>
            <a:ext cx="18982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002060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[</a:t>
            </a:r>
            <a:r>
              <a:rPr lang="ko-KR" altLang="en-US" dirty="0">
                <a:solidFill>
                  <a:srgbClr val="002060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브랜드 대차대조표</a:t>
            </a:r>
            <a:r>
              <a:rPr lang="en-US" altLang="ko-KR" dirty="0">
                <a:solidFill>
                  <a:srgbClr val="002060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]</a:t>
            </a:r>
            <a:endParaRPr lang="ko-KR" altLang="en-US" dirty="0">
              <a:solidFill>
                <a:srgbClr val="002060"/>
              </a:solidFill>
              <a:latin typeface="서울남산 장체 M" panose="02020503020101020101" pitchFamily="18" charset="-127"/>
              <a:ea typeface="서울남산 장체 M" panose="02020503020101020101" pitchFamily="18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7FEB36F-7033-4A11-90AB-87F5560587F6}"/>
              </a:ext>
            </a:extLst>
          </p:cNvPr>
          <p:cNvSpPr txBox="1"/>
          <p:nvPr/>
        </p:nvSpPr>
        <p:spPr>
          <a:xfrm>
            <a:off x="9329091" y="3548826"/>
            <a:ext cx="13692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rgbClr val="002060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[</a:t>
            </a:r>
            <a:r>
              <a:rPr lang="ko-KR" altLang="en-US" sz="1400" dirty="0">
                <a:solidFill>
                  <a:srgbClr val="002060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일반 대차대조표</a:t>
            </a:r>
            <a:r>
              <a:rPr lang="en-US" altLang="ko-KR" sz="1400" dirty="0">
                <a:solidFill>
                  <a:srgbClr val="002060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]</a:t>
            </a:r>
            <a:endParaRPr lang="ko-KR" altLang="en-US" sz="1400" dirty="0">
              <a:solidFill>
                <a:srgbClr val="002060"/>
              </a:solidFill>
              <a:latin typeface="서울남산 장체 M" panose="02020503020101020101" pitchFamily="18" charset="-127"/>
              <a:ea typeface="서울남산 장체 M" panose="02020503020101020101" pitchFamily="18" charset="-127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DAD7E5-525E-4CD1-AB82-3A85CDF30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latinLnBrk="0" hangingPunct="1"/>
            <a:r>
              <a:rPr lang="en-US" altLang="ko-KR" dirty="0"/>
              <a:t>4. </a:t>
            </a:r>
            <a:r>
              <a:rPr lang="ko-KR" altLang="en-US" dirty="0"/>
              <a:t>브랜드 </a:t>
            </a:r>
            <a:r>
              <a:rPr lang="ko-KR" altLang="en-US" dirty="0" err="1"/>
              <a:t>에쿼티</a:t>
            </a:r>
            <a:r>
              <a:rPr lang="ko-KR" altLang="en-US" dirty="0"/>
              <a:t> 관리</a:t>
            </a:r>
            <a:endParaRPr lang="ko-KR" altLang="en-US" sz="2000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F8C39FF-32C7-4ADC-8571-245DF068D5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4488" y="1600200"/>
            <a:ext cx="11847512" cy="4724400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/>
              <a:t>브랜드 마케팅 담당자들은 마케팅 커뮤니케이션 도구들이 궁극적으로 브랜드 </a:t>
            </a:r>
            <a:r>
              <a:rPr lang="ko-KR" altLang="en-US" sz="2000" dirty="0" err="1"/>
              <a:t>에쿼티를</a:t>
            </a:r>
            <a:r>
              <a:rPr lang="ko-KR" altLang="en-US" sz="2000" dirty="0"/>
              <a:t> 높이는데 도움 되는지 판단해야 함</a:t>
            </a:r>
            <a:endParaRPr lang="en-US" altLang="ko-KR" sz="2000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800" dirty="0"/>
              <a:t>브랜딩 활동이 브랜드 인지도를 높이는데 도움이 되는가</a:t>
            </a:r>
            <a:r>
              <a:rPr lang="en-US" altLang="ko-KR" sz="1800" dirty="0"/>
              <a:t>?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800" dirty="0"/>
              <a:t>긍정적인 브랜드 이미지를 쌓는 데 도움이 되는가</a:t>
            </a:r>
            <a:r>
              <a:rPr lang="en-US" altLang="ko-KR" sz="1800" dirty="0"/>
              <a:t>?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800" dirty="0"/>
              <a:t>혹시라도 부정적인 요소가 발생할 가능성은 없는가</a:t>
            </a:r>
            <a:r>
              <a:rPr lang="en-US" altLang="ko-KR" sz="1800" dirty="0"/>
              <a:t>?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US" altLang="ko-KR" sz="20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/>
              <a:t>결론적으로 신규 브랜드 창업의 핵심은 브랜딩 관점에서 접근해야 함</a:t>
            </a:r>
            <a:endParaRPr lang="en-US" altLang="ko-KR" sz="2000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800" dirty="0"/>
              <a:t>브랜드 아이덴티티를 구성하고 있는 다양한 요소들이 강력하고</a:t>
            </a:r>
            <a:r>
              <a:rPr lang="en-US" altLang="ko-KR" sz="1800" dirty="0"/>
              <a:t>, </a:t>
            </a:r>
            <a:r>
              <a:rPr lang="ko-KR" altLang="en-US" sz="1800" dirty="0" err="1"/>
              <a:t>호감가며</a:t>
            </a:r>
            <a:r>
              <a:rPr lang="en-US" altLang="ko-KR" sz="1800" dirty="0"/>
              <a:t>, </a:t>
            </a:r>
            <a:r>
              <a:rPr lang="ko-KR" altLang="en-US" sz="1800" dirty="0"/>
              <a:t>차별화되는 브랜드 이미지와 연상을 일관되게 만들어 내도록 혁신적인 방법으로 고객과 커뮤니케이션하여 고객 </a:t>
            </a:r>
            <a:r>
              <a:rPr lang="ko-KR" altLang="en-US" sz="1800" dirty="0" err="1"/>
              <a:t>팬덤을</a:t>
            </a:r>
            <a:r>
              <a:rPr lang="ko-KR" altLang="en-US" sz="1800" dirty="0"/>
              <a:t> 형성함으로써 브랜드 가치를 높이는 것이 성공적인 창업의 핵심</a:t>
            </a:r>
            <a:r>
              <a:rPr lang="en-US" altLang="ko-KR" sz="1800" dirty="0"/>
              <a:t>!! </a:t>
            </a:r>
            <a:endParaRPr lang="ko-KR" altLang="en-US" sz="1800" dirty="0"/>
          </a:p>
        </p:txBody>
      </p:sp>
    </p:spTree>
    <p:extLst>
      <p:ext uri="{BB962C8B-B14F-4D97-AF65-F5344CB8AC3E}">
        <p14:creationId xmlns:p14="http://schemas.microsoft.com/office/powerpoint/2010/main" val="2424379576"/>
      </p:ext>
    </p:extLst>
  </p:cSld>
  <p:clrMapOvr>
    <a:masterClrMapping/>
  </p:clrMapOvr>
</p:sld>
</file>

<file path=ppt/theme/theme1.xml><?xml version="1.0" encoding="utf-8"?>
<a:theme xmlns:a="http://schemas.openxmlformats.org/drawingml/2006/main" name="sample">
  <a:themeElements>
    <a:clrScheme name="sample 3">
      <a:dk1>
        <a:srgbClr val="003366"/>
      </a:dk1>
      <a:lt1>
        <a:srgbClr val="FFFFFF"/>
      </a:lt1>
      <a:dk2>
        <a:srgbClr val="5086C2"/>
      </a:dk2>
      <a:lt2>
        <a:srgbClr val="C0C0C0"/>
      </a:lt2>
      <a:accent1>
        <a:srgbClr val="DE8848"/>
      </a:accent1>
      <a:accent2>
        <a:srgbClr val="85BA54"/>
      </a:accent2>
      <a:accent3>
        <a:srgbClr val="FFFFFF"/>
      </a:accent3>
      <a:accent4>
        <a:srgbClr val="002A56"/>
      </a:accent4>
      <a:accent5>
        <a:srgbClr val="ECC3B1"/>
      </a:accent5>
      <a:accent6>
        <a:srgbClr val="78A84B"/>
      </a:accent6>
      <a:hlink>
        <a:srgbClr val="4C59D2"/>
      </a:hlink>
      <a:folHlink>
        <a:srgbClr val="A0B5C4"/>
      </a:folHlink>
    </a:clrScheme>
    <a:fontScheme name="sampl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ko-KR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ko-KR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sample 1">
        <a:dk1>
          <a:srgbClr val="48806B"/>
        </a:dk1>
        <a:lt1>
          <a:srgbClr val="FFFFFF"/>
        </a:lt1>
        <a:dk2>
          <a:srgbClr val="77956D"/>
        </a:dk2>
        <a:lt2>
          <a:srgbClr val="C0C0C0"/>
        </a:lt2>
        <a:accent1>
          <a:srgbClr val="6BB9C3"/>
        </a:accent1>
        <a:accent2>
          <a:srgbClr val="E7BA15"/>
        </a:accent2>
        <a:accent3>
          <a:srgbClr val="FFFFFF"/>
        </a:accent3>
        <a:accent4>
          <a:srgbClr val="3C6C5A"/>
        </a:accent4>
        <a:accent5>
          <a:srgbClr val="BAD9DE"/>
        </a:accent5>
        <a:accent6>
          <a:srgbClr val="D1A812"/>
        </a:accent6>
        <a:hlink>
          <a:srgbClr val="76C14D"/>
        </a:hlink>
        <a:folHlink>
          <a:srgbClr val="B0C29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2">
        <a:dk1>
          <a:srgbClr val="5F5F5F"/>
        </a:dk1>
        <a:lt1>
          <a:srgbClr val="FFFFFF"/>
        </a:lt1>
        <a:dk2>
          <a:srgbClr val="8D8D8D"/>
        </a:dk2>
        <a:lt2>
          <a:srgbClr val="C0C0C0"/>
        </a:lt2>
        <a:accent1>
          <a:srgbClr val="8EC072"/>
        </a:accent1>
        <a:accent2>
          <a:srgbClr val="5DB8CD"/>
        </a:accent2>
        <a:accent3>
          <a:srgbClr val="FFFFFF"/>
        </a:accent3>
        <a:accent4>
          <a:srgbClr val="505050"/>
        </a:accent4>
        <a:accent5>
          <a:srgbClr val="C6DCBC"/>
        </a:accent5>
        <a:accent6>
          <a:srgbClr val="53A6BA"/>
        </a:accent6>
        <a:hlink>
          <a:srgbClr val="D68B40"/>
        </a:hlink>
        <a:folHlink>
          <a:srgbClr val="D5D17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3">
        <a:dk1>
          <a:srgbClr val="003366"/>
        </a:dk1>
        <a:lt1>
          <a:srgbClr val="FFFFFF"/>
        </a:lt1>
        <a:dk2>
          <a:srgbClr val="5086C2"/>
        </a:dk2>
        <a:lt2>
          <a:srgbClr val="C0C0C0"/>
        </a:lt2>
        <a:accent1>
          <a:srgbClr val="DE8848"/>
        </a:accent1>
        <a:accent2>
          <a:srgbClr val="85BA54"/>
        </a:accent2>
        <a:accent3>
          <a:srgbClr val="FFFFFF"/>
        </a:accent3>
        <a:accent4>
          <a:srgbClr val="002A56"/>
        </a:accent4>
        <a:accent5>
          <a:srgbClr val="ECC3B1"/>
        </a:accent5>
        <a:accent6>
          <a:srgbClr val="78A84B"/>
        </a:accent6>
        <a:hlink>
          <a:srgbClr val="4C59D2"/>
        </a:hlink>
        <a:folHlink>
          <a:srgbClr val="A0B5C4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9416</TotalTime>
  <Words>2766</Words>
  <Application>Microsoft Office PowerPoint</Application>
  <PresentationFormat>와이드스크린</PresentationFormat>
  <Paragraphs>261</Paragraphs>
  <Slides>40</Slides>
  <Notes>20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40</vt:i4>
      </vt:variant>
    </vt:vector>
  </HeadingPairs>
  <TitlesOfParts>
    <vt:vector size="51" baseType="lpstr">
      <vt:lpstr>서울남산 장체 EB</vt:lpstr>
      <vt:lpstr>서울남산 장체 M</vt:lpstr>
      <vt:lpstr>굴림</vt:lpstr>
      <vt:lpstr>Arial</vt:lpstr>
      <vt:lpstr>맑은 고딕</vt:lpstr>
      <vt:lpstr>서울한강 장체 L</vt:lpstr>
      <vt:lpstr>서울남산 장체 L</vt:lpstr>
      <vt:lpstr>Verdana</vt:lpstr>
      <vt:lpstr>Wingdings</vt:lpstr>
      <vt:lpstr>08서울남산체 B</vt:lpstr>
      <vt:lpstr>sample</vt:lpstr>
      <vt:lpstr>PowerPoint 프레젠테이션</vt:lpstr>
      <vt:lpstr>PowerPoint 프레젠테이션</vt:lpstr>
      <vt:lpstr>1. 혁신적인 브랜드 창업의 필요성</vt:lpstr>
      <vt:lpstr>1. 혁신적인 브랜드 창업의 필요성</vt:lpstr>
      <vt:lpstr>PowerPoint 프레젠테이션</vt:lpstr>
      <vt:lpstr>2.  브랜드의 개념과 특징</vt:lpstr>
      <vt:lpstr>2.  브랜드의 개념과 특징</vt:lpstr>
      <vt:lpstr>2.  브랜드의 개념과 특징</vt:lpstr>
      <vt:lpstr>PowerPoint 프레젠테이션</vt:lpstr>
      <vt:lpstr>1) 레스토랑 콘셉트의 구체화</vt:lpstr>
      <vt:lpstr>2) 미래 핵심고객인 MZ 세대의 특성</vt:lpstr>
      <vt:lpstr>2) 미래 핵심고객인 MZ 세대의 특성</vt:lpstr>
      <vt:lpstr>2) 미래 핵심고객인 MZ 세대의 특성</vt:lpstr>
      <vt:lpstr>2) 미래 핵심고객인 MZ 세대의 특성</vt:lpstr>
      <vt:lpstr>2) 미래 핵심고객인 MZ 세대의 특성</vt:lpstr>
      <vt:lpstr>2) 미래 핵심고객인 MZ 세대의 특성</vt:lpstr>
      <vt:lpstr>2) 미래 핵심고객인 MZ 세대의 특성</vt:lpstr>
      <vt:lpstr>2) 미래 핵심고객인 MZ 세대의 특성</vt:lpstr>
      <vt:lpstr>2) 미래 핵심고객인 MZ 세대의 특성</vt:lpstr>
      <vt:lpstr>2) 미래 핵심고객인 MZ 세대의 특성</vt:lpstr>
      <vt:lpstr>3) 브랜드 포지션닝이란 무엇인가?</vt:lpstr>
      <vt:lpstr>3) 브랜드 포지션닝이란 무엇인가?</vt:lpstr>
      <vt:lpstr>4) 브랜드 아이덴티티 개발 모델</vt:lpstr>
      <vt:lpstr>4) 브랜드 아이덴티티 개발 모델</vt:lpstr>
      <vt:lpstr>4) 브랜드 아이덴티티 개발 모델</vt:lpstr>
      <vt:lpstr>4) 브랜드 아이덴티티 개발 모델</vt:lpstr>
      <vt:lpstr>4) 브랜드 아이덴티티 개발 모델</vt:lpstr>
      <vt:lpstr>4) 브랜드 아이덴티티 개발 모델</vt:lpstr>
      <vt:lpstr>5) 브랜드 아이덴티티 실행요소 개발 - 브랜드명 </vt:lpstr>
      <vt:lpstr>5) 브랜드 아이덴티티 실행요소 개발 - 로고 </vt:lpstr>
      <vt:lpstr>5) 브랜드 아이덴티티 실행요소 개발 - 슬로건 </vt:lpstr>
      <vt:lpstr>5) 브랜드 아이덴티티 실행요소 개발 – 캐릭터 </vt:lpstr>
      <vt:lpstr>5) 브랜드 아이덴티티 실행요소 개발 – 캐릭터 </vt:lpstr>
      <vt:lpstr>5) 브랜드 아이덴티티 실행요소 개발 – 컬러 </vt:lpstr>
      <vt:lpstr>5) 브랜드 아이덴티티 실행요소 개발 – 서체 </vt:lpstr>
      <vt:lpstr>5) 브랜드 아이덴티티 실행요소 개발 – 패키지 </vt:lpstr>
      <vt:lpstr>5) 브랜드 아이덴티티 실행요소 개발 – 징글 </vt:lpstr>
      <vt:lpstr>PowerPoint 프레젠테이션</vt:lpstr>
      <vt:lpstr>4. 브랜드 에쿼티 관리</vt:lpstr>
      <vt:lpstr>4. 브랜드 에쿼티 관리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Template</dc:title>
  <dc:creator>Windows 사용자</dc:creator>
  <cp:lastModifiedBy>user</cp:lastModifiedBy>
  <cp:revision>154</cp:revision>
  <dcterms:created xsi:type="dcterms:W3CDTF">2022-02-07T06:24:49Z</dcterms:created>
  <dcterms:modified xsi:type="dcterms:W3CDTF">2022-05-10T13:19:14Z</dcterms:modified>
</cp:coreProperties>
</file>