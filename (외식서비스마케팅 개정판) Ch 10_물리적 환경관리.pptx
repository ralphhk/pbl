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1"/>
  </p:notesMasterIdLst>
  <p:sldIdLst>
    <p:sldId id="278" r:id="rId2"/>
    <p:sldId id="280" r:id="rId3"/>
    <p:sldId id="351" r:id="rId4"/>
    <p:sldId id="458" r:id="rId5"/>
    <p:sldId id="459" r:id="rId6"/>
    <p:sldId id="460" r:id="rId7"/>
    <p:sldId id="461" r:id="rId8"/>
    <p:sldId id="462" r:id="rId9"/>
    <p:sldId id="281" r:id="rId10"/>
    <p:sldId id="463" r:id="rId11"/>
    <p:sldId id="464" r:id="rId12"/>
    <p:sldId id="467" r:id="rId13"/>
    <p:sldId id="468" r:id="rId14"/>
    <p:sldId id="469" r:id="rId15"/>
    <p:sldId id="470" r:id="rId16"/>
    <p:sldId id="471" r:id="rId17"/>
    <p:sldId id="472" r:id="rId18"/>
    <p:sldId id="466" r:id="rId19"/>
    <p:sldId id="473" r:id="rId20"/>
    <p:sldId id="474" r:id="rId21"/>
    <p:sldId id="475" r:id="rId22"/>
    <p:sldId id="476" r:id="rId23"/>
    <p:sldId id="285" r:id="rId24"/>
    <p:sldId id="287" r:id="rId25"/>
    <p:sldId id="453" r:id="rId26"/>
    <p:sldId id="454" r:id="rId27"/>
    <p:sldId id="455" r:id="rId28"/>
    <p:sldId id="457" r:id="rId29"/>
    <p:sldId id="456" r:id="rId30"/>
  </p:sldIdLst>
  <p:sldSz cx="12192000" cy="6858000"/>
  <p:notesSz cx="6858000" cy="9144000"/>
  <p:embeddedFontLst>
    <p:embeddedFont>
      <p:font typeface="08서울남산체 B" panose="02020603020101020101" pitchFamily="18" charset="-127"/>
      <p:regular r:id="rId32"/>
    </p:embeddedFont>
    <p:embeddedFont>
      <p:font typeface="경기천년바탕 Bold" panose="02020803020101020101" pitchFamily="18" charset="-127"/>
      <p:bold r:id="rId33"/>
    </p:embeddedFont>
    <p:embeddedFont>
      <p:font typeface="맑은 고딕" panose="020B0503020000020004" pitchFamily="50" charset="-127"/>
      <p:regular r:id="rId34"/>
      <p:bold r:id="rId35"/>
    </p:embeddedFont>
    <p:embeddedFont>
      <p:font typeface="서울남산 장체 EB" panose="02020503020101020101" pitchFamily="18" charset="-127"/>
      <p:regular r:id="rId36"/>
    </p:embeddedFont>
    <p:embeddedFont>
      <p:font typeface="서울남산 장체 L" panose="02020503020101020101" pitchFamily="18" charset="-127"/>
      <p:regular r:id="rId37"/>
    </p:embeddedFont>
    <p:embeddedFont>
      <p:font typeface="서울남산 장체 M" panose="02020503020101020101" pitchFamily="18" charset="-127"/>
      <p:regular r:id="rId38"/>
    </p:embeddedFont>
    <p:embeddedFont>
      <p:font typeface="서울한강 장체 L" panose="02020503020101020101" pitchFamily="18" charset="-127"/>
      <p:regular r:id="rId39"/>
    </p:embeddedFont>
    <p:embeddedFont>
      <p:font typeface="함초롬돋움" panose="020B0604000101010101" pitchFamily="50" charset="-127"/>
      <p:regular r:id="rId40"/>
      <p:bold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60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6" autoAdjust="0"/>
    <p:restoredTop sz="94607" autoAdjust="0"/>
  </p:normalViewPr>
  <p:slideViewPr>
    <p:cSldViewPr snapToGrid="0" showGuides="1">
      <p:cViewPr varScale="1">
        <p:scale>
          <a:sx n="96" d="100"/>
          <a:sy n="96" d="100"/>
        </p:scale>
        <p:origin x="103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73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F20221-EEC7-4C2E-BF46-1D5AE5AF86F9}" type="doc">
      <dgm:prSet loTypeId="urn:microsoft.com/office/officeart/2005/8/layout/cycle6" loCatId="relationship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pPr latinLnBrk="1"/>
          <a:endParaRPr lang="ko-KR" altLang="en-US"/>
        </a:p>
      </dgm:t>
    </dgm:pt>
    <dgm:pt modelId="{4D5DAEDD-F08C-4D51-B1B2-07131580B02C}">
      <dgm:prSet phldrT="[텍스트]" custT="1"/>
      <dgm:spPr>
        <a:solidFill>
          <a:schemeClr val="accent6">
            <a:lumMod val="40000"/>
            <a:lumOff val="60000"/>
          </a:schemeClr>
        </a:solidFill>
        <a:ln>
          <a:solidFill>
            <a:schemeClr val="accent6"/>
          </a:solidFill>
        </a:ln>
      </dgm:spPr>
      <dgm:t>
        <a:bodyPr/>
        <a:lstStyle/>
        <a:p>
          <a:pPr latinLnBrk="1"/>
          <a:r>
            <a:rPr lang="ko-KR" altLang="en-US" sz="2000" b="1" i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인체공학적</a:t>
          </a:r>
          <a:endParaRPr lang="en-US" altLang="ko-KR" sz="2000" b="1" i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latinLnBrk="1"/>
          <a:r>
            <a:rPr lang="ko-KR" altLang="en-US" sz="2000" b="1" i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1" i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25A7A3A6-872B-48BF-882E-97FF3B7B0EB6}" type="parTrans" cxnId="{58598088-0E24-49A9-B34A-A6BD98574EE2}">
      <dgm:prSet/>
      <dgm:spPr/>
      <dgm:t>
        <a:bodyPr/>
        <a:lstStyle/>
        <a:p>
          <a:pPr latinLnBrk="1"/>
          <a:endParaRPr lang="ko-KR" altLang="en-US" sz="280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66E0A0EB-D80D-4A76-ACAA-43BADB2B6593}" type="sibTrans" cxnId="{58598088-0E24-49A9-B34A-A6BD98574EE2}">
      <dgm:prSet/>
      <dgm:spPr/>
      <dgm:t>
        <a:bodyPr/>
        <a:lstStyle/>
        <a:p>
          <a:pPr latinLnBrk="1"/>
          <a:endParaRPr lang="ko-KR" altLang="en-US" sz="2800" b="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208777C2-0379-4784-A114-3DCAD3A05509}">
      <dgm:prSet phldrT="[텍스트]" custT="1"/>
      <dgm:spPr/>
      <dgm:t>
        <a:bodyPr/>
        <a:lstStyle/>
        <a:p>
          <a:pPr latinLnBrk="1"/>
          <a:r>
            <a:rPr lang="ko-KR" altLang="en-US" sz="2000" b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경제적</a:t>
          </a:r>
          <a:endParaRPr lang="en-US" altLang="ko-KR" sz="2000" b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latinLnBrk="1"/>
          <a:r>
            <a:rPr lang="ko-KR" altLang="en-US" sz="2000" b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 디자인</a:t>
          </a:r>
          <a:endParaRPr lang="en-US" altLang="ko-KR" sz="2000" b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940C5D5B-CA81-4838-8126-8C493BE00775}" type="parTrans" cxnId="{C5C874F6-53D3-45E3-92EA-C069F1E86017}">
      <dgm:prSet/>
      <dgm:spPr/>
      <dgm:t>
        <a:bodyPr/>
        <a:lstStyle/>
        <a:p>
          <a:pPr latinLnBrk="1"/>
          <a:endParaRPr lang="ko-KR" altLang="en-US" sz="280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0693ACCD-7589-4B4E-BFE9-338EA767E5A7}" type="sibTrans" cxnId="{C5C874F6-53D3-45E3-92EA-C069F1E86017}">
      <dgm:prSet/>
      <dgm:spPr/>
      <dgm:t>
        <a:bodyPr/>
        <a:lstStyle/>
        <a:p>
          <a:pPr latinLnBrk="1"/>
          <a:endParaRPr lang="ko-KR" altLang="en-US" sz="2800" b="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190D1EBA-4E84-49A8-8BB9-560A611A0DD5}">
      <dgm:prSet phldrT="[텍스트]" custT="1"/>
      <dgm:spPr/>
      <dgm:t>
        <a:bodyPr/>
        <a:lstStyle/>
        <a:p>
          <a:pPr latinLnBrk="1"/>
          <a:r>
            <a:rPr lang="ko-KR" altLang="en-US" sz="2000" b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효율적</a:t>
          </a:r>
          <a:endParaRPr lang="en-US" altLang="ko-KR" sz="2000" b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latinLnBrk="1"/>
          <a:r>
            <a:rPr lang="ko-KR" altLang="en-US" sz="2000" b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AAC41184-B727-4113-8A67-A2D7DE1B9452}" type="parTrans" cxnId="{C68F3769-5C7A-4CA4-B4F5-36512333E7C4}">
      <dgm:prSet/>
      <dgm:spPr/>
      <dgm:t>
        <a:bodyPr/>
        <a:lstStyle/>
        <a:p>
          <a:pPr latinLnBrk="1"/>
          <a:endParaRPr lang="ko-KR" altLang="en-US" sz="280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AE241254-4A1C-4560-ADAC-5922902AA724}" type="sibTrans" cxnId="{C68F3769-5C7A-4CA4-B4F5-36512333E7C4}">
      <dgm:prSet/>
      <dgm:spPr/>
      <dgm:t>
        <a:bodyPr/>
        <a:lstStyle/>
        <a:p>
          <a:pPr latinLnBrk="1"/>
          <a:endParaRPr lang="ko-KR" altLang="en-US" sz="2800" b="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BE0AB98C-CE0D-4C18-8AFB-8DCED808AAC7}" type="pres">
      <dgm:prSet presAssocID="{52F20221-EEC7-4C2E-BF46-1D5AE5AF86F9}" presName="cycle" presStyleCnt="0">
        <dgm:presLayoutVars>
          <dgm:dir/>
          <dgm:resizeHandles val="exact"/>
        </dgm:presLayoutVars>
      </dgm:prSet>
      <dgm:spPr/>
    </dgm:pt>
    <dgm:pt modelId="{52E6ABE0-FADB-4622-A6EF-2AD1A72C3176}" type="pres">
      <dgm:prSet presAssocID="{4D5DAEDD-F08C-4D51-B1B2-07131580B02C}" presName="node" presStyleLbl="node1" presStyleIdx="0" presStyleCnt="3" custScaleY="149722" custRadScaleRad="86047" custRadScaleInc="0">
        <dgm:presLayoutVars>
          <dgm:bulletEnabled val="1"/>
        </dgm:presLayoutVars>
      </dgm:prSet>
      <dgm:spPr/>
    </dgm:pt>
    <dgm:pt modelId="{0B72CE07-55AF-41F7-BB48-B2F5A4AAEE0C}" type="pres">
      <dgm:prSet presAssocID="{4D5DAEDD-F08C-4D51-B1B2-07131580B02C}" presName="spNode" presStyleCnt="0"/>
      <dgm:spPr/>
    </dgm:pt>
    <dgm:pt modelId="{07D6E1BF-61AC-467B-AE75-F5E87E352472}" type="pres">
      <dgm:prSet presAssocID="{66E0A0EB-D80D-4A76-ACAA-43BADB2B6593}" presName="sibTrans" presStyleLbl="sibTrans1D1" presStyleIdx="0" presStyleCnt="3"/>
      <dgm:spPr/>
    </dgm:pt>
    <dgm:pt modelId="{531200B1-4050-40DC-98BF-20D8C47581B2}" type="pres">
      <dgm:prSet presAssocID="{208777C2-0379-4784-A114-3DCAD3A05509}" presName="node" presStyleLbl="node1" presStyleIdx="1" presStyleCnt="3" custScaleY="154314" custRadScaleRad="92850" custRadScaleInc="-16725">
        <dgm:presLayoutVars>
          <dgm:bulletEnabled val="1"/>
        </dgm:presLayoutVars>
      </dgm:prSet>
      <dgm:spPr/>
    </dgm:pt>
    <dgm:pt modelId="{253BAEAB-8100-4607-9E89-B856EB795B7D}" type="pres">
      <dgm:prSet presAssocID="{208777C2-0379-4784-A114-3DCAD3A05509}" presName="spNode" presStyleCnt="0"/>
      <dgm:spPr/>
    </dgm:pt>
    <dgm:pt modelId="{437469E4-B2C8-49E4-B2ED-86E1651CE14A}" type="pres">
      <dgm:prSet presAssocID="{0693ACCD-7589-4B4E-BFE9-338EA767E5A7}" presName="sibTrans" presStyleLbl="sibTrans1D1" presStyleIdx="1" presStyleCnt="3"/>
      <dgm:spPr/>
    </dgm:pt>
    <dgm:pt modelId="{528FD06A-CC93-4383-8289-E5387FEDEA5B}" type="pres">
      <dgm:prSet presAssocID="{190D1EBA-4E84-49A8-8BB9-560A611A0DD5}" presName="node" presStyleLbl="node1" presStyleIdx="2" presStyleCnt="3" custScaleY="154314" custRadScaleRad="93917" custRadScaleInc="14407">
        <dgm:presLayoutVars>
          <dgm:bulletEnabled val="1"/>
        </dgm:presLayoutVars>
      </dgm:prSet>
      <dgm:spPr/>
    </dgm:pt>
    <dgm:pt modelId="{B8D27F71-1FA8-4C5D-9078-FC59A555CF48}" type="pres">
      <dgm:prSet presAssocID="{190D1EBA-4E84-49A8-8BB9-560A611A0DD5}" presName="spNode" presStyleCnt="0"/>
      <dgm:spPr/>
    </dgm:pt>
    <dgm:pt modelId="{33CF4066-D469-4445-A7BF-41D5DD7D562A}" type="pres">
      <dgm:prSet presAssocID="{AE241254-4A1C-4560-ADAC-5922902AA724}" presName="sibTrans" presStyleLbl="sibTrans1D1" presStyleIdx="2" presStyleCnt="3"/>
      <dgm:spPr/>
    </dgm:pt>
  </dgm:ptLst>
  <dgm:cxnLst>
    <dgm:cxn modelId="{75F05400-DC42-479A-B02F-78D07A350CAF}" type="presOf" srcId="{0693ACCD-7589-4B4E-BFE9-338EA767E5A7}" destId="{437469E4-B2C8-49E4-B2ED-86E1651CE14A}" srcOrd="0" destOrd="0" presId="urn:microsoft.com/office/officeart/2005/8/layout/cycle6"/>
    <dgm:cxn modelId="{A6A62A1A-22C1-4850-B457-3CD9FB5E1257}" type="presOf" srcId="{4D5DAEDD-F08C-4D51-B1B2-07131580B02C}" destId="{52E6ABE0-FADB-4622-A6EF-2AD1A72C3176}" srcOrd="0" destOrd="0" presId="urn:microsoft.com/office/officeart/2005/8/layout/cycle6"/>
    <dgm:cxn modelId="{F478AE5D-791D-4D1F-81A1-0989335B7412}" type="presOf" srcId="{AE241254-4A1C-4560-ADAC-5922902AA724}" destId="{33CF4066-D469-4445-A7BF-41D5DD7D562A}" srcOrd="0" destOrd="0" presId="urn:microsoft.com/office/officeart/2005/8/layout/cycle6"/>
    <dgm:cxn modelId="{AA2CF966-C1E5-4C5A-957E-99A289C7822E}" type="presOf" srcId="{190D1EBA-4E84-49A8-8BB9-560A611A0DD5}" destId="{528FD06A-CC93-4383-8289-E5387FEDEA5B}" srcOrd="0" destOrd="0" presId="urn:microsoft.com/office/officeart/2005/8/layout/cycle6"/>
    <dgm:cxn modelId="{C68F3769-5C7A-4CA4-B4F5-36512333E7C4}" srcId="{52F20221-EEC7-4C2E-BF46-1D5AE5AF86F9}" destId="{190D1EBA-4E84-49A8-8BB9-560A611A0DD5}" srcOrd="2" destOrd="0" parTransId="{AAC41184-B727-4113-8A67-A2D7DE1B9452}" sibTransId="{AE241254-4A1C-4560-ADAC-5922902AA724}"/>
    <dgm:cxn modelId="{33B57C71-28EF-422F-98B0-B771A24215B9}" type="presOf" srcId="{208777C2-0379-4784-A114-3DCAD3A05509}" destId="{531200B1-4050-40DC-98BF-20D8C47581B2}" srcOrd="0" destOrd="0" presId="urn:microsoft.com/office/officeart/2005/8/layout/cycle6"/>
    <dgm:cxn modelId="{AF5BC251-3D4A-40A2-8349-CDB88DB6E2AF}" type="presOf" srcId="{52F20221-EEC7-4C2E-BF46-1D5AE5AF86F9}" destId="{BE0AB98C-CE0D-4C18-8AFB-8DCED808AAC7}" srcOrd="0" destOrd="0" presId="urn:microsoft.com/office/officeart/2005/8/layout/cycle6"/>
    <dgm:cxn modelId="{58598088-0E24-49A9-B34A-A6BD98574EE2}" srcId="{52F20221-EEC7-4C2E-BF46-1D5AE5AF86F9}" destId="{4D5DAEDD-F08C-4D51-B1B2-07131580B02C}" srcOrd="0" destOrd="0" parTransId="{25A7A3A6-872B-48BF-882E-97FF3B7B0EB6}" sibTransId="{66E0A0EB-D80D-4A76-ACAA-43BADB2B6593}"/>
    <dgm:cxn modelId="{A99054A3-DD17-406C-9AA8-50B2DEBA9021}" type="presOf" srcId="{66E0A0EB-D80D-4A76-ACAA-43BADB2B6593}" destId="{07D6E1BF-61AC-467B-AE75-F5E87E352472}" srcOrd="0" destOrd="0" presId="urn:microsoft.com/office/officeart/2005/8/layout/cycle6"/>
    <dgm:cxn modelId="{C5C874F6-53D3-45E3-92EA-C069F1E86017}" srcId="{52F20221-EEC7-4C2E-BF46-1D5AE5AF86F9}" destId="{208777C2-0379-4784-A114-3DCAD3A05509}" srcOrd="1" destOrd="0" parTransId="{940C5D5B-CA81-4838-8126-8C493BE00775}" sibTransId="{0693ACCD-7589-4B4E-BFE9-338EA767E5A7}"/>
    <dgm:cxn modelId="{9A541492-2EDC-485C-805F-4F4FC13C50FB}" type="presParOf" srcId="{BE0AB98C-CE0D-4C18-8AFB-8DCED808AAC7}" destId="{52E6ABE0-FADB-4622-A6EF-2AD1A72C3176}" srcOrd="0" destOrd="0" presId="urn:microsoft.com/office/officeart/2005/8/layout/cycle6"/>
    <dgm:cxn modelId="{EF20DF5C-D32B-432E-AA35-D237D33B82CB}" type="presParOf" srcId="{BE0AB98C-CE0D-4C18-8AFB-8DCED808AAC7}" destId="{0B72CE07-55AF-41F7-BB48-B2F5A4AAEE0C}" srcOrd="1" destOrd="0" presId="urn:microsoft.com/office/officeart/2005/8/layout/cycle6"/>
    <dgm:cxn modelId="{21E94EE7-36B3-4ED4-BCA4-79B5A6A7ED86}" type="presParOf" srcId="{BE0AB98C-CE0D-4C18-8AFB-8DCED808AAC7}" destId="{07D6E1BF-61AC-467B-AE75-F5E87E352472}" srcOrd="2" destOrd="0" presId="urn:microsoft.com/office/officeart/2005/8/layout/cycle6"/>
    <dgm:cxn modelId="{25405332-3678-4AC7-9A94-D26D104AE03A}" type="presParOf" srcId="{BE0AB98C-CE0D-4C18-8AFB-8DCED808AAC7}" destId="{531200B1-4050-40DC-98BF-20D8C47581B2}" srcOrd="3" destOrd="0" presId="urn:microsoft.com/office/officeart/2005/8/layout/cycle6"/>
    <dgm:cxn modelId="{98F3348D-E994-428A-9745-FAC9B7A2BC7E}" type="presParOf" srcId="{BE0AB98C-CE0D-4C18-8AFB-8DCED808AAC7}" destId="{253BAEAB-8100-4607-9E89-B856EB795B7D}" srcOrd="4" destOrd="0" presId="urn:microsoft.com/office/officeart/2005/8/layout/cycle6"/>
    <dgm:cxn modelId="{9F8B1C21-763B-4178-B773-C3A689FCA340}" type="presParOf" srcId="{BE0AB98C-CE0D-4C18-8AFB-8DCED808AAC7}" destId="{437469E4-B2C8-49E4-B2ED-86E1651CE14A}" srcOrd="5" destOrd="0" presId="urn:microsoft.com/office/officeart/2005/8/layout/cycle6"/>
    <dgm:cxn modelId="{886C77C6-0274-4D47-806C-28F98991FAFF}" type="presParOf" srcId="{BE0AB98C-CE0D-4C18-8AFB-8DCED808AAC7}" destId="{528FD06A-CC93-4383-8289-E5387FEDEA5B}" srcOrd="6" destOrd="0" presId="urn:microsoft.com/office/officeart/2005/8/layout/cycle6"/>
    <dgm:cxn modelId="{0976ABC1-C9C1-48A9-971C-EBAC492CBAC8}" type="presParOf" srcId="{BE0AB98C-CE0D-4C18-8AFB-8DCED808AAC7}" destId="{B8D27F71-1FA8-4C5D-9078-FC59A555CF48}" srcOrd="7" destOrd="0" presId="urn:microsoft.com/office/officeart/2005/8/layout/cycle6"/>
    <dgm:cxn modelId="{F2321B19-AAF9-44B3-BB4C-1001CFA8BDFA}" type="presParOf" srcId="{BE0AB98C-CE0D-4C18-8AFB-8DCED808AAC7}" destId="{33CF4066-D469-4445-A7BF-41D5DD7D562A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F20221-EEC7-4C2E-BF46-1D5AE5AF86F9}" type="doc">
      <dgm:prSet loTypeId="urn:microsoft.com/office/officeart/2005/8/layout/cycle6" loCatId="relationship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pPr latinLnBrk="1"/>
          <a:endParaRPr lang="ko-KR" altLang="en-US"/>
        </a:p>
      </dgm:t>
    </dgm:pt>
    <dgm:pt modelId="{4D5DAEDD-F08C-4D51-B1B2-07131580B02C}">
      <dgm:prSet phldrT="[텍스트]" custT="1"/>
      <dgm:spPr>
        <a:noFill/>
      </dgm:spPr>
      <dgm:t>
        <a:bodyPr/>
        <a:lstStyle/>
        <a:p>
          <a:pPr latinLnBrk="1"/>
          <a:r>
            <a:rPr lang="ko-KR" altLang="en-US" sz="2000" b="0" i="0" dirty="0">
              <a:effectLst/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인체공학적</a:t>
          </a:r>
          <a:endParaRPr lang="en-US" altLang="ko-KR" sz="2000" b="0" i="0" dirty="0">
            <a:effectLst/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latinLnBrk="1"/>
          <a:r>
            <a:rPr lang="ko-KR" altLang="en-US" sz="2000" b="0" i="0" dirty="0">
              <a:effectLst/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0" i="0" dirty="0">
            <a:effectLst/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25A7A3A6-872B-48BF-882E-97FF3B7B0EB6}" type="parTrans" cxnId="{58598088-0E24-49A9-B34A-A6BD98574EE2}">
      <dgm:prSet/>
      <dgm:spPr/>
      <dgm:t>
        <a:bodyPr/>
        <a:lstStyle/>
        <a:p>
          <a:pPr latinLnBrk="1"/>
          <a:endParaRPr lang="ko-KR" altLang="en-US" sz="400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66E0A0EB-D80D-4A76-ACAA-43BADB2B6593}" type="sibTrans" cxnId="{58598088-0E24-49A9-B34A-A6BD98574EE2}">
      <dgm:prSet/>
      <dgm:spPr/>
      <dgm:t>
        <a:bodyPr/>
        <a:lstStyle/>
        <a:p>
          <a:pPr latinLnBrk="1"/>
          <a:endParaRPr lang="ko-KR" altLang="en-US" sz="400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208777C2-0379-4784-A114-3DCAD3A05509}">
      <dgm:prSet phldrT="[텍스트]" custT="1"/>
      <dgm:spPr/>
      <dgm:t>
        <a:bodyPr/>
        <a:lstStyle/>
        <a:p>
          <a:pPr latinLnBrk="1"/>
          <a:r>
            <a:rPr lang="ko-KR" altLang="en-US" sz="2000" b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경제적</a:t>
          </a:r>
          <a:endParaRPr lang="en-US" altLang="ko-KR" sz="2000" b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latinLnBrk="1"/>
          <a:r>
            <a:rPr lang="ko-KR" altLang="en-US" sz="2000" b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 디자인</a:t>
          </a:r>
          <a:endParaRPr lang="en-US" altLang="ko-KR" sz="2000" b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940C5D5B-CA81-4838-8126-8C493BE00775}" type="parTrans" cxnId="{C5C874F6-53D3-45E3-92EA-C069F1E86017}">
      <dgm:prSet/>
      <dgm:spPr/>
      <dgm:t>
        <a:bodyPr/>
        <a:lstStyle/>
        <a:p>
          <a:pPr latinLnBrk="1"/>
          <a:endParaRPr lang="ko-KR" altLang="en-US" sz="400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0693ACCD-7589-4B4E-BFE9-338EA767E5A7}" type="sibTrans" cxnId="{C5C874F6-53D3-45E3-92EA-C069F1E86017}">
      <dgm:prSet/>
      <dgm:spPr/>
      <dgm:t>
        <a:bodyPr/>
        <a:lstStyle/>
        <a:p>
          <a:pPr latinLnBrk="1"/>
          <a:endParaRPr lang="ko-KR" altLang="en-US" sz="400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190D1EBA-4E84-49A8-8BB9-560A611A0DD5}">
      <dgm:prSet phldrT="[텍스트]" custT="1"/>
      <dgm:spPr>
        <a:solidFill>
          <a:schemeClr val="accent4">
            <a:lumMod val="10000"/>
            <a:lumOff val="90000"/>
          </a:schemeClr>
        </a:solidFill>
        <a:ln>
          <a:solidFill>
            <a:schemeClr val="accent2"/>
          </a:solidFill>
        </a:ln>
      </dgm:spPr>
      <dgm:t>
        <a:bodyPr/>
        <a:lstStyle/>
        <a:p>
          <a:pPr latinLnBrk="1"/>
          <a:r>
            <a:rPr lang="ko-KR" altLang="en-US" sz="2000" b="1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효율적</a:t>
          </a:r>
          <a:endParaRPr lang="en-US" altLang="ko-KR" sz="2000" b="1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latinLnBrk="1"/>
          <a:r>
            <a:rPr lang="ko-KR" altLang="en-US" sz="2000" b="1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1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AAC41184-B727-4113-8A67-A2D7DE1B9452}" type="parTrans" cxnId="{C68F3769-5C7A-4CA4-B4F5-36512333E7C4}">
      <dgm:prSet/>
      <dgm:spPr/>
      <dgm:t>
        <a:bodyPr/>
        <a:lstStyle/>
        <a:p>
          <a:pPr latinLnBrk="1"/>
          <a:endParaRPr lang="ko-KR" altLang="en-US" sz="400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AE241254-4A1C-4560-ADAC-5922902AA724}" type="sibTrans" cxnId="{C68F3769-5C7A-4CA4-B4F5-36512333E7C4}">
      <dgm:prSet/>
      <dgm:spPr/>
      <dgm:t>
        <a:bodyPr/>
        <a:lstStyle/>
        <a:p>
          <a:pPr latinLnBrk="1"/>
          <a:endParaRPr lang="ko-KR" altLang="en-US" sz="400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BE0AB98C-CE0D-4C18-8AFB-8DCED808AAC7}" type="pres">
      <dgm:prSet presAssocID="{52F20221-EEC7-4C2E-BF46-1D5AE5AF86F9}" presName="cycle" presStyleCnt="0">
        <dgm:presLayoutVars>
          <dgm:dir/>
          <dgm:resizeHandles val="exact"/>
        </dgm:presLayoutVars>
      </dgm:prSet>
      <dgm:spPr/>
    </dgm:pt>
    <dgm:pt modelId="{52E6ABE0-FADB-4622-A6EF-2AD1A72C3176}" type="pres">
      <dgm:prSet presAssocID="{4D5DAEDD-F08C-4D51-B1B2-07131580B02C}" presName="node" presStyleLbl="node1" presStyleIdx="0" presStyleCnt="3" custScaleY="149722" custRadScaleRad="86047" custRadScaleInc="0">
        <dgm:presLayoutVars>
          <dgm:bulletEnabled val="1"/>
        </dgm:presLayoutVars>
      </dgm:prSet>
      <dgm:spPr/>
    </dgm:pt>
    <dgm:pt modelId="{0B72CE07-55AF-41F7-BB48-B2F5A4AAEE0C}" type="pres">
      <dgm:prSet presAssocID="{4D5DAEDD-F08C-4D51-B1B2-07131580B02C}" presName="spNode" presStyleCnt="0"/>
      <dgm:spPr/>
    </dgm:pt>
    <dgm:pt modelId="{07D6E1BF-61AC-467B-AE75-F5E87E352472}" type="pres">
      <dgm:prSet presAssocID="{66E0A0EB-D80D-4A76-ACAA-43BADB2B6593}" presName="sibTrans" presStyleLbl="sibTrans1D1" presStyleIdx="0" presStyleCnt="3"/>
      <dgm:spPr/>
    </dgm:pt>
    <dgm:pt modelId="{531200B1-4050-40DC-98BF-20D8C47581B2}" type="pres">
      <dgm:prSet presAssocID="{208777C2-0379-4784-A114-3DCAD3A05509}" presName="node" presStyleLbl="node1" presStyleIdx="1" presStyleCnt="3" custScaleY="154314" custRadScaleRad="92834" custRadScaleInc="-17738">
        <dgm:presLayoutVars>
          <dgm:bulletEnabled val="1"/>
        </dgm:presLayoutVars>
      </dgm:prSet>
      <dgm:spPr/>
    </dgm:pt>
    <dgm:pt modelId="{253BAEAB-8100-4607-9E89-B856EB795B7D}" type="pres">
      <dgm:prSet presAssocID="{208777C2-0379-4784-A114-3DCAD3A05509}" presName="spNode" presStyleCnt="0"/>
      <dgm:spPr/>
    </dgm:pt>
    <dgm:pt modelId="{437469E4-B2C8-49E4-B2ED-86E1651CE14A}" type="pres">
      <dgm:prSet presAssocID="{0693ACCD-7589-4B4E-BFE9-338EA767E5A7}" presName="sibTrans" presStyleLbl="sibTrans1D1" presStyleIdx="1" presStyleCnt="3"/>
      <dgm:spPr/>
    </dgm:pt>
    <dgm:pt modelId="{528FD06A-CC93-4383-8289-E5387FEDEA5B}" type="pres">
      <dgm:prSet presAssocID="{190D1EBA-4E84-49A8-8BB9-560A611A0DD5}" presName="node" presStyleLbl="node1" presStyleIdx="2" presStyleCnt="3" custScaleY="154314" custRadScaleRad="93917" custRadScaleInc="14407">
        <dgm:presLayoutVars>
          <dgm:bulletEnabled val="1"/>
        </dgm:presLayoutVars>
      </dgm:prSet>
      <dgm:spPr/>
    </dgm:pt>
    <dgm:pt modelId="{B8D27F71-1FA8-4C5D-9078-FC59A555CF48}" type="pres">
      <dgm:prSet presAssocID="{190D1EBA-4E84-49A8-8BB9-560A611A0DD5}" presName="spNode" presStyleCnt="0"/>
      <dgm:spPr/>
    </dgm:pt>
    <dgm:pt modelId="{33CF4066-D469-4445-A7BF-41D5DD7D562A}" type="pres">
      <dgm:prSet presAssocID="{AE241254-4A1C-4560-ADAC-5922902AA724}" presName="sibTrans" presStyleLbl="sibTrans1D1" presStyleIdx="2" presStyleCnt="3"/>
      <dgm:spPr/>
    </dgm:pt>
  </dgm:ptLst>
  <dgm:cxnLst>
    <dgm:cxn modelId="{C68F3769-5C7A-4CA4-B4F5-36512333E7C4}" srcId="{52F20221-EEC7-4C2E-BF46-1D5AE5AF86F9}" destId="{190D1EBA-4E84-49A8-8BB9-560A611A0DD5}" srcOrd="2" destOrd="0" parTransId="{AAC41184-B727-4113-8A67-A2D7DE1B9452}" sibTransId="{AE241254-4A1C-4560-ADAC-5922902AA724}"/>
    <dgm:cxn modelId="{AA8EB375-4968-4B23-919F-B90DACC486E0}" type="presOf" srcId="{208777C2-0379-4784-A114-3DCAD3A05509}" destId="{531200B1-4050-40DC-98BF-20D8C47581B2}" srcOrd="0" destOrd="0" presId="urn:microsoft.com/office/officeart/2005/8/layout/cycle6"/>
    <dgm:cxn modelId="{58598088-0E24-49A9-B34A-A6BD98574EE2}" srcId="{52F20221-EEC7-4C2E-BF46-1D5AE5AF86F9}" destId="{4D5DAEDD-F08C-4D51-B1B2-07131580B02C}" srcOrd="0" destOrd="0" parTransId="{25A7A3A6-872B-48BF-882E-97FF3B7B0EB6}" sibTransId="{66E0A0EB-D80D-4A76-ACAA-43BADB2B6593}"/>
    <dgm:cxn modelId="{B0244D97-9444-4C66-89EB-0272EA133684}" type="presOf" srcId="{AE241254-4A1C-4560-ADAC-5922902AA724}" destId="{33CF4066-D469-4445-A7BF-41D5DD7D562A}" srcOrd="0" destOrd="0" presId="urn:microsoft.com/office/officeart/2005/8/layout/cycle6"/>
    <dgm:cxn modelId="{A96B259D-DCFE-4007-B818-5F57FD7E80ED}" type="presOf" srcId="{190D1EBA-4E84-49A8-8BB9-560A611A0DD5}" destId="{528FD06A-CC93-4383-8289-E5387FEDEA5B}" srcOrd="0" destOrd="0" presId="urn:microsoft.com/office/officeart/2005/8/layout/cycle6"/>
    <dgm:cxn modelId="{8E1079B3-C573-4BA1-B98B-53EB3A68818B}" type="presOf" srcId="{4D5DAEDD-F08C-4D51-B1B2-07131580B02C}" destId="{52E6ABE0-FADB-4622-A6EF-2AD1A72C3176}" srcOrd="0" destOrd="0" presId="urn:microsoft.com/office/officeart/2005/8/layout/cycle6"/>
    <dgm:cxn modelId="{B2E6F7C1-04D5-4963-A77C-692D767FE229}" type="presOf" srcId="{66E0A0EB-D80D-4A76-ACAA-43BADB2B6593}" destId="{07D6E1BF-61AC-467B-AE75-F5E87E352472}" srcOrd="0" destOrd="0" presId="urn:microsoft.com/office/officeart/2005/8/layout/cycle6"/>
    <dgm:cxn modelId="{41EA62C5-2FEB-43D2-8172-5C5C58DC8C85}" type="presOf" srcId="{52F20221-EEC7-4C2E-BF46-1D5AE5AF86F9}" destId="{BE0AB98C-CE0D-4C18-8AFB-8DCED808AAC7}" srcOrd="0" destOrd="0" presId="urn:microsoft.com/office/officeart/2005/8/layout/cycle6"/>
    <dgm:cxn modelId="{D14A37DB-9A2A-4F4C-A1C3-293161C02F30}" type="presOf" srcId="{0693ACCD-7589-4B4E-BFE9-338EA767E5A7}" destId="{437469E4-B2C8-49E4-B2ED-86E1651CE14A}" srcOrd="0" destOrd="0" presId="urn:microsoft.com/office/officeart/2005/8/layout/cycle6"/>
    <dgm:cxn modelId="{C5C874F6-53D3-45E3-92EA-C069F1E86017}" srcId="{52F20221-EEC7-4C2E-BF46-1D5AE5AF86F9}" destId="{208777C2-0379-4784-A114-3DCAD3A05509}" srcOrd="1" destOrd="0" parTransId="{940C5D5B-CA81-4838-8126-8C493BE00775}" sibTransId="{0693ACCD-7589-4B4E-BFE9-338EA767E5A7}"/>
    <dgm:cxn modelId="{F6D049BB-EB64-4698-9203-910AF47CEC5A}" type="presParOf" srcId="{BE0AB98C-CE0D-4C18-8AFB-8DCED808AAC7}" destId="{52E6ABE0-FADB-4622-A6EF-2AD1A72C3176}" srcOrd="0" destOrd="0" presId="urn:microsoft.com/office/officeart/2005/8/layout/cycle6"/>
    <dgm:cxn modelId="{AAF8210D-64CB-43CD-B246-6BB61C9B57C3}" type="presParOf" srcId="{BE0AB98C-CE0D-4C18-8AFB-8DCED808AAC7}" destId="{0B72CE07-55AF-41F7-BB48-B2F5A4AAEE0C}" srcOrd="1" destOrd="0" presId="urn:microsoft.com/office/officeart/2005/8/layout/cycle6"/>
    <dgm:cxn modelId="{67B6D419-04E6-4F08-803A-66C5428B0AE2}" type="presParOf" srcId="{BE0AB98C-CE0D-4C18-8AFB-8DCED808AAC7}" destId="{07D6E1BF-61AC-467B-AE75-F5E87E352472}" srcOrd="2" destOrd="0" presId="urn:microsoft.com/office/officeart/2005/8/layout/cycle6"/>
    <dgm:cxn modelId="{3A69830A-9C6B-4E1C-B232-ABDF094C5232}" type="presParOf" srcId="{BE0AB98C-CE0D-4C18-8AFB-8DCED808AAC7}" destId="{531200B1-4050-40DC-98BF-20D8C47581B2}" srcOrd="3" destOrd="0" presId="urn:microsoft.com/office/officeart/2005/8/layout/cycle6"/>
    <dgm:cxn modelId="{7C593EAF-ACDC-4049-8EA3-36CA138D301E}" type="presParOf" srcId="{BE0AB98C-CE0D-4C18-8AFB-8DCED808AAC7}" destId="{253BAEAB-8100-4607-9E89-B856EB795B7D}" srcOrd="4" destOrd="0" presId="urn:microsoft.com/office/officeart/2005/8/layout/cycle6"/>
    <dgm:cxn modelId="{BB282C92-333F-4AA6-9A79-5E79413BFB90}" type="presParOf" srcId="{BE0AB98C-CE0D-4C18-8AFB-8DCED808AAC7}" destId="{437469E4-B2C8-49E4-B2ED-86E1651CE14A}" srcOrd="5" destOrd="0" presId="urn:microsoft.com/office/officeart/2005/8/layout/cycle6"/>
    <dgm:cxn modelId="{2BD9BC57-26B1-4144-A6DE-347C762A8B3C}" type="presParOf" srcId="{BE0AB98C-CE0D-4C18-8AFB-8DCED808AAC7}" destId="{528FD06A-CC93-4383-8289-E5387FEDEA5B}" srcOrd="6" destOrd="0" presId="urn:microsoft.com/office/officeart/2005/8/layout/cycle6"/>
    <dgm:cxn modelId="{0815BDEC-51F0-4D0A-81D5-C4F9125382F7}" type="presParOf" srcId="{BE0AB98C-CE0D-4C18-8AFB-8DCED808AAC7}" destId="{B8D27F71-1FA8-4C5D-9078-FC59A555CF48}" srcOrd="7" destOrd="0" presId="urn:microsoft.com/office/officeart/2005/8/layout/cycle6"/>
    <dgm:cxn modelId="{028AB901-E409-487A-A41A-A2899D6951F1}" type="presParOf" srcId="{BE0AB98C-CE0D-4C18-8AFB-8DCED808AAC7}" destId="{33CF4066-D469-4445-A7BF-41D5DD7D562A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F20221-EEC7-4C2E-BF46-1D5AE5AF86F9}" type="doc">
      <dgm:prSet loTypeId="urn:microsoft.com/office/officeart/2005/8/layout/cycle6" loCatId="relationship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pPr latinLnBrk="1"/>
          <a:endParaRPr lang="ko-KR" altLang="en-US"/>
        </a:p>
      </dgm:t>
    </dgm:pt>
    <dgm:pt modelId="{4D5DAEDD-F08C-4D51-B1B2-07131580B02C}">
      <dgm:prSet phldrT="[텍스트]" custT="1"/>
      <dgm:spPr>
        <a:noFill/>
        <a:ln>
          <a:solidFill>
            <a:schemeClr val="accent6"/>
          </a:solidFill>
        </a:ln>
      </dgm:spPr>
      <dgm:t>
        <a:bodyPr/>
        <a:lstStyle/>
        <a:p>
          <a:pPr latinLnBrk="1"/>
          <a:r>
            <a:rPr lang="ko-KR" altLang="en-US" sz="2000" b="1" i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인체공학적</a:t>
          </a:r>
          <a:endParaRPr lang="en-US" altLang="ko-KR" sz="2000" b="1" i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latinLnBrk="1"/>
          <a:r>
            <a:rPr lang="ko-KR" altLang="en-US" sz="2000" b="1" i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1" i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25A7A3A6-872B-48BF-882E-97FF3B7B0EB6}" type="parTrans" cxnId="{58598088-0E24-49A9-B34A-A6BD98574EE2}">
      <dgm:prSet/>
      <dgm:spPr/>
      <dgm:t>
        <a:bodyPr/>
        <a:lstStyle/>
        <a:p>
          <a:pPr latinLnBrk="1"/>
          <a:endParaRPr lang="ko-KR" altLang="en-US" sz="280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66E0A0EB-D80D-4A76-ACAA-43BADB2B6593}" type="sibTrans" cxnId="{58598088-0E24-49A9-B34A-A6BD98574EE2}">
      <dgm:prSet/>
      <dgm:spPr/>
      <dgm:t>
        <a:bodyPr/>
        <a:lstStyle/>
        <a:p>
          <a:pPr latinLnBrk="1"/>
          <a:endParaRPr lang="ko-KR" altLang="en-US" sz="2800" b="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208777C2-0379-4784-A114-3DCAD3A05509}">
      <dgm:prSet phldrT="[텍스트]" custT="1"/>
      <dgm:spPr>
        <a:solidFill>
          <a:schemeClr val="accent5">
            <a:lumMod val="90000"/>
          </a:schemeClr>
        </a:solidFill>
        <a:ln>
          <a:solidFill>
            <a:schemeClr val="accent2"/>
          </a:solidFill>
        </a:ln>
      </dgm:spPr>
      <dgm:t>
        <a:bodyPr/>
        <a:lstStyle/>
        <a:p>
          <a:pPr latinLnBrk="1"/>
          <a:r>
            <a:rPr lang="ko-KR" altLang="en-US" sz="2000" b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경제적</a:t>
          </a:r>
          <a:endParaRPr lang="en-US" altLang="ko-KR" sz="2000" b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latinLnBrk="1"/>
          <a:r>
            <a:rPr lang="ko-KR" altLang="en-US" sz="2000" b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 디자인</a:t>
          </a:r>
          <a:endParaRPr lang="en-US" altLang="ko-KR" sz="2000" b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940C5D5B-CA81-4838-8126-8C493BE00775}" type="parTrans" cxnId="{C5C874F6-53D3-45E3-92EA-C069F1E86017}">
      <dgm:prSet/>
      <dgm:spPr/>
      <dgm:t>
        <a:bodyPr/>
        <a:lstStyle/>
        <a:p>
          <a:pPr latinLnBrk="1"/>
          <a:endParaRPr lang="ko-KR" altLang="en-US" sz="280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0693ACCD-7589-4B4E-BFE9-338EA767E5A7}" type="sibTrans" cxnId="{C5C874F6-53D3-45E3-92EA-C069F1E86017}">
      <dgm:prSet/>
      <dgm:spPr/>
      <dgm:t>
        <a:bodyPr/>
        <a:lstStyle/>
        <a:p>
          <a:pPr latinLnBrk="1"/>
          <a:endParaRPr lang="ko-KR" altLang="en-US" sz="2800" b="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190D1EBA-4E84-49A8-8BB9-560A611A0DD5}">
      <dgm:prSet phldrT="[텍스트]" custT="1"/>
      <dgm:spPr/>
      <dgm:t>
        <a:bodyPr/>
        <a:lstStyle/>
        <a:p>
          <a:pPr latinLnBrk="1"/>
          <a:r>
            <a:rPr lang="ko-KR" altLang="en-US" sz="2000" b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효율적</a:t>
          </a:r>
          <a:endParaRPr lang="en-US" altLang="ko-KR" sz="2000" b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latinLnBrk="1"/>
          <a:r>
            <a:rPr lang="ko-KR" altLang="en-US" sz="2000" b="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gm:t>
    </dgm:pt>
    <dgm:pt modelId="{AAC41184-B727-4113-8A67-A2D7DE1B9452}" type="parTrans" cxnId="{C68F3769-5C7A-4CA4-B4F5-36512333E7C4}">
      <dgm:prSet/>
      <dgm:spPr/>
      <dgm:t>
        <a:bodyPr/>
        <a:lstStyle/>
        <a:p>
          <a:pPr latinLnBrk="1"/>
          <a:endParaRPr lang="ko-KR" altLang="en-US" sz="280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AE241254-4A1C-4560-ADAC-5922902AA724}" type="sibTrans" cxnId="{C68F3769-5C7A-4CA4-B4F5-36512333E7C4}">
      <dgm:prSet/>
      <dgm:spPr/>
      <dgm:t>
        <a:bodyPr/>
        <a:lstStyle/>
        <a:p>
          <a:pPr latinLnBrk="1"/>
          <a:endParaRPr lang="ko-KR" altLang="en-US" sz="2800" b="0">
            <a:latin typeface="함초롬돋움" panose="02030504000101010101" pitchFamily="18" charset="-127"/>
            <a:ea typeface="함초롬돋움" panose="02030504000101010101" pitchFamily="18" charset="-127"/>
            <a:cs typeface="함초롬돋움" panose="02030504000101010101" pitchFamily="18" charset="-127"/>
          </a:endParaRPr>
        </a:p>
      </dgm:t>
    </dgm:pt>
    <dgm:pt modelId="{BE0AB98C-CE0D-4C18-8AFB-8DCED808AAC7}" type="pres">
      <dgm:prSet presAssocID="{52F20221-EEC7-4C2E-BF46-1D5AE5AF86F9}" presName="cycle" presStyleCnt="0">
        <dgm:presLayoutVars>
          <dgm:dir/>
          <dgm:resizeHandles val="exact"/>
        </dgm:presLayoutVars>
      </dgm:prSet>
      <dgm:spPr/>
    </dgm:pt>
    <dgm:pt modelId="{52E6ABE0-FADB-4622-A6EF-2AD1A72C3176}" type="pres">
      <dgm:prSet presAssocID="{4D5DAEDD-F08C-4D51-B1B2-07131580B02C}" presName="node" presStyleLbl="node1" presStyleIdx="0" presStyleCnt="3" custScaleY="149722" custRadScaleRad="86047" custRadScaleInc="0">
        <dgm:presLayoutVars>
          <dgm:bulletEnabled val="1"/>
        </dgm:presLayoutVars>
      </dgm:prSet>
      <dgm:spPr/>
    </dgm:pt>
    <dgm:pt modelId="{0B72CE07-55AF-41F7-BB48-B2F5A4AAEE0C}" type="pres">
      <dgm:prSet presAssocID="{4D5DAEDD-F08C-4D51-B1B2-07131580B02C}" presName="spNode" presStyleCnt="0"/>
      <dgm:spPr/>
    </dgm:pt>
    <dgm:pt modelId="{07D6E1BF-61AC-467B-AE75-F5E87E352472}" type="pres">
      <dgm:prSet presAssocID="{66E0A0EB-D80D-4A76-ACAA-43BADB2B6593}" presName="sibTrans" presStyleLbl="sibTrans1D1" presStyleIdx="0" presStyleCnt="3"/>
      <dgm:spPr/>
    </dgm:pt>
    <dgm:pt modelId="{531200B1-4050-40DC-98BF-20D8C47581B2}" type="pres">
      <dgm:prSet presAssocID="{208777C2-0379-4784-A114-3DCAD3A05509}" presName="node" presStyleLbl="node1" presStyleIdx="1" presStyleCnt="3" custScaleY="154314" custRadScaleRad="92850" custRadScaleInc="-16725">
        <dgm:presLayoutVars>
          <dgm:bulletEnabled val="1"/>
        </dgm:presLayoutVars>
      </dgm:prSet>
      <dgm:spPr/>
    </dgm:pt>
    <dgm:pt modelId="{253BAEAB-8100-4607-9E89-B856EB795B7D}" type="pres">
      <dgm:prSet presAssocID="{208777C2-0379-4784-A114-3DCAD3A05509}" presName="spNode" presStyleCnt="0"/>
      <dgm:spPr/>
    </dgm:pt>
    <dgm:pt modelId="{437469E4-B2C8-49E4-B2ED-86E1651CE14A}" type="pres">
      <dgm:prSet presAssocID="{0693ACCD-7589-4B4E-BFE9-338EA767E5A7}" presName="sibTrans" presStyleLbl="sibTrans1D1" presStyleIdx="1" presStyleCnt="3"/>
      <dgm:spPr/>
    </dgm:pt>
    <dgm:pt modelId="{528FD06A-CC93-4383-8289-E5387FEDEA5B}" type="pres">
      <dgm:prSet presAssocID="{190D1EBA-4E84-49A8-8BB9-560A611A0DD5}" presName="node" presStyleLbl="node1" presStyleIdx="2" presStyleCnt="3" custScaleY="154314" custRadScaleRad="93917" custRadScaleInc="14407">
        <dgm:presLayoutVars>
          <dgm:bulletEnabled val="1"/>
        </dgm:presLayoutVars>
      </dgm:prSet>
      <dgm:spPr/>
    </dgm:pt>
    <dgm:pt modelId="{B8D27F71-1FA8-4C5D-9078-FC59A555CF48}" type="pres">
      <dgm:prSet presAssocID="{190D1EBA-4E84-49A8-8BB9-560A611A0DD5}" presName="spNode" presStyleCnt="0"/>
      <dgm:spPr/>
    </dgm:pt>
    <dgm:pt modelId="{33CF4066-D469-4445-A7BF-41D5DD7D562A}" type="pres">
      <dgm:prSet presAssocID="{AE241254-4A1C-4560-ADAC-5922902AA724}" presName="sibTrans" presStyleLbl="sibTrans1D1" presStyleIdx="2" presStyleCnt="3"/>
      <dgm:spPr/>
    </dgm:pt>
  </dgm:ptLst>
  <dgm:cxnLst>
    <dgm:cxn modelId="{75F05400-DC42-479A-B02F-78D07A350CAF}" type="presOf" srcId="{0693ACCD-7589-4B4E-BFE9-338EA767E5A7}" destId="{437469E4-B2C8-49E4-B2ED-86E1651CE14A}" srcOrd="0" destOrd="0" presId="urn:microsoft.com/office/officeart/2005/8/layout/cycle6"/>
    <dgm:cxn modelId="{A6A62A1A-22C1-4850-B457-3CD9FB5E1257}" type="presOf" srcId="{4D5DAEDD-F08C-4D51-B1B2-07131580B02C}" destId="{52E6ABE0-FADB-4622-A6EF-2AD1A72C3176}" srcOrd="0" destOrd="0" presId="urn:microsoft.com/office/officeart/2005/8/layout/cycle6"/>
    <dgm:cxn modelId="{F478AE5D-791D-4D1F-81A1-0989335B7412}" type="presOf" srcId="{AE241254-4A1C-4560-ADAC-5922902AA724}" destId="{33CF4066-D469-4445-A7BF-41D5DD7D562A}" srcOrd="0" destOrd="0" presId="urn:microsoft.com/office/officeart/2005/8/layout/cycle6"/>
    <dgm:cxn modelId="{AA2CF966-C1E5-4C5A-957E-99A289C7822E}" type="presOf" srcId="{190D1EBA-4E84-49A8-8BB9-560A611A0DD5}" destId="{528FD06A-CC93-4383-8289-E5387FEDEA5B}" srcOrd="0" destOrd="0" presId="urn:microsoft.com/office/officeart/2005/8/layout/cycle6"/>
    <dgm:cxn modelId="{C68F3769-5C7A-4CA4-B4F5-36512333E7C4}" srcId="{52F20221-EEC7-4C2E-BF46-1D5AE5AF86F9}" destId="{190D1EBA-4E84-49A8-8BB9-560A611A0DD5}" srcOrd="2" destOrd="0" parTransId="{AAC41184-B727-4113-8A67-A2D7DE1B9452}" sibTransId="{AE241254-4A1C-4560-ADAC-5922902AA724}"/>
    <dgm:cxn modelId="{33B57C71-28EF-422F-98B0-B771A24215B9}" type="presOf" srcId="{208777C2-0379-4784-A114-3DCAD3A05509}" destId="{531200B1-4050-40DC-98BF-20D8C47581B2}" srcOrd="0" destOrd="0" presId="urn:microsoft.com/office/officeart/2005/8/layout/cycle6"/>
    <dgm:cxn modelId="{AF5BC251-3D4A-40A2-8349-CDB88DB6E2AF}" type="presOf" srcId="{52F20221-EEC7-4C2E-BF46-1D5AE5AF86F9}" destId="{BE0AB98C-CE0D-4C18-8AFB-8DCED808AAC7}" srcOrd="0" destOrd="0" presId="urn:microsoft.com/office/officeart/2005/8/layout/cycle6"/>
    <dgm:cxn modelId="{58598088-0E24-49A9-B34A-A6BD98574EE2}" srcId="{52F20221-EEC7-4C2E-BF46-1D5AE5AF86F9}" destId="{4D5DAEDD-F08C-4D51-B1B2-07131580B02C}" srcOrd="0" destOrd="0" parTransId="{25A7A3A6-872B-48BF-882E-97FF3B7B0EB6}" sibTransId="{66E0A0EB-D80D-4A76-ACAA-43BADB2B6593}"/>
    <dgm:cxn modelId="{A99054A3-DD17-406C-9AA8-50B2DEBA9021}" type="presOf" srcId="{66E0A0EB-D80D-4A76-ACAA-43BADB2B6593}" destId="{07D6E1BF-61AC-467B-AE75-F5E87E352472}" srcOrd="0" destOrd="0" presId="urn:microsoft.com/office/officeart/2005/8/layout/cycle6"/>
    <dgm:cxn modelId="{C5C874F6-53D3-45E3-92EA-C069F1E86017}" srcId="{52F20221-EEC7-4C2E-BF46-1D5AE5AF86F9}" destId="{208777C2-0379-4784-A114-3DCAD3A05509}" srcOrd="1" destOrd="0" parTransId="{940C5D5B-CA81-4838-8126-8C493BE00775}" sibTransId="{0693ACCD-7589-4B4E-BFE9-338EA767E5A7}"/>
    <dgm:cxn modelId="{9A541492-2EDC-485C-805F-4F4FC13C50FB}" type="presParOf" srcId="{BE0AB98C-CE0D-4C18-8AFB-8DCED808AAC7}" destId="{52E6ABE0-FADB-4622-A6EF-2AD1A72C3176}" srcOrd="0" destOrd="0" presId="urn:microsoft.com/office/officeart/2005/8/layout/cycle6"/>
    <dgm:cxn modelId="{EF20DF5C-D32B-432E-AA35-D237D33B82CB}" type="presParOf" srcId="{BE0AB98C-CE0D-4C18-8AFB-8DCED808AAC7}" destId="{0B72CE07-55AF-41F7-BB48-B2F5A4AAEE0C}" srcOrd="1" destOrd="0" presId="urn:microsoft.com/office/officeart/2005/8/layout/cycle6"/>
    <dgm:cxn modelId="{21E94EE7-36B3-4ED4-BCA4-79B5A6A7ED86}" type="presParOf" srcId="{BE0AB98C-CE0D-4C18-8AFB-8DCED808AAC7}" destId="{07D6E1BF-61AC-467B-AE75-F5E87E352472}" srcOrd="2" destOrd="0" presId="urn:microsoft.com/office/officeart/2005/8/layout/cycle6"/>
    <dgm:cxn modelId="{25405332-3678-4AC7-9A94-D26D104AE03A}" type="presParOf" srcId="{BE0AB98C-CE0D-4C18-8AFB-8DCED808AAC7}" destId="{531200B1-4050-40DC-98BF-20D8C47581B2}" srcOrd="3" destOrd="0" presId="urn:microsoft.com/office/officeart/2005/8/layout/cycle6"/>
    <dgm:cxn modelId="{98F3348D-E994-428A-9745-FAC9B7A2BC7E}" type="presParOf" srcId="{BE0AB98C-CE0D-4C18-8AFB-8DCED808AAC7}" destId="{253BAEAB-8100-4607-9E89-B856EB795B7D}" srcOrd="4" destOrd="0" presId="urn:microsoft.com/office/officeart/2005/8/layout/cycle6"/>
    <dgm:cxn modelId="{9F8B1C21-763B-4178-B773-C3A689FCA340}" type="presParOf" srcId="{BE0AB98C-CE0D-4C18-8AFB-8DCED808AAC7}" destId="{437469E4-B2C8-49E4-B2ED-86E1651CE14A}" srcOrd="5" destOrd="0" presId="urn:microsoft.com/office/officeart/2005/8/layout/cycle6"/>
    <dgm:cxn modelId="{886C77C6-0274-4D47-806C-28F98991FAFF}" type="presParOf" srcId="{BE0AB98C-CE0D-4C18-8AFB-8DCED808AAC7}" destId="{528FD06A-CC93-4383-8289-E5387FEDEA5B}" srcOrd="6" destOrd="0" presId="urn:microsoft.com/office/officeart/2005/8/layout/cycle6"/>
    <dgm:cxn modelId="{0976ABC1-C9C1-48A9-971C-EBAC492CBAC8}" type="presParOf" srcId="{BE0AB98C-CE0D-4C18-8AFB-8DCED808AAC7}" destId="{B8D27F71-1FA8-4C5D-9078-FC59A555CF48}" srcOrd="7" destOrd="0" presId="urn:microsoft.com/office/officeart/2005/8/layout/cycle6"/>
    <dgm:cxn modelId="{F2321B19-AAF9-44B3-BB4C-1001CFA8BDFA}" type="presParOf" srcId="{BE0AB98C-CE0D-4C18-8AFB-8DCED808AAC7}" destId="{33CF4066-D469-4445-A7BF-41D5DD7D562A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E6ABE0-FADB-4622-A6EF-2AD1A72C3176}">
      <dsp:nvSpPr>
        <dsp:cNvPr id="0" name=""/>
        <dsp:cNvSpPr/>
      </dsp:nvSpPr>
      <dsp:spPr>
        <a:xfrm>
          <a:off x="1680310" y="71633"/>
          <a:ext cx="1775611" cy="1728012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i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인체공학적</a:t>
          </a:r>
          <a:endParaRPr lang="en-US" altLang="ko-KR" sz="2000" b="1" i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i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1" i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sp:txBody>
      <dsp:txXfrm>
        <a:off x="1764665" y="155988"/>
        <a:ext cx="1606901" cy="1559302"/>
      </dsp:txXfrm>
    </dsp:sp>
    <dsp:sp modelId="{07D6E1BF-61AC-467B-AE75-F5E87E352472}">
      <dsp:nvSpPr>
        <dsp:cNvPr id="0" name=""/>
        <dsp:cNvSpPr/>
      </dsp:nvSpPr>
      <dsp:spPr>
        <a:xfrm>
          <a:off x="989808" y="968061"/>
          <a:ext cx="3081787" cy="3081787"/>
        </a:xfrm>
        <a:custGeom>
          <a:avLst/>
          <a:gdLst/>
          <a:ahLst/>
          <a:cxnLst/>
          <a:rect l="0" t="0" r="0" b="0"/>
          <a:pathLst>
            <a:path>
              <a:moveTo>
                <a:pt x="2472750" y="313703"/>
              </a:moveTo>
              <a:arcTo wR="1540893" hR="1540893" stAng="18432655" swAng="1841881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1200B1-4050-40DC-98BF-20D8C47581B2}">
      <dsp:nvSpPr>
        <dsp:cNvPr id="0" name=""/>
        <dsp:cNvSpPr/>
      </dsp:nvSpPr>
      <dsp:spPr>
        <a:xfrm>
          <a:off x="2994251" y="1937171"/>
          <a:ext cx="1775611" cy="178101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경제적</a:t>
          </a:r>
          <a:endParaRPr lang="en-US" altLang="ko-KR" sz="2000" b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 디자인</a:t>
          </a:r>
          <a:endParaRPr lang="en-US" altLang="ko-KR" sz="2000" b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sp:txBody>
      <dsp:txXfrm>
        <a:off x="3080929" y="2023849"/>
        <a:ext cx="1602255" cy="1607655"/>
      </dsp:txXfrm>
    </dsp:sp>
    <dsp:sp modelId="{437469E4-B2C8-49E4-B2ED-86E1651CE14A}">
      <dsp:nvSpPr>
        <dsp:cNvPr id="0" name=""/>
        <dsp:cNvSpPr/>
      </dsp:nvSpPr>
      <dsp:spPr>
        <a:xfrm>
          <a:off x="997732" y="614432"/>
          <a:ext cx="3081787" cy="3081787"/>
        </a:xfrm>
        <a:custGeom>
          <a:avLst/>
          <a:gdLst/>
          <a:ahLst/>
          <a:cxnLst/>
          <a:rect l="0" t="0" r="0" b="0"/>
          <a:pathLst>
            <a:path>
              <a:moveTo>
                <a:pt x="1988314" y="3015400"/>
              </a:moveTo>
              <a:arcTo wR="1540893" hR="1540893" stAng="4387214" swAng="1901709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8FD06A-CC93-4383-8289-E5387FEDEA5B}">
      <dsp:nvSpPr>
        <dsp:cNvPr id="0" name=""/>
        <dsp:cNvSpPr/>
      </dsp:nvSpPr>
      <dsp:spPr>
        <a:xfrm>
          <a:off x="360710" y="1965109"/>
          <a:ext cx="1775611" cy="178101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효율적</a:t>
          </a:r>
          <a:endParaRPr lang="en-US" altLang="ko-KR" sz="2000" b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sp:txBody>
      <dsp:txXfrm>
        <a:off x="447388" y="2051787"/>
        <a:ext cx="1602255" cy="1607655"/>
      </dsp:txXfrm>
    </dsp:sp>
    <dsp:sp modelId="{33CF4066-D469-4445-A7BF-41D5DD7D562A}">
      <dsp:nvSpPr>
        <dsp:cNvPr id="0" name=""/>
        <dsp:cNvSpPr/>
      </dsp:nvSpPr>
      <dsp:spPr>
        <a:xfrm>
          <a:off x="1047676" y="980614"/>
          <a:ext cx="3081787" cy="3081787"/>
        </a:xfrm>
        <a:custGeom>
          <a:avLst/>
          <a:gdLst/>
          <a:ahLst/>
          <a:cxnLst/>
          <a:rect l="0" t="0" r="0" b="0"/>
          <a:pathLst>
            <a:path>
              <a:moveTo>
                <a:pt x="107118" y="976409"/>
              </a:moveTo>
              <a:arcTo wR="1540893" hR="1540893" stAng="12089387" swAng="1924223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E6ABE0-FADB-4622-A6EF-2AD1A72C3176}">
      <dsp:nvSpPr>
        <dsp:cNvPr id="0" name=""/>
        <dsp:cNvSpPr/>
      </dsp:nvSpPr>
      <dsp:spPr>
        <a:xfrm>
          <a:off x="1737992" y="67210"/>
          <a:ext cx="1660246" cy="1615740"/>
        </a:xfrm>
        <a:prstGeom prst="roundRect">
          <a:avLst/>
        </a:prstGeom>
        <a:noFill/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i="0" kern="1200" dirty="0">
              <a:effectLst/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인체공학적</a:t>
          </a:r>
          <a:endParaRPr lang="en-US" altLang="ko-KR" sz="2000" b="0" i="0" kern="1200" dirty="0">
            <a:effectLst/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i="0" kern="1200" dirty="0">
              <a:effectLst/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0" i="0" kern="1200" dirty="0">
            <a:effectLst/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sp:txBody>
      <dsp:txXfrm>
        <a:off x="1816866" y="146084"/>
        <a:ext cx="1502498" cy="1457992"/>
      </dsp:txXfrm>
    </dsp:sp>
    <dsp:sp modelId="{07D6E1BF-61AC-467B-AE75-F5E87E352472}">
      <dsp:nvSpPr>
        <dsp:cNvPr id="0" name=""/>
        <dsp:cNvSpPr/>
      </dsp:nvSpPr>
      <dsp:spPr>
        <a:xfrm>
          <a:off x="1097547" y="907319"/>
          <a:ext cx="2875935" cy="2875935"/>
        </a:xfrm>
        <a:custGeom>
          <a:avLst/>
          <a:gdLst/>
          <a:ahLst/>
          <a:cxnLst/>
          <a:rect l="0" t="0" r="0" b="0"/>
          <a:pathLst>
            <a:path>
              <a:moveTo>
                <a:pt x="2306792" y="292152"/>
              </a:moveTo>
              <a:arcTo wR="1437967" hR="1437967" stAng="18430294" swAng="1812591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1200B1-4050-40DC-98BF-20D8C47581B2}">
      <dsp:nvSpPr>
        <dsp:cNvPr id="0" name=""/>
        <dsp:cNvSpPr/>
      </dsp:nvSpPr>
      <dsp:spPr>
        <a:xfrm>
          <a:off x="2967660" y="1799313"/>
          <a:ext cx="1660246" cy="1665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경제적</a:t>
          </a:r>
          <a:endParaRPr lang="en-US" altLang="ko-KR" sz="2000" b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 디자인</a:t>
          </a:r>
          <a:endParaRPr lang="en-US" altLang="ko-KR" sz="2000" b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sp:txBody>
      <dsp:txXfrm>
        <a:off x="3048707" y="1880360"/>
        <a:ext cx="1498152" cy="1503201"/>
      </dsp:txXfrm>
    </dsp:sp>
    <dsp:sp modelId="{437469E4-B2C8-49E4-B2ED-86E1651CE14A}">
      <dsp:nvSpPr>
        <dsp:cNvPr id="0" name=""/>
        <dsp:cNvSpPr/>
      </dsp:nvSpPr>
      <dsp:spPr>
        <a:xfrm>
          <a:off x="1102087" y="575250"/>
          <a:ext cx="2875935" cy="2875935"/>
        </a:xfrm>
        <a:custGeom>
          <a:avLst/>
          <a:gdLst/>
          <a:ahLst/>
          <a:cxnLst/>
          <a:rect l="0" t="0" r="0" b="0"/>
          <a:pathLst>
            <a:path>
              <a:moveTo>
                <a:pt x="1857918" y="2813246"/>
              </a:moveTo>
              <a:arcTo wR="1437967" hR="1437967" stAng="4381176" swAng="1902390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8FD06A-CC93-4383-8289-E5387FEDEA5B}">
      <dsp:nvSpPr>
        <dsp:cNvPr id="0" name=""/>
        <dsp:cNvSpPr/>
      </dsp:nvSpPr>
      <dsp:spPr>
        <a:xfrm>
          <a:off x="506537" y="1834159"/>
          <a:ext cx="1660246" cy="1665295"/>
        </a:xfrm>
        <a:prstGeom prst="roundRect">
          <a:avLst/>
        </a:prstGeom>
        <a:solidFill>
          <a:schemeClr val="accent4">
            <a:lumMod val="10000"/>
            <a:lumOff val="9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효율적</a:t>
          </a:r>
          <a:endParaRPr lang="en-US" altLang="ko-KR" sz="2000" b="1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1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sp:txBody>
      <dsp:txXfrm>
        <a:off x="587584" y="1915206"/>
        <a:ext cx="1498152" cy="1503201"/>
      </dsp:txXfrm>
    </dsp:sp>
    <dsp:sp modelId="{33CF4066-D469-4445-A7BF-41D5DD7D562A}">
      <dsp:nvSpPr>
        <dsp:cNvPr id="0" name=""/>
        <dsp:cNvSpPr/>
      </dsp:nvSpPr>
      <dsp:spPr>
        <a:xfrm>
          <a:off x="1148680" y="917736"/>
          <a:ext cx="2875935" cy="2875935"/>
        </a:xfrm>
        <a:custGeom>
          <a:avLst/>
          <a:gdLst/>
          <a:ahLst/>
          <a:cxnLst/>
          <a:rect l="0" t="0" r="0" b="0"/>
          <a:pathLst>
            <a:path>
              <a:moveTo>
                <a:pt x="100860" y="908917"/>
              </a:moveTo>
              <a:arcTo wR="1437967" hR="1437967" stAng="12095227" swAng="1915321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E6ABE0-FADB-4622-A6EF-2AD1A72C3176}">
      <dsp:nvSpPr>
        <dsp:cNvPr id="0" name=""/>
        <dsp:cNvSpPr/>
      </dsp:nvSpPr>
      <dsp:spPr>
        <a:xfrm>
          <a:off x="1680310" y="71633"/>
          <a:ext cx="1775611" cy="1728012"/>
        </a:xfrm>
        <a:prstGeom prst="roundRect">
          <a:avLst/>
        </a:prstGeom>
        <a:noFill/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i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인체공학적</a:t>
          </a:r>
          <a:endParaRPr lang="en-US" altLang="ko-KR" sz="2000" b="1" i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i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1" i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sp:txBody>
      <dsp:txXfrm>
        <a:off x="1764665" y="155988"/>
        <a:ext cx="1606901" cy="1559302"/>
      </dsp:txXfrm>
    </dsp:sp>
    <dsp:sp modelId="{07D6E1BF-61AC-467B-AE75-F5E87E352472}">
      <dsp:nvSpPr>
        <dsp:cNvPr id="0" name=""/>
        <dsp:cNvSpPr/>
      </dsp:nvSpPr>
      <dsp:spPr>
        <a:xfrm>
          <a:off x="989808" y="968061"/>
          <a:ext cx="3081787" cy="3081787"/>
        </a:xfrm>
        <a:custGeom>
          <a:avLst/>
          <a:gdLst/>
          <a:ahLst/>
          <a:cxnLst/>
          <a:rect l="0" t="0" r="0" b="0"/>
          <a:pathLst>
            <a:path>
              <a:moveTo>
                <a:pt x="2472750" y="313703"/>
              </a:moveTo>
              <a:arcTo wR="1540893" hR="1540893" stAng="18432655" swAng="1841881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1200B1-4050-40DC-98BF-20D8C47581B2}">
      <dsp:nvSpPr>
        <dsp:cNvPr id="0" name=""/>
        <dsp:cNvSpPr/>
      </dsp:nvSpPr>
      <dsp:spPr>
        <a:xfrm>
          <a:off x="2994251" y="1937171"/>
          <a:ext cx="1775611" cy="1781011"/>
        </a:xfrm>
        <a:prstGeom prst="roundRect">
          <a:avLst/>
        </a:prstGeom>
        <a:solidFill>
          <a:schemeClr val="accent5">
            <a:lumMod val="9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경제적</a:t>
          </a:r>
          <a:endParaRPr lang="en-US" altLang="ko-KR" sz="2000" b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 디자인</a:t>
          </a:r>
          <a:endParaRPr lang="en-US" altLang="ko-KR" sz="2000" b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sp:txBody>
      <dsp:txXfrm>
        <a:off x="3080929" y="2023849"/>
        <a:ext cx="1602255" cy="1607655"/>
      </dsp:txXfrm>
    </dsp:sp>
    <dsp:sp modelId="{437469E4-B2C8-49E4-B2ED-86E1651CE14A}">
      <dsp:nvSpPr>
        <dsp:cNvPr id="0" name=""/>
        <dsp:cNvSpPr/>
      </dsp:nvSpPr>
      <dsp:spPr>
        <a:xfrm>
          <a:off x="997732" y="614432"/>
          <a:ext cx="3081787" cy="3081787"/>
        </a:xfrm>
        <a:custGeom>
          <a:avLst/>
          <a:gdLst/>
          <a:ahLst/>
          <a:cxnLst/>
          <a:rect l="0" t="0" r="0" b="0"/>
          <a:pathLst>
            <a:path>
              <a:moveTo>
                <a:pt x="1988314" y="3015400"/>
              </a:moveTo>
              <a:arcTo wR="1540893" hR="1540893" stAng="4387214" swAng="1901709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8FD06A-CC93-4383-8289-E5387FEDEA5B}">
      <dsp:nvSpPr>
        <dsp:cNvPr id="0" name=""/>
        <dsp:cNvSpPr/>
      </dsp:nvSpPr>
      <dsp:spPr>
        <a:xfrm>
          <a:off x="360710" y="1965109"/>
          <a:ext cx="1775611" cy="178101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효율적</a:t>
          </a:r>
          <a:endParaRPr lang="en-US" altLang="ko-KR" sz="2000" b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0" kern="1200" dirty="0">
              <a:latin typeface="경기천년바탕 Bold" panose="02020803020101020101" pitchFamily="18" charset="-127"/>
              <a:ea typeface="경기천년바탕 Bold" panose="02020803020101020101" pitchFamily="18" charset="-127"/>
              <a:cs typeface="함초롬돋움" panose="02030504000101010101" pitchFamily="18" charset="-127"/>
            </a:rPr>
            <a:t>디자인</a:t>
          </a:r>
          <a:endParaRPr lang="en-US" altLang="ko-KR" sz="2000" b="0" kern="1200" dirty="0">
            <a:latin typeface="경기천년바탕 Bold" panose="02020803020101020101" pitchFamily="18" charset="-127"/>
            <a:ea typeface="경기천년바탕 Bold" panose="02020803020101020101" pitchFamily="18" charset="-127"/>
            <a:cs typeface="함초롬돋움" panose="02030504000101010101" pitchFamily="18" charset="-127"/>
          </a:endParaRPr>
        </a:p>
      </dsp:txBody>
      <dsp:txXfrm>
        <a:off x="447388" y="2051787"/>
        <a:ext cx="1602255" cy="1607655"/>
      </dsp:txXfrm>
    </dsp:sp>
    <dsp:sp modelId="{33CF4066-D469-4445-A7BF-41D5DD7D562A}">
      <dsp:nvSpPr>
        <dsp:cNvPr id="0" name=""/>
        <dsp:cNvSpPr/>
      </dsp:nvSpPr>
      <dsp:spPr>
        <a:xfrm>
          <a:off x="1047676" y="980614"/>
          <a:ext cx="3081787" cy="3081787"/>
        </a:xfrm>
        <a:custGeom>
          <a:avLst/>
          <a:gdLst/>
          <a:ahLst/>
          <a:cxnLst/>
          <a:rect l="0" t="0" r="0" b="0"/>
          <a:pathLst>
            <a:path>
              <a:moveTo>
                <a:pt x="107118" y="976409"/>
              </a:moveTo>
              <a:arcTo wR="1540893" hR="1540893" stAng="12089387" swAng="1924223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2CBB9-4A5B-4165-8B09-8477FE296C11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B3DB4-D385-4485-B184-BAAE808E3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66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40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192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802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509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293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494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629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73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57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814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853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316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308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872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35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642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042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8476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49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DAF59362-AAEC-438D-9E40-FF26D7C124E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C4BCAED-39FD-4529-A8D0-C927A2B1FE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A3F10358-8FCB-48D9-844C-654E1FD3A133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92110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0BE9C6-17D0-47CB-A0EF-045D871000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9769EA-A453-40FE-A799-4C4E9A9D24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7D478-249C-47C8-B0AE-AC9ECA1D2C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994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A6CFC8-92DA-41C2-B453-EB4021597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75F5179-55EE-4E7E-B50F-C7660EED23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49D4F-3A8E-4D8E-9F58-49E042BE848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005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04256D-F4FB-4955-B253-70764EDB7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5C741B7-C50E-4E9F-9844-13B7883CD1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40F6A-8F97-41BC-80EE-8A494F2C15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509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26E936-95BF-4B4A-B805-FFC00A959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ED5A9FD-AF5F-4CE9-9EBA-2193EF3CCA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085870-8A47-4BC3-8417-C3B9023B61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403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90EED7E-D655-435A-B542-3ADE24937B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87A5C33-4BE0-463A-9685-3EA65632F3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7ED25-E065-4097-9741-8ADF60B196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858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F58C9D69-E12C-4263-846F-773DC50B354D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2C28487A-F298-475C-A204-79FC43F054C6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D4052D8F-ED52-42CD-858F-7929983A2B8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A4849AFE-A46E-4EFA-89A2-7EE328D572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F49D34DD-136D-4EC6-8EC1-0CDE95C34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66E1FE4-1A59-45AD-BBE5-3AF2455B8F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3B4B30-C6E8-48B1-950F-799A5A77C5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800">
                <a:latin typeface="서울한강 장체 L" pitchFamily="18" charset="-127"/>
                <a:ea typeface="서울한강 장체 L" pitchFamily="18" charset="-127"/>
              </a:defRPr>
            </a:lvl1pPr>
          </a:lstStyle>
          <a:p>
            <a:pPr>
              <a:defRPr/>
            </a:pPr>
            <a:fld id="{8C3877AD-CFFB-4271-B326-AA3E8B4CDD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2549C1DD-2084-4511-B637-633F41C867D0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A26CEC47-651E-44F7-BA60-614E9E825FA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6EBAFB4A-C0AC-40A0-A76E-39A39F6D89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60F49F54-34F0-42C7-BAD1-2FF0A3338EA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2071A01C-7DE0-447B-9DEA-A9E5BE078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indent="2778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indent="46672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indent="744538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부제목 3">
            <a:extLst>
              <a:ext uri="{FF2B5EF4-FFF2-40B4-BE49-F238E27FC236}">
                <a16:creationId xmlns:a16="http://schemas.microsoft.com/office/drawing/2014/main" id="{024AFDAE-10E1-4D39-A3BC-F1D6DFEA2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Chapter 10.</a:t>
            </a:r>
          </a:p>
          <a:p>
            <a:pPr eaLnBrk="1" latinLnBrk="0" hangingPunct="1"/>
            <a:r>
              <a:rPr lang="ko-KR" altLang="en-US" dirty="0"/>
              <a:t>물리적 환경관리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텍스트 개체 틀 3">
            <a:extLst>
              <a:ext uri="{FF2B5EF4-FFF2-40B4-BE49-F238E27FC236}">
                <a16:creationId xmlns:a16="http://schemas.microsoft.com/office/drawing/2014/main" id="{D19AC77A-C39D-4EF9-A975-CC4EB1311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물리적 환경의 이해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3E0F6A-BAF9-4B4B-A640-212447528499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04E37F-209B-4DF1-8F78-144694E42AB3}"/>
              </a:ext>
            </a:extLst>
          </p:cNvPr>
          <p:cNvSpPr/>
          <p:nvPr/>
        </p:nvSpPr>
        <p:spPr bwMode="auto">
          <a:xfrm>
            <a:off x="10864850" y="4416203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356265F2-8A43-470F-A95D-9536653C6B7B}"/>
              </a:ext>
            </a:extLst>
          </p:cNvPr>
          <p:cNvGrpSpPr>
            <a:grpSpLocks/>
          </p:cNvGrpSpPr>
          <p:nvPr/>
        </p:nvGrpSpPr>
        <p:grpSpPr bwMode="auto">
          <a:xfrm>
            <a:off x="6313775" y="4784891"/>
            <a:ext cx="6169015" cy="663286"/>
            <a:chOff x="1296" y="1824"/>
            <a:chExt cx="3886" cy="432"/>
          </a:xfrm>
        </p:grpSpPr>
        <p:sp>
          <p:nvSpPr>
            <p:cNvPr id="9" name="AutoShape 47">
              <a:extLst>
                <a:ext uri="{FF2B5EF4-FFF2-40B4-BE49-F238E27FC236}">
                  <a16:creationId xmlns:a16="http://schemas.microsoft.com/office/drawing/2014/main" id="{E473C666-396D-4324-BE83-224C3E6561E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0" name="AutoShape 48">
              <a:extLst>
                <a:ext uri="{FF2B5EF4-FFF2-40B4-BE49-F238E27FC236}">
                  <a16:creationId xmlns:a16="http://schemas.microsoft.com/office/drawing/2014/main" id="{2B253A0C-722E-4B31-B440-D8E67ADD877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1" name="Text Box 49">
              <a:extLst>
                <a:ext uri="{FF2B5EF4-FFF2-40B4-BE49-F238E27FC236}">
                  <a16:creationId xmlns:a16="http://schemas.microsoft.com/office/drawing/2014/main" id="{194986AE-6EAF-4FE7-9193-7749E2504EA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물리적 환경의 정의 및 중요성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2" name="Text Box 50">
              <a:extLst>
                <a:ext uri="{FF2B5EF4-FFF2-40B4-BE49-F238E27FC236}">
                  <a16:creationId xmlns:a16="http://schemas.microsoft.com/office/drawing/2014/main" id="{13AE7767-CF72-407C-8932-90A141C75AE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1</a:t>
              </a:r>
            </a:p>
          </p:txBody>
        </p:sp>
      </p:grpSp>
      <p:grpSp>
        <p:nvGrpSpPr>
          <p:cNvPr id="13" name="Group 51">
            <a:extLst>
              <a:ext uri="{FF2B5EF4-FFF2-40B4-BE49-F238E27FC236}">
                <a16:creationId xmlns:a16="http://schemas.microsoft.com/office/drawing/2014/main" id="{CDD968AB-CBD2-4ADF-813C-46ED3421B5CE}"/>
              </a:ext>
            </a:extLst>
          </p:cNvPr>
          <p:cNvGrpSpPr>
            <a:grpSpLocks/>
          </p:cNvGrpSpPr>
          <p:nvPr/>
        </p:nvGrpSpPr>
        <p:grpSpPr bwMode="auto">
          <a:xfrm>
            <a:off x="6316946" y="5679480"/>
            <a:ext cx="6169025" cy="663285"/>
            <a:chOff x="1296" y="1824"/>
            <a:chExt cx="3886" cy="432"/>
          </a:xfrm>
        </p:grpSpPr>
        <p:sp>
          <p:nvSpPr>
            <p:cNvPr id="14" name="AutoShape 52">
              <a:extLst>
                <a:ext uri="{FF2B5EF4-FFF2-40B4-BE49-F238E27FC236}">
                  <a16:creationId xmlns:a16="http://schemas.microsoft.com/office/drawing/2014/main" id="{03E9FF54-AD50-4A81-A2C7-C40379E05A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5" name="AutoShape 53">
              <a:extLst>
                <a:ext uri="{FF2B5EF4-FFF2-40B4-BE49-F238E27FC236}">
                  <a16:creationId xmlns:a16="http://schemas.microsoft.com/office/drawing/2014/main" id="{5A328CE1-B113-46C0-9FD1-859AA5A0D02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6" name="Text Box 54">
              <a:extLst>
                <a:ext uri="{FF2B5EF4-FFF2-40B4-BE49-F238E27FC236}">
                  <a16:creationId xmlns:a16="http://schemas.microsoft.com/office/drawing/2014/main" id="{58BE4C1F-4605-4D30-ADF1-F841533880C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물리적 환경의 역할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7" name="Text Box 55">
              <a:extLst>
                <a:ext uri="{FF2B5EF4-FFF2-40B4-BE49-F238E27FC236}">
                  <a16:creationId xmlns:a16="http://schemas.microsoft.com/office/drawing/2014/main" id="{C65B2437-4BDC-4228-A74E-839C7151C48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물리적 환경의 정의 및 중요성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910" y="1575933"/>
            <a:ext cx="10596179" cy="3358674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(1) </a:t>
            </a:r>
            <a:r>
              <a:rPr lang="ko-KR" altLang="en-US" sz="2000" dirty="0">
                <a:solidFill>
                  <a:srgbClr val="003366"/>
                </a:solidFill>
              </a:rPr>
              <a:t>물리적 환경의 정의</a:t>
            </a:r>
            <a:endParaRPr lang="en-US" altLang="ko-KR" sz="200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서비스의 물리적 환경</a:t>
            </a:r>
            <a:r>
              <a:rPr lang="en-US" altLang="ko-KR" sz="2000" b="0" dirty="0">
                <a:solidFill>
                  <a:srgbClr val="003366"/>
                </a:solidFill>
              </a:rPr>
              <a:t>: </a:t>
            </a:r>
            <a:r>
              <a:rPr lang="ko-KR" altLang="en-US" sz="2000" b="0" dirty="0">
                <a:solidFill>
                  <a:srgbClr val="003366"/>
                </a:solidFill>
              </a:rPr>
              <a:t>기업과 고객간 상호작용이 이루어지는 환경과 서비스의 커뮤니케이션이 전달되는 데 동원되는 유형적 요소나 서비스 성과를 촉진하는 유형적 요소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레스토랑 간판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외관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표지판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주차장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인테리어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가구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조명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음악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색상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실내장식</a:t>
            </a:r>
            <a:r>
              <a:rPr lang="en-US" altLang="ko-KR" sz="2000" dirty="0">
                <a:solidFill>
                  <a:srgbClr val="003366"/>
                </a:solidFill>
              </a:rPr>
              <a:t> </a:t>
            </a:r>
            <a:r>
              <a:rPr lang="ko-KR" altLang="en-US" sz="2000" dirty="0">
                <a:solidFill>
                  <a:srgbClr val="003366"/>
                </a:solidFill>
              </a:rPr>
              <a:t>등</a:t>
            </a:r>
            <a:endParaRPr lang="ko-KR" altLang="en-US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최근에는</a:t>
            </a:r>
            <a:r>
              <a:rPr lang="en-US" altLang="ko-KR" sz="2000" b="0" dirty="0">
                <a:solidFill>
                  <a:srgbClr val="003366"/>
                </a:solidFill>
              </a:rPr>
              <a:t> </a:t>
            </a:r>
            <a:r>
              <a:rPr lang="ko-KR" altLang="en-US" sz="2000" b="0" dirty="0">
                <a:solidFill>
                  <a:srgbClr val="003366"/>
                </a:solidFill>
              </a:rPr>
              <a:t>인터넷 홈페이지나 애플리케이션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가상공간의 레스토랑 관련 </a:t>
            </a:r>
            <a:r>
              <a:rPr lang="ko-KR" altLang="en-US" sz="2000" b="0" dirty="0" err="1">
                <a:solidFill>
                  <a:srgbClr val="003366"/>
                </a:solidFill>
              </a:rPr>
              <a:t>서비스스케이프까지도</a:t>
            </a:r>
            <a:r>
              <a:rPr lang="ko-KR" altLang="en-US" sz="2000" b="0" dirty="0">
                <a:solidFill>
                  <a:srgbClr val="003366"/>
                </a:solidFill>
              </a:rPr>
              <a:t> 물리적 환경에 포함시킴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61399C-A9D3-41F7-8129-518FE8457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436" y="4971490"/>
            <a:ext cx="2022327" cy="15055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D01BAB-48BA-416C-9282-08AE4D18D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047" y="4971490"/>
            <a:ext cx="2322787" cy="15485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037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물리적 환경의 정의 및 중요성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1"/>
            <a:ext cx="11246945" cy="3358674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(2) </a:t>
            </a:r>
            <a:r>
              <a:rPr lang="ko-KR" altLang="en-US" sz="2000" dirty="0">
                <a:solidFill>
                  <a:srgbClr val="003366"/>
                </a:solidFill>
              </a:rPr>
              <a:t>물리적 환경의 중요성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고객은 유형 단서인 물리적 환경을 토대로 구매 전에 서비스 가치를 측정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소비기간이나 소비한 뒤 서비스에 대한 만족을 평가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다른 외식업체와 차별화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구매 전에 고객의 기대를 형성시키는 주요 단서로서의 역할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고객 만족과 서비스 품질 인식에 영향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고객의 정서적인 기분이나 태도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구매 만족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구매 후 행동에 영향을 미침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 err="1">
                <a:solidFill>
                  <a:srgbClr val="003366"/>
                </a:solidFill>
              </a:rPr>
              <a:t>인스타그래머블한</a:t>
            </a:r>
            <a:r>
              <a:rPr lang="ko-KR" altLang="en-US" sz="2000" b="0" dirty="0">
                <a:solidFill>
                  <a:srgbClr val="003366"/>
                </a:solidFill>
              </a:rPr>
              <a:t> 매력적인 물리적 환경이나 메뉴는 광고 없이도 잠재고객을 유인하는 마케팅 효과가 큼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단순히 예쁜 설계보다는 레스토랑 콘셉트에 맞게 전략적으로 설계되어야 성과를 극대화할 수 있음 </a:t>
            </a:r>
            <a:r>
              <a:rPr lang="en-US" altLang="ko-KR" sz="2000" b="0" dirty="0">
                <a:solidFill>
                  <a:srgbClr val="003366"/>
                </a:solidFill>
              </a:rPr>
              <a:t>(</a:t>
            </a:r>
            <a:r>
              <a:rPr lang="ko-KR" altLang="en-US" sz="2000" b="0" dirty="0">
                <a:solidFill>
                  <a:srgbClr val="003366"/>
                </a:solidFill>
              </a:rPr>
              <a:t>예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패스트푸드점의 딱딱한 의자</a:t>
            </a:r>
            <a:r>
              <a:rPr lang="en-US" altLang="ko-KR" sz="2000" b="0" dirty="0">
                <a:solidFill>
                  <a:srgbClr val="003366"/>
                </a:solidFill>
              </a:rPr>
              <a:t>)</a:t>
            </a:r>
            <a:endParaRPr lang="ko-KR" altLang="en-US" sz="2000" b="0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926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물리적 환경의 역할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1"/>
            <a:ext cx="11246945" cy="3358674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(1) </a:t>
            </a:r>
            <a:r>
              <a:rPr lang="ko-KR" altLang="en-US" sz="2000" dirty="0">
                <a:solidFill>
                  <a:srgbClr val="003366"/>
                </a:solidFill>
              </a:rPr>
              <a:t>서비스 품질 인식에 영향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서비스의 </a:t>
            </a:r>
            <a:r>
              <a:rPr lang="ko-KR" altLang="en-US" sz="2000" b="0" dirty="0" err="1">
                <a:solidFill>
                  <a:srgbClr val="003366"/>
                </a:solidFill>
              </a:rPr>
              <a:t>무형성</a:t>
            </a:r>
            <a:r>
              <a:rPr lang="ko-KR" altLang="en-US" sz="2000" b="0" dirty="0">
                <a:solidFill>
                  <a:srgbClr val="003366"/>
                </a:solidFill>
              </a:rPr>
              <a:t> 때문에 고객이 서비스 품질에 대해 확신을 하지 못하는 경우가 많음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서비스 물리적 환경은 서비스 상품을 이해하거나 평가하는 데에 도움을 줄 수 있음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물리적 환경은 고객에게 첫인상을 심어주거나 고객의 기대를 설정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서비스 품질의 예측 지표 등 다양한 역할을 수행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고객은 레스토랑을 선택하는 데 있어 도움이 될 수 있는 유형적 단서를 물리적 환경을 통해 파악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고객들의 이해와 의사결정을 도울 수 있는 물리적 환경을 제공하는 것이 중요</a:t>
            </a:r>
          </a:p>
        </p:txBody>
      </p:sp>
    </p:spTree>
    <p:extLst>
      <p:ext uri="{BB962C8B-B14F-4D97-AF65-F5344CB8AC3E}">
        <p14:creationId xmlns:p14="http://schemas.microsoft.com/office/powerpoint/2010/main" val="1404328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물리적 환경의 역할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1"/>
            <a:ext cx="11246945" cy="3358674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(2) </a:t>
            </a:r>
            <a:r>
              <a:rPr lang="ko-KR" altLang="en-US" sz="2000" dirty="0">
                <a:solidFill>
                  <a:srgbClr val="003366"/>
                </a:solidFill>
              </a:rPr>
              <a:t>이미지 형성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무형의 서비스를 시각적으로 보여 주는 역할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브랜드 포지셔닝과 특정 이미지를 구축하는 데 중요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서비스를 포장해서 내부의 것을 외부적 이미지로 전달하는 역할 </a:t>
            </a:r>
            <a:r>
              <a:rPr lang="en-US" altLang="ko-KR" sz="2000" b="0" dirty="0">
                <a:solidFill>
                  <a:srgbClr val="003366"/>
                </a:solidFill>
              </a:rPr>
              <a:t>- </a:t>
            </a:r>
            <a:r>
              <a:rPr lang="ko-KR" altLang="en-US" sz="2000" b="0" dirty="0">
                <a:solidFill>
                  <a:srgbClr val="003366"/>
                </a:solidFill>
              </a:rPr>
              <a:t>제품의 </a:t>
            </a:r>
            <a:r>
              <a:rPr lang="en-US" altLang="ko-KR" sz="2000" b="0" dirty="0">
                <a:solidFill>
                  <a:srgbClr val="003366"/>
                </a:solidFill>
              </a:rPr>
              <a:t>package</a:t>
            </a:r>
            <a:r>
              <a:rPr lang="ko-KR" altLang="en-US" sz="2000" b="0" dirty="0">
                <a:solidFill>
                  <a:srgbClr val="003366"/>
                </a:solidFill>
              </a:rPr>
              <a:t>와 같은 역할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고객의 태도와 고객이 갖는 레스토랑의 이미지에 대해 직접적으로 관여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매장의 음악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향기 또는 인테리어 등</a:t>
            </a:r>
            <a:r>
              <a:rPr lang="en-US" altLang="ko-KR" sz="2000" b="0" dirty="0">
                <a:solidFill>
                  <a:srgbClr val="003366"/>
                </a:solidFill>
              </a:rPr>
              <a:t>: </a:t>
            </a:r>
            <a:r>
              <a:rPr lang="ko-KR" altLang="en-US" sz="2000" b="0" dirty="0">
                <a:solidFill>
                  <a:srgbClr val="003366"/>
                </a:solidFill>
              </a:rPr>
              <a:t>고객의 구매 결정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태도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레스토랑 이미지에 큰 영향을 줌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색상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조명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음향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실내 공기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온도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공간 배치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가구 스타일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향기 등</a:t>
            </a:r>
            <a:r>
              <a:rPr lang="en-US" altLang="ko-KR" sz="2000" b="0" dirty="0">
                <a:solidFill>
                  <a:srgbClr val="003366"/>
                </a:solidFill>
              </a:rPr>
              <a:t>: </a:t>
            </a:r>
            <a:r>
              <a:rPr lang="ko-KR" altLang="en-US" sz="2000" b="0" dirty="0">
                <a:solidFill>
                  <a:srgbClr val="003366"/>
                </a:solidFill>
              </a:rPr>
              <a:t>서비스에 대한 고객 감정 형성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47F671-B3DB-4DF7-86FE-442EEE832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709" y="5040696"/>
            <a:ext cx="2695575" cy="1695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1715A9A-564A-467A-A4B2-E2C27766C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899" y="5040697"/>
            <a:ext cx="26193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98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물리적 환경의 역할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1"/>
            <a:ext cx="11246945" cy="3358674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(3) </a:t>
            </a:r>
            <a:r>
              <a:rPr lang="ko-KR" altLang="en-US" sz="2000" dirty="0">
                <a:solidFill>
                  <a:srgbClr val="003366"/>
                </a:solidFill>
              </a:rPr>
              <a:t>서비스 종사원과 고객의 행동에 영향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물리적 환경</a:t>
            </a:r>
            <a:r>
              <a:rPr lang="en-US" altLang="ko-KR" sz="2000" b="0" dirty="0">
                <a:solidFill>
                  <a:srgbClr val="003366"/>
                </a:solidFill>
              </a:rPr>
              <a:t>: </a:t>
            </a:r>
            <a:r>
              <a:rPr lang="ko-KR" altLang="en-US" sz="2000" b="0" dirty="0">
                <a:solidFill>
                  <a:srgbClr val="003366"/>
                </a:solidFill>
              </a:rPr>
              <a:t>고객 및 서비스 종사원의 활동 흐름에 영향 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잘 설계된 물리적 환경</a:t>
            </a:r>
          </a:p>
          <a:p>
            <a:pPr marL="790575" lvl="2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dirty="0">
                <a:solidFill>
                  <a:srgbClr val="003366"/>
                </a:solidFill>
              </a:rPr>
              <a:t>고객</a:t>
            </a:r>
            <a:r>
              <a:rPr lang="en-US" altLang="ko-KR" sz="1600" b="0" dirty="0">
                <a:solidFill>
                  <a:srgbClr val="003366"/>
                </a:solidFill>
              </a:rPr>
              <a:t>: </a:t>
            </a:r>
            <a:r>
              <a:rPr lang="ko-KR" altLang="en-US" sz="1600" b="0" dirty="0">
                <a:solidFill>
                  <a:srgbClr val="003366"/>
                </a:solidFill>
              </a:rPr>
              <a:t>유익한 서비스 경험 </a:t>
            </a:r>
          </a:p>
          <a:p>
            <a:pPr marL="790575" lvl="2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dirty="0">
                <a:solidFill>
                  <a:srgbClr val="003366"/>
                </a:solidFill>
              </a:rPr>
              <a:t>종사원</a:t>
            </a:r>
            <a:r>
              <a:rPr lang="en-US" altLang="ko-KR" sz="1600" b="0" dirty="0">
                <a:solidFill>
                  <a:srgbClr val="003366"/>
                </a:solidFill>
              </a:rPr>
              <a:t>: </a:t>
            </a:r>
            <a:r>
              <a:rPr lang="ko-KR" altLang="en-US" sz="1600" b="0" dirty="0">
                <a:solidFill>
                  <a:srgbClr val="003366"/>
                </a:solidFill>
              </a:rPr>
              <a:t>만족스러운 서비스 수행을 할 수 있도록 지원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잘못된 물리적 환경</a:t>
            </a:r>
            <a:r>
              <a:rPr lang="en-US" altLang="ko-KR" sz="2000" b="0" dirty="0">
                <a:solidFill>
                  <a:srgbClr val="003366"/>
                </a:solidFill>
              </a:rPr>
              <a:t>: </a:t>
            </a:r>
            <a:r>
              <a:rPr lang="ko-KR" altLang="en-US" sz="2000" b="0" dirty="0">
                <a:solidFill>
                  <a:srgbClr val="003366"/>
                </a:solidFill>
              </a:rPr>
              <a:t>고객과 종사원 불만 야기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서비스 종사원</a:t>
            </a:r>
            <a:r>
              <a:rPr lang="en-US" altLang="ko-KR" sz="2000" b="0" dirty="0">
                <a:solidFill>
                  <a:srgbClr val="003366"/>
                </a:solidFill>
              </a:rPr>
              <a:t>: </a:t>
            </a:r>
            <a:r>
              <a:rPr lang="ko-KR" altLang="en-US" sz="2000" b="0" dirty="0">
                <a:solidFill>
                  <a:srgbClr val="003366"/>
                </a:solidFill>
              </a:rPr>
              <a:t>서비스 접점에서 고객과의 상호작용 → 고객의 감정에 영향</a:t>
            </a:r>
          </a:p>
          <a:p>
            <a:pPr marL="0" indent="0" eaLnBrk="1" latinLnBrk="0" hangingPunct="1">
              <a:lnSpc>
                <a:spcPct val="150000"/>
              </a:lnSpc>
            </a:pPr>
            <a:r>
              <a:rPr lang="ko-KR" altLang="en-US" sz="2000" b="0" dirty="0">
                <a:solidFill>
                  <a:srgbClr val="003366"/>
                </a:solidFill>
              </a:rPr>
              <a:t>     </a:t>
            </a:r>
            <a:r>
              <a:rPr lang="en-US" altLang="ko-KR" sz="2000" b="0" dirty="0">
                <a:solidFill>
                  <a:srgbClr val="003366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b="0" dirty="0">
                <a:solidFill>
                  <a:srgbClr val="003366"/>
                </a:solidFill>
              </a:rPr>
              <a:t>쾌적하고 생산적인 근무 환경 조성 → 직무 만족도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생산성 향상</a:t>
            </a:r>
          </a:p>
        </p:txBody>
      </p:sp>
    </p:spTree>
    <p:extLst>
      <p:ext uri="{BB962C8B-B14F-4D97-AF65-F5344CB8AC3E}">
        <p14:creationId xmlns:p14="http://schemas.microsoft.com/office/powerpoint/2010/main" val="2217325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물리적 환경의 역할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1"/>
            <a:ext cx="11246945" cy="3358674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(4) </a:t>
            </a:r>
            <a:r>
              <a:rPr lang="ko-KR" altLang="en-US" sz="2000" dirty="0">
                <a:solidFill>
                  <a:srgbClr val="003366"/>
                </a:solidFill>
              </a:rPr>
              <a:t>고객과 종사원의 사회화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물리적 환경으로 인한 고객과 종사원의 사회화  </a:t>
            </a: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</a:rPr>
              <a:t>고객과 종사원이 물리적 환경을 통해 기대된 역할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행동을 하도록 유도하는 것</a:t>
            </a:r>
          </a:p>
          <a:p>
            <a:pPr marL="790575" lvl="2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dirty="0">
                <a:solidFill>
                  <a:srgbClr val="003366"/>
                </a:solidFill>
              </a:rPr>
              <a:t>종사원</a:t>
            </a:r>
            <a:r>
              <a:rPr lang="en-US" altLang="ko-KR" sz="1600" b="0" dirty="0">
                <a:solidFill>
                  <a:srgbClr val="003366"/>
                </a:solidFill>
              </a:rPr>
              <a:t>: </a:t>
            </a:r>
            <a:r>
              <a:rPr lang="ko-KR" altLang="en-US" sz="1600" b="0" dirty="0">
                <a:solidFill>
                  <a:srgbClr val="003366"/>
                </a:solidFill>
              </a:rPr>
              <a:t>물리적 환경으로 인해 자신의 지위를 인지</a:t>
            </a:r>
          </a:p>
          <a:p>
            <a:pPr marL="790575" lvl="2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dirty="0">
                <a:solidFill>
                  <a:srgbClr val="003366"/>
                </a:solidFill>
              </a:rPr>
              <a:t>고객</a:t>
            </a:r>
            <a:r>
              <a:rPr lang="en-US" altLang="ko-KR" sz="1600" b="0" dirty="0">
                <a:solidFill>
                  <a:srgbClr val="003366"/>
                </a:solidFill>
              </a:rPr>
              <a:t>: </a:t>
            </a:r>
            <a:r>
              <a:rPr lang="ko-KR" altLang="en-US" sz="1600" b="0" dirty="0">
                <a:solidFill>
                  <a:srgbClr val="003366"/>
                </a:solidFill>
              </a:rPr>
              <a:t>역할</a:t>
            </a:r>
            <a:r>
              <a:rPr lang="en-US" altLang="ko-KR" sz="1600" b="0" dirty="0">
                <a:solidFill>
                  <a:srgbClr val="003366"/>
                </a:solidFill>
              </a:rPr>
              <a:t>, </a:t>
            </a:r>
            <a:r>
              <a:rPr lang="ko-KR" altLang="en-US" sz="1600" b="0" dirty="0">
                <a:solidFill>
                  <a:srgbClr val="003366"/>
                </a:solidFill>
              </a:rPr>
              <a:t>위치</a:t>
            </a:r>
            <a:r>
              <a:rPr lang="en-US" altLang="ko-KR" sz="1600" b="0" dirty="0">
                <a:solidFill>
                  <a:srgbClr val="003366"/>
                </a:solidFill>
              </a:rPr>
              <a:t>, </a:t>
            </a:r>
            <a:r>
              <a:rPr lang="ko-KR" altLang="en-US" sz="1600" b="0" dirty="0">
                <a:solidFill>
                  <a:srgbClr val="003366"/>
                </a:solidFill>
              </a:rPr>
              <a:t>행동 인지</a:t>
            </a:r>
          </a:p>
          <a:p>
            <a:pPr marL="0" indent="0" eaLnBrk="1" latinLnBrk="0" hangingPunct="1">
              <a:lnSpc>
                <a:spcPct val="150000"/>
              </a:lnSpc>
            </a:pPr>
            <a:endParaRPr lang="ko-KR" altLang="en-US" sz="2000" b="0" dirty="0">
              <a:solidFill>
                <a:srgbClr val="00336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AD7B0-106C-450B-9D6E-16D3B33CE5B1}"/>
              </a:ext>
            </a:extLst>
          </p:cNvPr>
          <p:cNvSpPr txBox="1"/>
          <p:nvPr/>
        </p:nvSpPr>
        <p:spPr>
          <a:xfrm>
            <a:off x="671786" y="4303147"/>
            <a:ext cx="10490199" cy="17658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2000" b="1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(5) </a:t>
            </a:r>
            <a:r>
              <a:rPr lang="ko-KR" altLang="en-US" sz="2000" b="1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차별화</a:t>
            </a:r>
            <a:endParaRPr lang="en-US" altLang="ko-KR" b="1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742950" lvl="1" indent="-2857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물리적 환경은 레스토랑 </a:t>
            </a:r>
            <a:r>
              <a:rPr lang="ko-KR" altLang="en-US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포지셔닝에</a:t>
            </a:r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중요 →</a:t>
            </a:r>
            <a:r>
              <a: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신규 고객 유인</a:t>
            </a:r>
            <a:endParaRPr lang="en-US" altLang="ko-KR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742950" lvl="1" indent="-2857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레스토랑은 물리적 환경을 통해 경쟁자와 차별화할 수 있으며</a:t>
            </a:r>
            <a:r>
              <a: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이를 통해 의도적으로 레스토랑이 목표하는 세분화된 목표고객을 정의</a:t>
            </a:r>
            <a:endParaRPr lang="en-US" altLang="ko-KR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C4DF43-35D2-43CF-B69A-F4E6E102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716" y="1695926"/>
            <a:ext cx="3192016" cy="1596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469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텍스트 개체 틀 3">
            <a:extLst>
              <a:ext uri="{FF2B5EF4-FFF2-40B4-BE49-F238E27FC236}">
                <a16:creationId xmlns:a16="http://schemas.microsoft.com/office/drawing/2014/main" id="{55E0D41E-B433-48C0-8EF4-B71E6063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디자인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83A278-AE7F-4EE7-A955-038237BDDAE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7BB001-53F6-42C3-B73D-465A883C494D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95D10310-1ADA-4B35-A676-3731DF5AE990}"/>
              </a:ext>
            </a:extLst>
          </p:cNvPr>
          <p:cNvGrpSpPr>
            <a:grpSpLocks/>
          </p:cNvGrpSpPr>
          <p:nvPr/>
        </p:nvGrpSpPr>
        <p:grpSpPr bwMode="auto">
          <a:xfrm>
            <a:off x="6443889" y="4769074"/>
            <a:ext cx="6169015" cy="663286"/>
            <a:chOff x="1296" y="1824"/>
            <a:chExt cx="3886" cy="432"/>
          </a:xfrm>
        </p:grpSpPr>
        <p:sp>
          <p:nvSpPr>
            <p:cNvPr id="9" name="AutoShape 47">
              <a:extLst>
                <a:ext uri="{FF2B5EF4-FFF2-40B4-BE49-F238E27FC236}">
                  <a16:creationId xmlns:a16="http://schemas.microsoft.com/office/drawing/2014/main" id="{9187AF23-22FB-4688-806F-FF6D5F8FD81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0" name="AutoShape 48">
              <a:extLst>
                <a:ext uri="{FF2B5EF4-FFF2-40B4-BE49-F238E27FC236}">
                  <a16:creationId xmlns:a16="http://schemas.microsoft.com/office/drawing/2014/main" id="{E1A79BBB-66B9-49EA-A5CC-6FBB02CA767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1" name="Text Box 49">
              <a:extLst>
                <a:ext uri="{FF2B5EF4-FFF2-40B4-BE49-F238E27FC236}">
                  <a16:creationId xmlns:a16="http://schemas.microsoft.com/office/drawing/2014/main" id="{EB6DCF54-C979-4E07-BD1E-ECDE8CD6CDE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물리적 환경과 고객과의 관계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2" name="Text Box 50">
              <a:extLst>
                <a:ext uri="{FF2B5EF4-FFF2-40B4-BE49-F238E27FC236}">
                  <a16:creationId xmlns:a16="http://schemas.microsoft.com/office/drawing/2014/main" id="{DAB7CF8B-82E7-45F6-B15C-EA0F322E12B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1</a:t>
              </a:r>
            </a:p>
          </p:txBody>
        </p:sp>
      </p:grpSp>
      <p:grpSp>
        <p:nvGrpSpPr>
          <p:cNvPr id="13" name="Group 51">
            <a:extLst>
              <a:ext uri="{FF2B5EF4-FFF2-40B4-BE49-F238E27FC236}">
                <a16:creationId xmlns:a16="http://schemas.microsoft.com/office/drawing/2014/main" id="{F937521F-95C2-4176-AE1F-F6CA61C9C922}"/>
              </a:ext>
            </a:extLst>
          </p:cNvPr>
          <p:cNvGrpSpPr>
            <a:grpSpLocks/>
          </p:cNvGrpSpPr>
          <p:nvPr/>
        </p:nvGrpSpPr>
        <p:grpSpPr bwMode="auto">
          <a:xfrm>
            <a:off x="6443889" y="5579751"/>
            <a:ext cx="6169025" cy="663285"/>
            <a:chOff x="1296" y="1824"/>
            <a:chExt cx="3886" cy="432"/>
          </a:xfrm>
        </p:grpSpPr>
        <p:sp>
          <p:nvSpPr>
            <p:cNvPr id="14" name="AutoShape 52">
              <a:extLst>
                <a:ext uri="{FF2B5EF4-FFF2-40B4-BE49-F238E27FC236}">
                  <a16:creationId xmlns:a16="http://schemas.microsoft.com/office/drawing/2014/main" id="{279D3A94-4873-4B56-A642-567275733D9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5" name="AutoShape 53">
              <a:extLst>
                <a:ext uri="{FF2B5EF4-FFF2-40B4-BE49-F238E27FC236}">
                  <a16:creationId xmlns:a16="http://schemas.microsoft.com/office/drawing/2014/main" id="{1A32507A-58C0-45A8-8B25-3B105389707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6" name="Text Box 54">
              <a:extLst>
                <a:ext uri="{FF2B5EF4-FFF2-40B4-BE49-F238E27FC236}">
                  <a16:creationId xmlns:a16="http://schemas.microsoft.com/office/drawing/2014/main" id="{D5FD8919-AFF7-451E-82D5-6DF46B91C40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레스토랑 물리적 환경 요소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7" name="Text Box 55">
              <a:extLst>
                <a:ext uri="{FF2B5EF4-FFF2-40B4-BE49-F238E27FC236}">
                  <a16:creationId xmlns:a16="http://schemas.microsoft.com/office/drawing/2014/main" id="{7013B37B-27AB-4CEC-A09E-E2481B8991A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물리적 환경과 고객과의 관계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1"/>
            <a:ext cx="11246945" cy="335867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환경과 사용자와의 관계를 ‘자극</a:t>
            </a:r>
            <a:r>
              <a:rPr lang="en-US" altLang="ko-KR" sz="2000" b="0" dirty="0">
                <a:solidFill>
                  <a:srgbClr val="003366"/>
                </a:solidFill>
              </a:rPr>
              <a:t>-</a:t>
            </a:r>
            <a:r>
              <a:rPr lang="ko-KR" altLang="en-US" sz="2000" b="0" dirty="0">
                <a:solidFill>
                  <a:srgbClr val="003366"/>
                </a:solidFill>
              </a:rPr>
              <a:t>유기체</a:t>
            </a:r>
            <a:r>
              <a:rPr lang="en-US" altLang="ko-KR" sz="2000" b="0" dirty="0">
                <a:solidFill>
                  <a:srgbClr val="003366"/>
                </a:solidFill>
              </a:rPr>
              <a:t>-</a:t>
            </a:r>
            <a:r>
              <a:rPr lang="ko-KR" altLang="en-US" sz="2000" b="0" dirty="0">
                <a:solidFill>
                  <a:srgbClr val="003366"/>
                </a:solidFill>
              </a:rPr>
              <a:t>반응 </a:t>
            </a:r>
            <a:r>
              <a:rPr lang="ko-KR" altLang="en-US" sz="2000" b="0" dirty="0" err="1">
                <a:solidFill>
                  <a:srgbClr val="003366"/>
                </a:solidFill>
              </a:rPr>
              <a:t>이론’으로</a:t>
            </a:r>
            <a:r>
              <a:rPr lang="ko-KR" altLang="en-US" sz="2000" b="0" dirty="0">
                <a:solidFill>
                  <a:srgbClr val="003366"/>
                </a:solidFill>
              </a:rPr>
              <a:t> 설명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살아있는 생명체는 특정 환경에 노출 될 때 환경 자극</a:t>
            </a:r>
            <a:r>
              <a:rPr lang="en-US" altLang="ko-KR" sz="2000" b="0" dirty="0">
                <a:solidFill>
                  <a:srgbClr val="003366"/>
                </a:solidFill>
              </a:rPr>
              <a:t>(</a:t>
            </a:r>
            <a:r>
              <a:rPr lang="ko-KR" altLang="en-US" sz="2000" b="0" dirty="0">
                <a:solidFill>
                  <a:srgbClr val="003366"/>
                </a:solidFill>
              </a:rPr>
              <a:t>인테리어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배경음악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조명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실내온도 등</a:t>
            </a:r>
            <a:r>
              <a:rPr lang="en-US" altLang="ko-KR" sz="2000" b="0" dirty="0">
                <a:solidFill>
                  <a:srgbClr val="003366"/>
                </a:solidFill>
              </a:rPr>
              <a:t>)</a:t>
            </a:r>
            <a:r>
              <a:rPr lang="ko-KR" altLang="en-US" sz="2000" b="0" dirty="0">
                <a:solidFill>
                  <a:srgbClr val="003366"/>
                </a:solidFill>
              </a:rPr>
              <a:t>에 의해 인지적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감정적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생리적으로 반응하게 되고 이러한 반응이 주어진 환경하에서 고객들의 행동에 영향을 미치게 됨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3366"/>
                </a:solidFill>
              </a:rPr>
              <a:t>접근 행동</a:t>
            </a:r>
            <a:r>
              <a:rPr lang="en-US" altLang="ko-KR" sz="2000" dirty="0">
                <a:solidFill>
                  <a:srgbClr val="003366"/>
                </a:solidFill>
              </a:rPr>
              <a:t>: </a:t>
            </a:r>
            <a:r>
              <a:rPr lang="ko-KR" altLang="en-US" sz="2000" dirty="0">
                <a:solidFill>
                  <a:srgbClr val="003366"/>
                </a:solidFill>
              </a:rPr>
              <a:t>특정 장소에 체류하고</a:t>
            </a:r>
            <a:r>
              <a:rPr lang="en-US" altLang="ko-KR" sz="2000" dirty="0">
                <a:solidFill>
                  <a:srgbClr val="003366"/>
                </a:solidFill>
              </a:rPr>
              <a:t>, </a:t>
            </a:r>
            <a:r>
              <a:rPr lang="ko-KR" altLang="en-US" sz="2000" dirty="0">
                <a:solidFill>
                  <a:srgbClr val="003366"/>
                </a:solidFill>
              </a:rPr>
              <a:t>탐색하여 일하고</a:t>
            </a:r>
            <a:r>
              <a:rPr lang="en-US" altLang="ko-KR" sz="2000" dirty="0">
                <a:solidFill>
                  <a:srgbClr val="003366"/>
                </a:solidFill>
              </a:rPr>
              <a:t>, </a:t>
            </a:r>
            <a:r>
              <a:rPr lang="ko-KR" altLang="en-US" sz="2000" dirty="0">
                <a:solidFill>
                  <a:srgbClr val="003366"/>
                </a:solidFill>
              </a:rPr>
              <a:t>친밀해지고 </a:t>
            </a:r>
            <a:r>
              <a:rPr lang="ko-KR" altLang="en-US" sz="2000" dirty="0" err="1">
                <a:solidFill>
                  <a:srgbClr val="003366"/>
                </a:solidFill>
              </a:rPr>
              <a:t>싶어지는</a:t>
            </a:r>
            <a:r>
              <a:rPr lang="ko-KR" altLang="en-US" sz="2000" dirty="0">
                <a:solidFill>
                  <a:srgbClr val="003366"/>
                </a:solidFill>
              </a:rPr>
              <a:t> 모든 긍정적인 행동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3366"/>
                </a:solidFill>
              </a:rPr>
              <a:t>회피 행동</a:t>
            </a:r>
            <a:r>
              <a:rPr lang="en-US" altLang="ko-KR" sz="2000" dirty="0">
                <a:solidFill>
                  <a:srgbClr val="003366"/>
                </a:solidFill>
              </a:rPr>
              <a:t>: </a:t>
            </a:r>
            <a:r>
              <a:rPr lang="ko-KR" altLang="en-US" sz="2000" dirty="0">
                <a:solidFill>
                  <a:srgbClr val="003366"/>
                </a:solidFill>
              </a:rPr>
              <a:t>접근 행동과 반대되는 행동으로 체류하고 탐색하여 친밀을 원하지 않는 욕구를 반영하는 부정적인 행동</a:t>
            </a:r>
            <a:endParaRPr lang="ko-KR" altLang="en-US" sz="2000" b="0" dirty="0">
              <a:solidFill>
                <a:srgbClr val="003366"/>
              </a:solidFill>
            </a:endParaRPr>
          </a:p>
          <a:p>
            <a:pPr lvl="0" eaLnBrk="1" latinLnBrk="0" hangingPunct="1">
              <a:lnSpc>
                <a:spcPct val="150000"/>
              </a:lnSpc>
              <a:buClr>
                <a:srgbClr val="4C59D2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같은 공간에서 서비스 하는 종사원의 효과적인 업무 수행에도 물리적 환경이 영향을 미침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lvl="0" eaLnBrk="1" latinLnBrk="0" hangingPunct="1">
              <a:lnSpc>
                <a:spcPct val="150000"/>
              </a:lnSpc>
              <a:buClr>
                <a:srgbClr val="4C59D2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레스토랑의 물리적 환경은 고객과 종사원 요구 및 선호도에 부합하는 것이 매우 중요</a:t>
            </a:r>
          </a:p>
        </p:txBody>
      </p:sp>
    </p:spTree>
    <p:extLst>
      <p:ext uri="{BB962C8B-B14F-4D97-AF65-F5344CB8AC3E}">
        <p14:creationId xmlns:p14="http://schemas.microsoft.com/office/powerpoint/2010/main" val="1120003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물리적 환경과 고객과의 관계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D109B88-845A-4768-8057-9105669FF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79" y="1355834"/>
            <a:ext cx="10243733" cy="512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4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13FE-3E16-4F1B-9A68-A4A8294E3AA6}"/>
              </a:ext>
            </a:extLst>
          </p:cNvPr>
          <p:cNvSpPr txBox="1"/>
          <p:nvPr/>
        </p:nvSpPr>
        <p:spPr>
          <a:xfrm>
            <a:off x="406349" y="1146381"/>
            <a:ext cx="11379301" cy="37010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 latinLnBrk="0">
              <a:lnSpc>
                <a:spcPct val="150000"/>
              </a:lnSpc>
            </a:pPr>
            <a:endParaRPr lang="en-US" altLang="ko-KR" sz="2000" b="1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914400" lvl="1" indent="-457200" latinLnBrk="0">
              <a:lnSpc>
                <a:spcPct val="150000"/>
              </a:lnSpc>
              <a:buAutoNum type="arabicParenBoth"/>
            </a:pP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공조환경</a:t>
            </a: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(ambient condition)</a:t>
            </a: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실내 온도와 습도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조명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소음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음악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향기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색상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실내외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풍경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전망 등과 같은 환경의 배경적 특성들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00150" lvl="2" indent="-285750" latinLnBrk="0">
              <a:lnSpc>
                <a:spcPct val="150000"/>
              </a:lnSpc>
              <a:buFont typeface="함초롬돋움" panose="02030504000101010101" pitchFamily="18" charset="-127"/>
              <a:buChar char="–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공조환경이 오랫동안 접해야 하는 경우 그 영향력이 더 큼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657350" lvl="3" indent="-285750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사람들이 인식하지 못하는 경우에도 무의식적으로 영향</a:t>
            </a:r>
            <a:endParaRPr lang="en-US" altLang="ko-KR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00150" lvl="2" indent="-285750" latinLnBrk="0">
              <a:lnSpc>
                <a:spcPct val="150000"/>
              </a:lnSpc>
              <a:buFont typeface="함초롬돋움" panose="02030504000101010101" pitchFamily="18" charset="-127"/>
              <a:buChar char="–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종사원의 업무 수행 성과와 직무만족도에 영향 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657350" lvl="3" indent="-285750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특정한 환경에서 오랫동안 일을 하는 종사원들의 감정적인 부분에서 중요한 영향을 받음</a:t>
            </a:r>
            <a:endParaRPr lang="en-US" altLang="ko-KR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00150" lvl="2" indent="-285750" latinLnBrk="0">
              <a:lnSpc>
                <a:spcPct val="150000"/>
              </a:lnSpc>
              <a:buFont typeface="함초롬돋움" panose="02030504000101010101" pitchFamily="18" charset="-127"/>
              <a:buChar char="–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적정 실내 온도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조도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소음 등은 고객을 더 오래 머물게 하고 더 많이 소비하게 함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209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13FE-3E16-4F1B-9A68-A4A8294E3AA6}"/>
              </a:ext>
            </a:extLst>
          </p:cNvPr>
          <p:cNvSpPr txBox="1"/>
          <p:nvPr/>
        </p:nvSpPr>
        <p:spPr>
          <a:xfrm>
            <a:off x="268864" y="1114850"/>
            <a:ext cx="11654272" cy="30162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914400" lvl="1" indent="-457200" latinLnBrk="0">
              <a:lnSpc>
                <a:spcPct val="150000"/>
              </a:lnSpc>
              <a:buAutoNum type="arabicParenBoth"/>
            </a:pP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공조환경</a:t>
            </a: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(ambient condition)</a:t>
            </a:r>
          </a:p>
          <a:p>
            <a:pPr lvl="1" latinLnBrk="0">
              <a:lnSpc>
                <a:spcPct val="150000"/>
              </a:lnSpc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>
              <a:lnSpc>
                <a:spcPct val="150000"/>
              </a:lnSpc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① 색상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난색 계열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적색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주황색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황색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):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신진대사 속도를 향상시켜 소화 촉진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신체기능을 차분하게 하고 기운을 북돋우는 작용을 함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한색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차가운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)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계열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소화를 더디게 하며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음식이나 고객이 매력적으로 보이는 데 부정적인 효과를 초래함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/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22FB5-1CAC-4F72-8EC8-A1A19E70F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442" y="3640450"/>
            <a:ext cx="3157115" cy="311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73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13FE-3E16-4F1B-9A68-A4A8294E3AA6}"/>
              </a:ext>
            </a:extLst>
          </p:cNvPr>
          <p:cNvSpPr txBox="1"/>
          <p:nvPr/>
        </p:nvSpPr>
        <p:spPr>
          <a:xfrm>
            <a:off x="268864" y="1114850"/>
            <a:ext cx="11654272" cy="51706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914400" lvl="1" indent="-457200" latinLnBrk="0">
              <a:lnSpc>
                <a:spcPct val="150000"/>
              </a:lnSpc>
              <a:buAutoNum type="arabicParenBoth"/>
            </a:pP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공조환경</a:t>
            </a: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(ambient condition)</a:t>
            </a:r>
          </a:p>
          <a:p>
            <a:pPr lvl="1" latinLnBrk="0">
              <a:lnSpc>
                <a:spcPct val="150000"/>
              </a:lnSpc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>
              <a:lnSpc>
                <a:spcPct val="150000"/>
              </a:lnSpc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① 색상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음식을 더욱 돋보이게 하기 위해서는 따뜻한 붉은색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갈색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주황색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노란색 계열의 색을 사용한다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빠른 고객회전이 필요한 패스트푸드나 </a:t>
            </a: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테이크아웃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매장은 식사 공간에 붉은색 계열을 사용한다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식사 공간에는 여러 색을 조화롭게 사용하되 고객의 혈색을 창백하게 보이게 하는 초록색이나 회색 계열의 색은 피한다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작은 식사 공간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룸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소품 등을 크게 보이게 하려면 </a:t>
            </a: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밝은색을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사용한다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창문이 없는 식사 공간의 벽면이나 룸에는 붉은 계열의 색을 사용한다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천정이 높은 식사 공간은 어두운 계열의 색을 사용하고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특히 어두운 색 계열의 수평선을 이용한다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좁고 긴 식사 공간이나 룸의 경우 좁고 긴 마지막 면에 따뜻한 계열 혹은 깊은 색조가 느껴지는 색을 사용하면 공간이나 룸이 보다 정사각형으로 보인다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간판 등 눈에 잘 띄게 하고 싶은 것들은 밝고 선명한 색을 사용하되 반사광이 들어가는 색은 고객의 눈을 피곤하게 하므로 피한다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벽면이나 바닥 색으로부터 소품이나 물체를 구분하기 위해서는 항상 적당한 색의 대비 효과를 유지한다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9667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13FE-3E16-4F1B-9A68-A4A8294E3AA6}"/>
              </a:ext>
            </a:extLst>
          </p:cNvPr>
          <p:cNvSpPr txBox="1"/>
          <p:nvPr/>
        </p:nvSpPr>
        <p:spPr>
          <a:xfrm>
            <a:off x="268864" y="1114850"/>
            <a:ext cx="11654272" cy="60555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914400" lvl="1" indent="-457200" latinLnBrk="0">
              <a:lnSpc>
                <a:spcPct val="150000"/>
              </a:lnSpc>
              <a:buAutoNum type="arabicParenBoth"/>
            </a:pP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공조환경</a:t>
            </a: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(ambient condition)</a:t>
            </a:r>
          </a:p>
          <a:p>
            <a:pPr lvl="1" latinLnBrk="0">
              <a:lnSpc>
                <a:spcPct val="150000"/>
              </a:lnSpc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>
              <a:lnSpc>
                <a:spcPct val="150000"/>
              </a:lnSpc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② 조명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조명의 밝기는 식사공간의 분위기와 고객 회전율에 큰 영향을 주기 때문에 레스토랑의 콘셉트에 따라 다른 조도를 사용해야 함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패스트푸드점의 경우 회전율을 높이기 위해 밝은 조명 사용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객단가가 높은 레스토랑은 프라이버시를 보호하기 위해 간접조명 사용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주점은 술이 마시고 </a:t>
            </a: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싶어지는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어두운 조도를 사용할 경우 매출에 긍정적인 영향을 미침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조명의 밝기는 고객이 메뉴판을 받았을 때 읽기 쉽고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제공된 음식의 색들이 잘 보일 수 있는 정도</a:t>
            </a: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반사광이 지나치게 현란한 조명은 피해야 함</a:t>
            </a: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지나친 밝기는 실내온도를 높이고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고객의 프라이버시를 침해할 수 있어 사용을 제한</a:t>
            </a: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형광등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(X) vs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백열등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(O)</a:t>
            </a: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7200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13FE-3E16-4F1B-9A68-A4A8294E3AA6}"/>
              </a:ext>
            </a:extLst>
          </p:cNvPr>
          <p:cNvSpPr txBox="1"/>
          <p:nvPr/>
        </p:nvSpPr>
        <p:spPr>
          <a:xfrm>
            <a:off x="537728" y="1344826"/>
            <a:ext cx="11654272" cy="51321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914400" lvl="1" indent="-457200" latinLnBrk="0">
              <a:lnSpc>
                <a:spcPct val="150000"/>
              </a:lnSpc>
              <a:buAutoNum type="arabicParenBoth"/>
            </a:pP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공조환경</a:t>
            </a: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(ambient condition)</a:t>
            </a:r>
          </a:p>
          <a:p>
            <a:pPr lvl="1" latinLnBrk="0">
              <a:lnSpc>
                <a:spcPct val="150000"/>
              </a:lnSpc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>
              <a:lnSpc>
                <a:spcPct val="150000"/>
              </a:lnSpc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③ 음향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배경음악의 경우 친숙한 음악일수록 머무는 시간이 짧다고 느낌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음향요소를 적절히 활용하면 분위기와 고객 회전율에 영향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빠른 템포의 음악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고객의 식사 속도 </a:t>
            </a: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빨라짐</a:t>
            </a:r>
            <a:endParaRPr lang="ko-KR" altLang="en-US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클래식 음악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고객들이 오랫동안 체류하도록 유도함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3366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소음은 요리하는 소리처럼 식욕을 자극하는 소음도 있지만 대체로 부정적인 영향을 미침</a:t>
            </a:r>
            <a:endParaRPr lang="en-US" altLang="ko-KR" sz="2000" dirty="0">
              <a:solidFill>
                <a:srgbClr val="003366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solidFill>
                  <a:srgbClr val="003366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레스토랑 분위기에 따라 적절한 인테리어 마감재를 선택하여 음향상태를 조절하는 것도 중요</a:t>
            </a:r>
            <a:endParaRPr lang="en-US" altLang="ko-KR" sz="2000" dirty="0">
              <a:solidFill>
                <a:srgbClr val="003366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solidFill>
                  <a:srgbClr val="003366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카펫이나 음향타일</a:t>
            </a:r>
            <a:r>
              <a:rPr lang="en-US" altLang="ko-KR" sz="2000" dirty="0">
                <a:solidFill>
                  <a:srgbClr val="003366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3366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식탁보 재료</a:t>
            </a:r>
            <a:r>
              <a:rPr lang="en-US" altLang="ko-KR" sz="2000" dirty="0">
                <a:solidFill>
                  <a:srgbClr val="003366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3366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화분 등을 이용하여 조절</a:t>
            </a:r>
            <a:endParaRPr lang="en-US" altLang="ko-KR" sz="2000" dirty="0">
              <a:solidFill>
                <a:srgbClr val="003366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001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13FE-3E16-4F1B-9A68-A4A8294E3AA6}"/>
              </a:ext>
            </a:extLst>
          </p:cNvPr>
          <p:cNvSpPr txBox="1"/>
          <p:nvPr/>
        </p:nvSpPr>
        <p:spPr>
          <a:xfrm>
            <a:off x="268864" y="1555410"/>
            <a:ext cx="11654272" cy="37471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914400" lvl="1" indent="-457200" latinLnBrk="0">
              <a:lnSpc>
                <a:spcPct val="150000"/>
              </a:lnSpc>
              <a:buAutoNum type="arabicParenBoth"/>
            </a:pP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공조환경</a:t>
            </a: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(ambient condition)</a:t>
            </a:r>
          </a:p>
          <a:p>
            <a:pPr lvl="1" latinLnBrk="0">
              <a:lnSpc>
                <a:spcPct val="150000"/>
              </a:lnSpc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>
              <a:lnSpc>
                <a:spcPct val="150000"/>
              </a:lnSpc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④ 환기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레스토랑에서 냄새와 온도 조절</a:t>
            </a: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연기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기름기 등의 부정적인 냄새는 고객의 식사 경험에 부정적인 영향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레스토랑 내 긍정적인 향기가 나도록 환기상태를 조절해야 함</a:t>
            </a:r>
          </a:p>
          <a:p>
            <a:pPr marL="800100" lvl="1" indent="-34290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환기구나 환풍기 설치 시 장소 고려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0201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03DE36C-EC93-43FF-AE51-D2E1D5856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212" y="1257300"/>
            <a:ext cx="879157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9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13FE-3E16-4F1B-9A68-A4A8294E3AA6}"/>
              </a:ext>
            </a:extLst>
          </p:cNvPr>
          <p:cNvSpPr txBox="1"/>
          <p:nvPr/>
        </p:nvSpPr>
        <p:spPr>
          <a:xfrm>
            <a:off x="268864" y="1114850"/>
            <a:ext cx="11654272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 latinLnBrk="0">
              <a:lnSpc>
                <a:spcPct val="150000"/>
              </a:lnSpc>
            </a:pP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(2) </a:t>
            </a: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공간적 배치와 기능성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>
              <a:lnSpc>
                <a:spcPct val="150000"/>
              </a:lnSpc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① 식사공간의 배치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레스토랑 공간 </a:t>
            </a: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배치란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서비스 공간의 기기 및 테이블의 형태와 위치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가구 스타일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주방 공간의 조리기기의 크기와 배열 및 이들 간의 공간적 관계를 말함 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고객과 종사원 간 의사소통의 </a:t>
            </a: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원활성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및 종사원들의 서비스 능률에 영향을 미침 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부정적인 경험을 줄 수 있는 배치 요소는 제거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식사공간 필요 면적은 적정한 매출 확보에 매우 중요한 요소이므로 적정한 수익이 창출되는 좌석 수와 그에 따른 필요 면적을 결정 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고급 레스토랑일수록 </a:t>
            </a: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고객당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차지하는 식사 공간은 넓어짐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좌석 회전율이 높은 경우는 동일 면적이나 좌석수를 가지고도 고객 수용능력을 극대화하여 매출 향상에 기여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8" name="모서리가 둥근 직사각형 15">
            <a:extLst>
              <a:ext uri="{FF2B5EF4-FFF2-40B4-BE49-F238E27FC236}">
                <a16:creationId xmlns:a16="http://schemas.microsoft.com/office/drawing/2014/main" id="{A363FA5E-CDC7-4C70-AB98-B2D0C3975928}"/>
              </a:ext>
            </a:extLst>
          </p:cNvPr>
          <p:cNvSpPr/>
          <p:nvPr/>
        </p:nvSpPr>
        <p:spPr>
          <a:xfrm>
            <a:off x="2855640" y="4818399"/>
            <a:ext cx="6480720" cy="184950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lnSpc>
                <a:spcPct val="150000"/>
              </a:lnSpc>
            </a:pPr>
            <a:r>
              <a:rPr lang="en-US" altLang="ko-KR" b="1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[</a:t>
            </a:r>
            <a:r>
              <a:rPr lang="ko-KR" altLang="en-US" b="1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좌석 회전율을 높이기 위한 전략적 방법</a:t>
            </a:r>
            <a:r>
              <a:rPr lang="en-US" altLang="ko-KR" b="1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]</a:t>
            </a:r>
          </a:p>
          <a:p>
            <a:pPr marL="1257300" lvl="2" indent="-342900" latinLnBrk="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가공 식자재 활용 </a:t>
            </a: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음식 조리시간 단축</a:t>
            </a: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)</a:t>
            </a:r>
          </a:p>
          <a:p>
            <a:pPr marL="1257300" lvl="2" indent="-342900" latinLnBrk="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밝은 조명과 색상을 활용한 식사공간</a:t>
            </a:r>
            <a:endParaRPr lang="en-US" altLang="ko-KR" sz="1600" dirty="0">
              <a:solidFill>
                <a:schemeClr val="tx1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 latinLnBrk="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오래 앉아 있으면 다소 불편한 의자 의도적으로 구입</a:t>
            </a:r>
            <a:endParaRPr lang="en-US" altLang="ko-KR" sz="1600" dirty="0">
              <a:solidFill>
                <a:schemeClr val="tx1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 latinLnBrk="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충분한 서비스 인력 투입 </a:t>
            </a: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-&gt; 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인건비↑</a:t>
            </a:r>
            <a:endParaRPr lang="en-US" altLang="ko-KR" sz="1600" dirty="0">
              <a:solidFill>
                <a:schemeClr val="tx1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2610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13FE-3E16-4F1B-9A68-A4A8294E3AA6}"/>
              </a:ext>
            </a:extLst>
          </p:cNvPr>
          <p:cNvSpPr txBox="1"/>
          <p:nvPr/>
        </p:nvSpPr>
        <p:spPr>
          <a:xfrm>
            <a:off x="268864" y="1114850"/>
            <a:ext cx="11654272" cy="40934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 latinLnBrk="0">
              <a:lnSpc>
                <a:spcPct val="150000"/>
              </a:lnSpc>
            </a:pP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(2) </a:t>
            </a: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공간적 배치와 기능성</a:t>
            </a:r>
            <a:endParaRPr lang="en-US" altLang="ko-KR" sz="2000" b="1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>
              <a:lnSpc>
                <a:spcPct val="150000"/>
              </a:lnSpc>
            </a:pP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②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테이블 형태와 크기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레스토랑 공간배치에는 테이블의 모양과 크기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테이블 간의 간격도 포함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공간의 면적이 테이블과 좌석수를 결정하는데 가장 중요하며 메뉴의 종류와 형태에 따라 테이블의 크기도 조정 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효과적인 공간배치는 고객과 종사원이 더 쉽게 접근할 수 있도록 하고 긍정적 고객 감정을 형성하는 것이 중요 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테이블 형태는 원형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사각 등 모양에 따라 다양 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원형 테이블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고객에게 편안한 레스토랑 이미지 전달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고객과 고객 사이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고객과 종사원 사이의 친밀감 촉진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사각형 테이블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테이블 조합이 용이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고객과 고객 사이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고객과 종사원 사이의 친밀감 형성 방해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BD4251C-0935-4963-9A89-86D94665EE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523"/>
          <a:stretch/>
        </p:blipFill>
        <p:spPr>
          <a:xfrm>
            <a:off x="3003106" y="5378565"/>
            <a:ext cx="6677025" cy="147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73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13FE-3E16-4F1B-9A68-A4A8294E3AA6}"/>
              </a:ext>
            </a:extLst>
          </p:cNvPr>
          <p:cNvSpPr txBox="1"/>
          <p:nvPr/>
        </p:nvSpPr>
        <p:spPr>
          <a:xfrm>
            <a:off x="268864" y="1114850"/>
            <a:ext cx="11654272" cy="36317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 latinLnBrk="0">
              <a:lnSpc>
                <a:spcPct val="150000"/>
              </a:lnSpc>
            </a:pP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(2) </a:t>
            </a: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공간적 배치와 기능성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>
              <a:lnSpc>
                <a:spcPct val="150000"/>
              </a:lnSpc>
            </a:pP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②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테이블 형태와 크기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점포에 맞는 최적의 테이블 믹스는 점포 매출에 중요한 영향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방문하는 고객의 그룹 규모에 따라 적절히 조합하여 </a:t>
            </a: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만석률을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높여야 함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/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>
              <a:lnSpc>
                <a:spcPct val="150000"/>
              </a:lnSpc>
            </a:pP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③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기능성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기능성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(functionality):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고객과 종사원의 목적 달성을 용이하게 하는 능력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접근성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미학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좌석의 편리함 등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)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고객들의 서비스 이용경험을 강화 시켜 줄 수 있어야 하고 종사원의 업무를 수행하는데 불편함이 없도록 설계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고객들이 종사원의 도움을 못 받는 셀프서비스 환경에서 더욱 중요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서비스 과업이 복잡할수록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종사원과 고객의 시간이 촉박할수록 공간적 배치와 기능성의 중요성 증가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944561-EA6A-4850-B853-05AE33B28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784" y="4916900"/>
            <a:ext cx="2679048" cy="17179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FEFA060-87C2-4CB8-91DB-61257B32AE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262" r="6004"/>
          <a:stretch/>
        </p:blipFill>
        <p:spPr>
          <a:xfrm>
            <a:off x="5255513" y="4916900"/>
            <a:ext cx="1368152" cy="1715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39653C-5BF6-4D5F-A50B-D6352B359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346" y="4916900"/>
            <a:ext cx="2699792" cy="1717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6562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레스토랑 물리적 환경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813FE-3E16-4F1B-9A68-A4A8294E3AA6}"/>
              </a:ext>
            </a:extLst>
          </p:cNvPr>
          <p:cNvSpPr txBox="1"/>
          <p:nvPr/>
        </p:nvSpPr>
        <p:spPr>
          <a:xfrm>
            <a:off x="268864" y="1114850"/>
            <a:ext cx="11923136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 latinLnBrk="0">
              <a:lnSpc>
                <a:spcPct val="150000"/>
              </a:lnSpc>
            </a:pP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(3) </a:t>
            </a:r>
            <a:r>
              <a:rPr lang="ko-KR" altLang="en-US" sz="2000" b="1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사인물</a:t>
            </a: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심벌</a:t>
            </a:r>
            <a:r>
              <a:rPr lang="en-US" altLang="ko-KR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b="1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소품</a:t>
            </a:r>
            <a:endParaRPr lang="en-US" altLang="ko-KR" sz="2000" b="1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lvl="1" latinLnBrk="0">
              <a:lnSpc>
                <a:spcPct val="150000"/>
              </a:lnSpc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레스토랑 내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/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외부에 부착된 신호와 상징은 고객들에게 그 장소에 대한 정보 제공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커뮤니케이터의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역할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행동 규칙과 장소 정보를 알려 주는 역할 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상징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/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조형물 같은 물리적 환경을 이용해 특정 상황에서 기대되는 행위규범을 암시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표지판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/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상징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/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조형물만으로도 레스토랑의 서비스 수준을 파악할 수 있을 만큼 물리적 환경이 상징적인 의미를 담고 있음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서비스스케이프는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경험에서 고객이 갖는 의미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만족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감정과 연결되고 다른 고객과 서비스를 공유하면서 경험하는 사회적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·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개인적 상호작용에도 영향을 미침</a:t>
            </a:r>
          </a:p>
          <a:p>
            <a:pPr marL="800100" lvl="1" indent="-342900" latinLnBrk="0">
              <a:buFont typeface="Wingdings" panose="05000000000000000000" pitchFamily="2" charset="2"/>
              <a:buChar char="§"/>
            </a:pPr>
            <a:endParaRPr lang="ko-KR" altLang="en-US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D1084B5-8488-4F91-B94A-0AAE36F95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116" y="4455236"/>
            <a:ext cx="5743575" cy="16859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35C13A2-F5C3-45B7-819F-B9BD4EC0E7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466" r="12763"/>
          <a:stretch/>
        </p:blipFill>
        <p:spPr>
          <a:xfrm>
            <a:off x="7931327" y="4287316"/>
            <a:ext cx="2474797" cy="202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84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텍스트 개체 틀 3">
            <a:extLst>
              <a:ext uri="{FF2B5EF4-FFF2-40B4-BE49-F238E27FC236}">
                <a16:creationId xmlns:a16="http://schemas.microsoft.com/office/drawing/2014/main" id="{FF324CC6-386C-47B4-962C-1A73013DD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레스토랑 주방 디자인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7BAE7D-4448-4DED-AA41-A453AEFF4AF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EE0101-D47B-4C84-8321-38EF136351D0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BB3919A3-CB73-451A-A024-DB8C0CB3E4BC}"/>
              </a:ext>
            </a:extLst>
          </p:cNvPr>
          <p:cNvGrpSpPr>
            <a:grpSpLocks/>
          </p:cNvGrpSpPr>
          <p:nvPr/>
        </p:nvGrpSpPr>
        <p:grpSpPr bwMode="auto">
          <a:xfrm>
            <a:off x="6385832" y="4770946"/>
            <a:ext cx="6169015" cy="663286"/>
            <a:chOff x="1296" y="1824"/>
            <a:chExt cx="3886" cy="432"/>
          </a:xfrm>
        </p:grpSpPr>
        <p:sp>
          <p:nvSpPr>
            <p:cNvPr id="24" name="AutoShape 47">
              <a:extLst>
                <a:ext uri="{FF2B5EF4-FFF2-40B4-BE49-F238E27FC236}">
                  <a16:creationId xmlns:a16="http://schemas.microsoft.com/office/drawing/2014/main" id="{DC2CFFCE-8DE3-4A99-96E8-0EBFE7FE017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5" name="AutoShape 48">
              <a:extLst>
                <a:ext uri="{FF2B5EF4-FFF2-40B4-BE49-F238E27FC236}">
                  <a16:creationId xmlns:a16="http://schemas.microsoft.com/office/drawing/2014/main" id="{DE62540D-CCBE-4E3D-BFBB-4BC36EF321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6" name="Text Box 49">
              <a:extLst>
                <a:ext uri="{FF2B5EF4-FFF2-40B4-BE49-F238E27FC236}">
                  <a16:creationId xmlns:a16="http://schemas.microsoft.com/office/drawing/2014/main" id="{575A783F-4397-4C0F-90EA-B3EE286A138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주방 공간 디자인 </a:t>
              </a:r>
              <a:r>
                <a:rPr lang="en-US" altLang="ko-KR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3</a:t>
              </a:r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요소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7" name="Text Box 50">
              <a:extLst>
                <a:ext uri="{FF2B5EF4-FFF2-40B4-BE49-F238E27FC236}">
                  <a16:creationId xmlns:a16="http://schemas.microsoft.com/office/drawing/2014/main" id="{B4A69FCD-EEB3-4B11-BB1F-C5B12FA3ABD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1</a:t>
              </a:r>
            </a:p>
          </p:txBody>
        </p:sp>
      </p:grpSp>
      <p:grpSp>
        <p:nvGrpSpPr>
          <p:cNvPr id="9" name="Group 51">
            <a:extLst>
              <a:ext uri="{FF2B5EF4-FFF2-40B4-BE49-F238E27FC236}">
                <a16:creationId xmlns:a16="http://schemas.microsoft.com/office/drawing/2014/main" id="{0F9D4181-929C-406E-9392-16D87307ADBC}"/>
              </a:ext>
            </a:extLst>
          </p:cNvPr>
          <p:cNvGrpSpPr>
            <a:grpSpLocks/>
          </p:cNvGrpSpPr>
          <p:nvPr/>
        </p:nvGrpSpPr>
        <p:grpSpPr bwMode="auto">
          <a:xfrm>
            <a:off x="6382651" y="5546457"/>
            <a:ext cx="6169025" cy="663285"/>
            <a:chOff x="1296" y="1824"/>
            <a:chExt cx="3886" cy="432"/>
          </a:xfrm>
        </p:grpSpPr>
        <p:sp>
          <p:nvSpPr>
            <p:cNvPr id="20" name="AutoShape 52">
              <a:extLst>
                <a:ext uri="{FF2B5EF4-FFF2-40B4-BE49-F238E27FC236}">
                  <a16:creationId xmlns:a16="http://schemas.microsoft.com/office/drawing/2014/main" id="{947D1FDE-168B-4A80-881E-BDD60D594BA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1" name="AutoShape 53">
              <a:extLst>
                <a:ext uri="{FF2B5EF4-FFF2-40B4-BE49-F238E27FC236}">
                  <a16:creationId xmlns:a16="http://schemas.microsoft.com/office/drawing/2014/main" id="{9C8A8E25-C5E1-4CB6-948C-A93C46C129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2" name="Text Box 54">
              <a:extLst>
                <a:ext uri="{FF2B5EF4-FFF2-40B4-BE49-F238E27FC236}">
                  <a16:creationId xmlns:a16="http://schemas.microsoft.com/office/drawing/2014/main" id="{791CBC6D-335B-4F66-916C-153504CFF17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주방 공간 설계 시 세부 고려 사항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23" name="Text Box 55">
              <a:extLst>
                <a:ext uri="{FF2B5EF4-FFF2-40B4-BE49-F238E27FC236}">
                  <a16:creationId xmlns:a16="http://schemas.microsoft.com/office/drawing/2014/main" id="{D830330B-A1B5-444B-A5BD-FAB32AAAD00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주방 공간 디자인 </a:t>
            </a:r>
            <a:r>
              <a:rPr lang="en-US" altLang="ko-KR" dirty="0"/>
              <a:t>3</a:t>
            </a:r>
            <a:r>
              <a:rPr lang="ko-KR" altLang="en-US" dirty="0"/>
              <a:t>요소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517312" cy="4858871"/>
          </a:xfrm>
        </p:spPr>
        <p:txBody>
          <a:bodyPr/>
          <a:lstStyle/>
          <a:p>
            <a:pPr marL="357187" lvl="1" indent="0" eaLnBrk="1" latinLnBrk="0" hangingPunct="1">
              <a:lnSpc>
                <a:spcPct val="150000"/>
              </a:lnSpc>
              <a:buClr>
                <a:srgbClr val="DE8848"/>
              </a:buClr>
              <a:defRPr/>
            </a:pPr>
            <a:r>
              <a:rPr lang="en-US" altLang="ko-KR" sz="2000" b="1" dirty="0"/>
              <a:t>(1) </a:t>
            </a:r>
            <a:r>
              <a:rPr lang="ko-KR" altLang="en-US" sz="2000" b="1" dirty="0"/>
              <a:t>인체 공학적인 디자인</a:t>
            </a:r>
            <a:endParaRPr lang="en-US" altLang="ko-KR" sz="2000" b="1" dirty="0"/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AC93BE3A-22DF-452E-81C6-F9FA49122E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5411280"/>
              </p:ext>
            </p:extLst>
          </p:nvPr>
        </p:nvGraphicFramePr>
        <p:xfrm>
          <a:off x="830139" y="2293778"/>
          <a:ext cx="5136232" cy="3872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83BAD4-4418-435C-99EF-9FE4F19E5FF7}"/>
              </a:ext>
            </a:extLst>
          </p:cNvPr>
          <p:cNvSpPr txBox="1"/>
          <p:nvPr/>
        </p:nvSpPr>
        <p:spPr>
          <a:xfrm>
            <a:off x="5031830" y="2293778"/>
            <a:ext cx="5661570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인체 움직임의 범위를 고려하여 설계된 주방 기기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/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기구 배열 및 작업대 높이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충분한 통로공간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능률적인 작업공간 등 설계 필요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--&gt;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종사원들의 생산성 향상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주방 공간 디자인 </a:t>
            </a:r>
            <a:r>
              <a:rPr lang="en-US" altLang="ko-KR" dirty="0"/>
              <a:t>3</a:t>
            </a:r>
            <a:r>
              <a:rPr lang="ko-KR" altLang="en-US" dirty="0"/>
              <a:t>요소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517312" cy="4858871"/>
          </a:xfrm>
        </p:spPr>
        <p:txBody>
          <a:bodyPr/>
          <a:lstStyle/>
          <a:p>
            <a:pPr marL="357187" lvl="1" indent="0" eaLnBrk="1" latinLnBrk="0" hangingPunct="1">
              <a:lnSpc>
                <a:spcPct val="150000"/>
              </a:lnSpc>
              <a:buClr>
                <a:srgbClr val="DE8848"/>
              </a:buClr>
              <a:defRPr/>
            </a:pPr>
            <a:r>
              <a:rPr lang="en-US" altLang="ko-KR" sz="2000" b="1" dirty="0"/>
              <a:t>(2) </a:t>
            </a:r>
            <a:r>
              <a:rPr lang="ko-KR" altLang="en-US" sz="2000" b="1" dirty="0"/>
              <a:t>효율적인 디자인</a:t>
            </a:r>
            <a:endParaRPr lang="en-US" altLang="ko-KR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3BAD4-4418-435C-99EF-9FE4F19E5FF7}"/>
              </a:ext>
            </a:extLst>
          </p:cNvPr>
          <p:cNvSpPr txBox="1"/>
          <p:nvPr/>
        </p:nvSpPr>
        <p:spPr>
          <a:xfrm>
            <a:off x="1496987" y="3359754"/>
            <a:ext cx="56615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기기선택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742950" lvl="1" indent="-285750" latinLnBrk="0">
              <a:buFont typeface="Wingdings" panose="05000000000000000000" pitchFamily="2" charset="2"/>
              <a:buChar char="Ø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인건비 절감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생산성 향상</a:t>
            </a:r>
            <a:r>
              <a:rPr lang="en-US" altLang="ko-KR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고려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latinLnBrk="0">
              <a:buFont typeface="Wingdings" panose="05000000000000000000" pitchFamily="2" charset="2"/>
              <a:buChar char="§"/>
            </a:pP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기기 비용 절감 요소</a:t>
            </a:r>
          </a:p>
          <a:p>
            <a:pPr marL="800100" lvl="1" indent="-342900" latinLnBrk="0">
              <a:buFont typeface="+mj-ea"/>
              <a:buAutoNum type="circleNumDbPlain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다용도 목적의 주방 기기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+mj-ea"/>
              <a:buAutoNum type="circleNumDbPlain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사용하기 편리한 기기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indent="-342900" latinLnBrk="0">
              <a:buFont typeface="+mj-ea"/>
              <a:buAutoNum type="circleNumDbPlain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조리시간을 단축시킬 수 있는 기기</a:t>
            </a:r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78C6F2BF-35C8-4EBD-BC79-9321A1D32E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451208"/>
              </p:ext>
            </p:extLst>
          </p:nvPr>
        </p:nvGraphicFramePr>
        <p:xfrm>
          <a:off x="6096000" y="2100523"/>
          <a:ext cx="5136232" cy="3616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365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주방 공간 디자인 </a:t>
            </a:r>
            <a:r>
              <a:rPr lang="en-US" altLang="ko-KR" dirty="0"/>
              <a:t>3</a:t>
            </a:r>
            <a:r>
              <a:rPr lang="ko-KR" altLang="en-US" dirty="0"/>
              <a:t>요소</a:t>
            </a:r>
            <a:endParaRPr lang="ko-KR" altLang="en-US" sz="2000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8" y="1479176"/>
            <a:ext cx="11517312" cy="4858871"/>
          </a:xfrm>
        </p:spPr>
        <p:txBody>
          <a:bodyPr/>
          <a:lstStyle/>
          <a:p>
            <a:pPr marL="357187" lvl="1" indent="0" eaLnBrk="1" latinLnBrk="0" hangingPunct="1">
              <a:lnSpc>
                <a:spcPct val="150000"/>
              </a:lnSpc>
              <a:buClr>
                <a:srgbClr val="DE8848"/>
              </a:buClr>
              <a:defRPr/>
            </a:pPr>
            <a:r>
              <a:rPr lang="en-US" altLang="ko-KR" sz="2000" b="1" dirty="0"/>
              <a:t>(3) </a:t>
            </a:r>
            <a:r>
              <a:rPr lang="ko-KR" altLang="en-US" sz="2000" b="1" dirty="0"/>
              <a:t>경제적인 디자인</a:t>
            </a:r>
            <a:endParaRPr lang="en-US" altLang="ko-KR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3BAD4-4418-435C-99EF-9FE4F19E5FF7}"/>
              </a:ext>
            </a:extLst>
          </p:cNvPr>
          <p:cNvSpPr txBox="1"/>
          <p:nvPr/>
        </p:nvSpPr>
        <p:spPr>
          <a:xfrm>
            <a:off x="6433344" y="4099391"/>
            <a:ext cx="3354549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유지관리비용이나 업그레이드시킬 수 있는 확장성을 고려하고 동선 단축 가능성 등을 고려하여 설계</a:t>
            </a:r>
          </a:p>
        </p:txBody>
      </p:sp>
      <p:graphicFrame>
        <p:nvGraphicFramePr>
          <p:cNvPr id="12" name="다이어그램 11">
            <a:extLst>
              <a:ext uri="{FF2B5EF4-FFF2-40B4-BE49-F238E27FC236}">
                <a16:creationId xmlns:a16="http://schemas.microsoft.com/office/drawing/2014/main" id="{1833AA6B-ECD8-4DE7-8120-1F8B09E144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055750"/>
              </p:ext>
            </p:extLst>
          </p:nvPr>
        </p:nvGraphicFramePr>
        <p:xfrm>
          <a:off x="830139" y="2293778"/>
          <a:ext cx="5136232" cy="3872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1249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주방 공간 설계 시 세부 고려 사항</a:t>
            </a:r>
            <a:endParaRPr lang="ko-KR" altLang="en-US" sz="20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80AAB00-C5F9-44BA-86B6-46ADDF79EABE}"/>
              </a:ext>
            </a:extLst>
          </p:cNvPr>
          <p:cNvSpPr txBox="1">
            <a:spLocks/>
          </p:cNvSpPr>
          <p:nvPr/>
        </p:nvSpPr>
        <p:spPr bwMode="auto">
          <a:xfrm>
            <a:off x="785921" y="1497106"/>
            <a:ext cx="11704077" cy="4979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indent="27781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indent="4667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indent="7445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세부 기능별 구역 분리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작업공간 내에서 필요한 재료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도구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기기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저장고 등을 손 닿기 쉬운 곳에 배치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기능구역 배치</a:t>
            </a:r>
            <a:r>
              <a:rPr lang="en-US" altLang="ko-KR" sz="2000" b="0" dirty="0"/>
              <a:t>: </a:t>
            </a:r>
            <a:r>
              <a:rPr lang="ko-KR" altLang="en-US" sz="2000" b="0" dirty="0"/>
              <a:t>관련성이 가장 높은 구역들이 근접하도록 배치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주방 내 작업의 흐름 지도화 → 불필요한 동선이 발생하지 않도록 고려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최종 </a:t>
            </a:r>
            <a:r>
              <a:rPr lang="ko-KR" altLang="en-US" sz="2000" b="0" dirty="0" err="1"/>
              <a:t>조리가열구역</a:t>
            </a:r>
            <a:r>
              <a:rPr lang="en-US" altLang="ko-KR" sz="2000" b="0" dirty="0"/>
              <a:t>: </a:t>
            </a:r>
            <a:r>
              <a:rPr lang="ko-KR" altLang="en-US" sz="2000" b="0" dirty="0"/>
              <a:t>식사공간과 가장 가깝게 배치 → </a:t>
            </a:r>
            <a:r>
              <a:rPr lang="ko-KR" altLang="en-US" sz="2000" b="0" dirty="0" err="1"/>
              <a:t>적온</a:t>
            </a:r>
            <a:r>
              <a:rPr lang="ko-KR" altLang="en-US" sz="2000" b="0" dirty="0"/>
              <a:t> 배식이 가능하도록 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대량조리공간</a:t>
            </a:r>
            <a:r>
              <a:rPr lang="en-US" altLang="ko-KR" sz="2000" b="0" dirty="0"/>
              <a:t>: </a:t>
            </a:r>
            <a:r>
              <a:rPr lang="ko-KR" altLang="en-US" sz="2000" b="0" dirty="0"/>
              <a:t>주방 뒷부분에 배치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주문조리공간</a:t>
            </a:r>
            <a:r>
              <a:rPr lang="en-US" altLang="ko-KR" sz="2000" b="0" dirty="0"/>
              <a:t>: </a:t>
            </a:r>
            <a:r>
              <a:rPr lang="ko-KR" altLang="en-US" sz="2000" b="0" dirty="0"/>
              <a:t>식사공간과 가까운 곳에 배치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 err="1"/>
              <a:t>세정실</a:t>
            </a:r>
            <a:r>
              <a:rPr lang="en-US" altLang="ko-KR" sz="2000" b="0" dirty="0"/>
              <a:t>: </a:t>
            </a:r>
            <a:r>
              <a:rPr lang="ko-KR" altLang="en-US" sz="2000" b="0" dirty="0"/>
              <a:t>별도의 구역으로 분리 → 소음과 화학약품 냄새가 주방이나 식사공간에 퍼지지 않도록 함</a:t>
            </a:r>
            <a:endParaRPr lang="en-US" altLang="ko-KR" sz="1800" b="0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874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주방 공간 설계 시 세부 고려 사항</a:t>
            </a:r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7D544AD-7896-4CD4-B2B6-5CD85101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675" y="1406178"/>
            <a:ext cx="7430649" cy="519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64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주방 공간 설계 시 세부 고려 사항</a:t>
            </a:r>
            <a:endParaRPr lang="ko-KR" altLang="en-US" sz="20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80AAB00-C5F9-44BA-86B6-46ADDF79EABE}"/>
              </a:ext>
            </a:extLst>
          </p:cNvPr>
          <p:cNvSpPr txBox="1">
            <a:spLocks/>
          </p:cNvSpPr>
          <p:nvPr/>
        </p:nvSpPr>
        <p:spPr bwMode="auto">
          <a:xfrm>
            <a:off x="785921" y="1497106"/>
            <a:ext cx="11704077" cy="4979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indent="27781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indent="4667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indent="74453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충분한 통로를 확보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 err="1"/>
              <a:t>덕트</a:t>
            </a:r>
            <a:r>
              <a:rPr lang="ko-KR" altLang="en-US" sz="2000" b="0" dirty="0"/>
              <a:t> 시스템</a:t>
            </a:r>
            <a:r>
              <a:rPr lang="en-US" altLang="ko-KR" sz="2000" b="0" dirty="0"/>
              <a:t>: </a:t>
            </a:r>
            <a:r>
              <a:rPr lang="ko-KR" altLang="en-US" sz="2000" b="0" dirty="0"/>
              <a:t>환기시설이 필요한 기기들은 한곳으로 배치 →  비용 절감 효과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여러 개의 문을 설치하여 →  종사원의 동선 효율성 확보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재료의 흐름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종사원의 흐름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오물쓰레기의 흐름 등이 자연스럽도록 설계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주방공간을 디자인할 때는 근무하는 종사원들의 조언을 많이 청취해야 함</a:t>
            </a:r>
            <a:endParaRPr lang="en-US" altLang="ko-KR" sz="1800" b="0" dirty="0">
              <a:solidFill>
                <a:srgbClr val="003366"/>
              </a:solidFill>
            </a:endParaRPr>
          </a:p>
        </p:txBody>
      </p:sp>
      <p:pic>
        <p:nvPicPr>
          <p:cNvPr id="4" name="Picture 2" descr="restaurant duct system에 대한 이미지 검색결과">
            <a:extLst>
              <a:ext uri="{FF2B5EF4-FFF2-40B4-BE49-F238E27FC236}">
                <a16:creationId xmlns:a16="http://schemas.microsoft.com/office/drawing/2014/main" id="{CBD87F69-56D9-4AB8-8E2B-41074D629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980" y="4050542"/>
            <a:ext cx="4012453" cy="26207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223052"/>
      </p:ext>
    </p:extLst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9636</TotalTime>
  <Words>1871</Words>
  <Application>Microsoft Office PowerPoint</Application>
  <PresentationFormat>와이드스크린</PresentationFormat>
  <Paragraphs>245</Paragraphs>
  <Slides>29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2" baseType="lpstr">
      <vt:lpstr>서울남산 장체 L</vt:lpstr>
      <vt:lpstr>Verdana</vt:lpstr>
      <vt:lpstr>맑은 고딕</vt:lpstr>
      <vt:lpstr>경기천년바탕 Bold</vt:lpstr>
      <vt:lpstr>08서울남산체 B</vt:lpstr>
      <vt:lpstr>함초롬돋움</vt:lpstr>
      <vt:lpstr>굴림</vt:lpstr>
      <vt:lpstr>서울한강 장체 L</vt:lpstr>
      <vt:lpstr>Wingdings</vt:lpstr>
      <vt:lpstr>Arial</vt:lpstr>
      <vt:lpstr>서울남산 장체 EB</vt:lpstr>
      <vt:lpstr>서울남산 장체 M</vt:lpstr>
      <vt:lpstr>sample</vt:lpstr>
      <vt:lpstr>PowerPoint 프레젠테이션</vt:lpstr>
      <vt:lpstr>PowerPoint 프레젠테이션</vt:lpstr>
      <vt:lpstr>1. 물리적 환경의 정의 및 중요성</vt:lpstr>
      <vt:lpstr>1. 물리적 환경의 정의 및 중요성</vt:lpstr>
      <vt:lpstr>2. 물리적 환경의 역할</vt:lpstr>
      <vt:lpstr>2. 물리적 환경의 역할</vt:lpstr>
      <vt:lpstr>2. 물리적 환경의 역할</vt:lpstr>
      <vt:lpstr>2. 물리적 환경의 역할</vt:lpstr>
      <vt:lpstr>PowerPoint 프레젠테이션</vt:lpstr>
      <vt:lpstr>1. 물리적 환경과 고객과의 관계</vt:lpstr>
      <vt:lpstr>1. 물리적 환경과 고객과의 관계</vt:lpstr>
      <vt:lpstr>2. 레스토랑 물리적 환경 요소</vt:lpstr>
      <vt:lpstr>2. 레스토랑 물리적 환경 요소</vt:lpstr>
      <vt:lpstr>2. 레스토랑 물리적 환경 요소</vt:lpstr>
      <vt:lpstr>2. 레스토랑 물리적 환경 요소</vt:lpstr>
      <vt:lpstr>2. 레스토랑 물리적 환경 요소</vt:lpstr>
      <vt:lpstr>2. 레스토랑 물리적 환경 요소</vt:lpstr>
      <vt:lpstr>2. 레스토랑 물리적 환경 요소</vt:lpstr>
      <vt:lpstr>2. 레스토랑 물리적 환경 요소</vt:lpstr>
      <vt:lpstr>2. 레스토랑 물리적 환경 요소</vt:lpstr>
      <vt:lpstr>2. 레스토랑 물리적 환경 요소</vt:lpstr>
      <vt:lpstr>2. 레스토랑 물리적 환경 요소</vt:lpstr>
      <vt:lpstr>PowerPoint 프레젠테이션</vt:lpstr>
      <vt:lpstr>1. 주방 공간 디자인 3요소</vt:lpstr>
      <vt:lpstr>1. 주방 공간 디자인 3요소</vt:lpstr>
      <vt:lpstr>1. 주방 공간 디자인 3요소</vt:lpstr>
      <vt:lpstr>2. 주방 공간 설계 시 세부 고려 사항</vt:lpstr>
      <vt:lpstr>2. 주방 공간 설계 시 세부 고려 사항</vt:lpstr>
      <vt:lpstr>2. 주방 공간 설계 시 세부 고려 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Windows 사용자</cp:lastModifiedBy>
  <cp:revision>189</cp:revision>
  <dcterms:created xsi:type="dcterms:W3CDTF">2022-02-07T06:24:49Z</dcterms:created>
  <dcterms:modified xsi:type="dcterms:W3CDTF">2022-05-10T10:42:57Z</dcterms:modified>
</cp:coreProperties>
</file>