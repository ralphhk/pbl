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1"/>
  </p:notesMasterIdLst>
  <p:sldIdLst>
    <p:sldId id="278" r:id="rId2"/>
    <p:sldId id="280" r:id="rId3"/>
    <p:sldId id="279" r:id="rId4"/>
    <p:sldId id="283" r:id="rId5"/>
    <p:sldId id="284" r:id="rId6"/>
    <p:sldId id="310" r:id="rId7"/>
    <p:sldId id="281" r:id="rId8"/>
    <p:sldId id="285" r:id="rId9"/>
    <p:sldId id="286" r:id="rId10"/>
    <p:sldId id="287" r:id="rId11"/>
    <p:sldId id="288" r:id="rId12"/>
    <p:sldId id="289" r:id="rId13"/>
    <p:sldId id="290" r:id="rId14"/>
    <p:sldId id="293" r:id="rId15"/>
    <p:sldId id="311" r:id="rId16"/>
    <p:sldId id="295" r:id="rId17"/>
    <p:sldId id="296" r:id="rId18"/>
    <p:sldId id="282" r:id="rId19"/>
    <p:sldId id="309" r:id="rId20"/>
    <p:sldId id="298" r:id="rId21"/>
    <p:sldId id="301" r:id="rId22"/>
    <p:sldId id="302" r:id="rId23"/>
    <p:sldId id="303" r:id="rId24"/>
    <p:sldId id="300" r:id="rId25"/>
    <p:sldId id="304" r:id="rId26"/>
    <p:sldId id="313" r:id="rId27"/>
    <p:sldId id="306" r:id="rId28"/>
    <p:sldId id="308" r:id="rId29"/>
    <p:sldId id="307" r:id="rId30"/>
  </p:sldIdLst>
  <p:sldSz cx="12192000" cy="6858000"/>
  <p:notesSz cx="6858000" cy="9144000"/>
  <p:embeddedFontLst>
    <p:embeddedFont>
      <p:font typeface="08서울남산체 B" panose="02020603020101020101" pitchFamily="18" charset="-127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  <p:embeddedFont>
      <p:font typeface="맑은 고딕" panose="020B0503020000020004" pitchFamily="50" charset="-127"/>
      <p:regular r:id="rId37"/>
      <p:bold r:id="rId38"/>
    </p:embeddedFont>
    <p:embeddedFont>
      <p:font typeface="서울남산 장체 EB" panose="02020503020101020101" pitchFamily="18" charset="-127"/>
      <p:regular r:id="rId39"/>
    </p:embeddedFont>
    <p:embeddedFont>
      <p:font typeface="서울남산 장체 L" panose="02020503020101020101" pitchFamily="18" charset="-127"/>
      <p:regular r:id="rId40"/>
    </p:embeddedFont>
    <p:embeddedFont>
      <p:font typeface="서울남산 장체 M" panose="02020503020101020101" pitchFamily="18" charset="-127"/>
      <p:regular r:id="rId41"/>
    </p:embeddedFont>
    <p:embeddedFont>
      <p:font typeface="서울한강 장체 L" panose="02020503020101020101" pitchFamily="18" charset="-127"/>
      <p:regular r:id="rId4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EC7E3"/>
    <a:srgbClr val="EDBE9B"/>
    <a:srgbClr val="B7D69A"/>
    <a:srgbClr val="9DC876"/>
    <a:srgbClr val="98C56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74707" autoAdjust="0"/>
  </p:normalViewPr>
  <p:slideViewPr>
    <p:cSldViewPr snapToGrid="0" showGuides="1">
      <p:cViewPr varScale="1">
        <p:scale>
          <a:sx n="82" d="100"/>
          <a:sy n="82" d="100"/>
        </p:scale>
        <p:origin x="1686" y="78"/>
      </p:cViewPr>
      <p:guideLst>
        <p:guide orient="horz" pos="352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1613FB-ACB7-475B-BB2E-9AF17C7A2A36}" type="doc">
      <dgm:prSet loTypeId="urn:microsoft.com/office/officeart/2005/8/layout/l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6E7C199D-7B00-4160-922D-F00B748F74A1}">
      <dgm:prSet phldrT="[텍스트]" custT="1"/>
      <dgm:spPr/>
      <dgm:t>
        <a:bodyPr/>
        <a:lstStyle/>
        <a:p>
          <a:pPr latinLnBrk="1"/>
          <a:r>
            <a:rPr lang="en-US" altLang="ko-KR" sz="1600" b="1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2) </a:t>
          </a:r>
          <a:r>
            <a:rPr lang="ko-KR" altLang="en-US" sz="1600" b="1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소비자 니즈 또는 </a:t>
          </a:r>
          <a:endParaRPr lang="en-US" altLang="ko-KR" sz="1600" b="1" dirty="0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  <a:p>
          <a:pPr latinLnBrk="1"/>
          <a:r>
            <a:rPr lang="ko-KR" altLang="en-US" sz="1600" b="1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문제파악</a:t>
          </a:r>
        </a:p>
      </dgm:t>
    </dgm:pt>
    <dgm:pt modelId="{64D2733B-5D1E-443D-BE36-C2BA05586F1B}" type="parTrans" cxnId="{5EA4A580-D760-4DF4-B005-467831B33221}">
      <dgm:prSet/>
      <dgm:spPr/>
      <dgm:t>
        <a:bodyPr/>
        <a:lstStyle/>
        <a:p>
          <a:pPr latinLnBrk="1"/>
          <a:endParaRPr lang="ko-KR" altLang="en-US" sz="1400" b="1">
            <a:solidFill>
              <a:schemeClr val="accent4">
                <a:lumMod val="75000"/>
                <a:lumOff val="25000"/>
              </a:schemeClr>
            </a:solidFill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A8B00733-8D33-4F64-B4B7-E6AD7C5AB6AD}" type="sibTrans" cxnId="{5EA4A580-D760-4DF4-B005-467831B33221}">
      <dgm:prSet/>
      <dgm:spPr/>
      <dgm:t>
        <a:bodyPr/>
        <a:lstStyle/>
        <a:p>
          <a:pPr latinLnBrk="1"/>
          <a:endParaRPr lang="ko-KR" altLang="en-US" sz="1400" b="1">
            <a:solidFill>
              <a:schemeClr val="accent4">
                <a:lumMod val="75000"/>
                <a:lumOff val="25000"/>
              </a:schemeClr>
            </a:solidFill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023315AC-90EF-4C6A-9CDF-B8150350BD5D}">
      <dgm:prSet phldrT="[텍스트]" custT="1"/>
      <dgm:spPr/>
      <dgm:t>
        <a:bodyPr/>
        <a:lstStyle/>
        <a:p>
          <a:pPr latinLnBrk="1"/>
          <a:r>
            <a:rPr lang="en-US" altLang="ko-KR" sz="1600" b="1">
              <a:latin typeface="서울남산 장체 M" panose="02020503020101020101" pitchFamily="18" charset="-127"/>
              <a:ea typeface="서울남산 장체 M" panose="02020503020101020101" pitchFamily="18" charset="-127"/>
            </a:rPr>
            <a:t>3) </a:t>
          </a:r>
          <a:r>
            <a:rPr lang="ko-KR" altLang="en-US" sz="1600" b="1">
              <a:latin typeface="서울남산 장체 M" panose="02020503020101020101" pitchFamily="18" charset="-127"/>
              <a:ea typeface="서울남산 장체 M" panose="02020503020101020101" pitchFamily="18" charset="-127"/>
            </a:rPr>
            <a:t>해결방안 만들기</a:t>
          </a:r>
          <a:endParaRPr lang="en-US" altLang="ko-KR" sz="1600" b="1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  <a:p>
          <a:pPr latinLnBrk="1"/>
          <a:r>
            <a:rPr lang="ko-KR" altLang="en-US" sz="1600" b="1">
              <a:latin typeface="서울남산 장체 M" panose="02020503020101020101" pitchFamily="18" charset="-127"/>
              <a:ea typeface="서울남산 장체 M" panose="02020503020101020101" pitchFamily="18" charset="-127"/>
            </a:rPr>
            <a:t> </a:t>
          </a:r>
          <a:r>
            <a:rPr lang="en-US" altLang="ko-KR" sz="1600" b="1">
              <a:latin typeface="서울남산 장체 M" panose="02020503020101020101" pitchFamily="18" charset="-127"/>
              <a:ea typeface="서울남산 장체 M" panose="02020503020101020101" pitchFamily="18" charset="-127"/>
            </a:rPr>
            <a:t>&amp; </a:t>
          </a:r>
          <a:r>
            <a:rPr lang="ko-KR" altLang="en-US" sz="1600" b="1">
              <a:latin typeface="서울남산 장체 M" panose="02020503020101020101" pitchFamily="18" charset="-127"/>
              <a:ea typeface="서울남산 장체 M" panose="02020503020101020101" pitchFamily="18" charset="-127"/>
            </a:rPr>
            <a:t>제공</a:t>
          </a:r>
          <a:endParaRPr lang="ko-KR" altLang="en-US" sz="1600" b="1" dirty="0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8457CD55-DCAF-4933-ABEA-6462BD84433C}" type="parTrans" cxnId="{C0D93210-FDD4-49F7-A511-14CACA34A657}">
      <dgm:prSet/>
      <dgm:spPr/>
      <dgm:t>
        <a:bodyPr/>
        <a:lstStyle/>
        <a:p>
          <a:pPr latinLnBrk="1"/>
          <a:endParaRPr lang="ko-KR" altLang="en-US" sz="1400" b="1">
            <a:solidFill>
              <a:schemeClr val="accent4">
                <a:lumMod val="75000"/>
                <a:lumOff val="25000"/>
              </a:schemeClr>
            </a:solidFill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DC039BE8-E301-457D-B051-51A898E51EAA}" type="sibTrans" cxnId="{C0D93210-FDD4-49F7-A511-14CACA34A657}">
      <dgm:prSet/>
      <dgm:spPr/>
      <dgm:t>
        <a:bodyPr/>
        <a:lstStyle/>
        <a:p>
          <a:pPr latinLnBrk="1"/>
          <a:endParaRPr lang="ko-KR" altLang="en-US" sz="1400" b="1">
            <a:solidFill>
              <a:schemeClr val="accent4">
                <a:lumMod val="75000"/>
                <a:lumOff val="25000"/>
              </a:schemeClr>
            </a:solidFill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35B7FE1A-20F3-418C-83E3-15E62A3EF7AB}">
      <dgm:prSet phldrT="[텍스트]" custT="1"/>
      <dgm:spPr/>
      <dgm:t>
        <a:bodyPr/>
        <a:lstStyle/>
        <a:p>
          <a:pPr latinLnBrk="1"/>
          <a:r>
            <a:rPr lang="en-US" altLang="ko-KR" sz="1800" b="1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1) </a:t>
          </a:r>
          <a:r>
            <a:rPr lang="ko-KR" altLang="en-US" sz="1800" b="1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고객 이해하기</a:t>
          </a:r>
        </a:p>
      </dgm:t>
    </dgm:pt>
    <dgm:pt modelId="{0A3E09CB-EB09-4402-8400-970323F9A400}" type="sibTrans" cxnId="{1F241A05-89B3-4B71-85FD-35452920633F}">
      <dgm:prSet/>
      <dgm:spPr/>
      <dgm:t>
        <a:bodyPr/>
        <a:lstStyle/>
        <a:p>
          <a:pPr latinLnBrk="1"/>
          <a:endParaRPr lang="ko-KR" altLang="en-US" sz="1400" b="1">
            <a:solidFill>
              <a:schemeClr val="accent4">
                <a:lumMod val="75000"/>
                <a:lumOff val="25000"/>
              </a:schemeClr>
            </a:solidFill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C48D434B-693A-433E-9A06-FCC5151CA756}" type="parTrans" cxnId="{1F241A05-89B3-4B71-85FD-35452920633F}">
      <dgm:prSet/>
      <dgm:spPr/>
      <dgm:t>
        <a:bodyPr/>
        <a:lstStyle/>
        <a:p>
          <a:pPr latinLnBrk="1"/>
          <a:endParaRPr lang="ko-KR" altLang="en-US" sz="1400" b="1">
            <a:solidFill>
              <a:schemeClr val="accent4">
                <a:lumMod val="75000"/>
                <a:lumOff val="25000"/>
              </a:schemeClr>
            </a:solidFill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gm:t>
    </dgm:pt>
    <dgm:pt modelId="{C9E97670-698B-42B0-A5B6-7F4CB4413A0E}" type="pres">
      <dgm:prSet presAssocID="{C31613FB-ACB7-475B-BB2E-9AF17C7A2A3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B7CD93A-185E-4151-BEFB-E39B4F5EC445}" type="pres">
      <dgm:prSet presAssocID="{35B7FE1A-20F3-418C-83E3-15E62A3EF7AB}" presName="horFlow" presStyleCnt="0"/>
      <dgm:spPr/>
    </dgm:pt>
    <dgm:pt modelId="{38945AFE-35E7-4339-9E1E-3406A4BAF6E5}" type="pres">
      <dgm:prSet presAssocID="{35B7FE1A-20F3-418C-83E3-15E62A3EF7AB}" presName="bigChev" presStyleLbl="node1" presStyleIdx="0" presStyleCnt="1" custScaleX="79798" custScaleY="78151"/>
      <dgm:spPr/>
    </dgm:pt>
    <dgm:pt modelId="{43EABC1F-EE75-43FF-8B31-D59D2D565425}" type="pres">
      <dgm:prSet presAssocID="{64D2733B-5D1E-443D-BE36-C2BA05586F1B}" presName="parTrans" presStyleCnt="0"/>
      <dgm:spPr/>
    </dgm:pt>
    <dgm:pt modelId="{21A68B99-F38A-45E9-8F66-6F2CCBF5B904}" type="pres">
      <dgm:prSet presAssocID="{6E7C199D-7B00-4160-922D-F00B748F74A1}" presName="node" presStyleLbl="alignAccFollowNode1" presStyleIdx="0" presStyleCnt="2" custScaleY="90674" custLinFactNeighborX="1403" custLinFactNeighborY="-800">
        <dgm:presLayoutVars>
          <dgm:bulletEnabled val="1"/>
        </dgm:presLayoutVars>
      </dgm:prSet>
      <dgm:spPr/>
    </dgm:pt>
    <dgm:pt modelId="{5E6D9DCF-BDD2-4899-8E6F-4938B1DC12FC}" type="pres">
      <dgm:prSet presAssocID="{A8B00733-8D33-4F64-B4B7-E6AD7C5AB6AD}" presName="sibTrans" presStyleCnt="0"/>
      <dgm:spPr/>
    </dgm:pt>
    <dgm:pt modelId="{72ECBF5E-A967-48B0-9642-7460A7CABF89}" type="pres">
      <dgm:prSet presAssocID="{023315AC-90EF-4C6A-9CDF-B8150350BD5D}" presName="node" presStyleLbl="alignAccFollowNode1" presStyleIdx="1" presStyleCnt="2" custScaleY="90673" custLinFactNeighborX="-4542" custLinFactNeighborY="144">
        <dgm:presLayoutVars>
          <dgm:bulletEnabled val="1"/>
        </dgm:presLayoutVars>
      </dgm:prSet>
      <dgm:spPr/>
    </dgm:pt>
  </dgm:ptLst>
  <dgm:cxnLst>
    <dgm:cxn modelId="{1F241A05-89B3-4B71-85FD-35452920633F}" srcId="{C31613FB-ACB7-475B-BB2E-9AF17C7A2A36}" destId="{35B7FE1A-20F3-418C-83E3-15E62A3EF7AB}" srcOrd="0" destOrd="0" parTransId="{C48D434B-693A-433E-9A06-FCC5151CA756}" sibTransId="{0A3E09CB-EB09-4402-8400-970323F9A400}"/>
    <dgm:cxn modelId="{C0D93210-FDD4-49F7-A511-14CACA34A657}" srcId="{35B7FE1A-20F3-418C-83E3-15E62A3EF7AB}" destId="{023315AC-90EF-4C6A-9CDF-B8150350BD5D}" srcOrd="1" destOrd="0" parTransId="{8457CD55-DCAF-4933-ABEA-6462BD84433C}" sibTransId="{DC039BE8-E301-457D-B051-51A898E51EAA}"/>
    <dgm:cxn modelId="{406F3341-2D1B-4A23-AD8C-29D49D9F6196}" type="presOf" srcId="{C31613FB-ACB7-475B-BB2E-9AF17C7A2A36}" destId="{C9E97670-698B-42B0-A5B6-7F4CB4413A0E}" srcOrd="0" destOrd="0" presId="urn:microsoft.com/office/officeart/2005/8/layout/lProcess3"/>
    <dgm:cxn modelId="{85147255-D265-4139-AEC5-6F097AEFCAB6}" type="presOf" srcId="{35B7FE1A-20F3-418C-83E3-15E62A3EF7AB}" destId="{38945AFE-35E7-4339-9E1E-3406A4BAF6E5}" srcOrd="0" destOrd="0" presId="urn:microsoft.com/office/officeart/2005/8/layout/lProcess3"/>
    <dgm:cxn modelId="{5EA4A580-D760-4DF4-B005-467831B33221}" srcId="{35B7FE1A-20F3-418C-83E3-15E62A3EF7AB}" destId="{6E7C199D-7B00-4160-922D-F00B748F74A1}" srcOrd="0" destOrd="0" parTransId="{64D2733B-5D1E-443D-BE36-C2BA05586F1B}" sibTransId="{A8B00733-8D33-4F64-B4B7-E6AD7C5AB6AD}"/>
    <dgm:cxn modelId="{DA0713D3-41DF-478F-8E0D-1387C0BB32D9}" type="presOf" srcId="{6E7C199D-7B00-4160-922D-F00B748F74A1}" destId="{21A68B99-F38A-45E9-8F66-6F2CCBF5B904}" srcOrd="0" destOrd="0" presId="urn:microsoft.com/office/officeart/2005/8/layout/lProcess3"/>
    <dgm:cxn modelId="{DBF80FF2-1F2A-42F2-91D4-D894C6F6D646}" type="presOf" srcId="{023315AC-90EF-4C6A-9CDF-B8150350BD5D}" destId="{72ECBF5E-A967-48B0-9642-7460A7CABF89}" srcOrd="0" destOrd="0" presId="urn:microsoft.com/office/officeart/2005/8/layout/lProcess3"/>
    <dgm:cxn modelId="{715C29F8-E0DD-4818-97A2-5CFEC62D7962}" type="presParOf" srcId="{C9E97670-698B-42B0-A5B6-7F4CB4413A0E}" destId="{9B7CD93A-185E-4151-BEFB-E39B4F5EC445}" srcOrd="0" destOrd="0" presId="urn:microsoft.com/office/officeart/2005/8/layout/lProcess3"/>
    <dgm:cxn modelId="{4AB7DB9B-3794-47D8-8704-162191CAE785}" type="presParOf" srcId="{9B7CD93A-185E-4151-BEFB-E39B4F5EC445}" destId="{38945AFE-35E7-4339-9E1E-3406A4BAF6E5}" srcOrd="0" destOrd="0" presId="urn:microsoft.com/office/officeart/2005/8/layout/lProcess3"/>
    <dgm:cxn modelId="{10E2036A-126C-495F-A72A-EDBA38EDCBF8}" type="presParOf" srcId="{9B7CD93A-185E-4151-BEFB-E39B4F5EC445}" destId="{43EABC1F-EE75-43FF-8B31-D59D2D565425}" srcOrd="1" destOrd="0" presId="urn:microsoft.com/office/officeart/2005/8/layout/lProcess3"/>
    <dgm:cxn modelId="{03D5AE9D-760F-4829-90E4-9B42838E8F30}" type="presParOf" srcId="{9B7CD93A-185E-4151-BEFB-E39B4F5EC445}" destId="{21A68B99-F38A-45E9-8F66-6F2CCBF5B904}" srcOrd="2" destOrd="0" presId="urn:microsoft.com/office/officeart/2005/8/layout/lProcess3"/>
    <dgm:cxn modelId="{329D391F-8452-46DB-B825-9636835BEF06}" type="presParOf" srcId="{9B7CD93A-185E-4151-BEFB-E39B4F5EC445}" destId="{5E6D9DCF-BDD2-4899-8E6F-4938B1DC12FC}" srcOrd="3" destOrd="0" presId="urn:microsoft.com/office/officeart/2005/8/layout/lProcess3"/>
    <dgm:cxn modelId="{F871047A-EBF9-417E-A38E-FA6DF421D1C6}" type="presParOf" srcId="{9B7CD93A-185E-4151-BEFB-E39B4F5EC445}" destId="{72ECBF5E-A967-48B0-9642-7460A7CABF89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45AFE-35E7-4339-9E1E-3406A4BAF6E5}">
      <dsp:nvSpPr>
        <dsp:cNvPr id="0" name=""/>
        <dsp:cNvSpPr/>
      </dsp:nvSpPr>
      <dsp:spPr>
        <a:xfrm>
          <a:off x="3810" y="306155"/>
          <a:ext cx="2674003" cy="104752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1) </a:t>
          </a:r>
          <a:r>
            <a:rPr lang="ko-KR" altLang="en-US" sz="1800" b="1" kern="1200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고객 이해하기</a:t>
          </a:r>
        </a:p>
      </dsp:txBody>
      <dsp:txXfrm>
        <a:off x="527573" y="306155"/>
        <a:ext cx="1626478" cy="1047525"/>
      </dsp:txXfrm>
    </dsp:sp>
    <dsp:sp modelId="{21A68B99-F38A-45E9-8F66-6F2CCBF5B904}">
      <dsp:nvSpPr>
        <dsp:cNvPr id="0" name=""/>
        <dsp:cNvSpPr/>
      </dsp:nvSpPr>
      <dsp:spPr>
        <a:xfrm>
          <a:off x="2247650" y="316634"/>
          <a:ext cx="2781301" cy="1008766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2) </a:t>
          </a:r>
          <a:r>
            <a:rPr lang="ko-KR" altLang="en-US" sz="1600" b="1" kern="1200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소비자 니즈 또는 </a:t>
          </a:r>
          <a:endParaRPr lang="en-US" altLang="ko-KR" sz="1600" b="1" kern="1200" dirty="0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b="1" kern="1200" dirty="0">
              <a:latin typeface="서울남산 장체 M" panose="02020503020101020101" pitchFamily="18" charset="-127"/>
              <a:ea typeface="서울남산 장체 M" panose="02020503020101020101" pitchFamily="18" charset="-127"/>
            </a:rPr>
            <a:t>문제파악</a:t>
          </a:r>
        </a:p>
      </dsp:txBody>
      <dsp:txXfrm>
        <a:off x="2752033" y="316634"/>
        <a:ext cx="1772535" cy="1008766"/>
      </dsp:txXfrm>
    </dsp:sp>
    <dsp:sp modelId="{72ECBF5E-A967-48B0-9642-7460A7CABF89}">
      <dsp:nvSpPr>
        <dsp:cNvPr id="0" name=""/>
        <dsp:cNvSpPr/>
      </dsp:nvSpPr>
      <dsp:spPr>
        <a:xfrm>
          <a:off x="4616421" y="327142"/>
          <a:ext cx="2781301" cy="1008755"/>
        </a:xfrm>
        <a:prstGeom prst="chevron">
          <a:avLst/>
        </a:prstGeom>
        <a:solidFill>
          <a:schemeClr val="accent4">
            <a:tint val="40000"/>
            <a:alpha val="90000"/>
            <a:hueOff val="-12496541"/>
            <a:satOff val="51458"/>
            <a:lumOff val="1240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12496541"/>
              <a:satOff val="51458"/>
              <a:lumOff val="12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>
              <a:latin typeface="서울남산 장체 M" panose="02020503020101020101" pitchFamily="18" charset="-127"/>
              <a:ea typeface="서울남산 장체 M" panose="02020503020101020101" pitchFamily="18" charset="-127"/>
            </a:rPr>
            <a:t>3) </a:t>
          </a:r>
          <a:r>
            <a:rPr lang="ko-KR" altLang="en-US" sz="1600" b="1" kern="1200">
              <a:latin typeface="서울남산 장체 M" panose="02020503020101020101" pitchFamily="18" charset="-127"/>
              <a:ea typeface="서울남산 장체 M" panose="02020503020101020101" pitchFamily="18" charset="-127"/>
            </a:rPr>
            <a:t>해결방안 만들기</a:t>
          </a:r>
          <a:endParaRPr lang="en-US" altLang="ko-KR" sz="1600" b="1" kern="1200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b="1" kern="1200">
              <a:latin typeface="서울남산 장체 M" panose="02020503020101020101" pitchFamily="18" charset="-127"/>
              <a:ea typeface="서울남산 장체 M" panose="02020503020101020101" pitchFamily="18" charset="-127"/>
            </a:rPr>
            <a:t> </a:t>
          </a:r>
          <a:r>
            <a:rPr lang="en-US" altLang="ko-KR" sz="1600" b="1" kern="1200">
              <a:latin typeface="서울남산 장체 M" panose="02020503020101020101" pitchFamily="18" charset="-127"/>
              <a:ea typeface="서울남산 장체 M" panose="02020503020101020101" pitchFamily="18" charset="-127"/>
            </a:rPr>
            <a:t>&amp; </a:t>
          </a:r>
          <a:r>
            <a:rPr lang="ko-KR" altLang="en-US" sz="1600" b="1" kern="1200">
              <a:latin typeface="서울남산 장체 M" panose="02020503020101020101" pitchFamily="18" charset="-127"/>
              <a:ea typeface="서울남산 장체 M" panose="02020503020101020101" pitchFamily="18" charset="-127"/>
            </a:rPr>
            <a:t>제공</a:t>
          </a:r>
          <a:endParaRPr lang="ko-KR" altLang="en-US" sz="1600" b="1" kern="1200" dirty="0">
            <a:latin typeface="서울남산 장체 M" panose="02020503020101020101" pitchFamily="18" charset="-127"/>
            <a:ea typeface="서울남산 장체 M" panose="02020503020101020101" pitchFamily="18" charset="-127"/>
          </a:endParaRPr>
        </a:p>
      </dsp:txBody>
      <dsp:txXfrm>
        <a:off x="5120799" y="327142"/>
        <a:ext cx="1772546" cy="1008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C0528A1-FB30-444F-876E-5C21183FC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A02C66-FBEF-46FC-8EBA-1E13AA7D416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8CEB330-F018-45C9-8E87-F38849189FD7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83304F1-309F-4FFC-A9B8-CDF0F1004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10B3A41-B780-4A30-B6C5-DD8631DEB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DA7D1-E780-48C8-9C20-CD35AA374D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D7C9A4-A878-47F5-AF5C-49492111B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77B7D18-67D9-4F27-AF1B-A4F09A7E02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311DCF74-1A91-49D9-A814-254AC9F738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347BDAC0-F496-4C04-AD98-1772FD06AB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50247DF4-0558-4E58-997A-BF6025E57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87762A8-4938-4A52-A585-816C4642AF96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DACA085-C884-472E-9034-82E5460C29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C81049D-DA40-44EE-89A8-D236C1A245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67F1113-BEAA-4D67-BDE1-1A7E0AABA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B40EF20-2240-444A-927A-BDFB8125B983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F0FCD70F-23DC-4BAD-8D87-7663295025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73080A1E-9556-497D-BF5A-A4DDC84925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1912560C-FB83-468F-A55A-DEC16BEAE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CCA8770-A51B-43E6-A01F-ED7BCFE82C9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AA4BA713-6908-4721-A489-0EBC256A52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DB12005F-88AA-49DA-8A0A-A7CA4CDDC8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B514038E-5A95-41BC-9BA0-3663C3D70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05A2383-2399-4243-AD98-3071966C4CB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13EBB933-ED41-4D53-BD76-21638B9D25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C53C8079-39F8-4DCA-9757-5CC6FD4133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3A4397A6-285D-4EC5-A877-816720C7C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90E2EA4-E43A-4F06-8BD5-36C69E8C1AAF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F0E3E731-F631-4B9C-854F-2D8BEDA433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FC05AB7D-5C56-4FF1-B078-2767216FAF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FA016C2A-9E6E-4AB8-B720-42700A19E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A46D1E4-09AC-4A46-A339-B5231579B1B5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849C16CA-F59B-446E-9AFE-DB6816B9CA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0346890E-B68F-4629-9D48-4FDC02CDB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0B95320D-155B-40BE-AEFB-BEEB0ED79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2772756-E176-4190-8794-72279BE74216}" type="slidenum">
              <a:rPr lang="ko-KR" altLang="en-US" smtClean="0">
                <a:solidFill>
                  <a:srgbClr val="000000"/>
                </a:solidFill>
              </a:rPr>
              <a:pPr/>
              <a:t>15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495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1B93C208-EFBD-417B-8564-293AAC69BE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CBB70B36-0F32-48DF-981E-07C3284147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DE89748D-07DA-44D2-8674-9EA0859CF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BD3098D-671D-42FC-A91E-BB75AF563A15}" type="slidenum">
              <a:rPr lang="ko-KR" altLang="en-US" smtClean="0">
                <a:solidFill>
                  <a:srgbClr val="000000"/>
                </a:solidFill>
              </a:rPr>
              <a:pPr/>
              <a:t>16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D8000352-9B19-4E10-A2AF-2B3EB7C48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88296A29-B45F-4A7C-9962-78288372A6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1AE769F6-5D56-43FD-93B3-1B7E1BDA4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7157E73-5234-4147-858F-09FEC19C1A3A}" type="slidenum">
              <a:rPr lang="ko-KR" altLang="en-US" smtClean="0">
                <a:solidFill>
                  <a:srgbClr val="000000"/>
                </a:solidFill>
              </a:rPr>
              <a:pPr/>
              <a:t>17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4D69F208-C858-4B85-AA3C-3D2211A5AA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F48EBF3D-39A6-4193-B03A-6AB2730FA3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E32F7112-B615-4A3B-86A7-D4E14CBE9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D86C22C-F508-45D9-9C24-1E89BA046B65}" type="slidenum">
              <a:rPr lang="ko-KR" altLang="en-US" smtClean="0">
                <a:solidFill>
                  <a:srgbClr val="000000"/>
                </a:solidFill>
              </a:rPr>
              <a:pPr/>
              <a:t>20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9B01B3C7-240F-439C-97AD-9BE96A5A0E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BE8187D2-3B42-47B0-9012-F70DB73191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694B384C-EB76-49BB-A511-76DB402F2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853D67C-F5A3-4585-9CE9-D9B2C6A60E3E}" type="slidenum">
              <a:rPr lang="ko-KR" altLang="en-US" smtClean="0">
                <a:solidFill>
                  <a:srgbClr val="000000"/>
                </a:solidFill>
              </a:rPr>
              <a:pPr/>
              <a:t>21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956A3513-4ED7-41DC-8AD6-C593D75A60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6E0221E2-C186-4597-862F-93225AA670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AFF1E125-3A21-43C6-89EB-4790ACC3A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5D1A1EA-CC5B-459A-B844-FE7E876D7590}" type="slidenum">
              <a:rPr lang="ko-KR" altLang="en-US" smtClean="0">
                <a:solidFill>
                  <a:srgbClr val="000000"/>
                </a:solidFill>
              </a:rPr>
              <a:pPr/>
              <a:t>22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이미지 개체 틀 1">
            <a:extLst>
              <a:ext uri="{FF2B5EF4-FFF2-40B4-BE49-F238E27FC236}">
                <a16:creationId xmlns:a16="http://schemas.microsoft.com/office/drawing/2014/main" id="{2A6F1F51-1D21-4330-8733-7211D938B0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슬라이드 노트 개체 틀 2">
            <a:extLst>
              <a:ext uri="{FF2B5EF4-FFF2-40B4-BE49-F238E27FC236}">
                <a16:creationId xmlns:a16="http://schemas.microsoft.com/office/drawing/2014/main" id="{0F9137BE-32A4-42AE-AF52-FA8B1C2CFE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3012" name="슬라이드 번호 개체 틀 3">
            <a:extLst>
              <a:ext uri="{FF2B5EF4-FFF2-40B4-BE49-F238E27FC236}">
                <a16:creationId xmlns:a16="http://schemas.microsoft.com/office/drawing/2014/main" id="{AAB12D5B-C631-49A4-A3DE-F174F710A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88DD208-B8AF-4E67-9865-1F6E58221976}" type="slidenum">
              <a:rPr lang="ko-KR" altLang="en-US" smtClean="0">
                <a:solidFill>
                  <a:srgbClr val="000000"/>
                </a:solidFill>
              </a:rPr>
              <a:pPr/>
              <a:t>23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이미지 개체 틀 1">
            <a:extLst>
              <a:ext uri="{FF2B5EF4-FFF2-40B4-BE49-F238E27FC236}">
                <a16:creationId xmlns:a16="http://schemas.microsoft.com/office/drawing/2014/main" id="{3700FC2C-8A48-4B08-9727-79761FC01D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슬라이드 노트 개체 틀 2">
            <a:extLst>
              <a:ext uri="{FF2B5EF4-FFF2-40B4-BE49-F238E27FC236}">
                <a16:creationId xmlns:a16="http://schemas.microsoft.com/office/drawing/2014/main" id="{D616E0B0-EF52-4BC1-A525-78DD069EBB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5060" name="슬라이드 번호 개체 틀 3">
            <a:extLst>
              <a:ext uri="{FF2B5EF4-FFF2-40B4-BE49-F238E27FC236}">
                <a16:creationId xmlns:a16="http://schemas.microsoft.com/office/drawing/2014/main" id="{DC11BBB1-6176-4F7A-8FFF-68A832F5A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69DF8B5-E5C5-4994-A069-2FADB9550324}" type="slidenum">
              <a:rPr lang="ko-KR" altLang="en-US" smtClean="0">
                <a:solidFill>
                  <a:srgbClr val="000000"/>
                </a:solidFill>
              </a:rPr>
              <a:pPr/>
              <a:t>24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이미지 개체 틀 1">
            <a:extLst>
              <a:ext uri="{FF2B5EF4-FFF2-40B4-BE49-F238E27FC236}">
                <a16:creationId xmlns:a16="http://schemas.microsoft.com/office/drawing/2014/main" id="{24704805-1EC6-4F93-9F04-A560552976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슬라이드 노트 개체 틀 2">
            <a:extLst>
              <a:ext uri="{FF2B5EF4-FFF2-40B4-BE49-F238E27FC236}">
                <a16:creationId xmlns:a16="http://schemas.microsoft.com/office/drawing/2014/main" id="{A04AA080-4E94-4429-8CAD-53CBDE6716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47108" name="슬라이드 번호 개체 틀 3">
            <a:extLst>
              <a:ext uri="{FF2B5EF4-FFF2-40B4-BE49-F238E27FC236}">
                <a16:creationId xmlns:a16="http://schemas.microsoft.com/office/drawing/2014/main" id="{15D57491-6A46-40A3-892F-ED592F231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BE59415-C25C-4F24-8410-A9F3C9934234}" type="slidenum">
              <a:rPr lang="ko-KR" altLang="en-US" smtClean="0">
                <a:solidFill>
                  <a:srgbClr val="000000"/>
                </a:solidFill>
              </a:rPr>
              <a:pPr/>
              <a:t>25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>
            <a:extLst>
              <a:ext uri="{FF2B5EF4-FFF2-40B4-BE49-F238E27FC236}">
                <a16:creationId xmlns:a16="http://schemas.microsoft.com/office/drawing/2014/main" id="{708BCD5D-6E12-494B-9695-D4F07D2C1D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슬라이드 노트 개체 틀 2">
            <a:extLst>
              <a:ext uri="{FF2B5EF4-FFF2-40B4-BE49-F238E27FC236}">
                <a16:creationId xmlns:a16="http://schemas.microsoft.com/office/drawing/2014/main" id="{0F35B56B-281F-42AC-B478-54666654BC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49156" name="슬라이드 번호 개체 틀 3">
            <a:extLst>
              <a:ext uri="{FF2B5EF4-FFF2-40B4-BE49-F238E27FC236}">
                <a16:creationId xmlns:a16="http://schemas.microsoft.com/office/drawing/2014/main" id="{F789AF5B-4505-4DC4-9CD2-EE980926A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54BA0A2-938C-4B8D-9D7E-50B904641799}" type="slidenum">
              <a:rPr lang="ko-KR" altLang="en-US" smtClean="0">
                <a:solidFill>
                  <a:srgbClr val="000000"/>
                </a:solidFill>
              </a:rPr>
              <a:pPr/>
              <a:t>27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>
            <a:extLst>
              <a:ext uri="{FF2B5EF4-FFF2-40B4-BE49-F238E27FC236}">
                <a16:creationId xmlns:a16="http://schemas.microsoft.com/office/drawing/2014/main" id="{158C35F3-2370-4AF1-93FC-1E6217504E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슬라이드 노트 개체 틀 2">
            <a:extLst>
              <a:ext uri="{FF2B5EF4-FFF2-40B4-BE49-F238E27FC236}">
                <a16:creationId xmlns:a16="http://schemas.microsoft.com/office/drawing/2014/main" id="{B2A1AA94-6C4F-47AD-9C27-DDB6BCBA25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1204" name="슬라이드 번호 개체 틀 3">
            <a:extLst>
              <a:ext uri="{FF2B5EF4-FFF2-40B4-BE49-F238E27FC236}">
                <a16:creationId xmlns:a16="http://schemas.microsoft.com/office/drawing/2014/main" id="{42855FF2-619E-435D-92BD-F2A5C61A5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390E9E-054B-4060-BC0C-73BE5B1433AE}" type="slidenum">
              <a:rPr lang="ko-KR" altLang="en-US" smtClean="0">
                <a:solidFill>
                  <a:srgbClr val="000000"/>
                </a:solidFill>
              </a:rPr>
              <a:pPr/>
              <a:t>28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이미지 개체 틀 1">
            <a:extLst>
              <a:ext uri="{FF2B5EF4-FFF2-40B4-BE49-F238E27FC236}">
                <a16:creationId xmlns:a16="http://schemas.microsoft.com/office/drawing/2014/main" id="{B7F46F89-4D1E-4D16-B948-2A85221084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슬라이드 노트 개체 틀 2">
            <a:extLst>
              <a:ext uri="{FF2B5EF4-FFF2-40B4-BE49-F238E27FC236}">
                <a16:creationId xmlns:a16="http://schemas.microsoft.com/office/drawing/2014/main" id="{1E146980-BE2E-4AB1-A023-DAE91BE241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3252" name="슬라이드 번호 개체 틀 3">
            <a:extLst>
              <a:ext uri="{FF2B5EF4-FFF2-40B4-BE49-F238E27FC236}">
                <a16:creationId xmlns:a16="http://schemas.microsoft.com/office/drawing/2014/main" id="{6C2DE1F1-0115-4975-AE90-5E9321704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B8384C-1F22-4EDF-9722-F53998168647}" type="slidenum">
              <a:rPr lang="ko-KR" altLang="en-US" smtClean="0">
                <a:solidFill>
                  <a:srgbClr val="000000"/>
                </a:solidFill>
              </a:rPr>
              <a:pPr/>
              <a:t>29</a:t>
            </a:fld>
            <a:endParaRPr lang="ko-KR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6C333779-9DDF-445F-9920-977644861D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C895C654-5CD6-489A-8880-D243001AFB7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940B9C01-4D1A-4C5A-B007-D4EB3E7DD578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65964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918D9E-4461-46B1-AD0F-E505964536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AEF6DE-93D7-4F99-B2BC-C850CC7C77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68E24-D4D8-400D-8E20-C5BF93ABAD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809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DA190-323B-48AE-9E40-AE179FEF5A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6969D8-AF1E-4BA3-81A8-C4653FB4CB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7120-EE87-43BD-9101-46245BD5268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4742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8020C4-3810-4F0C-AE6B-57BC4AE661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C4CA7C3-A66B-4440-BDAD-F73BBE83FD2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A24B2-AB06-43D0-A822-DA57F720890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8123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6E94A8-D2EE-4BE0-8FDB-E44A7A9F78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7457BFE-E504-4153-A2D3-6CE7ED4E00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03218-DF7A-4654-949D-3FB49B36CE5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775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295AA24-1885-42B4-9EB5-58B92516A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F5FE65D-3277-4E11-8F1B-F52138386C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87E8C-E9E5-4034-BA77-2B3953FB599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8846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F2E675AC-BC67-4FE2-A7B8-4BDC47FDC7D2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E7A0A44C-2390-4373-A94B-2A110AEE48FF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9A916609-1FDB-475A-A6B0-BAD665B46C6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E2A8818B-6BE8-49FE-80D5-B1DF54E411B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599D016C-C58D-411E-8B42-CCE82CAC9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E9B8784-2F2D-4D36-B52B-F8743C9770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4224F1-B9F6-4880-8D85-06BFF3AF64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fld id="{77574C0F-7100-45D1-9370-45E2C322316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C96E1011-304E-4BDA-A27F-6D1F7EFAB16E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760105B3-C593-4F54-9C3A-51E9C5E6752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784058DF-E9CA-4482-A1B0-98589C47046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ED606A6F-BE62-43E9-ACD9-664AAF54EE8C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C8DBDBA1-A5C3-4B96-8457-5659E4323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74" r:id="rId2"/>
    <p:sldLayoutId id="2147483775" r:id="rId3"/>
    <p:sldLayoutId id="2147483776" r:id="rId4"/>
    <p:sldLayoutId id="2147483777" r:id="rId5"/>
    <p:sldLayoutId id="2147483778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https://www.yna.co.kr/view/AKR20190903081400030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https://ny.eater.com/maps/best-dog-friendly-restaurants-bars-ny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QR:https://www.youtube.com/watch?v=nNmDLjO-ozk&amp;t=1s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https://biz.chosun.com/site/data/html_dir/2020/01/08/2020010802975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biz.chosun.com/site/data/html_dir/2020/01/08/2020010802975.html" TargetMode="External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biz.chosun.com/site/data/html_dir/2020/01/08/2020010802975.html" TargetMode="External"/><Relationship Id="rId7" Type="http://schemas.openxmlformats.org/officeDocument/2006/relationships/hyperlink" Target="https://www.exclosetshop.com/trendnews/?q=YToxOntzOjEyOiJrZXl3b3JkX3R5cGUiO3M6MzoiYWxsIjt9&amp;bmode=view&amp;idx=7067183&amp;t=boar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biz.chosun.com/site/data/html_dir/2020/01/08/2020010802975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mailto:https://biz.chosun.com/site/data/html_dir/2020/01/08/2020010802975.html" TargetMode="Externa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n.com/insights/eov-b2c-infographic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biz.chosun.com/site/data/html_dir/2020/01/08/2020010802975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240381C8-B857-4471-8429-8E6D0C1EE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 dirty="0"/>
              <a:t>Chapter 4. </a:t>
            </a:r>
            <a:r>
              <a:rPr lang="ko-KR" altLang="en-US" dirty="0"/>
              <a:t>외식서비스 혁신과 상품 개발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45830499-7FC2-4B94-8073-BA046E7D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 dirty="0"/>
              <a:t>1. </a:t>
            </a:r>
            <a:r>
              <a:rPr lang="ko-KR" altLang="en-US" dirty="0"/>
              <a:t>외식서비스 혁신과 상품개발의 이해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10D5B1-5843-4609-9BBC-A1D2C64093B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9F7943-28A1-4547-ACE0-8B0301AF6A6E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4617EE56-B99B-4516-8462-0A83A790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현대사회에서의 혁신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8009CA28-E201-452D-8482-7614B0528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3" y="1387475"/>
            <a:ext cx="11517312" cy="5248275"/>
          </a:xfrm>
        </p:spPr>
        <p:txBody>
          <a:bodyPr/>
          <a:lstStyle/>
          <a:p>
            <a:pPr marL="342900" indent="-342900" eaLnBrk="1" hangingPunct="1"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dirty="0" err="1"/>
              <a:t>혁신성</a:t>
            </a:r>
            <a:r>
              <a:rPr lang="en-US" altLang="ko-KR" sz="2000" dirty="0"/>
              <a:t>(innovativeness)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고객가치를 창출하여 사업이 지속가능하도록 만들어주는 전략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1DB3A29-42B6-482B-A7C8-C515F8008687}"/>
              </a:ext>
            </a:extLst>
          </p:cNvPr>
          <p:cNvSpPr/>
          <p:nvPr/>
        </p:nvSpPr>
        <p:spPr bwMode="auto">
          <a:xfrm>
            <a:off x="1404938" y="3327400"/>
            <a:ext cx="5631129" cy="9620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R&amp;D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독점적 영역으로 단정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새로운 제품과 기술이 결합된 서비스만으로 한정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endParaRPr lang="ko-KR" altLang="en-US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5ABAF0-7EA2-4843-BCE5-A76CC12A74BC}"/>
              </a:ext>
            </a:extLst>
          </p:cNvPr>
          <p:cNvSpPr/>
          <p:nvPr/>
        </p:nvSpPr>
        <p:spPr bwMode="auto">
          <a:xfrm>
            <a:off x="1404938" y="4475163"/>
            <a:ext cx="5631129" cy="20018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업체가 가진 기존의 기술을 새롭게 이용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조직 안에서 일을 하는 새로운 방식이나 진행과정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서비스나 비즈니스 모델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마케팅부서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영업부서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그 외 조직의 모든 활동</a:t>
            </a: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조직 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내외부와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소비자를 관찰하는 과정과 통찰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탐색과정이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중요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</a:t>
            </a: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AA7FB82-B06A-4A45-AB8C-12D731DED9A0}"/>
              </a:ext>
            </a:extLst>
          </p:cNvPr>
          <p:cNvSpPr/>
          <p:nvPr/>
        </p:nvSpPr>
        <p:spPr bwMode="auto">
          <a:xfrm>
            <a:off x="373063" y="3459163"/>
            <a:ext cx="909637" cy="7350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과거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52A99F2-6385-4D37-94F1-80BD6646BD54}"/>
              </a:ext>
            </a:extLst>
          </p:cNvPr>
          <p:cNvSpPr/>
          <p:nvPr/>
        </p:nvSpPr>
        <p:spPr bwMode="auto">
          <a:xfrm>
            <a:off x="373063" y="4864100"/>
            <a:ext cx="909637" cy="7921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현재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070903-DEC5-432C-B0EB-B81B949A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435" y="1112504"/>
            <a:ext cx="4769502" cy="2130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71C4F170-03A6-4517-9134-4EF76A25B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외식서비스에서의 혁신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12B9B039-FB3B-46CA-BF0D-4636D3964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3" y="1387475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dirty="0"/>
              <a:t>고객에게 약속한 가치를 어떻게 제대로 전달 할 수 있을지 </a:t>
            </a:r>
            <a:endParaRPr lang="en-US" altLang="ko-KR" sz="20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2000" dirty="0"/>
              <a:t>                                                       </a:t>
            </a:r>
            <a:r>
              <a:rPr lang="ko-KR" altLang="en-US" sz="2000" u="sng" dirty="0"/>
              <a:t>기회를 탐색하고 가치를 창출해야 하는 참신한 </a:t>
            </a:r>
            <a:r>
              <a:rPr lang="ko-KR" altLang="en-US" sz="2000" u="sng" dirty="0" err="1"/>
              <a:t>변환과정</a:t>
            </a:r>
            <a:endParaRPr lang="en-US" altLang="ko-KR" sz="2000" u="sng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grpSp>
        <p:nvGrpSpPr>
          <p:cNvPr id="7172" name="Group 46">
            <a:extLst>
              <a:ext uri="{FF2B5EF4-FFF2-40B4-BE49-F238E27FC236}">
                <a16:creationId xmlns:a16="http://schemas.microsoft.com/office/drawing/2014/main" id="{E3ABE1C0-4F95-4103-939D-752EC54CD292}"/>
              </a:ext>
            </a:extLst>
          </p:cNvPr>
          <p:cNvGrpSpPr>
            <a:grpSpLocks/>
          </p:cNvGrpSpPr>
          <p:nvPr/>
        </p:nvGrpSpPr>
        <p:grpSpPr bwMode="auto">
          <a:xfrm>
            <a:off x="392113" y="3252788"/>
            <a:ext cx="3859212" cy="685800"/>
            <a:chOff x="1296" y="1824"/>
            <a:chExt cx="2976" cy="432"/>
          </a:xfrm>
        </p:grpSpPr>
        <p:sp>
          <p:nvSpPr>
            <p:cNvPr id="11" name="AutoShape 47">
              <a:extLst>
                <a:ext uri="{FF2B5EF4-FFF2-40B4-BE49-F238E27FC236}">
                  <a16:creationId xmlns:a16="http://schemas.microsoft.com/office/drawing/2014/main" id="{108E011E-7278-40C2-A467-57C4E4C2EAB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7187" name="AutoShape 48">
              <a:extLst>
                <a:ext uri="{FF2B5EF4-FFF2-40B4-BE49-F238E27FC236}">
                  <a16:creationId xmlns:a16="http://schemas.microsoft.com/office/drawing/2014/main" id="{92FF789F-4B70-4AE6-ABBB-E606E098082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/>
            </a:p>
          </p:txBody>
        </p:sp>
        <p:sp>
          <p:nvSpPr>
            <p:cNvPr id="7188" name="Text Box 49">
              <a:extLst>
                <a:ext uri="{FF2B5EF4-FFF2-40B4-BE49-F238E27FC236}">
                  <a16:creationId xmlns:a16="http://schemas.microsoft.com/office/drawing/2014/main" id="{A3E52A6B-A193-40C1-92EC-38367C7C533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solidFill>
                    <a:srgbClr val="000000"/>
                  </a:solidFill>
                </a:rPr>
                <a:t>기회 요인 탐색</a:t>
              </a:r>
              <a:endParaRPr lang="en-US" altLang="ko-KR" sz="1800">
                <a:solidFill>
                  <a:srgbClr val="000000"/>
                </a:solidFill>
              </a:endParaRPr>
            </a:p>
          </p:txBody>
        </p:sp>
        <p:sp>
          <p:nvSpPr>
            <p:cNvPr id="7189" name="Text Box 50">
              <a:extLst>
                <a:ext uri="{FF2B5EF4-FFF2-40B4-BE49-F238E27FC236}">
                  <a16:creationId xmlns:a16="http://schemas.microsoft.com/office/drawing/2014/main" id="{9C489A95-AEC5-4EF9-9378-3034BBCA4C2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75" y="1886"/>
              <a:ext cx="2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173" name="Group 51">
            <a:extLst>
              <a:ext uri="{FF2B5EF4-FFF2-40B4-BE49-F238E27FC236}">
                <a16:creationId xmlns:a16="http://schemas.microsoft.com/office/drawing/2014/main" id="{061E77F3-0871-42E3-9D56-FC00DFAF1187}"/>
              </a:ext>
            </a:extLst>
          </p:cNvPr>
          <p:cNvGrpSpPr>
            <a:grpSpLocks/>
          </p:cNvGrpSpPr>
          <p:nvPr/>
        </p:nvGrpSpPr>
        <p:grpSpPr bwMode="auto">
          <a:xfrm>
            <a:off x="373063" y="4360863"/>
            <a:ext cx="3878262" cy="685800"/>
            <a:chOff x="1296" y="1824"/>
            <a:chExt cx="2976" cy="432"/>
          </a:xfrm>
        </p:grpSpPr>
        <p:sp>
          <p:nvSpPr>
            <p:cNvPr id="16" name="AutoShape 52">
              <a:extLst>
                <a:ext uri="{FF2B5EF4-FFF2-40B4-BE49-F238E27FC236}">
                  <a16:creationId xmlns:a16="http://schemas.microsoft.com/office/drawing/2014/main" id="{F7BFDE65-BDAB-4895-AF6A-953B7348040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7183" name="AutoShape 53">
              <a:extLst>
                <a:ext uri="{FF2B5EF4-FFF2-40B4-BE49-F238E27FC236}">
                  <a16:creationId xmlns:a16="http://schemas.microsoft.com/office/drawing/2014/main" id="{1130CB58-D55F-474A-A33C-B6D504549F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/>
            </a:p>
          </p:txBody>
        </p:sp>
        <p:sp>
          <p:nvSpPr>
            <p:cNvPr id="7184" name="Text Box 54">
              <a:extLst>
                <a:ext uri="{FF2B5EF4-FFF2-40B4-BE49-F238E27FC236}">
                  <a16:creationId xmlns:a16="http://schemas.microsoft.com/office/drawing/2014/main" id="{7465F9F4-3415-4204-8250-255291DA65B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solidFill>
                    <a:srgbClr val="000000"/>
                  </a:solidFill>
                </a:rPr>
                <a:t>조합과 응용</a:t>
              </a:r>
              <a:endParaRPr lang="en-US" altLang="ko-KR" sz="1800">
                <a:solidFill>
                  <a:srgbClr val="000000"/>
                </a:solidFill>
              </a:endParaRPr>
            </a:p>
          </p:txBody>
        </p:sp>
        <p:sp>
          <p:nvSpPr>
            <p:cNvPr id="7185" name="Text Box 55">
              <a:extLst>
                <a:ext uri="{FF2B5EF4-FFF2-40B4-BE49-F238E27FC236}">
                  <a16:creationId xmlns:a16="http://schemas.microsoft.com/office/drawing/2014/main" id="{F5F62082-1B0C-4948-908D-AC92611CB89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76" y="1886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174" name="Group 56">
            <a:extLst>
              <a:ext uri="{FF2B5EF4-FFF2-40B4-BE49-F238E27FC236}">
                <a16:creationId xmlns:a16="http://schemas.microsoft.com/office/drawing/2014/main" id="{FEED05D8-AD9D-42B3-97D8-E7E71D4F7C3C}"/>
              </a:ext>
            </a:extLst>
          </p:cNvPr>
          <p:cNvGrpSpPr>
            <a:grpSpLocks/>
          </p:cNvGrpSpPr>
          <p:nvPr/>
        </p:nvGrpSpPr>
        <p:grpSpPr bwMode="auto">
          <a:xfrm>
            <a:off x="373063" y="5438775"/>
            <a:ext cx="3878262" cy="685800"/>
            <a:chOff x="1296" y="1824"/>
            <a:chExt cx="2976" cy="432"/>
          </a:xfrm>
        </p:grpSpPr>
        <p:sp>
          <p:nvSpPr>
            <p:cNvPr id="21" name="AutoShape 57">
              <a:extLst>
                <a:ext uri="{FF2B5EF4-FFF2-40B4-BE49-F238E27FC236}">
                  <a16:creationId xmlns:a16="http://schemas.microsoft.com/office/drawing/2014/main" id="{5DDAEA58-804F-454C-9899-7072B8496A1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7179" name="AutoShape 58">
              <a:extLst>
                <a:ext uri="{FF2B5EF4-FFF2-40B4-BE49-F238E27FC236}">
                  <a16:creationId xmlns:a16="http://schemas.microsoft.com/office/drawing/2014/main" id="{CBDB6B91-3DBC-47C7-92EC-B926661030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800" b="0"/>
            </a:p>
          </p:txBody>
        </p:sp>
        <p:sp>
          <p:nvSpPr>
            <p:cNvPr id="7180" name="Text Box 59">
              <a:extLst>
                <a:ext uri="{FF2B5EF4-FFF2-40B4-BE49-F238E27FC236}">
                  <a16:creationId xmlns:a16="http://schemas.microsoft.com/office/drawing/2014/main" id="{4137A846-039B-4590-9589-60320B64197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solidFill>
                    <a:srgbClr val="000000"/>
                  </a:solidFill>
                </a:rPr>
                <a:t>브랜드 약속</a:t>
              </a:r>
              <a:endParaRPr lang="en-US" altLang="ko-KR" sz="1800">
                <a:solidFill>
                  <a:srgbClr val="000000"/>
                </a:solidFill>
              </a:endParaRPr>
            </a:p>
          </p:txBody>
        </p:sp>
        <p:sp>
          <p:nvSpPr>
            <p:cNvPr id="7181" name="Text Box 60">
              <a:extLst>
                <a:ext uri="{FF2B5EF4-FFF2-40B4-BE49-F238E27FC236}">
                  <a16:creationId xmlns:a16="http://schemas.microsoft.com/office/drawing/2014/main" id="{BACF893F-369E-4744-8DDB-CD5D0182C51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76" y="1886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tx1"/>
                </a:buClr>
                <a:defRPr sz="2000"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서울남산 장체 L" panose="02020503020101020101" pitchFamily="18" charset="-127"/>
                  <a:ea typeface="서울남산 장체 L" panose="02020503020101020101" pitchFamily="18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ko-KR" b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7175" name="모서리가 둥근 직사각형 7">
            <a:extLst>
              <a:ext uri="{FF2B5EF4-FFF2-40B4-BE49-F238E27FC236}">
                <a16:creationId xmlns:a16="http://schemas.microsoft.com/office/drawing/2014/main" id="{A0AF3B90-59DE-4702-86DD-00BF6FF06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3098800"/>
            <a:ext cx="6438900" cy="881063"/>
          </a:xfrm>
          <a:prstGeom prst="roundRect">
            <a:avLst>
              <a:gd name="adj" fmla="val 16667"/>
            </a:avLst>
          </a:prstGeom>
          <a:solidFill>
            <a:srgbClr val="B7D6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내부 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-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메뉴나 서비스에 새로운 기술 도입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새로운 셰프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매니저 고용</a:t>
            </a:r>
            <a:endParaRPr lang="en-US" altLang="ko-KR" sz="1400" b="1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eaLnBrk="1" hangingPunct="1">
              <a:lnSpc>
                <a:spcPct val="150000"/>
              </a:lnSpc>
            </a:pP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외부 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- 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고객의 니즈 변화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인구특성 변화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경쟁업체 증가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및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새로운 움직임 등</a:t>
            </a:r>
          </a:p>
        </p:txBody>
      </p:sp>
      <p:sp>
        <p:nvSpPr>
          <p:cNvPr id="7176" name="모서리가 둥근 직사각형 30">
            <a:extLst>
              <a:ext uri="{FF2B5EF4-FFF2-40B4-BE49-F238E27FC236}">
                <a16:creationId xmlns:a16="http://schemas.microsoft.com/office/drawing/2014/main" id="{2870EA5C-23BE-4E88-8AAC-DB3B7822A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4360863"/>
            <a:ext cx="6438900" cy="881062"/>
          </a:xfrm>
          <a:prstGeom prst="roundRect">
            <a:avLst>
              <a:gd name="adj" fmla="val 16667"/>
            </a:avLst>
          </a:prstGeom>
          <a:solidFill>
            <a:srgbClr val="EDBE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조직의 다양한 자원과 역량을 연결시켜 시장에 적용할 수 있는 혁신을 이끌어냄</a:t>
            </a:r>
          </a:p>
        </p:txBody>
      </p:sp>
      <p:sp>
        <p:nvSpPr>
          <p:cNvPr id="7177" name="모서리가 둥근 직사각형 31">
            <a:extLst>
              <a:ext uri="{FF2B5EF4-FFF2-40B4-BE49-F238E27FC236}">
                <a16:creationId xmlns:a16="http://schemas.microsoft.com/office/drawing/2014/main" id="{478F1ADE-4DF5-40B3-90A1-38BE4BBE3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5497513"/>
            <a:ext cx="6438900" cy="882650"/>
          </a:xfrm>
          <a:prstGeom prst="roundRect">
            <a:avLst>
              <a:gd name="adj" fmla="val 16667"/>
            </a:avLst>
          </a:prstGeom>
          <a:solidFill>
            <a:srgbClr val="AEC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가치를 고객들이 느낄 수 있도록 </a:t>
            </a:r>
            <a:r>
              <a:rPr lang="ko-KR" altLang="en-US" sz="1400" b="1" u="sng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제품</a:t>
            </a:r>
            <a:r>
              <a:rPr lang="en-US" altLang="ko-KR" sz="1400" b="1" u="sng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</a:t>
            </a:r>
            <a:r>
              <a:rPr lang="ko-KR" altLang="en-US" sz="1400" b="1" u="sng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서비스</a:t>
            </a:r>
            <a:r>
              <a:rPr lang="en-US" altLang="ko-KR" sz="1400" b="1" u="sng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b="1" u="sng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경험</a:t>
            </a:r>
            <a:r>
              <a:rPr lang="ko-KR" altLang="en-US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과 같은 실질적 대상으로 전환하여 제공하는 것</a:t>
            </a:r>
            <a:r>
              <a:rPr lang="en-US" altLang="ko-KR" sz="1400" b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b="1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89A1E861-2888-440E-8B7E-2D23DED0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혁신과 상품개발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0EA69CCA-5FC1-484A-BE45-C781AFE3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87475"/>
            <a:ext cx="11517312" cy="5248275"/>
          </a:xfrm>
        </p:spPr>
        <p:txBody>
          <a:bodyPr/>
          <a:lstStyle/>
          <a:p>
            <a:pPr eaLnBrk="1" hangingPunct="1">
              <a:defRPr/>
            </a:pPr>
            <a:endParaRPr lang="en-US" altLang="ko-KR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</a:t>
            </a:r>
            <a:endParaRPr lang="en-US" altLang="ko-KR" sz="1800" u="sng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B458F0F5-0157-41FD-AB99-4AEC02F7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2133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2DE259F-B5A2-4209-98F9-1C7138A00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76733"/>
              </p:ext>
            </p:extLst>
          </p:nvPr>
        </p:nvGraphicFramePr>
        <p:xfrm>
          <a:off x="325438" y="1687513"/>
          <a:ext cx="10082211" cy="1912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4600">
                  <a:extLst>
                    <a:ext uri="{9D8B030D-6E8A-4147-A177-3AD203B41FA5}">
                      <a16:colId xmlns:a16="http://schemas.microsoft.com/office/drawing/2014/main" val="3124940641"/>
                    </a:ext>
                  </a:extLst>
                </a:gridCol>
                <a:gridCol w="2349554">
                  <a:extLst>
                    <a:ext uri="{9D8B030D-6E8A-4147-A177-3AD203B41FA5}">
                      <a16:colId xmlns:a16="http://schemas.microsoft.com/office/drawing/2014/main" val="2348345300"/>
                    </a:ext>
                  </a:extLst>
                </a:gridCol>
                <a:gridCol w="3737502">
                  <a:extLst>
                    <a:ext uri="{9D8B030D-6E8A-4147-A177-3AD203B41FA5}">
                      <a16:colId xmlns:a16="http://schemas.microsoft.com/office/drawing/2014/main" val="760755326"/>
                    </a:ext>
                  </a:extLst>
                </a:gridCol>
                <a:gridCol w="2520555">
                  <a:extLst>
                    <a:ext uri="{9D8B030D-6E8A-4147-A177-3AD203B41FA5}">
                      <a16:colId xmlns:a16="http://schemas.microsoft.com/office/drawing/2014/main" val="2287494443"/>
                    </a:ext>
                  </a:extLst>
                </a:gridCol>
              </a:tblGrid>
              <a:tr h="43602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49" marR="91449" marT="45703" marB="45703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highlight>
                            <a:srgbClr val="FFFF00"/>
                          </a:highlight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외식서비스</a:t>
                      </a:r>
                      <a:r>
                        <a:rPr lang="ko-KR" altLang="en-US" sz="1600" b="1" dirty="0">
                          <a:highlight>
                            <a:srgbClr val="FFFF00"/>
                          </a:highlight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상품 개발 영역</a:t>
                      </a:r>
                    </a:p>
                  </a:txBody>
                  <a:tcPr marL="91449" marR="91449" marT="45703" marB="45703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highlight>
                            <a:srgbClr val="FFFF00"/>
                          </a:highlight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상품 개발의 결과물</a:t>
                      </a:r>
                    </a:p>
                  </a:txBody>
                  <a:tcPr marL="91449" marR="91449" marT="45703" marB="45703"/>
                </a:tc>
                <a:extLst>
                  <a:ext uri="{0D108BD9-81ED-4DB2-BD59-A6C34878D82A}">
                    <a16:rowId xmlns:a16="http://schemas.microsoft.com/office/drawing/2014/main" val="3114400048"/>
                  </a:ext>
                </a:extLst>
              </a:tr>
              <a:tr h="49230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외식서비스</a:t>
                      </a:r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신상품 개발</a:t>
                      </a:r>
                    </a:p>
                  </a:txBody>
                  <a:tcPr marL="91449" marR="91449" marT="45703" marB="4570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외식서비스</a:t>
                      </a:r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상품 </a:t>
                      </a:r>
                      <a:r>
                        <a:rPr lang="ko-KR" altLang="en-US" sz="16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리뉴얼</a:t>
                      </a:r>
                      <a:endParaRPr lang="ko-KR" altLang="en-US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49" marR="91449" marT="45703" marB="45703"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특별한 경험을 통한 가치 창출</a:t>
                      </a:r>
                    </a:p>
                  </a:txBody>
                  <a:tcPr marL="91449" marR="91449" marT="45703" marB="45703"/>
                </a:tc>
                <a:extLst>
                  <a:ext uri="{0D108BD9-81ED-4DB2-BD59-A6C34878D82A}">
                    <a16:rowId xmlns:a16="http://schemas.microsoft.com/office/drawing/2014/main" val="109110559"/>
                  </a:ext>
                </a:extLst>
              </a:tr>
              <a:tr h="4923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메뉴</a:t>
                      </a:r>
                    </a:p>
                  </a:txBody>
                  <a:tcPr marL="91449" marR="91449" marT="45703" marB="4570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메뉴 개발</a:t>
                      </a:r>
                    </a:p>
                  </a:txBody>
                  <a:tcPr marL="91449" marR="91449" marT="45703" marB="4570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메뉴 </a:t>
                      </a:r>
                      <a:r>
                        <a:rPr lang="ko-KR" altLang="en-US" sz="16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리뉴얼</a:t>
                      </a:r>
                      <a:endParaRPr lang="ko-KR" altLang="en-US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49" marR="91449" marT="45703" marB="45703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743584"/>
                  </a:ext>
                </a:extLst>
              </a:tr>
              <a:tr h="4923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서비스</a:t>
                      </a:r>
                    </a:p>
                  </a:txBody>
                  <a:tcPr marL="91449" marR="91449" marT="45703" marB="4570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서비스 프로세스 디자인</a:t>
                      </a:r>
                    </a:p>
                  </a:txBody>
                  <a:tcPr marL="91449" marR="91449" marT="45703" marB="45703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서비스 프로세스 </a:t>
                      </a:r>
                      <a:r>
                        <a:rPr lang="ko-KR" altLang="en-US" sz="16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리디자인</a:t>
                      </a:r>
                      <a:endParaRPr lang="ko-KR" altLang="en-US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49" marR="91449" marT="45703" marB="45703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702795"/>
                  </a:ext>
                </a:extLst>
              </a:tr>
            </a:tbl>
          </a:graphicData>
        </a:graphic>
      </p:graphicFrame>
      <p:sp>
        <p:nvSpPr>
          <p:cNvPr id="8220" name="TextBox 9">
            <a:extLst>
              <a:ext uri="{FF2B5EF4-FFF2-40B4-BE49-F238E27FC236}">
                <a16:creationId xmlns:a16="http://schemas.microsoft.com/office/drawing/2014/main" id="{EAF78DD8-274D-49CE-B2D7-248DE6DC0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285875"/>
            <a:ext cx="4411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>
                <a:ea typeface="서울남산 장체 M" panose="02020503020101020101" pitchFamily="18" charset="-127"/>
              </a:rPr>
              <a:t>[</a:t>
            </a:r>
            <a:r>
              <a:rPr lang="ko-KR" altLang="en-US">
                <a:ea typeface="서울남산 장체 M" panose="02020503020101020101" pitchFamily="18" charset="-127"/>
              </a:rPr>
              <a:t>외식서비스 상품개발의 의미</a:t>
            </a:r>
            <a:r>
              <a:rPr lang="en-US" altLang="ko-KR">
                <a:ea typeface="서울남산 장체 M" panose="02020503020101020101" pitchFamily="18" charset="-127"/>
              </a:rPr>
              <a:t>]</a:t>
            </a:r>
            <a:endParaRPr lang="ko-KR" altLang="en-US">
              <a:ea typeface="서울남산 장체 M" panose="020205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F7280-D093-4A37-BB18-07BAB457DE96}"/>
              </a:ext>
            </a:extLst>
          </p:cNvPr>
          <p:cNvSpPr txBox="1"/>
          <p:nvPr/>
        </p:nvSpPr>
        <p:spPr>
          <a:xfrm>
            <a:off x="349250" y="4346576"/>
            <a:ext cx="8894762" cy="17081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altLang="ko-KR" sz="1400" dirty="0">
                <a:ea typeface="08서울남산체 B" panose="02020603020101020101"/>
              </a:rPr>
              <a:t>JW Marriott Hotel Seoul (</a:t>
            </a:r>
            <a:r>
              <a:rPr lang="ko-KR" altLang="en-US" sz="1400" dirty="0">
                <a:ea typeface="08서울남산체 B" panose="02020603020101020101"/>
              </a:rPr>
              <a:t>사례</a:t>
            </a:r>
            <a:r>
              <a:rPr lang="en-US" altLang="ko-KR" sz="1400" dirty="0">
                <a:ea typeface="08서울남산체 B" panose="02020603020101020101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‘</a:t>
            </a:r>
            <a:r>
              <a:rPr lang="ko-KR" altLang="en-US" sz="1400" dirty="0" err="1">
                <a:ea typeface="08서울남산체 B" panose="02020603020101020101"/>
              </a:rPr>
              <a:t>부설남</a:t>
            </a:r>
            <a:r>
              <a:rPr lang="ko-KR" altLang="en-US" sz="1400" dirty="0">
                <a:ea typeface="08서울남산체 B" panose="02020603020101020101"/>
              </a:rPr>
              <a:t> </a:t>
            </a:r>
            <a:r>
              <a:rPr lang="en-US" altLang="ko-KR" sz="1400" dirty="0">
                <a:ea typeface="08서울남산체 B" panose="02020603020101020101"/>
              </a:rPr>
              <a:t>(</a:t>
            </a:r>
            <a:r>
              <a:rPr lang="ko-KR" altLang="en-US" sz="1400" dirty="0" err="1">
                <a:ea typeface="08서울남산체 B" panose="02020603020101020101"/>
              </a:rPr>
              <a:t>부페를</a:t>
            </a:r>
            <a:r>
              <a:rPr lang="ko-KR" altLang="en-US" sz="1400" dirty="0">
                <a:ea typeface="08서울남산체 B" panose="02020603020101020101"/>
              </a:rPr>
              <a:t> 설명해 주는 남자</a:t>
            </a:r>
            <a:r>
              <a:rPr lang="en-US" altLang="ko-KR" sz="1400" dirty="0">
                <a:ea typeface="08서울남산체 B" panose="02020603020101020101"/>
              </a:rPr>
              <a:t>) ‘ </a:t>
            </a:r>
            <a:r>
              <a:rPr lang="ko-KR" altLang="en-US" sz="1400" dirty="0">
                <a:ea typeface="08서울남산체 B" panose="02020603020101020101"/>
              </a:rPr>
              <a:t>서비스</a:t>
            </a:r>
            <a:endParaRPr lang="en-US" altLang="ko-KR" sz="1400" dirty="0">
              <a:ea typeface="08서울남산체 B" panose="02020603020101020101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</a:t>
            </a:r>
            <a:r>
              <a:rPr lang="ko-KR" altLang="en-US" sz="1400" dirty="0">
                <a:ea typeface="08서울남산체 B" panose="02020603020101020101"/>
              </a:rPr>
              <a:t>각 테이블을 돌며 음식을 어떤 조합으로 먹어야 하는지</a:t>
            </a:r>
            <a:r>
              <a:rPr lang="en-US" altLang="ko-KR" sz="1400" dirty="0">
                <a:ea typeface="08서울남산체 B" panose="02020603020101020101"/>
              </a:rPr>
              <a:t>, </a:t>
            </a:r>
            <a:r>
              <a:rPr lang="ko-KR" altLang="en-US" sz="1400" dirty="0">
                <a:ea typeface="08서울남산체 B" panose="02020603020101020101"/>
              </a:rPr>
              <a:t>무엇이 특징인지 등등 설명</a:t>
            </a:r>
            <a:endParaRPr lang="en-US" altLang="ko-KR" sz="1400" dirty="0">
              <a:ea typeface="08서울남산체 B" panose="02020603020101020101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</a:t>
            </a:r>
            <a:r>
              <a:rPr lang="ko-KR" altLang="en-US" sz="1400" dirty="0">
                <a:ea typeface="08서울남산체 B" panose="02020603020101020101"/>
              </a:rPr>
              <a:t>대기의 문제가 발생할 경우 원활히 해결되도록 고객을 돕기도 함</a:t>
            </a:r>
            <a:endParaRPr lang="en-US" altLang="ko-KR" sz="1400" dirty="0">
              <a:ea typeface="08서울남산체 B" panose="02020603020101020101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SNS) </a:t>
            </a:r>
            <a:r>
              <a:rPr lang="ko-KR" altLang="en-US" sz="1400" dirty="0">
                <a:ea typeface="08서울남산체 B" panose="02020603020101020101"/>
              </a:rPr>
              <a:t>음식을 설명해준 </a:t>
            </a:r>
            <a:r>
              <a:rPr lang="en-US" altLang="ko-KR" sz="1400" dirty="0">
                <a:ea typeface="08서울남산체 B" panose="02020603020101020101"/>
              </a:rPr>
              <a:t>‘</a:t>
            </a:r>
            <a:r>
              <a:rPr lang="ko-KR" altLang="en-US" sz="1400" dirty="0">
                <a:ea typeface="08서울남산체 B" panose="02020603020101020101"/>
              </a:rPr>
              <a:t>최초</a:t>
            </a:r>
            <a:r>
              <a:rPr lang="en-US" altLang="ko-KR" sz="1400" dirty="0">
                <a:ea typeface="08서울남산체 B" panose="02020603020101020101"/>
              </a:rPr>
              <a:t>‘ </a:t>
            </a:r>
            <a:r>
              <a:rPr lang="ko-KR" altLang="en-US" sz="1400" dirty="0">
                <a:ea typeface="08서울남산체 B" panose="02020603020101020101"/>
              </a:rPr>
              <a:t>의 뷔페레스토랑</a:t>
            </a:r>
            <a:r>
              <a:rPr lang="en-US" altLang="ko-KR" sz="1400" dirty="0">
                <a:ea typeface="08서울남산체 B" panose="02020603020101020101"/>
              </a:rPr>
              <a:t>, </a:t>
            </a:r>
            <a:r>
              <a:rPr lang="ko-KR" altLang="en-US" sz="1400" dirty="0">
                <a:ea typeface="08서울남산체 B" panose="02020603020101020101"/>
              </a:rPr>
              <a:t>서비스에 대한 감동의 리뷰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89A1E861-2888-440E-8B7E-2D23DED0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혁신과 상품개발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0EA69CCA-5FC1-484A-BE45-C781AFE3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87475"/>
            <a:ext cx="11517312" cy="5248275"/>
          </a:xfrm>
        </p:spPr>
        <p:txBody>
          <a:bodyPr/>
          <a:lstStyle/>
          <a:p>
            <a:pPr eaLnBrk="1" hangingPunct="1">
              <a:defRPr/>
            </a:pPr>
            <a:endParaRPr lang="en-US" altLang="ko-KR" dirty="0"/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</a:t>
            </a:r>
            <a:endParaRPr lang="en-US" altLang="ko-KR" sz="1800" u="sng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B458F0F5-0157-41FD-AB99-4AEC02F7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2133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8220" name="TextBox 9">
            <a:extLst>
              <a:ext uri="{FF2B5EF4-FFF2-40B4-BE49-F238E27FC236}">
                <a16:creationId xmlns:a16="http://schemas.microsoft.com/office/drawing/2014/main" id="{EAF78DD8-274D-49CE-B2D7-248DE6DC0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285875"/>
            <a:ext cx="4411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dirty="0">
                <a:ea typeface="서울남산 장체 M" panose="02020503020101020101" pitchFamily="18" charset="-127"/>
              </a:rPr>
              <a:t>[</a:t>
            </a:r>
            <a:r>
              <a:rPr lang="ko-KR" altLang="en-US" dirty="0" err="1">
                <a:ea typeface="서울남산 장체 M" panose="02020503020101020101" pitchFamily="18" charset="-127"/>
              </a:rPr>
              <a:t>혁신사례일까</a:t>
            </a:r>
            <a:r>
              <a:rPr lang="en-US" altLang="ko-KR" dirty="0">
                <a:ea typeface="서울남산 장체 M" panose="02020503020101020101" pitchFamily="18" charset="-127"/>
              </a:rPr>
              <a:t>?]</a:t>
            </a:r>
            <a:endParaRPr lang="ko-KR" altLang="en-US" dirty="0">
              <a:ea typeface="서울남산 장체 M" panose="020205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F7280-D093-4A37-BB18-07BAB457DE96}"/>
              </a:ext>
            </a:extLst>
          </p:cNvPr>
          <p:cNvSpPr txBox="1"/>
          <p:nvPr/>
        </p:nvSpPr>
        <p:spPr>
          <a:xfrm>
            <a:off x="349250" y="1942533"/>
            <a:ext cx="5202878" cy="23158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altLang="ko-KR" sz="1400" dirty="0">
                <a:ea typeface="08서울남산체 B" panose="02020603020101020101"/>
              </a:rPr>
              <a:t>JW Marriott Hotel Seoul (</a:t>
            </a:r>
            <a:r>
              <a:rPr lang="ko-KR" altLang="en-US" sz="1400" dirty="0">
                <a:ea typeface="08서울남산체 B" panose="02020603020101020101"/>
              </a:rPr>
              <a:t>사례</a:t>
            </a:r>
            <a:r>
              <a:rPr lang="en-US" altLang="ko-KR" sz="1400" dirty="0">
                <a:ea typeface="08서울남산체 B" panose="02020603020101020101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‘</a:t>
            </a:r>
            <a:r>
              <a:rPr lang="ko-KR" altLang="en-US" sz="1400" dirty="0" err="1">
                <a:ea typeface="08서울남산체 B" panose="02020603020101020101"/>
              </a:rPr>
              <a:t>부설남</a:t>
            </a:r>
            <a:r>
              <a:rPr lang="ko-KR" altLang="en-US" sz="1400" dirty="0">
                <a:ea typeface="08서울남산체 B" panose="02020603020101020101"/>
              </a:rPr>
              <a:t> </a:t>
            </a:r>
            <a:r>
              <a:rPr lang="en-US" altLang="ko-KR" sz="1400" dirty="0">
                <a:ea typeface="08서울남산체 B" panose="02020603020101020101"/>
              </a:rPr>
              <a:t>(</a:t>
            </a:r>
            <a:r>
              <a:rPr lang="ko-KR" altLang="en-US" sz="1400" dirty="0" err="1">
                <a:ea typeface="08서울남산체 B" panose="02020603020101020101"/>
              </a:rPr>
              <a:t>부페를</a:t>
            </a:r>
            <a:r>
              <a:rPr lang="ko-KR" altLang="en-US" sz="1400" dirty="0">
                <a:ea typeface="08서울남산체 B" panose="02020603020101020101"/>
              </a:rPr>
              <a:t> 설명해 주는 남자</a:t>
            </a:r>
            <a:r>
              <a:rPr lang="en-US" altLang="ko-KR" sz="1400" dirty="0">
                <a:ea typeface="08서울남산체 B" panose="02020603020101020101"/>
              </a:rPr>
              <a:t>) ‘ </a:t>
            </a:r>
            <a:r>
              <a:rPr lang="ko-KR" altLang="en-US" sz="1400" dirty="0">
                <a:ea typeface="08서울남산체 B" panose="02020603020101020101"/>
              </a:rPr>
              <a:t>서비스</a:t>
            </a:r>
            <a:endParaRPr lang="en-US" altLang="ko-KR" sz="1400" dirty="0">
              <a:ea typeface="08서울남산체 B" panose="02020603020101020101"/>
            </a:endParaRPr>
          </a:p>
          <a:p>
            <a:pPr marL="355600" indent="-355600"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</a:t>
            </a:r>
            <a:r>
              <a:rPr lang="ko-KR" altLang="en-US" sz="1400" dirty="0">
                <a:ea typeface="08서울남산체 B" panose="02020603020101020101"/>
              </a:rPr>
              <a:t>각 테이블을 돌며 음식을 어떤 조합으로 먹어야 하는지</a:t>
            </a:r>
            <a:r>
              <a:rPr lang="en-US" altLang="ko-KR" sz="1400" dirty="0">
                <a:ea typeface="08서울남산체 B" panose="02020603020101020101"/>
              </a:rPr>
              <a:t>, </a:t>
            </a:r>
            <a:r>
              <a:rPr lang="ko-KR" altLang="en-US" sz="1400" dirty="0">
                <a:ea typeface="08서울남산체 B" panose="02020603020101020101"/>
              </a:rPr>
              <a:t>무엇이 특징인지 등등 설명</a:t>
            </a:r>
            <a:endParaRPr lang="en-US" altLang="ko-KR" sz="1400" dirty="0">
              <a:ea typeface="08서울남산체 B" panose="02020603020101020101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</a:t>
            </a:r>
            <a:r>
              <a:rPr lang="ko-KR" altLang="en-US" sz="1400" dirty="0">
                <a:ea typeface="08서울남산체 B" panose="02020603020101020101"/>
              </a:rPr>
              <a:t>대기의 문제가 발생할 경우 원활히 해결되도록 고객을 돕기도 함</a:t>
            </a:r>
            <a:endParaRPr lang="en-US" altLang="ko-KR" sz="1400" dirty="0">
              <a:ea typeface="08서울남산체 B" panose="02020603020101020101"/>
            </a:endParaRPr>
          </a:p>
          <a:p>
            <a:pPr marL="355600" indent="-355600">
              <a:lnSpc>
                <a:spcPct val="150000"/>
              </a:lnSpc>
              <a:defRPr/>
            </a:pPr>
            <a:r>
              <a:rPr lang="en-US" altLang="ko-KR" sz="1400" dirty="0">
                <a:ea typeface="08서울남산체 B" panose="02020603020101020101"/>
              </a:rPr>
              <a:t>   - SNS) </a:t>
            </a:r>
            <a:r>
              <a:rPr lang="ko-KR" altLang="en-US" sz="1400" dirty="0">
                <a:ea typeface="08서울남산체 B" panose="02020603020101020101"/>
              </a:rPr>
              <a:t>음식을 설명해준 </a:t>
            </a:r>
            <a:r>
              <a:rPr lang="en-US" altLang="ko-KR" sz="1400" dirty="0">
                <a:ea typeface="08서울남산체 B" panose="02020603020101020101"/>
              </a:rPr>
              <a:t>‘</a:t>
            </a:r>
            <a:r>
              <a:rPr lang="ko-KR" altLang="en-US" sz="1400" dirty="0">
                <a:ea typeface="08서울남산체 B" panose="02020603020101020101"/>
              </a:rPr>
              <a:t>최초</a:t>
            </a:r>
            <a:r>
              <a:rPr lang="en-US" altLang="ko-KR" sz="1400" dirty="0">
                <a:ea typeface="08서울남산체 B" panose="02020603020101020101"/>
              </a:rPr>
              <a:t>‘ </a:t>
            </a:r>
            <a:r>
              <a:rPr lang="ko-KR" altLang="en-US" sz="1400" dirty="0">
                <a:ea typeface="08서울남산체 B" panose="02020603020101020101"/>
              </a:rPr>
              <a:t>의 뷔페레스토랑</a:t>
            </a:r>
            <a:r>
              <a:rPr lang="en-US" altLang="ko-KR" sz="1400" dirty="0">
                <a:ea typeface="08서울남산체 B" panose="02020603020101020101"/>
              </a:rPr>
              <a:t>, </a:t>
            </a:r>
            <a:r>
              <a:rPr lang="ko-KR" altLang="en-US" sz="1400" dirty="0">
                <a:ea typeface="08서울남산체 B" panose="02020603020101020101"/>
              </a:rPr>
              <a:t>서비스에 대한 감동의 리뷰</a:t>
            </a:r>
          </a:p>
        </p:txBody>
      </p:sp>
    </p:spTree>
    <p:extLst>
      <p:ext uri="{BB962C8B-B14F-4D97-AF65-F5344CB8AC3E}">
        <p14:creationId xmlns:p14="http://schemas.microsoft.com/office/powerpoint/2010/main" val="107492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텍스트 개체 틀 3">
            <a:extLst>
              <a:ext uri="{FF2B5EF4-FFF2-40B4-BE49-F238E27FC236}">
                <a16:creationId xmlns:a16="http://schemas.microsoft.com/office/drawing/2014/main" id="{E9B4347E-DA46-4061-B539-272A82C32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2. </a:t>
            </a:r>
            <a:r>
              <a:rPr lang="ko-KR" altLang="en-US"/>
              <a:t>외식서비스 상품 개발의 개요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91C5C4-1F75-4427-B8CC-B2B78FD18F0B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F2410F-E4E3-4EF3-B548-D779F7071E6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78E85356-7FC4-4FD8-98A8-4E7E0DA4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외식서비스 상품 개발의 필요성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461C9C91-1EA4-4122-880E-6A758973F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3" y="1387475"/>
            <a:ext cx="11517312" cy="5248275"/>
          </a:xfrm>
        </p:spPr>
        <p:txBody>
          <a:bodyPr/>
          <a:lstStyle/>
          <a:p>
            <a:pPr marL="342900" indent="-342900" eaLnBrk="1" hangingPunct="1"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2000" dirty="0"/>
              <a:t>메뉴 </a:t>
            </a:r>
            <a:r>
              <a:rPr lang="en-US" altLang="ko-KR" sz="2000" dirty="0"/>
              <a:t>+ </a:t>
            </a:r>
            <a:r>
              <a:rPr lang="ko-KR" altLang="en-US" sz="2000" u="sng" dirty="0"/>
              <a:t>무형적 특성</a:t>
            </a:r>
            <a:r>
              <a:rPr lang="ko-KR" altLang="en-US" sz="2000" dirty="0"/>
              <a:t>을 가진 서비스 과정이 포함된 </a:t>
            </a:r>
            <a:r>
              <a:rPr lang="ko-KR" altLang="en-US" sz="2000" dirty="0" err="1"/>
              <a:t>하이브리드</a:t>
            </a:r>
            <a:r>
              <a:rPr lang="ko-KR" altLang="en-US" sz="2000" dirty="0"/>
              <a:t> 상품 </a:t>
            </a:r>
            <a:r>
              <a:rPr lang="en-US" altLang="ko-KR" sz="1800" dirty="0"/>
              <a:t>(</a:t>
            </a:r>
            <a:r>
              <a:rPr lang="ko-KR" altLang="en-US" sz="1800" dirty="0"/>
              <a:t>서비스가 필수 부분으로 디자인된 상품</a:t>
            </a:r>
            <a:r>
              <a:rPr lang="en-US" altLang="ko-KR" sz="2000" dirty="0"/>
              <a:t>)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cxnSp>
        <p:nvCxnSpPr>
          <p:cNvPr id="10244" name="꺾인 연결선 2">
            <a:extLst>
              <a:ext uri="{FF2B5EF4-FFF2-40B4-BE49-F238E27FC236}">
                <a16:creationId xmlns:a16="http://schemas.microsoft.com/office/drawing/2014/main" id="{E3AD04C6-1817-4D0A-860C-6ACC19EA92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41513" y="1697038"/>
            <a:ext cx="547687" cy="374650"/>
          </a:xfrm>
          <a:prstGeom prst="bentConnector3">
            <a:avLst>
              <a:gd name="adj1" fmla="val -3449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45" name="TextBox 4">
            <a:extLst>
              <a:ext uri="{FF2B5EF4-FFF2-40B4-BE49-F238E27FC236}">
                <a16:creationId xmlns:a16="http://schemas.microsoft.com/office/drawing/2014/main" id="{9C465D43-3EB2-49ED-8A25-0E86E60DE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9200" y="1931988"/>
            <a:ext cx="4448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400" b="1" dirty="0">
                <a:solidFill>
                  <a:srgbClr val="FF0000"/>
                </a:solidFill>
                <a:ea typeface="서울남산 장체 M" panose="02020503020101020101" pitchFamily="18" charset="-127"/>
              </a:rPr>
              <a:t>대접받는 느낌이 드는 서비스</a:t>
            </a:r>
            <a:r>
              <a:rPr lang="en-US" altLang="ko-KR" sz="1400" b="1" dirty="0">
                <a:solidFill>
                  <a:srgbClr val="FF0000"/>
                </a:solidFill>
                <a:ea typeface="서울남산 장체 M" panose="02020503020101020101" pitchFamily="18" charset="-127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ea typeface="서울남산 장체 M" panose="02020503020101020101" pitchFamily="18" charset="-127"/>
              </a:rPr>
              <a:t>편안한 분위기</a:t>
            </a:r>
            <a:r>
              <a:rPr lang="en-US" altLang="ko-KR" sz="1400" b="1" dirty="0">
                <a:solidFill>
                  <a:srgbClr val="FF0000"/>
                </a:solidFill>
                <a:ea typeface="서울남산 장체 M" panose="02020503020101020101" pitchFamily="18" charset="-127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ea typeface="서울남산 장체 M" panose="02020503020101020101" pitchFamily="18" charset="-127"/>
              </a:rPr>
              <a:t>쾌적한 환경</a:t>
            </a:r>
          </a:p>
        </p:txBody>
      </p:sp>
      <p:sp>
        <p:nvSpPr>
          <p:cNvPr id="10246" name="TextBox 15">
            <a:extLst>
              <a:ext uri="{FF2B5EF4-FFF2-40B4-BE49-F238E27FC236}">
                <a16:creationId xmlns:a16="http://schemas.microsoft.com/office/drawing/2014/main" id="{F9F6B82A-4C9E-4EA1-A36C-02A30C928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6183313"/>
            <a:ext cx="44497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200" b="1">
                <a:ea typeface="굴림" panose="020B0600000101010101" pitchFamily="50" charset="-127"/>
              </a:rPr>
              <a:t>[</a:t>
            </a:r>
            <a:r>
              <a:rPr lang="ko-KR" altLang="en-US" sz="1200" b="1">
                <a:ea typeface="굴림" panose="020B0600000101010101" pitchFamily="50" charset="-127"/>
              </a:rPr>
              <a:t>혁신적 외식서비스 상품 개발의 이유</a:t>
            </a:r>
            <a:r>
              <a:rPr lang="en-US" altLang="ko-KR" sz="1200" b="1">
                <a:ea typeface="굴림" panose="020B0600000101010101" pitchFamily="50" charset="-127"/>
              </a:rPr>
              <a:t>]</a:t>
            </a:r>
            <a:endParaRPr lang="ko-KR" altLang="en-US" sz="1200" b="1">
              <a:ea typeface="굴림" panose="020B0600000101010101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D1FCEFF-4942-4372-9F01-505BC6B64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787561"/>
              </p:ext>
            </p:extLst>
          </p:nvPr>
        </p:nvGraphicFramePr>
        <p:xfrm>
          <a:off x="552450" y="2927350"/>
          <a:ext cx="9156700" cy="3546813"/>
        </p:xfrm>
        <a:graphic>
          <a:graphicData uri="http://schemas.openxmlformats.org/drawingml/2006/table">
            <a:tbl>
              <a:tblPr firstCol="1">
                <a:tableStyleId>{5940675A-B579-460E-94D1-54222C63F5DA}</a:tableStyleId>
              </a:tblPr>
              <a:tblGrid>
                <a:gridCol w="3576401">
                  <a:extLst>
                    <a:ext uri="{9D8B030D-6E8A-4147-A177-3AD203B41FA5}">
                      <a16:colId xmlns:a16="http://schemas.microsoft.com/office/drawing/2014/main" val="2537202230"/>
                    </a:ext>
                  </a:extLst>
                </a:gridCol>
                <a:gridCol w="5580299">
                  <a:extLst>
                    <a:ext uri="{9D8B030D-6E8A-4147-A177-3AD203B41FA5}">
                      <a16:colId xmlns:a16="http://schemas.microsoft.com/office/drawing/2014/main" val="1796332721"/>
                    </a:ext>
                  </a:extLst>
                </a:gridCol>
              </a:tblGrid>
              <a:tr h="742843">
                <a:tc>
                  <a:txBody>
                    <a:bodyPr/>
                    <a:lstStyle/>
                    <a:p>
                      <a:pPr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고객가치 제공</a:t>
                      </a:r>
                    </a:p>
                  </a:txBody>
                  <a:tcPr marL="91434" marR="91434" marT="45695" marB="4569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고객은 무엇에 가치를 두는가</a:t>
                      </a:r>
                    </a:p>
                  </a:txBody>
                  <a:tcPr marL="91434" marR="91434" marT="45695" marB="45695" anchor="ctr"/>
                </a:tc>
                <a:extLst>
                  <a:ext uri="{0D108BD9-81ED-4DB2-BD59-A6C34878D82A}">
                    <a16:rowId xmlns:a16="http://schemas.microsoft.com/office/drawing/2014/main" val="2776746075"/>
                  </a:ext>
                </a:extLst>
              </a:tr>
              <a:tr h="822890">
                <a:tc>
                  <a:txBody>
                    <a:bodyPr/>
                    <a:lstStyle/>
                    <a:p>
                      <a:pPr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신규 고객 유치를 통한 업체 성장</a:t>
                      </a:r>
                    </a:p>
                  </a:txBody>
                  <a:tcPr marL="91434" marR="91434" marT="45695" marB="4569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기존메뉴나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서비스 상품에 대한 개선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과거에 없었던 새로운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외식서비스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상품 개발</a:t>
                      </a:r>
                    </a:p>
                  </a:txBody>
                  <a:tcPr marL="91434" marR="91434" marT="45695" marB="45695" anchor="ctr"/>
                </a:tc>
                <a:extLst>
                  <a:ext uri="{0D108BD9-81ED-4DB2-BD59-A6C34878D82A}">
                    <a16:rowId xmlns:a16="http://schemas.microsoft.com/office/drawing/2014/main" val="2677900353"/>
                  </a:ext>
                </a:extLst>
              </a:tr>
              <a:tr h="822890">
                <a:tc>
                  <a:txBody>
                    <a:bodyPr/>
                    <a:lstStyle/>
                    <a:p>
                      <a:pPr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경쟁우위 확보</a:t>
                      </a:r>
                    </a:p>
                  </a:txBody>
                  <a:tcPr marL="91434" marR="91434" marT="45695" marB="4569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시장점유율</a:t>
                      </a:r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사업 유지를 위한 신상품 개발이 필수적 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미투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콘셉트</a:t>
                      </a:r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(me-too concept)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가 빠름 </a:t>
                      </a:r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지속적 경쟁우위 확보전략 필요</a:t>
                      </a:r>
                    </a:p>
                  </a:txBody>
                  <a:tcPr marL="91434" marR="91434" marT="45695" marB="45695" anchor="ctr"/>
                </a:tc>
                <a:extLst>
                  <a:ext uri="{0D108BD9-81ED-4DB2-BD59-A6C34878D82A}">
                    <a16:rowId xmlns:a16="http://schemas.microsoft.com/office/drawing/2014/main" val="3141036908"/>
                  </a:ext>
                </a:extLst>
              </a:tr>
              <a:tr h="822890">
                <a:tc>
                  <a:txBody>
                    <a:bodyPr/>
                    <a:lstStyle/>
                    <a:p>
                      <a:pPr latinLnBrk="1"/>
                      <a:endParaRPr lang="en-US" altLang="ko-KR" sz="16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내부자원의</a:t>
                      </a:r>
                      <a:r>
                        <a:rPr lang="ko-KR" altLang="en-US" sz="16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활용</a:t>
                      </a:r>
                    </a:p>
                  </a:txBody>
                  <a:tcPr marL="91434" marR="91434" marT="45695" marB="4569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외식업체내의 다양한 부문의 협업이 필요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생산 자원</a:t>
                      </a:r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마케팅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자원등의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활용</a:t>
                      </a:r>
                    </a:p>
                  </a:txBody>
                  <a:tcPr marL="91434" marR="91434" marT="45695" marB="45695" anchor="ctr"/>
                </a:tc>
                <a:extLst>
                  <a:ext uri="{0D108BD9-81ED-4DB2-BD59-A6C34878D82A}">
                    <a16:rowId xmlns:a16="http://schemas.microsoft.com/office/drawing/2014/main" val="1197492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7BC9D2CF-0DF6-4BFE-A8CD-9784E81C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외식서비스 상품 개발의 분류</a:t>
            </a:r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AF5A670C-B0C1-4081-8825-D395FEA7D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3" y="1387475"/>
            <a:ext cx="11517312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(1) </a:t>
            </a:r>
            <a:r>
              <a:rPr lang="ko-KR" altLang="en-US" sz="2000" dirty="0"/>
              <a:t>고객과 업체 관점에 따른 </a:t>
            </a:r>
            <a:r>
              <a:rPr lang="ko-KR" altLang="en-US" sz="2000" dirty="0" err="1"/>
              <a:t>외식서비스</a:t>
            </a:r>
            <a:r>
              <a:rPr lang="ko-KR" altLang="en-US" sz="2000" dirty="0"/>
              <a:t> 상품 개발 분류</a:t>
            </a:r>
            <a:endParaRPr lang="en-US" altLang="ko-KR" sz="2000" dirty="0"/>
          </a:p>
          <a:p>
            <a:pPr marL="285750" indent="-285750" eaLnBrk="1" hangingPunct="1">
              <a:spcAft>
                <a:spcPts val="600"/>
              </a:spcAft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신상품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레스토랑 방문 목적과 결부된 고객의 욕구나 문제를 더 잘 해결해 줄 수 있는 새로운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‘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서비스 솔루션＇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spcAft>
                <a:spcPts val="600"/>
              </a:spcAft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고객관점 서비스의 예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반려동물 양육 소비자에 대한 외식업체 솔루션 제공 사례</a:t>
            </a:r>
            <a:endParaRPr lang="en-US" altLang="ko-KR" sz="20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id="{C26602FC-D6DC-49BB-8B73-95425D0AB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3359150"/>
            <a:ext cx="2995613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4">
            <a:extLst>
              <a:ext uri="{FF2B5EF4-FFF2-40B4-BE49-F238E27FC236}">
                <a16:creationId xmlns:a16="http://schemas.microsoft.com/office/drawing/2014/main" id="{EF31ACC6-A375-4AB6-A9BC-476047661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095625"/>
            <a:ext cx="2217738" cy="274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5">
            <a:extLst>
              <a:ext uri="{FF2B5EF4-FFF2-40B4-BE49-F238E27FC236}">
                <a16:creationId xmlns:a16="http://schemas.microsoft.com/office/drawing/2014/main" id="{0E0A113F-5177-4273-973B-C688CF466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950" y="3359150"/>
            <a:ext cx="2724150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Box 3">
            <a:hlinkClick r:id="rId6"/>
            <a:extLst>
              <a:ext uri="{FF2B5EF4-FFF2-40B4-BE49-F238E27FC236}">
                <a16:creationId xmlns:a16="http://schemas.microsoft.com/office/drawing/2014/main" id="{3B1797BA-EA96-4400-A1E5-5ED5AB4BF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8" y="6134100"/>
            <a:ext cx="2508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atinLnBrk="1"/>
            <a:r>
              <a: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버거킹의 독퍼</a:t>
            </a:r>
            <a:r>
              <a:rPr lang="en-US" altLang="ko-KR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(Dogpper)</a:t>
            </a:r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1272" name="TextBox 9">
            <a:hlinkClick r:id="rId7"/>
            <a:extLst>
              <a:ext uri="{FF2B5EF4-FFF2-40B4-BE49-F238E27FC236}">
                <a16:creationId xmlns:a16="http://schemas.microsoft.com/office/drawing/2014/main" id="{4731BE89-1718-4ADD-BE63-FB20286E8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188" y="6134100"/>
            <a:ext cx="2508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atinLnBrk="1"/>
            <a:r>
              <a:rPr lang="en-US" altLang="ko-KR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The Wilson NYC</a:t>
            </a:r>
          </a:p>
        </p:txBody>
      </p:sp>
      <p:sp>
        <p:nvSpPr>
          <p:cNvPr id="11273" name="TextBox 10">
            <a:hlinkClick r:id="rId8"/>
            <a:extLst>
              <a:ext uri="{FF2B5EF4-FFF2-40B4-BE49-F238E27FC236}">
                <a16:creationId xmlns:a16="http://schemas.microsoft.com/office/drawing/2014/main" id="{9C592EF0-CD72-41AE-BEBE-08D02F43B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13" y="6130925"/>
            <a:ext cx="2813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atinLnBrk="1"/>
            <a:r>
              <a: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미스터피자의 ‘미스터펫자’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2E8C1D4D-BF4E-423E-B38E-FE611D17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외식서비스 상품 개발의 분류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359F8985-C819-4821-9887-10DCEE4F9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3" y="1376363"/>
            <a:ext cx="11517312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(1) </a:t>
            </a:r>
            <a:r>
              <a:rPr lang="ko-KR" altLang="en-US" sz="2000" dirty="0"/>
              <a:t>고객과 업체 관점에 따른 </a:t>
            </a:r>
            <a:r>
              <a:rPr lang="ko-KR" altLang="en-US" sz="2000" dirty="0" err="1"/>
              <a:t>외식서비스</a:t>
            </a:r>
            <a:r>
              <a:rPr lang="ko-KR" altLang="en-US" sz="2000" dirty="0"/>
              <a:t> 상품 개발 분류</a:t>
            </a:r>
            <a:endParaRPr lang="en-US" altLang="ko-KR" sz="2000" dirty="0"/>
          </a:p>
          <a:p>
            <a:pPr marL="285750" indent="-285750" eaLnBrk="1" hangingPunct="1">
              <a:spcAft>
                <a:spcPts val="600"/>
              </a:spcAft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외식업체 관점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제품과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공정혁신에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초점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defRPr/>
            </a:pPr>
            <a:r>
              <a:rPr lang="ko-KR" altLang="en-US" sz="2000" dirty="0"/>
              <a:t> </a:t>
            </a:r>
            <a:endParaRPr lang="en-US" altLang="ko-KR" sz="2000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pic>
        <p:nvPicPr>
          <p:cNvPr id="13316" name="Picture 7">
            <a:extLst>
              <a:ext uri="{FF2B5EF4-FFF2-40B4-BE49-F238E27FC236}">
                <a16:creationId xmlns:a16="http://schemas.microsoft.com/office/drawing/2014/main" id="{77E3F38F-EFD4-4CEC-84FA-D4D442A34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2792413"/>
            <a:ext cx="8035925" cy="339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1">
            <a:extLst>
              <a:ext uri="{FF2B5EF4-FFF2-40B4-BE49-F238E27FC236}">
                <a16:creationId xmlns:a16="http://schemas.microsoft.com/office/drawing/2014/main" id="{5C788489-9D6F-43F8-828D-EF576B2FE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438" y="4000500"/>
            <a:ext cx="8620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600">
                <a:ea typeface="서울남산 장체 M" panose="02020503020101020101" pitchFamily="18" charset="-127"/>
              </a:rPr>
              <a:t>제품</a:t>
            </a:r>
          </a:p>
        </p:txBody>
      </p:sp>
      <p:sp>
        <p:nvSpPr>
          <p:cNvPr id="13318" name="TextBox 5">
            <a:extLst>
              <a:ext uri="{FF2B5EF4-FFF2-40B4-BE49-F238E27FC236}">
                <a16:creationId xmlns:a16="http://schemas.microsoft.com/office/drawing/2014/main" id="{3B38B9F4-5F6B-4AE4-8307-6875D35FF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8088" y="3206750"/>
            <a:ext cx="10874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600" dirty="0">
                <a:ea typeface="서울남산 장체 M" panose="02020503020101020101" pitchFamily="18" charset="-127"/>
              </a:rPr>
              <a:t>공정혁신</a:t>
            </a:r>
          </a:p>
        </p:txBody>
      </p:sp>
      <p:sp>
        <p:nvSpPr>
          <p:cNvPr id="13319" name="오른쪽 중괄호 4">
            <a:extLst>
              <a:ext uri="{FF2B5EF4-FFF2-40B4-BE49-F238E27FC236}">
                <a16:creationId xmlns:a16="http://schemas.microsoft.com/office/drawing/2014/main" id="{87950614-7B46-41A5-831B-668E1E147469}"/>
              </a:ext>
            </a:extLst>
          </p:cNvPr>
          <p:cNvSpPr>
            <a:spLocks/>
          </p:cNvSpPr>
          <p:nvPr/>
        </p:nvSpPr>
        <p:spPr bwMode="auto">
          <a:xfrm>
            <a:off x="8645525" y="3776663"/>
            <a:ext cx="182563" cy="754062"/>
          </a:xfrm>
          <a:prstGeom prst="rightBrace">
            <a:avLst>
              <a:gd name="adj1" fmla="val 8318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ko-KR" altLang="en-US">
              <a:latin typeface="Arial" panose="020B0604020202020204" pitchFamily="34" charset="0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90928968-5530-4345-938F-004E25663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외식서비스 상품 개발의 분류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F6DB8459-F673-4993-8197-372307F6A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3" y="1387475"/>
            <a:ext cx="11517312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혁신 수준에 따른 </a:t>
            </a:r>
            <a:r>
              <a:rPr lang="ko-KR" altLang="en-US" sz="2000" dirty="0" err="1"/>
              <a:t>외식서비스</a:t>
            </a:r>
            <a:r>
              <a:rPr lang="ko-KR" altLang="en-US" sz="2000" dirty="0"/>
              <a:t> 상품 개발 분류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spcAft>
                <a:spcPts val="600"/>
              </a:spcAft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새로운 </a:t>
            </a:r>
            <a:r>
              <a:rPr lang="ko-KR" altLang="en-US" sz="1800" b="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서비스상품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개발은 서비스 개선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(service improvement)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과 서비스 변혁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(service innovation)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사이에 존재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개선과 변혁의 기준은 기존 서비스 시스템을 중심으로 얼마나 </a:t>
            </a:r>
            <a:r>
              <a:rPr lang="ko-KR" altLang="en-US" sz="1800" b="0" dirty="0">
                <a:solidFill>
                  <a:srgbClr val="000000"/>
                </a:solidFill>
                <a:highlight>
                  <a:srgbClr val="00FF00"/>
                </a:highlight>
              </a:rPr>
              <a:t>급진적인</a:t>
            </a:r>
            <a:r>
              <a:rPr lang="ko-KR" altLang="en-US" sz="1800" b="0" dirty="0">
                <a:solidFill>
                  <a:srgbClr val="FF0000"/>
                </a:solidFill>
                <a:highlight>
                  <a:srgbClr val="00FF00"/>
                </a:highlight>
              </a:rPr>
              <a:t> </a:t>
            </a:r>
            <a:r>
              <a:rPr lang="ko-KR" altLang="en-US" sz="1800" b="0" dirty="0">
                <a:solidFill>
                  <a:srgbClr val="000000"/>
                </a:solidFill>
                <a:highlight>
                  <a:srgbClr val="00FF00"/>
                </a:highlight>
              </a:rPr>
              <a:t>변화</a:t>
            </a:r>
            <a:r>
              <a:rPr lang="ko-KR" altLang="en-US" sz="1800" b="0" dirty="0">
                <a:solidFill>
                  <a:srgbClr val="000000"/>
                </a:solidFill>
              </a:rPr>
              <a:t>를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b="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요구하느냐에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따라 </a:t>
            </a:r>
            <a:endParaRPr lang="en-US" altLang="ko-KR" sz="1800" b="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>
                  <a:lumMod val="60000"/>
                  <a:lumOff val="40000"/>
                </a:schemeClr>
              </a:buClr>
              <a:defRPr/>
            </a:pP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급진적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(radical).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점진적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(innovation)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혁신으로 구분</a:t>
            </a:r>
            <a:endParaRPr lang="en-US" altLang="ko-KR" sz="1800" b="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급진적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보통 불연속적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일시적으로 이루어지는 혁신 </a:t>
            </a:r>
            <a:endParaRPr lang="en-US" altLang="ko-KR" sz="1800" b="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점진적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서비스 제공과정에서 지속적으로 이루어지는 혁신</a:t>
            </a:r>
            <a:endParaRPr lang="en-US" altLang="ko-KR" sz="1800" b="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buClr>
                <a:schemeClr val="tx1">
                  <a:lumMod val="60000"/>
                  <a:lumOff val="40000"/>
                </a:schemeClr>
              </a:buClr>
              <a:defRPr/>
            </a:pP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	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15364" name="TextBox 1">
            <a:extLst>
              <a:ext uri="{FF2B5EF4-FFF2-40B4-BE49-F238E27FC236}">
                <a16:creationId xmlns:a16="http://schemas.microsoft.com/office/drawing/2014/main" id="{0423C110-97DA-4D4F-BC10-DF373D44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564" y="4321676"/>
            <a:ext cx="340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 dirty="0">
                <a:ea typeface="서울남산 장체 M" panose="02020503020101020101" pitchFamily="18" charset="-127"/>
              </a:rPr>
              <a:t>[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혁신 수준과 영역</a:t>
            </a:r>
            <a:r>
              <a:rPr lang="en-US" altLang="ko-KR" sz="1600" b="1" dirty="0">
                <a:ea typeface="서울남산 장체 M" panose="02020503020101020101" pitchFamily="18" charset="-127"/>
              </a:rPr>
              <a:t>]</a:t>
            </a:r>
            <a:endParaRPr lang="ko-KR" altLang="en-US" sz="1600" b="1" dirty="0">
              <a:ea typeface="서울남산 장체 M" panose="020205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9DAEDB-8E76-4AAE-AB8D-F3C1AA0AB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55257"/>
              </p:ext>
            </p:extLst>
          </p:nvPr>
        </p:nvGraphicFramePr>
        <p:xfrm>
          <a:off x="525564" y="4764589"/>
          <a:ext cx="9664700" cy="17922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937">
                  <a:extLst>
                    <a:ext uri="{9D8B030D-6E8A-4147-A177-3AD203B41FA5}">
                      <a16:colId xmlns:a16="http://schemas.microsoft.com/office/drawing/2014/main" val="86310612"/>
                    </a:ext>
                  </a:extLst>
                </a:gridCol>
                <a:gridCol w="2157233">
                  <a:extLst>
                    <a:ext uri="{9D8B030D-6E8A-4147-A177-3AD203B41FA5}">
                      <a16:colId xmlns:a16="http://schemas.microsoft.com/office/drawing/2014/main" val="3304351711"/>
                    </a:ext>
                  </a:extLst>
                </a:gridCol>
                <a:gridCol w="2790020">
                  <a:extLst>
                    <a:ext uri="{9D8B030D-6E8A-4147-A177-3AD203B41FA5}">
                      <a16:colId xmlns:a16="http://schemas.microsoft.com/office/drawing/2014/main" val="1791386211"/>
                    </a:ext>
                  </a:extLst>
                </a:gridCol>
                <a:gridCol w="3499510">
                  <a:extLst>
                    <a:ext uri="{9D8B030D-6E8A-4147-A177-3AD203B41FA5}">
                      <a16:colId xmlns:a16="http://schemas.microsoft.com/office/drawing/2014/main" val="4191478473"/>
                    </a:ext>
                  </a:extLst>
                </a:gridCol>
              </a:tblGrid>
              <a:tr h="475981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37" marR="91437" marT="45718" marB="45718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제품</a:t>
                      </a:r>
                    </a:p>
                  </a:txBody>
                  <a:tcPr marL="91437" marR="91437" marT="45718" marB="45718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서비스</a:t>
                      </a:r>
                    </a:p>
                  </a:txBody>
                  <a:tcPr marL="91437" marR="91437" marT="45718" marB="45718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프로세스</a:t>
                      </a:r>
                    </a:p>
                  </a:txBody>
                  <a:tcPr marL="91437" marR="91437" marT="45718" marB="45718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008128"/>
                  </a:ext>
                </a:extLst>
              </a:tr>
              <a:tr h="658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급진적 변화</a:t>
                      </a:r>
                    </a:p>
                  </a:txBody>
                  <a:tcPr marL="91437" marR="91437" marT="45718" marB="4571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대체육을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이용한 햄버거</a:t>
                      </a:r>
                    </a:p>
                  </a:txBody>
                  <a:tcPr marL="91437" marR="91437" marT="45718" marB="4571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로봇을 이용한 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메뉴 제공 서비스</a:t>
                      </a:r>
                    </a:p>
                  </a:txBody>
                  <a:tcPr marL="91437" marR="91437" marT="45718" marB="4571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레스토랑 내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스마트팜을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이용한 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채소 조달</a:t>
                      </a:r>
                    </a:p>
                  </a:txBody>
                  <a:tcPr marL="91437" marR="91437" marT="45718" marB="45718" anchor="ctr"/>
                </a:tc>
                <a:extLst>
                  <a:ext uri="{0D108BD9-81ED-4DB2-BD59-A6C34878D82A}">
                    <a16:rowId xmlns:a16="http://schemas.microsoft.com/office/drawing/2014/main" val="3732797365"/>
                  </a:ext>
                </a:extLst>
              </a:tr>
              <a:tr h="658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점진적 변화</a:t>
                      </a:r>
                    </a:p>
                  </a:txBody>
                  <a:tcPr marL="91437" marR="91437" marT="45718" marB="4571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햄버거 메뉴의 다양화</a:t>
                      </a:r>
                    </a:p>
                  </a:txBody>
                  <a:tcPr marL="91437" marR="91437" marT="45718" marB="4571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홀 종사원의 테이블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담당제</a:t>
                      </a:r>
                      <a:endParaRPr lang="ko-KR" altLang="en-US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37" marR="91437" marT="45718" marB="4571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비건식당에서 </a:t>
                      </a:r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유기농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농장에서 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식재료 조달</a:t>
                      </a:r>
                    </a:p>
                  </a:txBody>
                  <a:tcPr marL="91437" marR="91437" marT="45718" marB="45718" anchor="ctr"/>
                </a:tc>
                <a:extLst>
                  <a:ext uri="{0D108BD9-81ED-4DB2-BD59-A6C34878D82A}">
                    <a16:rowId xmlns:a16="http://schemas.microsoft.com/office/drawing/2014/main" val="688496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B95BA399-4837-4C13-8726-9BB6B193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상품 개발의 내용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935E613B-6B64-4D47-BA87-A9E463A0A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379538"/>
            <a:ext cx="11515725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(1) </a:t>
            </a:r>
            <a:r>
              <a:rPr lang="ko-KR" altLang="en-US" sz="2000" dirty="0"/>
              <a:t>첨단 기술기반 </a:t>
            </a:r>
            <a:r>
              <a:rPr lang="ko-KR" altLang="en-US" sz="2000" dirty="0" err="1"/>
              <a:t>외식서비스</a:t>
            </a:r>
            <a:r>
              <a:rPr lang="ko-KR" altLang="en-US" sz="2000" dirty="0"/>
              <a:t> 상품 개발</a:t>
            </a:r>
            <a:endParaRPr lang="en-US" altLang="ko-KR" sz="2000" dirty="0"/>
          </a:p>
          <a:p>
            <a:pPr marL="285750" indent="-285750" eaLnBrk="1" hangingPunct="1"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모바일시스템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챗봇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드론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가상현실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(VR), 3D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식품프린팅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신소재식품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활용등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푸드테크를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활용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DB140-138C-4A3E-AA81-D0CED6EC78DA}"/>
              </a:ext>
            </a:extLst>
          </p:cNvPr>
          <p:cNvSpPr txBox="1"/>
          <p:nvPr/>
        </p:nvSpPr>
        <p:spPr>
          <a:xfrm>
            <a:off x="681038" y="2316163"/>
            <a:ext cx="9586912" cy="830262"/>
          </a:xfrm>
          <a:prstGeom prst="rect">
            <a:avLst/>
          </a:prstGeom>
          <a:noFill/>
          <a:ln>
            <a:solidFill>
              <a:schemeClr val="accent4">
                <a:lumMod val="75000"/>
                <a:lumOff val="25000"/>
              </a:schemeClr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atinLnBrk="1">
              <a:lnSpc>
                <a:spcPct val="150000"/>
              </a:lnSpc>
              <a:defRPr/>
            </a:pPr>
            <a:r>
              <a:rPr lang="ko-KR" altLang="en-US" sz="1600" dirty="0" err="1">
                <a:solidFill>
                  <a:srgbClr val="005EC0"/>
                </a:solidFill>
                <a:ea typeface="서울남산 장체 M" panose="02020503020101020101"/>
              </a:rPr>
              <a:t>푸드테크</a:t>
            </a:r>
            <a:r>
              <a:rPr lang="en-US" altLang="ko-KR" sz="1600" dirty="0">
                <a:solidFill>
                  <a:srgbClr val="005EC0"/>
                </a:solidFill>
                <a:ea typeface="서울남산 장체 M" panose="02020503020101020101"/>
              </a:rPr>
              <a:t>(</a:t>
            </a:r>
            <a:r>
              <a:rPr lang="en-US" altLang="ko-KR" sz="1600" dirty="0" err="1">
                <a:solidFill>
                  <a:srgbClr val="005EC0"/>
                </a:solidFill>
                <a:ea typeface="서울남산 장체 M" panose="02020503020101020101"/>
              </a:rPr>
              <a:t>Foodtech</a:t>
            </a:r>
            <a:r>
              <a:rPr lang="en-US" altLang="ko-KR" sz="1600" dirty="0">
                <a:solidFill>
                  <a:srgbClr val="005EC0"/>
                </a:solidFill>
                <a:ea typeface="서울남산 장체 M" panose="02020503020101020101"/>
              </a:rPr>
              <a:t>): </a:t>
            </a:r>
            <a:r>
              <a:rPr lang="ko-KR" altLang="en-US" sz="1600" dirty="0">
                <a:solidFill>
                  <a:srgbClr val="005EC0"/>
                </a:solidFill>
                <a:ea typeface="서울남산 장체 M" panose="02020503020101020101"/>
              </a:rPr>
              <a:t>음식이나 식품산업에 첨단 기술</a:t>
            </a:r>
            <a:r>
              <a:rPr lang="en-US" altLang="ko-KR" sz="1600" dirty="0">
                <a:solidFill>
                  <a:srgbClr val="005EC0"/>
                </a:solidFill>
                <a:ea typeface="서울남산 장체 M" panose="02020503020101020101"/>
              </a:rPr>
              <a:t>(</a:t>
            </a:r>
            <a:r>
              <a:rPr lang="ko-KR" altLang="en-US" sz="1600" dirty="0">
                <a:solidFill>
                  <a:srgbClr val="005EC0"/>
                </a:solidFill>
                <a:ea typeface="서울남산 장체 M" panose="02020503020101020101"/>
              </a:rPr>
              <a:t>인공지능기술</a:t>
            </a:r>
            <a:r>
              <a:rPr lang="en-US" altLang="ko-KR" sz="1600" dirty="0">
                <a:solidFill>
                  <a:srgbClr val="005EC0"/>
                </a:solidFill>
                <a:ea typeface="서울남산 장체 M" panose="02020503020101020101"/>
              </a:rPr>
              <a:t>, </a:t>
            </a:r>
            <a:r>
              <a:rPr lang="ko-KR" altLang="en-US" sz="1600" dirty="0" err="1">
                <a:solidFill>
                  <a:srgbClr val="005EC0"/>
                </a:solidFill>
                <a:ea typeface="서울남산 장체 M" panose="02020503020101020101"/>
              </a:rPr>
              <a:t>바이오기술</a:t>
            </a:r>
            <a:r>
              <a:rPr lang="en-US" altLang="ko-KR" sz="1600" dirty="0">
                <a:solidFill>
                  <a:srgbClr val="005EC0"/>
                </a:solidFill>
                <a:ea typeface="서울남산 장체 M" panose="02020503020101020101"/>
              </a:rPr>
              <a:t>, </a:t>
            </a:r>
            <a:r>
              <a:rPr lang="ko-KR" altLang="en-US" sz="1600" dirty="0">
                <a:solidFill>
                  <a:srgbClr val="005EC0"/>
                </a:solidFill>
                <a:ea typeface="서울남산 장체 M" panose="02020503020101020101"/>
              </a:rPr>
              <a:t>로봇 기술 등</a:t>
            </a:r>
            <a:r>
              <a:rPr lang="en-US" altLang="ko-KR" sz="1600" dirty="0">
                <a:solidFill>
                  <a:srgbClr val="005EC0"/>
                </a:solidFill>
                <a:ea typeface="서울남산 장체 M" panose="02020503020101020101"/>
              </a:rPr>
              <a:t>)</a:t>
            </a:r>
            <a:r>
              <a:rPr lang="ko-KR" altLang="en-US" sz="1600" dirty="0">
                <a:solidFill>
                  <a:srgbClr val="005EC0"/>
                </a:solidFill>
                <a:ea typeface="서울남산 장체 M" panose="02020503020101020101"/>
              </a:rPr>
              <a:t>을 접목해 </a:t>
            </a:r>
            <a:endParaRPr lang="en-US" altLang="ko-KR" sz="1600" dirty="0">
              <a:solidFill>
                <a:srgbClr val="005EC0"/>
              </a:solidFill>
              <a:ea typeface="서울남산 장체 M" panose="02020503020101020101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rgbClr val="005EC0"/>
                </a:solidFill>
                <a:ea typeface="서울남산 장체 M" panose="02020503020101020101"/>
              </a:rPr>
              <a:t>새로운 제품을 만들어내거나 기존 제품에 부가가치를 더하는 것</a:t>
            </a:r>
          </a:p>
        </p:txBody>
      </p:sp>
      <p:pic>
        <p:nvPicPr>
          <p:cNvPr id="17413" name="Picture 9">
            <a:extLst>
              <a:ext uri="{FF2B5EF4-FFF2-40B4-BE49-F238E27FC236}">
                <a16:creationId xmlns:a16="http://schemas.microsoft.com/office/drawing/2014/main" id="{4AFE43C9-57C5-4EEF-998A-87E33F444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64" y="3429000"/>
            <a:ext cx="7907338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Box 7">
            <a:hlinkClick r:id="rId4"/>
            <a:extLst>
              <a:ext uri="{FF2B5EF4-FFF2-40B4-BE49-F238E27FC236}">
                <a16:creationId xmlns:a16="http://schemas.microsoft.com/office/drawing/2014/main" id="{46018307-371A-4BF2-9417-59370A19D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200" y="6281948"/>
            <a:ext cx="3403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ko-KR" sz="1600" b="1">
                <a:ea typeface="서울남산 장체 M" panose="02020503020101020101" pitchFamily="18" charset="-127"/>
              </a:rPr>
              <a:t>[</a:t>
            </a:r>
            <a:r>
              <a:rPr lang="ko-KR" altLang="en-US" sz="1600" b="1">
                <a:ea typeface="서울남산 장체 M" panose="02020503020101020101" pitchFamily="18" charset="-127"/>
              </a:rPr>
              <a:t>사례 </a:t>
            </a:r>
            <a:r>
              <a:rPr lang="en-US" altLang="ko-KR" sz="1600" b="1">
                <a:ea typeface="서울남산 장체 M" panose="02020503020101020101" pitchFamily="18" charset="-127"/>
              </a:rPr>
              <a:t>1 - </a:t>
            </a:r>
            <a:r>
              <a:rPr lang="ko-KR" altLang="en-US" sz="1600" b="1">
                <a:ea typeface="서울남산 장체 M" panose="02020503020101020101" pitchFamily="18" charset="-127"/>
              </a:rPr>
              <a:t>모바일 오더링</a:t>
            </a:r>
            <a:r>
              <a:rPr lang="en-US" altLang="ko-KR" sz="1600" b="1">
                <a:ea typeface="서울남산 장체 M" panose="02020503020101020101" pitchFamily="18" charset="-127"/>
              </a:rPr>
              <a:t>]</a:t>
            </a:r>
            <a:endParaRPr lang="ko-KR" altLang="en-US" sz="1600" b="1"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C9575B88-B38B-4C60-AE3C-F41B5660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상품 개발의 내용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23536FB5-DA04-4608-B0B2-37D820123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08113"/>
            <a:ext cx="11517313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타 분야 서비스 응용 및 융합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비록 다른 기업이나 타 분야에서 제공한 적이 있는 제품이나 서비스라 할지라도 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해당기업에서 기존 고객에게 제공한 적이 없는 상품을 제공하는 것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21508" name="TextBox 3">
            <a:hlinkClick r:id="rId3"/>
            <a:extLst>
              <a:ext uri="{FF2B5EF4-FFF2-40B4-BE49-F238E27FC236}">
                <a16:creationId xmlns:a16="http://schemas.microsoft.com/office/drawing/2014/main" id="{3DD083EA-C46D-4697-A8BD-FB308D94C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192463"/>
            <a:ext cx="3403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>
                <a:ea typeface="서울남산 장체 M" panose="02020503020101020101" pitchFamily="18" charset="-127"/>
              </a:rPr>
              <a:t>[</a:t>
            </a:r>
            <a:r>
              <a:rPr lang="ko-KR" altLang="en-US" sz="1600" b="1">
                <a:ea typeface="서울남산 장체 M" panose="02020503020101020101" pitchFamily="18" charset="-127"/>
              </a:rPr>
              <a:t>식품업계 </a:t>
            </a:r>
            <a:r>
              <a:rPr lang="en-US" altLang="ko-KR" sz="1600" b="1">
                <a:ea typeface="서울남산 장체 M" panose="02020503020101020101" pitchFamily="18" charset="-127"/>
              </a:rPr>
              <a:t>* </a:t>
            </a:r>
            <a:r>
              <a:rPr lang="ko-KR" altLang="en-US" sz="1600" b="1">
                <a:ea typeface="서울남산 장체 M" panose="02020503020101020101" pitchFamily="18" charset="-127"/>
              </a:rPr>
              <a:t>외식업계</a:t>
            </a:r>
            <a:r>
              <a:rPr lang="en-US" altLang="ko-KR" sz="1600" b="1">
                <a:ea typeface="서울남산 장체 M" panose="02020503020101020101" pitchFamily="18" charset="-127"/>
              </a:rPr>
              <a:t>]</a:t>
            </a:r>
            <a:endParaRPr lang="ko-KR" altLang="en-US" sz="1600" b="1">
              <a:ea typeface="서울남산 장체 M" panose="02020503020101020101" pitchFamily="18" charset="-127"/>
            </a:endParaRPr>
          </a:p>
        </p:txBody>
      </p:sp>
      <p:pic>
        <p:nvPicPr>
          <p:cNvPr id="21509" name="Picture 12">
            <a:extLst>
              <a:ext uri="{FF2B5EF4-FFF2-40B4-BE49-F238E27FC236}">
                <a16:creationId xmlns:a16="http://schemas.microsoft.com/office/drawing/2014/main" id="{CFAE4435-2617-4E7A-BC48-7DC691891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3611563"/>
            <a:ext cx="23336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13">
            <a:extLst>
              <a:ext uri="{FF2B5EF4-FFF2-40B4-BE49-F238E27FC236}">
                <a16:creationId xmlns:a16="http://schemas.microsoft.com/office/drawing/2014/main" id="{EA557F20-F69B-447F-BECB-EBE97B6677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3656013"/>
            <a:ext cx="23082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16">
            <a:extLst>
              <a:ext uri="{FF2B5EF4-FFF2-40B4-BE49-F238E27FC236}">
                <a16:creationId xmlns:a16="http://schemas.microsoft.com/office/drawing/2014/main" id="{D4544720-5A90-4E57-A186-2DCFA3BB95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3656013"/>
            <a:ext cx="15398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17">
            <a:extLst>
              <a:ext uri="{FF2B5EF4-FFF2-40B4-BE49-F238E27FC236}">
                <a16:creationId xmlns:a16="http://schemas.microsoft.com/office/drawing/2014/main" id="{45E95B8E-E516-4967-B6F0-BDE74370C7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3656013"/>
            <a:ext cx="15382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513" name="직선 연결선 2">
            <a:extLst>
              <a:ext uri="{FF2B5EF4-FFF2-40B4-BE49-F238E27FC236}">
                <a16:creationId xmlns:a16="http://schemas.microsoft.com/office/drawing/2014/main" id="{D9A4CC8A-68F4-412A-9076-49009081CD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84850" y="3727450"/>
            <a:ext cx="0" cy="20970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F8BE4C50-CE0E-4168-A98F-181B293F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상품 개발의 내용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571AC8DB-9F2C-4396-822D-4C80FC5AA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08113"/>
            <a:ext cx="11517313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타 분야 서비스 응용 및 융합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비록 다른 기업이나 타 분야에서 제공한 적이 있는 제품이나 서비스라 할지라도 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해당기업에서 기존 고객에게 제공한 적이 없는 상품을 제공하는 것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23556" name="TextBox 3">
            <a:hlinkClick r:id="rId3"/>
            <a:extLst>
              <a:ext uri="{FF2B5EF4-FFF2-40B4-BE49-F238E27FC236}">
                <a16:creationId xmlns:a16="http://schemas.microsoft.com/office/drawing/2014/main" id="{1EE62AAB-335B-4719-A255-CCDB332BF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5992813"/>
            <a:ext cx="3403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 dirty="0">
                <a:ea typeface="서울남산 장체 M" panose="02020503020101020101" pitchFamily="18" charset="-127"/>
              </a:rPr>
              <a:t>[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명품브랜드 </a:t>
            </a:r>
            <a:r>
              <a:rPr lang="en-US" altLang="ko-KR" sz="1600" b="1" dirty="0">
                <a:ea typeface="서울남산 장체 M" panose="02020503020101020101" pitchFamily="18" charset="-127"/>
              </a:rPr>
              <a:t>* 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외식업계</a:t>
            </a:r>
            <a:r>
              <a:rPr lang="en-US" altLang="ko-KR" sz="1600" b="1" dirty="0">
                <a:ea typeface="서울남산 장체 M" panose="02020503020101020101" pitchFamily="18" charset="-127"/>
              </a:rPr>
              <a:t>]</a:t>
            </a:r>
            <a:endParaRPr lang="ko-KR" altLang="en-US" sz="1600" b="1" dirty="0">
              <a:ea typeface="서울남산 장체 M" panose="02020503020101020101" pitchFamily="18" charset="-127"/>
            </a:endParaRPr>
          </a:p>
        </p:txBody>
      </p:sp>
      <p:cxnSp>
        <p:nvCxnSpPr>
          <p:cNvPr id="23557" name="직선 연결선 2">
            <a:extLst>
              <a:ext uri="{FF2B5EF4-FFF2-40B4-BE49-F238E27FC236}">
                <a16:creationId xmlns:a16="http://schemas.microsoft.com/office/drawing/2014/main" id="{17F6779F-BBBE-4DDA-916A-3ACF98F561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22963" y="3784600"/>
            <a:ext cx="0" cy="209708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558" name="Picture 20">
            <a:extLst>
              <a:ext uri="{FF2B5EF4-FFF2-40B4-BE49-F238E27FC236}">
                <a16:creationId xmlns:a16="http://schemas.microsoft.com/office/drawing/2014/main" id="{03BEA543-6439-4F55-B997-C31EB4CDA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3662363"/>
            <a:ext cx="4859338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23">
            <a:extLst>
              <a:ext uri="{FF2B5EF4-FFF2-40B4-BE49-F238E27FC236}">
                <a16:creationId xmlns:a16="http://schemas.microsoft.com/office/drawing/2014/main" id="{D3630268-70FE-4FC5-B768-9A182E42F2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3697288"/>
            <a:ext cx="26479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24">
            <a:extLst>
              <a:ext uri="{FF2B5EF4-FFF2-40B4-BE49-F238E27FC236}">
                <a16:creationId xmlns:a16="http://schemas.microsoft.com/office/drawing/2014/main" id="{4B2696ED-6B56-4DE0-9692-21007A76D1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013" y="5103813"/>
            <a:ext cx="1781175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TextBox 12">
            <a:hlinkClick r:id="rId3"/>
            <a:extLst>
              <a:ext uri="{FF2B5EF4-FFF2-40B4-BE49-F238E27FC236}">
                <a16:creationId xmlns:a16="http://schemas.microsoft.com/office/drawing/2014/main" id="{942B95E4-E6D8-4BC3-8A19-C01AFD709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863" y="5886450"/>
            <a:ext cx="340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>
                <a:ea typeface="서울남산 장체 M" panose="02020503020101020101" pitchFamily="18" charset="-127"/>
              </a:rPr>
              <a:t>[</a:t>
            </a:r>
            <a:r>
              <a:rPr lang="ko-KR" altLang="en-US" sz="1600" b="1">
                <a:ea typeface="서울남산 장체 M" panose="02020503020101020101" pitchFamily="18" charset="-127"/>
              </a:rPr>
              <a:t>아트 </a:t>
            </a:r>
            <a:r>
              <a:rPr lang="en-US" altLang="ko-KR" sz="1600" b="1">
                <a:ea typeface="서울남산 장체 M" panose="02020503020101020101" pitchFamily="18" charset="-127"/>
              </a:rPr>
              <a:t>* </a:t>
            </a:r>
            <a:r>
              <a:rPr lang="ko-KR" altLang="en-US" sz="1600" b="1">
                <a:ea typeface="서울남산 장체 M" panose="02020503020101020101" pitchFamily="18" charset="-127"/>
              </a:rPr>
              <a:t>외식업계</a:t>
            </a:r>
            <a:r>
              <a:rPr lang="en-US" altLang="ko-KR" sz="1600" b="1">
                <a:ea typeface="서울남산 장체 M" panose="02020503020101020101" pitchFamily="18" charset="-127"/>
              </a:rPr>
              <a:t>]</a:t>
            </a:r>
            <a:endParaRPr lang="ko-KR" altLang="en-US" sz="1600" b="1">
              <a:ea typeface="서울남산 장체 M" panose="020205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43C54D-156D-485D-8147-72E0A1F39D5E}"/>
              </a:ext>
            </a:extLst>
          </p:cNvPr>
          <p:cNvSpPr/>
          <p:nvPr/>
        </p:nvSpPr>
        <p:spPr>
          <a:xfrm>
            <a:off x="7918901" y="2044869"/>
            <a:ext cx="28522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7"/>
              </a:rPr>
              <a:t>https://www.exclosetshop.com/trendnews/?q=YToxOntzOjEyOiJrZXl3b3JkX3R5cGUiO3M6MzoiYWxsIjt9&amp;bmode=view&amp;idx=7067183&amp;t=board</a:t>
            </a:r>
            <a:endParaRPr lang="ko-KR" altLang="en-US" sz="1200" dirty="0"/>
          </a:p>
        </p:txBody>
      </p:sp>
      <p:sp>
        <p:nvSpPr>
          <p:cNvPr id="11" name="TextBox 3">
            <a:hlinkClick r:id="rId3"/>
            <a:extLst>
              <a:ext uri="{FF2B5EF4-FFF2-40B4-BE49-F238E27FC236}">
                <a16:creationId xmlns:a16="http://schemas.microsoft.com/office/drawing/2014/main" id="{545620D1-18B6-40B4-B296-90EA55D06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472" y="1644026"/>
            <a:ext cx="3403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 dirty="0">
                <a:ea typeface="서울남산 장체 M" panose="02020503020101020101" pitchFamily="18" charset="-127"/>
              </a:rPr>
              <a:t>[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참고</a:t>
            </a:r>
            <a:r>
              <a:rPr lang="en-US" altLang="ko-KR" sz="1600" b="1" dirty="0">
                <a:ea typeface="서울남산 장체 M" panose="02020503020101020101" pitchFamily="18" charset="-127"/>
              </a:rPr>
              <a:t>]</a:t>
            </a:r>
            <a:endParaRPr lang="ko-KR" altLang="en-US" sz="1600" b="1" dirty="0"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8B4C63F3-76FF-467D-92B4-739364A7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상품 개발의 내용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9E8390DC-1991-4EBD-ACD7-5DB6D6AF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08113"/>
            <a:ext cx="11517313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기존 시장을 위한 새로운 </a:t>
            </a:r>
            <a:r>
              <a:rPr lang="ko-KR" altLang="en-US" sz="2000" dirty="0" err="1"/>
              <a:t>외식서비스</a:t>
            </a:r>
            <a:r>
              <a:rPr lang="ko-KR" altLang="en-US" sz="2000" dirty="0"/>
              <a:t> 상품 개발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기존 상품이 제공되고 있는 타깃 고객의 동일한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니즈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변화된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니즈를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만족시키기 위한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새로운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외식서비스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상품 출시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새로운 외식 브랜드 개발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메뉴 상품 라인의 확장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외식메뉴의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구독서비스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푸드트럭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등장 등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17876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7420523D-B6DB-4BDD-A2FC-87A6B64F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상품 개발의 내용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8C8F1D08-107C-456A-9416-95E9E943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408113"/>
            <a:ext cx="5471128" cy="5248275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(4) </a:t>
            </a:r>
            <a:r>
              <a:rPr lang="ko-KR" altLang="en-US" sz="2000" dirty="0"/>
              <a:t>기존 상품의 단계적 개선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기존 메뉴나 서비스를 다양한 방법으로 변형과 수정을 가하는 것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고객들의 수용도가 높고 고객에게 신선한 경험을 제공하기에 좋은 개발 방법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재료의 변경을 통한 메뉴의 변형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대기시간 감소를 위한 서비스 라인 개선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영업시간 연장 등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8FF6EE-8441-495A-9C1B-2D76DF8D2D2D}"/>
              </a:ext>
            </a:extLst>
          </p:cNvPr>
          <p:cNvSpPr/>
          <p:nvPr/>
        </p:nvSpPr>
        <p:spPr>
          <a:xfrm>
            <a:off x="7386871" y="5476874"/>
            <a:ext cx="4183063" cy="4365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식재료 품질 향상 시스템을 통한 메뉴 개선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66333F-6DF7-47EB-B03F-F9EB60A45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586" y="1555122"/>
            <a:ext cx="5809020" cy="37477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5B19FF9B-75D1-4B20-9FC0-1B52704F2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외식서비스 상품 개발의 내용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4D199F1C-BB87-4D9E-A863-0CC3136D5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01750"/>
            <a:ext cx="5047247" cy="2074863"/>
          </a:xfrm>
        </p:spPr>
        <p:txBody>
          <a:bodyPr/>
          <a:lstStyle/>
          <a:p>
            <a:pPr eaLnBrk="1" hangingPunct="1">
              <a:spcAft>
                <a:spcPts val="1200"/>
              </a:spcAft>
              <a:defRPr/>
            </a:pPr>
            <a:r>
              <a:rPr lang="en-US" altLang="ko-KR" sz="2000" dirty="0"/>
              <a:t>(5) </a:t>
            </a:r>
            <a:r>
              <a:rPr lang="ko-KR" altLang="en-US" sz="2000" dirty="0"/>
              <a:t>스타일 변경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고객의 인식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감정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태도에 영향을 줄 수 있는 가시적 부분에 대한 변화나 업그레이드를 말함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근본적 변화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&lt;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상품 형태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스타일을 변경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유형제품의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포장 변경과 유사한 수준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기존 메뉴의 스타일링 변경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레스토랑의 인테리어 변화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브랜드 로고의 변경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종사원의 유니폼 교체 등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29700" name="TextBox 13">
            <a:hlinkClick r:id="rId3"/>
            <a:extLst>
              <a:ext uri="{FF2B5EF4-FFF2-40B4-BE49-F238E27FC236}">
                <a16:creationId xmlns:a16="http://schemas.microsoft.com/office/drawing/2014/main" id="{06454489-FB39-4696-9DDB-98C268C6B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132" y="5886400"/>
            <a:ext cx="3403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ko-KR" sz="1600" b="1" dirty="0">
                <a:ea typeface="서울남산 장체 M" panose="02020503020101020101" pitchFamily="18" charset="-127"/>
              </a:rPr>
              <a:t>[</a:t>
            </a:r>
            <a:r>
              <a:rPr lang="ko-KR" altLang="en-US" sz="1600" b="1" dirty="0" err="1">
                <a:ea typeface="서울남산 장체 M" panose="02020503020101020101" pitchFamily="18" charset="-127"/>
              </a:rPr>
              <a:t>버거킹의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 </a:t>
            </a:r>
            <a:r>
              <a:rPr lang="ko-KR" altLang="en-US" sz="1600" b="1" dirty="0" err="1">
                <a:ea typeface="서울남산 장체 M" panose="02020503020101020101" pitchFamily="18" charset="-127"/>
              </a:rPr>
              <a:t>리브랜딩</a:t>
            </a:r>
            <a:r>
              <a:rPr lang="en-US" altLang="ko-KR" sz="1600" b="1" dirty="0">
                <a:ea typeface="서울남산 장체 M" panose="02020503020101020101" pitchFamily="18" charset="-127"/>
              </a:rPr>
              <a:t>]</a:t>
            </a:r>
            <a:endParaRPr lang="ko-KR" altLang="en-US" sz="1600" b="1" dirty="0">
              <a:ea typeface="서울남산 장체 M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DAF40A-13B8-44FC-A968-7650E1624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060" y="1821514"/>
            <a:ext cx="4867275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텍스트 개체 틀 3">
            <a:extLst>
              <a:ext uri="{FF2B5EF4-FFF2-40B4-BE49-F238E27FC236}">
                <a16:creationId xmlns:a16="http://schemas.microsoft.com/office/drawing/2014/main" id="{B76057BF-A3DB-432F-865F-307A5B02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3. </a:t>
            </a:r>
            <a:r>
              <a:rPr lang="ko-KR" altLang="en-US"/>
              <a:t>외식서비스 상품 개발 프로세스</a:t>
            </a:r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FE74DE-F130-49A3-8F36-472EEC1A131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80A7A5-FFEE-4664-B1B2-C44398EC269B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4">
            <a:hlinkClick r:id="rId2"/>
            <a:extLst>
              <a:ext uri="{FF2B5EF4-FFF2-40B4-BE49-F238E27FC236}">
                <a16:creationId xmlns:a16="http://schemas.microsoft.com/office/drawing/2014/main" id="{2D57B4B8-F4E3-47A0-9892-DC8DFB56D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200" y="4494213"/>
            <a:ext cx="3403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ko-KR" sz="1600" b="1">
                <a:ea typeface="서울남산 장체 M" panose="02020503020101020101" pitchFamily="18" charset="-127"/>
              </a:rPr>
              <a:t>[</a:t>
            </a:r>
            <a:r>
              <a:rPr lang="ko-KR" altLang="en-US" sz="1600" b="1">
                <a:ea typeface="서울남산 장체 M" panose="02020503020101020101" pitchFamily="18" charset="-127"/>
              </a:rPr>
              <a:t>외식서비스 상품개발 주요 프로세스</a:t>
            </a:r>
            <a:r>
              <a:rPr lang="en-US" altLang="ko-KR" sz="1600" b="1">
                <a:ea typeface="서울남산 장체 M" panose="02020503020101020101" pitchFamily="18" charset="-127"/>
              </a:rPr>
              <a:t>]</a:t>
            </a:r>
            <a:endParaRPr lang="ko-KR" altLang="en-US" sz="1600" b="1">
              <a:ea typeface="서울남산 장체 M" panose="02020503020101020101" pitchFamily="18" charset="-127"/>
            </a:endParaRPr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047EF740-CE0D-426F-A2B5-FE58C29B31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875269"/>
              </p:ext>
            </p:extLst>
          </p:nvPr>
        </p:nvGraphicFramePr>
        <p:xfrm>
          <a:off x="2298200" y="2599082"/>
          <a:ext cx="7419218" cy="1659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A9162A0F-F47D-4EC9-9DDE-D50DED60B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57313"/>
            <a:ext cx="11517313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/>
              <a:t>고객의 </a:t>
            </a:r>
            <a:r>
              <a:rPr lang="ko-KR" altLang="en-US" sz="1800" dirty="0" err="1"/>
              <a:t>니즈</a:t>
            </a:r>
            <a:r>
              <a:rPr lang="ko-KR" altLang="en-US" sz="1800" dirty="0"/>
              <a:t> 파악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/>
              <a:t>고객 관점 </a:t>
            </a:r>
            <a:r>
              <a:rPr lang="en-US" altLang="ko-KR" sz="1800" dirty="0"/>
              <a:t>- </a:t>
            </a:r>
            <a:r>
              <a:rPr lang="ko-KR" altLang="en-US" sz="1800" dirty="0"/>
              <a:t>고객을 살펴보고</a:t>
            </a:r>
            <a:r>
              <a:rPr lang="en-US" altLang="ko-KR" sz="1800" dirty="0"/>
              <a:t>, </a:t>
            </a:r>
            <a:r>
              <a:rPr lang="ko-KR" altLang="en-US" sz="1800" dirty="0"/>
              <a:t>고객이 필요로 하는 것</a:t>
            </a:r>
            <a:r>
              <a:rPr lang="en-US" altLang="ko-KR" sz="1800" dirty="0"/>
              <a:t>, </a:t>
            </a:r>
            <a:r>
              <a:rPr lang="ko-KR" altLang="en-US" sz="1800" dirty="0"/>
              <a:t>불편과 불만족</a:t>
            </a:r>
            <a:r>
              <a:rPr lang="en-US" altLang="ko-KR" sz="1800" dirty="0"/>
              <a:t>, </a:t>
            </a:r>
            <a:r>
              <a:rPr lang="ko-KR" altLang="en-US" sz="1800" dirty="0"/>
              <a:t>해결해야 하는 문제 등 파악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2000" dirty="0"/>
              <a:t>(1) </a:t>
            </a:r>
            <a:r>
              <a:rPr lang="ko-KR" altLang="en-US" sz="2000" dirty="0"/>
              <a:t>소비자 조사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신상품 개발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기존 상품 개선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 만족도와 충성도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브랜드 인지도 등을 알아보기 위한 기업의 마케팅 조사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고객이 중요하게 생각하는 속성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각 속성별로 원하는 수준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외식업체가 제공해주어야 한다고 생각하는 수준을 찾는 것에 중점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설문 조사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표적집단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인터뷰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(focus group interview)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등의 방법 사용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35843" name="제목 2">
            <a:extLst>
              <a:ext uri="{FF2B5EF4-FFF2-40B4-BE49-F238E27FC236}">
                <a16:creationId xmlns:a16="http://schemas.microsoft.com/office/drawing/2014/main" id="{DF6C51CB-9A80-4999-9AF6-A4451B9E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고객 이해하기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70FF633B-9BED-4EA0-8588-40D532C88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57313"/>
            <a:ext cx="11517313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ko-KR" altLang="en-US" sz="1800" dirty="0"/>
              <a:t>소비자 조사를 위한 계획 수립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     </a:t>
            </a:r>
            <a:r>
              <a:rPr lang="en-US" altLang="ko-KR" sz="1800" dirty="0"/>
              <a:t>: </a:t>
            </a:r>
            <a:r>
              <a:rPr lang="ko-KR" altLang="en-US" sz="1800" dirty="0"/>
              <a:t>조사 내용 개발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ym typeface="Wingdings" panose="05000000000000000000" pitchFamily="2" charset="2"/>
              </a:rPr>
              <a:t>조사 방법 선정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ym typeface="Wingdings" panose="05000000000000000000" pitchFamily="2" charset="2"/>
              </a:rPr>
              <a:t>조사 예산 선정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ym typeface="Wingdings" panose="05000000000000000000" pitchFamily="2" charset="2"/>
              </a:rPr>
              <a:t>조사 진행 일정</a:t>
            </a: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 startAt="2"/>
              <a:defRPr/>
            </a:pPr>
            <a:r>
              <a:rPr lang="ko-KR" altLang="en-US" sz="1800" dirty="0"/>
              <a:t>소비자 조사의 유형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  : </a:t>
            </a:r>
            <a:r>
              <a:rPr lang="ko-KR" altLang="en-US" sz="1800" dirty="0"/>
              <a:t>정량적 조사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조사 결과를 수치로 요약할 수 있는 조사 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          	- </a:t>
            </a:r>
            <a:r>
              <a:rPr lang="ko-KR" altLang="en-US" sz="16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주요포인트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응답자가 전체 조사 대상을 얼마나 잘 대표하는지를 나타내는 표본의 대표성</a:t>
            </a:r>
            <a:endParaRPr lang="en-US" altLang="ko-KR" sz="16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         	-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방법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설문지를 이용한 전화 조사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 1:1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면접 조사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우편 조사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 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온라인 조사</a:t>
            </a:r>
            <a:endParaRPr lang="en-US" altLang="ko-KR" sz="16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6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  : </a:t>
            </a:r>
            <a:r>
              <a:rPr lang="ko-KR" altLang="en-US" sz="1800" dirty="0"/>
              <a:t>정성적 조사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파악하기 어려운 원인이나 이유를 알아내는데 도움이 됨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텍스트 언어로 도출되는 조사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          	-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주요 포인트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소비자가 왜 그렇게 생각하는지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행동하게 되는지에 대해 심층적으로 원인을 파악하는데 유용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          	- 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방법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심층면접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(in-depth interview), </a:t>
            </a:r>
            <a:r>
              <a:rPr lang="ko-KR" altLang="en-US" sz="16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포커스그룹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인터뷰</a:t>
            </a:r>
            <a:r>
              <a:rPr lang="en-US" altLang="ko-KR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(FGI : Focus Group Interview) </a:t>
            </a:r>
            <a:r>
              <a:rPr lang="ko-KR" altLang="en-US" sz="16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등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6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6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6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  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37891" name="제목 2">
            <a:extLst>
              <a:ext uri="{FF2B5EF4-FFF2-40B4-BE49-F238E27FC236}">
                <a16:creationId xmlns:a16="http://schemas.microsoft.com/office/drawing/2014/main" id="{6F3CB526-B7AA-4A1E-A94F-436071A0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고객 이해하기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A45CD463-FAA6-4096-B3B4-C1423E8C5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87475"/>
            <a:ext cx="11517313" cy="238601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소비자 관찰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소비자의 행동을 관찰해보는 것은 소비자 조사와 더불어 소비자의 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‘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니즈를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파악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’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하는데 매우 중요한 방법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대표적인 방법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섀도잉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(shadowing)</a:t>
            </a: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ko-KR" altLang="en-US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</a:t>
            </a:r>
            <a:endParaRPr lang="en-US" altLang="ko-KR" sz="14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</a:t>
            </a:r>
            <a:r>
              <a:rPr lang="ko-KR" altLang="en-US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소비자를 그림자처럼 따라다니면서 그의 행동이나 감정을 관찰자에게 투영하여 경험하는 방법으로 </a:t>
            </a:r>
            <a:endParaRPr lang="en-US" altLang="ko-KR" sz="14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ko-KR" altLang="en-US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행동이나 감정에 영향을 주는 특정 상황들을 파악하고</a:t>
            </a:r>
            <a:r>
              <a:rPr lang="en-US" altLang="ko-KR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문제의 해결방법이 될 수 있는 사실을 발견하기에 적합한 경험 방법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39939" name="제목 2">
            <a:extLst>
              <a:ext uri="{FF2B5EF4-FFF2-40B4-BE49-F238E27FC236}">
                <a16:creationId xmlns:a16="http://schemas.microsoft.com/office/drawing/2014/main" id="{8E802F2A-E9E2-435D-8115-501DCD46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고객 이해하기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588BE2-6984-4B20-BB05-C8FE32737CD6}"/>
              </a:ext>
            </a:extLst>
          </p:cNvPr>
          <p:cNvSpPr/>
          <p:nvPr/>
        </p:nvSpPr>
        <p:spPr bwMode="auto">
          <a:xfrm>
            <a:off x="998538" y="3144838"/>
            <a:ext cx="9058275" cy="785812"/>
          </a:xfrm>
          <a:prstGeom prst="rect">
            <a:avLst/>
          </a:prstGeom>
          <a:noFill/>
          <a:ln w="9525" cap="flat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56A2A291-D725-482B-A03E-18872B8A9AFD}"/>
              </a:ext>
            </a:extLst>
          </p:cNvPr>
          <p:cNvSpPr/>
          <p:nvPr/>
        </p:nvSpPr>
        <p:spPr bwMode="auto">
          <a:xfrm>
            <a:off x="6738938" y="4492625"/>
            <a:ext cx="3543300" cy="1792288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447675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2" eaLnBrk="1" latinLnBrk="1" hangingPunct="1">
              <a:lnSpc>
                <a:spcPct val="150000"/>
              </a:lnSpc>
              <a:spcBef>
                <a:spcPct val="20000"/>
              </a:spcBef>
              <a:buClr>
                <a:srgbClr val="003366"/>
              </a:buClr>
            </a:pPr>
            <a:r>
              <a:rPr lang="en-US" altLang="ko-KR" sz="1400">
                <a:solidFill>
                  <a:srgbClr val="003366"/>
                </a:solidFill>
                <a:ea typeface="서울남산 장체 L" panose="02020503020101020101" pitchFamily="18" charset="-127"/>
              </a:rPr>
              <a:t>[</a:t>
            </a:r>
            <a:r>
              <a:rPr lang="ko-KR" altLang="en-US" sz="1400">
                <a:solidFill>
                  <a:srgbClr val="003366"/>
                </a:solidFill>
                <a:ea typeface="서울남산 장체 L" panose="02020503020101020101" pitchFamily="18" charset="-127"/>
              </a:rPr>
              <a:t>진행 시 주요 포인트</a:t>
            </a:r>
            <a:r>
              <a:rPr lang="en-US" altLang="ko-KR" sz="1400">
                <a:solidFill>
                  <a:srgbClr val="003366"/>
                </a:solidFill>
                <a:ea typeface="서울남산 장체 L" panose="02020503020101020101" pitchFamily="18" charset="-127"/>
              </a:rPr>
              <a:t>]</a:t>
            </a:r>
          </a:p>
          <a:p>
            <a:pPr lvl="2" eaLnBrk="1" latinLnBrk="1" hangingPunct="1">
              <a:lnSpc>
                <a:spcPct val="150000"/>
              </a:lnSpc>
              <a:spcBef>
                <a:spcPct val="20000"/>
              </a:spcBef>
              <a:buClr>
                <a:srgbClr val="003366"/>
              </a:buClr>
              <a:buFontTx/>
              <a:buAutoNum type="circleNumDbPlain"/>
            </a:pPr>
            <a:r>
              <a:rPr lang="ko-KR" altLang="en-US" sz="1400">
                <a:solidFill>
                  <a:srgbClr val="003366"/>
                </a:solidFill>
                <a:ea typeface="서울남산 장체 L" panose="02020503020101020101" pitchFamily="18" charset="-127"/>
              </a:rPr>
              <a:t>관찰 태도</a:t>
            </a:r>
            <a:endParaRPr lang="en-US" altLang="ko-KR" sz="1400">
              <a:solidFill>
                <a:srgbClr val="003366"/>
              </a:solidFill>
              <a:ea typeface="서울남산 장체 L" panose="02020503020101020101" pitchFamily="18" charset="-127"/>
            </a:endParaRPr>
          </a:p>
          <a:p>
            <a:pPr lvl="2" eaLnBrk="1" latinLnBrk="1" hangingPunct="1">
              <a:lnSpc>
                <a:spcPct val="150000"/>
              </a:lnSpc>
              <a:spcBef>
                <a:spcPct val="20000"/>
              </a:spcBef>
              <a:buClr>
                <a:srgbClr val="003366"/>
              </a:buClr>
              <a:buFontTx/>
              <a:buAutoNum type="circleNumDbPlain"/>
            </a:pPr>
            <a:r>
              <a:rPr lang="ko-KR" altLang="en-US" sz="1400">
                <a:solidFill>
                  <a:srgbClr val="003366"/>
                </a:solidFill>
                <a:ea typeface="서울남산 장체 L" panose="02020503020101020101" pitchFamily="18" charset="-127"/>
              </a:rPr>
              <a:t>관찰 포인트</a:t>
            </a:r>
            <a:endParaRPr lang="en-US" altLang="ko-KR" sz="1400">
              <a:solidFill>
                <a:srgbClr val="003366"/>
              </a:solidFill>
              <a:ea typeface="서울남산 장체 L" panose="02020503020101020101" pitchFamily="18" charset="-127"/>
            </a:endParaRPr>
          </a:p>
          <a:p>
            <a:pPr lvl="2" eaLnBrk="1" latinLnBrk="1" hangingPunct="1">
              <a:lnSpc>
                <a:spcPct val="150000"/>
              </a:lnSpc>
              <a:spcBef>
                <a:spcPct val="20000"/>
              </a:spcBef>
              <a:buClr>
                <a:srgbClr val="003366"/>
              </a:buClr>
              <a:buFontTx/>
              <a:buAutoNum type="circleNumDbPlain"/>
            </a:pPr>
            <a:r>
              <a:rPr lang="ko-KR" altLang="en-US" sz="1400">
                <a:solidFill>
                  <a:srgbClr val="003366"/>
                </a:solidFill>
                <a:ea typeface="서울남산 장체 L" panose="02020503020101020101" pitchFamily="18" charset="-127"/>
              </a:rPr>
              <a:t>관찰 프레임</a:t>
            </a:r>
            <a:r>
              <a:rPr lang="en-US" altLang="ko-KR" sz="1400">
                <a:solidFill>
                  <a:srgbClr val="003366"/>
                </a:solidFill>
                <a:ea typeface="서울남산 장체 L" panose="02020503020101020101" pitchFamily="18" charset="-127"/>
              </a:rPr>
              <a:t>(frame)</a:t>
            </a:r>
            <a:endParaRPr lang="en-US" altLang="ko-KR">
              <a:solidFill>
                <a:srgbClr val="005EC0"/>
              </a:solidFill>
              <a:ea typeface="서울남산 장체 L" panose="02020503020101020101" pitchFamily="18" charset="-127"/>
            </a:endParaRPr>
          </a:p>
          <a:p>
            <a:pPr eaLnBrk="1" hangingPunct="1"/>
            <a:endParaRPr lang="ko-KR" altLang="en-US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39942" name="Picture 6" descr="Design Thinking: Shareholders to 5 Why&amp;#39;s | StartUs Magazine">
            <a:extLst>
              <a:ext uri="{FF2B5EF4-FFF2-40B4-BE49-F238E27FC236}">
                <a16:creationId xmlns:a16="http://schemas.microsoft.com/office/drawing/2014/main" id="{2DB1CF0F-56D0-4DED-BDF1-793412765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4354513"/>
            <a:ext cx="2651125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28292DE2-32D9-4978-85E8-2B934030E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613" y="1387475"/>
            <a:ext cx="11517312" cy="24717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소비자 경험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소비자의 요구를 파악할 수 있는 가장 효과적인 방법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직접 소비자가 되어보는 것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서비스 사파리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(service safari)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를 활용</a:t>
            </a: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ko-KR" altLang="en-US" sz="14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서비스 사파리의 진행 절차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41987" name="제목 2">
            <a:extLst>
              <a:ext uri="{FF2B5EF4-FFF2-40B4-BE49-F238E27FC236}">
                <a16:creationId xmlns:a16="http://schemas.microsoft.com/office/drawing/2014/main" id="{8A54CED8-A6CF-42B1-ACD3-948F535F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고객 이해하기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20F8553-5272-451D-9EC0-828B1F73D9A1}"/>
              </a:ext>
            </a:extLst>
          </p:cNvPr>
          <p:cNvGraphicFramePr>
            <a:graphicFrameLocks noGrp="1"/>
          </p:cNvGraphicFramePr>
          <p:nvPr/>
        </p:nvGraphicFramePr>
        <p:xfrm>
          <a:off x="487363" y="4178300"/>
          <a:ext cx="10018712" cy="2378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4161">
                  <a:extLst>
                    <a:ext uri="{9D8B030D-6E8A-4147-A177-3AD203B41FA5}">
                      <a16:colId xmlns:a16="http://schemas.microsoft.com/office/drawing/2014/main" val="931124580"/>
                    </a:ext>
                  </a:extLst>
                </a:gridCol>
                <a:gridCol w="7154551">
                  <a:extLst>
                    <a:ext uri="{9D8B030D-6E8A-4147-A177-3AD203B41FA5}">
                      <a16:colId xmlns:a16="http://schemas.microsoft.com/office/drawing/2014/main" val="289027786"/>
                    </a:ext>
                  </a:extLst>
                </a:gridCol>
              </a:tblGrid>
              <a:tr h="368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구분</a:t>
                      </a:r>
                    </a:p>
                  </a:txBody>
                  <a:tcPr marL="91441" marR="91441" marT="42462" marB="42462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내용</a:t>
                      </a:r>
                    </a:p>
                  </a:txBody>
                  <a:tcPr marL="91441" marR="91441" marT="42462" marB="42462"/>
                </a:tc>
                <a:extLst>
                  <a:ext uri="{0D108BD9-81ED-4DB2-BD59-A6C34878D82A}">
                    <a16:rowId xmlns:a16="http://schemas.microsoft.com/office/drawing/2014/main" val="2300094016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1. </a:t>
                      </a:r>
                      <a:r>
                        <a:rPr lang="ko-KR" altLang="en-US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체험 상황 및 환경 선정</a:t>
                      </a:r>
                    </a:p>
                  </a:txBody>
                  <a:tcPr marL="91441" marR="91441" marT="42462" marB="42462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문제발생 서비스프로세스 시점 전후로 직접 서비스를 체험하며 조사할 사항들 결정</a:t>
                      </a:r>
                    </a:p>
                  </a:txBody>
                  <a:tcPr marL="91441" marR="91441" marT="42462" marB="42462" anchor="ctr"/>
                </a:tc>
                <a:extLst>
                  <a:ext uri="{0D108BD9-81ED-4DB2-BD59-A6C34878D82A}">
                    <a16:rowId xmlns:a16="http://schemas.microsoft.com/office/drawing/2014/main" val="96670665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2. </a:t>
                      </a:r>
                      <a:r>
                        <a:rPr lang="ko-KR" altLang="en-US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고객 행동 예측</a:t>
                      </a:r>
                    </a:p>
                  </a:txBody>
                  <a:tcPr marL="91441" marR="91441" marT="42462" marB="42462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문제 상황에 따라 예상되는 고객의 행동 예측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돌발상황에 대응할 주의사항 검토</a:t>
                      </a:r>
                    </a:p>
                  </a:txBody>
                  <a:tcPr marL="91441" marR="91441" marT="42462" marB="42462" anchor="ctr"/>
                </a:tc>
                <a:extLst>
                  <a:ext uri="{0D108BD9-81ED-4DB2-BD59-A6C34878D82A}">
                    <a16:rowId xmlns:a16="http://schemas.microsoft.com/office/drawing/2014/main" val="3426427257"/>
                  </a:ext>
                </a:extLst>
              </a:tr>
              <a:tr h="5377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3. </a:t>
                      </a:r>
                      <a:r>
                        <a:rPr lang="ko-KR" altLang="en-US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서비스 사파리 진행</a:t>
                      </a:r>
                    </a:p>
                  </a:txBody>
                  <a:tcPr marL="91441" marR="91441" marT="42462" marB="42462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조사자는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최대한 다른 고객들에게 영향을 주지 않도록 행동하며 녹화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사진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메모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기록함</a:t>
                      </a:r>
                    </a:p>
                  </a:txBody>
                  <a:tcPr marL="91441" marR="91441" marT="42462" marB="42462" anchor="ctr"/>
                </a:tc>
                <a:extLst>
                  <a:ext uri="{0D108BD9-81ED-4DB2-BD59-A6C34878D82A}">
                    <a16:rowId xmlns:a16="http://schemas.microsoft.com/office/drawing/2014/main" val="2933381222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4. </a:t>
                      </a:r>
                      <a:r>
                        <a:rPr lang="ko-KR" altLang="en-US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관찰 내용의 정리와 공유</a:t>
                      </a:r>
                    </a:p>
                  </a:txBody>
                  <a:tcPr marL="91441" marR="91441" marT="42462" marB="42462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내용을 정리하고 팀원들과 </a:t>
                      </a:r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공유활동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진행</a:t>
                      </a:r>
                    </a:p>
                  </a:txBody>
                  <a:tcPr marL="91441" marR="91441" marT="42462" marB="42462" anchor="ctr"/>
                </a:tc>
                <a:extLst>
                  <a:ext uri="{0D108BD9-81ED-4DB2-BD59-A6C34878D82A}">
                    <a16:rowId xmlns:a16="http://schemas.microsoft.com/office/drawing/2014/main" val="3397584961"/>
                  </a:ext>
                </a:extLst>
              </a:tr>
              <a:tr h="368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              [</a:t>
                      </a:r>
                      <a:r>
                        <a:rPr lang="ko-KR" altLang="en-US" sz="1500" b="1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주의점</a:t>
                      </a:r>
                      <a:r>
                        <a:rPr lang="en-US" altLang="ko-KR" sz="1500" b="1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]</a:t>
                      </a:r>
                      <a:endParaRPr lang="ko-KR" altLang="en-US" sz="15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41" marR="91441" marT="42462" marB="42462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고객체험을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하는 </a:t>
                      </a:r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조사자와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이를 관찰 기록하는 조사자 등 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2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명의 </a:t>
                      </a:r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조사팀을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구성</a:t>
                      </a:r>
                    </a:p>
                  </a:txBody>
                  <a:tcPr marL="91441" marR="91441" marT="42462" marB="42462" anchor="ctr"/>
                </a:tc>
                <a:extLst>
                  <a:ext uri="{0D108BD9-81ED-4DB2-BD59-A6C34878D82A}">
                    <a16:rowId xmlns:a16="http://schemas.microsoft.com/office/drawing/2014/main" val="216976554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3E5A6271-2A66-434A-880E-FB30964EADBC}"/>
              </a:ext>
            </a:extLst>
          </p:cNvPr>
          <p:cNvSpPr/>
          <p:nvPr/>
        </p:nvSpPr>
        <p:spPr>
          <a:xfrm>
            <a:off x="4322763" y="2570163"/>
            <a:ext cx="6096000" cy="7381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latinLnBrk="1" hangingPunct="1">
              <a:lnSpc>
                <a:spcPct val="150000"/>
              </a:lnSpc>
              <a:spcBef>
                <a:spcPct val="20000"/>
              </a:spcBef>
              <a:buClr>
                <a:srgbClr val="002A56">
                  <a:lumMod val="75000"/>
                  <a:lumOff val="25000"/>
                </a:srgbClr>
              </a:buClr>
              <a:defRPr/>
            </a:pPr>
            <a:r>
              <a:rPr lang="ko-KR" altLang="en-US" sz="1400" b="1" dirty="0">
                <a:solidFill>
                  <a:srgbClr val="002A56">
                    <a:lumMod val="75000"/>
                    <a:lumOff val="25000"/>
                  </a:srgbClr>
                </a:solidFill>
                <a:ea typeface="서울남산 장체 M" panose="02020503020101020101" pitchFamily="18" charset="-127"/>
              </a:rPr>
              <a:t>조사자가 직접 서비스를 체험해 봄으로써 고객 관점에서 문제점이나 </a:t>
            </a:r>
            <a:r>
              <a:rPr lang="ko-KR" altLang="en-US" sz="1400" b="1" dirty="0" err="1">
                <a:solidFill>
                  <a:srgbClr val="002A56">
                    <a:lumMod val="75000"/>
                    <a:lumOff val="25000"/>
                  </a:srgbClr>
                </a:solidFill>
                <a:ea typeface="서울남산 장체 M" panose="02020503020101020101" pitchFamily="18" charset="-127"/>
              </a:rPr>
              <a:t>니즈를</a:t>
            </a:r>
            <a:r>
              <a:rPr lang="ko-KR" altLang="en-US" sz="1400" b="1" dirty="0">
                <a:solidFill>
                  <a:srgbClr val="002A56">
                    <a:lumMod val="75000"/>
                    <a:lumOff val="25000"/>
                  </a:srgbClr>
                </a:solidFill>
                <a:ea typeface="서울남산 장체 M" panose="02020503020101020101" pitchFamily="18" charset="-127"/>
              </a:rPr>
              <a:t> 파악하는 방법으로 문제 발견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BCF0B0DB-9107-4CE2-8079-B3E7A1F8F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50" y="1358900"/>
            <a:ext cx="11517313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/>
              <a:t>소비자 조사를 통해 수집된 자료를 통하여 소비자의 </a:t>
            </a:r>
            <a:r>
              <a:rPr lang="ko-KR" altLang="en-US" sz="1800" dirty="0" err="1"/>
              <a:t>니즈나</a:t>
            </a:r>
            <a:r>
              <a:rPr lang="ko-KR" altLang="en-US" sz="1800" dirty="0"/>
              <a:t> 문제를 파악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/>
              <a:t>주요 고객들의 행동이 내포하고 있는 코드를 찾아내는 것이 매우 중요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r>
              <a:rPr lang="en-US" altLang="ko-KR" sz="1800" dirty="0" err="1"/>
              <a:t>Almquist</a:t>
            </a:r>
            <a:r>
              <a:rPr lang="en-US" altLang="ko-KR" sz="1800" dirty="0"/>
              <a:t> A </a:t>
            </a:r>
            <a:r>
              <a:rPr lang="ko-KR" altLang="en-US" sz="1800" dirty="0"/>
              <a:t>등</a:t>
            </a:r>
            <a:r>
              <a:rPr lang="en-US" altLang="ko-KR" sz="1800" dirty="0"/>
              <a:t>(2016)</a:t>
            </a:r>
            <a:r>
              <a:rPr lang="ko-KR" altLang="en-US" sz="1800" dirty="0"/>
              <a:t>이 제시한 소비자 가치 피라미드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44035" name="제목 2">
            <a:extLst>
              <a:ext uri="{FF2B5EF4-FFF2-40B4-BE49-F238E27FC236}">
                <a16:creationId xmlns:a16="http://schemas.microsoft.com/office/drawing/2014/main" id="{85641276-0A78-461B-A6CF-9E27CDE7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소비자의 니즈 또는 문제 파악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90AD394-FCD4-4853-B453-20B5589FB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814771"/>
              </p:ext>
            </p:extLst>
          </p:nvPr>
        </p:nvGraphicFramePr>
        <p:xfrm>
          <a:off x="488950" y="3429000"/>
          <a:ext cx="10888663" cy="23082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2438">
                  <a:extLst>
                    <a:ext uri="{9D8B030D-6E8A-4147-A177-3AD203B41FA5}">
                      <a16:colId xmlns:a16="http://schemas.microsoft.com/office/drawing/2014/main" val="495574152"/>
                    </a:ext>
                  </a:extLst>
                </a:gridCol>
                <a:gridCol w="8996225">
                  <a:extLst>
                    <a:ext uri="{9D8B030D-6E8A-4147-A177-3AD203B41FA5}">
                      <a16:colId xmlns:a16="http://schemas.microsoft.com/office/drawing/2014/main" val="281344589"/>
                    </a:ext>
                  </a:extLst>
                </a:gridCol>
              </a:tblGrid>
              <a:tr h="406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가치영역</a:t>
                      </a:r>
                      <a:endParaRPr lang="ko-KR" altLang="en-US" sz="15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세부 가치</a:t>
                      </a: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68677294"/>
                  </a:ext>
                </a:extLst>
              </a:tr>
              <a:tr h="406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사회영향</a:t>
                      </a:r>
                      <a:endParaRPr lang="ko-KR" altLang="en-US" sz="15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자기 초월</a:t>
                      </a: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658645"/>
                  </a:ext>
                </a:extLst>
              </a:tr>
              <a:tr h="406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생활변화</a:t>
                      </a:r>
                      <a:endParaRPr lang="ko-KR" altLang="en-US" sz="1500" b="1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희망제공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자아실현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동기부여 장기 자산관리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소속감</a:t>
                      </a: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99546840"/>
                  </a:ext>
                </a:extLst>
              </a:tr>
              <a:tr h="5445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감정</a:t>
                      </a: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긴장 완화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자기 보상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향수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심미성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, </a:t>
                      </a:r>
                      <a:r>
                        <a:rPr lang="ko-KR" altLang="en-US" sz="15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뱃지</a:t>
                      </a:r>
                      <a:r>
                        <a:rPr lang="ko-KR" altLang="en-US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가치</a:t>
                      </a:r>
                      <a:r>
                        <a:rPr lang="en-US" altLang="ko-KR" sz="15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(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badge value),</a:t>
                      </a:r>
                      <a:r>
                        <a:rPr lang="en-US" altLang="ko-KR" sz="1500" kern="1200" baseline="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웰빙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치유적 가치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재미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매력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접근성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)</a:t>
                      </a:r>
                      <a:endParaRPr lang="ko-KR" altLang="en-US" sz="1500" kern="1200" dirty="0">
                        <a:solidFill>
                          <a:schemeClr val="tx1"/>
                        </a:solidFill>
                        <a:effectLst/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  <a:cs typeface="+mn-cs"/>
                      </a:endParaRPr>
                    </a:p>
                    <a:p>
                      <a:pPr latinLnBrk="1"/>
                      <a:endParaRPr lang="ko-KR" altLang="en-US" sz="15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43032168"/>
                  </a:ext>
                </a:extLst>
              </a:tr>
              <a:tr h="5444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기능</a:t>
                      </a: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시간절약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단순화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수입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위험감소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정리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통합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연결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 err="1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노력절감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번거로움 감소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비용절감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품질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다양성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감각적 매력</a:t>
                      </a:r>
                      <a:r>
                        <a:rPr lang="en-US" altLang="ko-KR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  <a:cs typeface="+mn-cs"/>
                        </a:rPr>
                        <a:t>정보</a:t>
                      </a:r>
                    </a:p>
                  </a:txBody>
                  <a:tcPr marL="91438" marR="91438" marT="42990" marB="42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84770060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954EF1B9-8124-4D25-B947-E3FAD14C295E}"/>
              </a:ext>
            </a:extLst>
          </p:cNvPr>
          <p:cNvSpPr/>
          <p:nvPr/>
        </p:nvSpPr>
        <p:spPr>
          <a:xfrm>
            <a:off x="7526338" y="1971675"/>
            <a:ext cx="4056062" cy="12001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600" dirty="0">
                <a:ea typeface="서울남산 장체 M" panose="02020503020101020101"/>
              </a:rPr>
              <a:t>code: </a:t>
            </a:r>
            <a:r>
              <a:rPr lang="ko-KR" altLang="en-US" sz="1600" dirty="0">
                <a:ea typeface="서울남산 장체 M" panose="02020503020101020101"/>
              </a:rPr>
              <a:t>특정 문화</a:t>
            </a:r>
            <a:r>
              <a:rPr lang="en-US" altLang="ko-KR" sz="1600" dirty="0">
                <a:ea typeface="서울남산 장체 M" panose="02020503020101020101"/>
              </a:rPr>
              <a:t>, </a:t>
            </a:r>
            <a:r>
              <a:rPr lang="ko-KR" altLang="en-US" sz="1600" dirty="0">
                <a:ea typeface="서울남산 장체 M" panose="02020503020101020101"/>
              </a:rPr>
              <a:t>사회 또는 계층에서 공통적으로 가지고 있는 인식으로 사람들의 행동을 규정하는 중요한 요인으로 작용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BD79F3-0FA2-4F2B-B78F-73793D4AAC20}"/>
              </a:ext>
            </a:extLst>
          </p:cNvPr>
          <p:cNvSpPr/>
          <p:nvPr/>
        </p:nvSpPr>
        <p:spPr>
          <a:xfrm>
            <a:off x="737937" y="596084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>
                <a:hlinkClick r:id="rId3"/>
              </a:rPr>
              <a:t>https://www.bain.com/insights/eov-b2c-infographic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977159D1-3268-4C73-A5F4-79FD38474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57313"/>
            <a:ext cx="11517313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ko-KR" sz="2000" dirty="0"/>
              <a:t>(1) </a:t>
            </a:r>
            <a:r>
              <a:rPr lang="ko-KR" altLang="en-US" sz="2000" dirty="0"/>
              <a:t>아이디어 발굴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문제 해결을 위한 최적 방안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다양한 아이디어 도출에서 출발함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522288" lvl="1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 대면 종사원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소비자 조사 담당 종사원의 고객 의견 제시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고객 관점으로 제안하는 종사원 등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아이데이션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(ideation)</a:t>
            </a:r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	-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다양한 아이디어를 도출하기 위한 과정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  <a:buClr>
                <a:schemeClr val="accent4">
                  <a:lumMod val="75000"/>
                  <a:lumOff val="25000"/>
                </a:schemeClr>
              </a:buClr>
              <a:defRPr/>
            </a:pP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-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새로운 아이디어를 생성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(generating),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발전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(developing),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소통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(communication)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하는 과정</a:t>
            </a:r>
          </a:p>
          <a:p>
            <a:pPr>
              <a:defRPr/>
            </a:pP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           -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발상의 전환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유연한 사고</a:t>
            </a:r>
            <a:r>
              <a:rPr lang="en-US" altLang="ko-KR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타 분야와의 연결 등 창의적 마인드로 접근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b="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46083" name="제목 2">
            <a:extLst>
              <a:ext uri="{FF2B5EF4-FFF2-40B4-BE49-F238E27FC236}">
                <a16:creationId xmlns:a16="http://schemas.microsoft.com/office/drawing/2014/main" id="{4CB74DA7-F05A-4E39-AD48-8228456D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해결방안 만들기와 제공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8CC25-3C0D-498D-B0D4-407D0A39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8DCE52-8557-4DC8-9CA9-D3C3B5E2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43" y="1203860"/>
            <a:ext cx="5067300" cy="51625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1E46FF-CF57-4154-804C-DDB0F936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97" y="1702068"/>
            <a:ext cx="50863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77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7CF90EBC-1E63-46D3-A892-CD9A090D4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57313"/>
            <a:ext cx="11517313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ko-KR" sz="2000" dirty="0"/>
              <a:t>(2) </a:t>
            </a:r>
            <a:r>
              <a:rPr lang="ko-KR" altLang="en-US" sz="2000" dirty="0"/>
              <a:t>아이디어의 </a:t>
            </a:r>
            <a:r>
              <a:rPr lang="ko-KR" altLang="en-US" sz="2000" dirty="0" err="1"/>
              <a:t>콘셉트화</a:t>
            </a:r>
            <a:endParaRPr lang="en-US" altLang="ko-KR" sz="2000" dirty="0"/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아이디어를 고객에게 제공될 상품의 형태로 가시화하고 이에 대한 구체적인 기술하는 것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콘셉트의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진행시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고려사항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2000" dirty="0"/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2000" dirty="0"/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2000" dirty="0"/>
          </a:p>
          <a:p>
            <a:pPr marL="636588" lvl="1" indent="-457200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buFont typeface="+mj-ea"/>
              <a:buAutoNum type="circleNumDbPlain"/>
              <a:defRPr/>
            </a:pPr>
            <a:r>
              <a:rPr lang="ko-KR" altLang="en-US" sz="1800" b="1" dirty="0"/>
              <a:t>아이디어 연결</a:t>
            </a:r>
            <a:endParaRPr lang="en-US" altLang="ko-KR" sz="1800" b="1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  </a:t>
            </a:r>
            <a:r>
              <a:rPr lang="ko-KR" altLang="en-US" sz="1800" dirty="0"/>
              <a:t>도출된 아이디어를 조합하고 정리하여 해결방안을 만드는 과정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800" dirty="0"/>
              <a:t>     </a:t>
            </a:r>
            <a:r>
              <a:rPr lang="ko-KR" altLang="en-US" sz="1800" dirty="0"/>
              <a:t>유사한 아이디어를 </a:t>
            </a:r>
            <a:r>
              <a:rPr lang="ko-KR" altLang="en-US" sz="1800" dirty="0" err="1"/>
              <a:t>그룹핑하여</a:t>
            </a:r>
            <a:r>
              <a:rPr lang="ko-KR" altLang="en-US" sz="1800" dirty="0"/>
              <a:t> 의미를 파악하고</a:t>
            </a:r>
            <a:r>
              <a:rPr lang="en-US" altLang="ko-KR" sz="1800" dirty="0"/>
              <a:t>,</a:t>
            </a:r>
            <a:r>
              <a:rPr lang="ko-KR" altLang="en-US" sz="1800" dirty="0"/>
              <a:t> 아이디어를 융합하고 정리하여 아이디어를 확장하는 것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48131" name="제목 2">
            <a:extLst>
              <a:ext uri="{FF2B5EF4-FFF2-40B4-BE49-F238E27FC236}">
                <a16:creationId xmlns:a16="http://schemas.microsoft.com/office/drawing/2014/main" id="{F42A6166-53A3-4E7D-9670-A51EB08E7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해결방안 만들기와 제공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180C396-2F73-41B8-A9E2-88E4ABF9A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331200"/>
              </p:ext>
            </p:extLst>
          </p:nvPr>
        </p:nvGraphicFramePr>
        <p:xfrm>
          <a:off x="3320465" y="2517775"/>
          <a:ext cx="4806950" cy="1222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584">
                  <a:extLst>
                    <a:ext uri="{9D8B030D-6E8A-4147-A177-3AD203B41FA5}">
                      <a16:colId xmlns:a16="http://schemas.microsoft.com/office/drawing/2014/main" val="1244597350"/>
                    </a:ext>
                  </a:extLst>
                </a:gridCol>
                <a:gridCol w="4171366">
                  <a:extLst>
                    <a:ext uri="{9D8B030D-6E8A-4147-A177-3AD203B41FA5}">
                      <a16:colId xmlns:a16="http://schemas.microsoft.com/office/drawing/2014/main" val="2579933262"/>
                    </a:ext>
                  </a:extLst>
                </a:gridCol>
              </a:tblGrid>
              <a:tr h="2605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방법</a:t>
                      </a:r>
                    </a:p>
                  </a:txBody>
                  <a:tcPr marL="91456" marR="91456" marT="38888" marB="388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신상품을 활용하는 방법</a:t>
                      </a:r>
                    </a:p>
                  </a:txBody>
                  <a:tcPr marL="91456" marR="91456" marT="38888" marB="38888"/>
                </a:tc>
                <a:extLst>
                  <a:ext uri="{0D108BD9-81ED-4DB2-BD59-A6C34878D82A}">
                    <a16:rowId xmlns:a16="http://schemas.microsoft.com/office/drawing/2014/main" val="2866024753"/>
                  </a:ext>
                </a:extLst>
              </a:tr>
              <a:tr h="2605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경험</a:t>
                      </a:r>
                    </a:p>
                  </a:txBody>
                  <a:tcPr marL="91456" marR="91456" marT="38888" marB="388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신상품으로부터 얻는 고객의 직접적 경험</a:t>
                      </a:r>
                    </a:p>
                  </a:txBody>
                  <a:tcPr marL="91456" marR="91456" marT="38888" marB="38888"/>
                </a:tc>
                <a:extLst>
                  <a:ext uri="{0D108BD9-81ED-4DB2-BD59-A6C34878D82A}">
                    <a16:rowId xmlns:a16="http://schemas.microsoft.com/office/drawing/2014/main" val="4246945011"/>
                  </a:ext>
                </a:extLst>
              </a:tr>
              <a:tr h="4407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결과물</a:t>
                      </a:r>
                    </a:p>
                  </a:txBody>
                  <a:tcPr marL="91456" marR="91456" marT="38888" marB="388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신상품 이용 경험에서 오는 효용</a:t>
                      </a:r>
                      <a:r>
                        <a:rPr lang="en-US" altLang="ko-KR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(benefit)</a:t>
                      </a:r>
                      <a:r>
                        <a:rPr lang="en-US" altLang="ko-KR" sz="1200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</a:t>
                      </a:r>
                      <a:r>
                        <a:rPr lang="ko-KR" altLang="en-US" sz="1200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또는 결과</a:t>
                      </a:r>
                      <a:endParaRPr lang="ko-KR" altLang="en-US" sz="12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56" marR="91456" marT="38888" marB="38888"/>
                </a:tc>
                <a:extLst>
                  <a:ext uri="{0D108BD9-81ED-4DB2-BD59-A6C34878D82A}">
                    <a16:rowId xmlns:a16="http://schemas.microsoft.com/office/drawing/2014/main" val="4035929348"/>
                  </a:ext>
                </a:extLst>
              </a:tr>
              <a:tr h="2605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가치</a:t>
                      </a:r>
                    </a:p>
                  </a:txBody>
                  <a:tcPr marL="91456" marR="91456" marT="38888" marB="388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비용 대비 획득된 고객 효용에</a:t>
                      </a:r>
                      <a:r>
                        <a:rPr lang="ko-KR" altLang="en-US" sz="1200" baseline="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 대한 인식</a:t>
                      </a:r>
                      <a:endParaRPr lang="ko-KR" altLang="en-US" sz="12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56" marR="91456" marT="38888" marB="38888"/>
                </a:tc>
                <a:extLst>
                  <a:ext uri="{0D108BD9-81ED-4DB2-BD59-A6C34878D82A}">
                    <a16:rowId xmlns:a16="http://schemas.microsoft.com/office/drawing/2014/main" val="6510454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0195D1CB-877B-4FDF-983F-5F838FF3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3" y="1414463"/>
            <a:ext cx="11517312" cy="5248275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endParaRPr lang="en-US" altLang="ko-KR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buFont typeface="+mj-ea"/>
              <a:buAutoNum type="circleNumDbPlain" startAt="2"/>
              <a:defRPr/>
            </a:pPr>
            <a:endParaRPr lang="en-US" altLang="ko-KR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buFont typeface="+mj-ea"/>
              <a:buAutoNum type="circleNumDbPlain" startAt="2"/>
              <a:defRPr/>
            </a:pPr>
            <a:endParaRPr lang="en-US" altLang="ko-KR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buFont typeface="+mj-ea"/>
              <a:buAutoNum type="circleNumDbPlain" startAt="2"/>
              <a:defRPr/>
            </a:pPr>
            <a:r>
              <a:rPr lang="ko-KR" altLang="en-US" sz="1800" b="1" dirty="0"/>
              <a:t>콘셉트 구체화</a:t>
            </a: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r>
              <a:rPr lang="en-US" altLang="ko-KR" sz="1800" b="1" dirty="0"/>
              <a:t> 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아이디어 연결로 도출된 해결방안에 대해 고객의 입장에서의 활용방법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효용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가치 등의 내용을 덧붙여 상품을 구체화하는 것</a:t>
            </a:r>
            <a:endParaRPr lang="en-US" altLang="ko-KR" sz="1800" b="1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accent4">
                  <a:lumMod val="90000"/>
                  <a:lumOff val="10000"/>
                </a:schemeClr>
              </a:buClr>
              <a:defRPr/>
            </a:pP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콘셉트의 명칭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상품설명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1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목표고객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가치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800" b="1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주요기능등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콘셉트 보드 </a:t>
            </a:r>
            <a:r>
              <a:rPr lang="en-US" altLang="ko-KR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(concept board) </a:t>
            </a:r>
            <a:r>
              <a:rPr lang="ko-KR" altLang="en-US" sz="1800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활용</a:t>
            </a:r>
            <a:endParaRPr lang="en-US" altLang="ko-KR" sz="1800" b="1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50179" name="제목 2">
            <a:extLst>
              <a:ext uri="{FF2B5EF4-FFF2-40B4-BE49-F238E27FC236}">
                <a16:creationId xmlns:a16="http://schemas.microsoft.com/office/drawing/2014/main" id="{3E20B5BA-3541-4897-A009-7E7350C6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해결방안 만들기와 제공</a:t>
            </a:r>
          </a:p>
        </p:txBody>
      </p:sp>
      <p:sp>
        <p:nvSpPr>
          <p:cNvPr id="50180" name="TextBox 4">
            <a:hlinkClick r:id="rId3"/>
            <a:extLst>
              <a:ext uri="{FF2B5EF4-FFF2-40B4-BE49-F238E27FC236}">
                <a16:creationId xmlns:a16="http://schemas.microsoft.com/office/drawing/2014/main" id="{AF5DBBC6-E4BC-4927-BD2C-1F93456ED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057275"/>
            <a:ext cx="340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 b="1" dirty="0">
                <a:ea typeface="서울남산 장체 M" panose="02020503020101020101" pitchFamily="18" charset="-127"/>
              </a:rPr>
              <a:t>[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아이디어 </a:t>
            </a:r>
            <a:r>
              <a:rPr lang="ko-KR" altLang="en-US" sz="1600" b="1" dirty="0" err="1">
                <a:ea typeface="서울남산 장체 M" panose="02020503020101020101" pitchFamily="18" charset="-127"/>
              </a:rPr>
              <a:t>그룹핑</a:t>
            </a:r>
            <a:r>
              <a:rPr lang="ko-KR" altLang="en-US" sz="1600" b="1" dirty="0">
                <a:ea typeface="서울남산 장체 M" panose="02020503020101020101" pitchFamily="18" charset="-127"/>
              </a:rPr>
              <a:t> 방법</a:t>
            </a:r>
            <a:r>
              <a:rPr lang="en-US" altLang="ko-KR" sz="1600" b="1" dirty="0">
                <a:ea typeface="서울남산 장체 M" panose="02020503020101020101" pitchFamily="18" charset="-127"/>
              </a:rPr>
              <a:t>]</a:t>
            </a:r>
            <a:endParaRPr lang="ko-KR" altLang="en-US" sz="1600" b="1" dirty="0">
              <a:ea typeface="서울남산 장체 M" panose="020205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D0F640-F1D5-46D7-B600-BE8A3D71453B}"/>
              </a:ext>
            </a:extLst>
          </p:cNvPr>
          <p:cNvGraphicFramePr>
            <a:graphicFrameLocks noGrp="1"/>
          </p:cNvGraphicFramePr>
          <p:nvPr/>
        </p:nvGraphicFramePr>
        <p:xfrm>
          <a:off x="425450" y="1452563"/>
          <a:ext cx="9005888" cy="2564955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3317712277"/>
                    </a:ext>
                  </a:extLst>
                </a:gridCol>
                <a:gridCol w="3346450">
                  <a:extLst>
                    <a:ext uri="{9D8B030D-6E8A-4147-A177-3AD203B41FA5}">
                      <a16:colId xmlns:a16="http://schemas.microsoft.com/office/drawing/2014/main" val="828630044"/>
                    </a:ext>
                  </a:extLst>
                </a:gridCol>
                <a:gridCol w="1922463">
                  <a:extLst>
                    <a:ext uri="{9D8B030D-6E8A-4147-A177-3AD203B41FA5}">
                      <a16:colId xmlns:a16="http://schemas.microsoft.com/office/drawing/2014/main" val="709217526"/>
                    </a:ext>
                  </a:extLst>
                </a:gridCol>
                <a:gridCol w="2251075">
                  <a:extLst>
                    <a:ext uri="{9D8B030D-6E8A-4147-A177-3AD203B41FA5}">
                      <a16:colId xmlns:a16="http://schemas.microsoft.com/office/drawing/2014/main" val="145207564"/>
                    </a:ext>
                  </a:extLst>
                </a:gridCol>
              </a:tblGrid>
              <a:tr h="44282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그룹핑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분류기준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사례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484125"/>
                  </a:ext>
                </a:extLst>
              </a:tr>
              <a:tr h="86983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평면 그룹핑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아이디어가 제공하는 주요기능 또는 서비스를 의미하는 속성에 따른 그룹핑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다양한 컵밥 메뉴 제시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굴림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779286"/>
                  </a:ext>
                </a:extLst>
              </a:tr>
              <a:tr h="120194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가치 그룹핑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확산의 출발점이 되는 시드 아이디어를 중심으로 같이 결합 되었을때 시너지 효과가 나는 아이디어를 함께 그룹핑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쉽고 간편한 메뉴 제공 경험</a:t>
                      </a: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서울남산 장체 L" panose="02020503020101020101" pitchFamily="18" charset="-127"/>
                          <a:ea typeface="서울남산 장체 L" panose="020205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T="47445" marB="474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85478"/>
                  </a:ext>
                </a:extLst>
              </a:tr>
            </a:tbl>
          </a:graphicData>
        </a:graphic>
      </p:graphicFrame>
      <p:pic>
        <p:nvPicPr>
          <p:cNvPr id="50203" name="Picture 1">
            <a:extLst>
              <a:ext uri="{FF2B5EF4-FFF2-40B4-BE49-F238E27FC236}">
                <a16:creationId xmlns:a16="http://schemas.microsoft.com/office/drawing/2014/main" id="{876CE20D-73A7-47ED-BFA1-E1C4E7C8B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962150"/>
            <a:ext cx="1574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4" name="Picture 3">
            <a:extLst>
              <a:ext uri="{FF2B5EF4-FFF2-40B4-BE49-F238E27FC236}">
                <a16:creationId xmlns:a16="http://schemas.microsoft.com/office/drawing/2014/main" id="{C479E9A4-1543-443B-B4A6-555ACB66C1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2846388"/>
            <a:ext cx="157480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030435D4-9004-4D27-A912-F3CCDC087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357313"/>
            <a:ext cx="11517313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ko-KR" sz="2000" dirty="0"/>
              <a:t>(3) </a:t>
            </a:r>
            <a:r>
              <a:rPr lang="ko-KR" altLang="en-US" sz="2000" dirty="0"/>
              <a:t>콘셉트의 평가와 수정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검증된 콘셉트를 적용한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프로토타입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(prototype)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을 만들어 소비자 반응을 살피고 콘셉트와 제품을 수정하는 것이 바람직함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프로토타입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콘셉트가 제공하는 주요 기능과 </a:t>
            </a: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효익을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이해할 수 있을 정도의 시제품 또는 모형 등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 err="1">
                <a:solidFill>
                  <a:schemeClr val="accent4">
                    <a:lumMod val="75000"/>
                    <a:lumOff val="25000"/>
                  </a:schemeClr>
                </a:solidFill>
              </a:rPr>
              <a:t>이터레이션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(iteration) - 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콘셉트를 만들고 반복적으로 콘셉트와 시제품 테스트와 수정하는 과정</a:t>
            </a: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소규모의 시도와 피드백을 반복</a:t>
            </a:r>
            <a:r>
              <a:rPr lang="en-US" altLang="ko-KR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8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 결과 분석을 바탕으로 해결할 부분을 보완해 소비자 반응을 살피는 과정</a:t>
            </a:r>
          </a:p>
          <a:p>
            <a:pPr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accent4">
                  <a:lumMod val="75000"/>
                  <a:lumOff val="25000"/>
                </a:schemeClr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2000" dirty="0"/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800" dirty="0"/>
          </a:p>
        </p:txBody>
      </p:sp>
      <p:sp>
        <p:nvSpPr>
          <p:cNvPr id="52227" name="제목 2">
            <a:extLst>
              <a:ext uri="{FF2B5EF4-FFF2-40B4-BE49-F238E27FC236}">
                <a16:creationId xmlns:a16="http://schemas.microsoft.com/office/drawing/2014/main" id="{6839FAE5-FE9A-40C4-BAB9-E0BBD615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해결방안 만들기와 제공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1976</Words>
  <Application>Microsoft Office PowerPoint</Application>
  <PresentationFormat>와이드스크린</PresentationFormat>
  <Paragraphs>390</Paragraphs>
  <Slides>29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굴림</vt:lpstr>
      <vt:lpstr>서울남산 장체 L</vt:lpstr>
      <vt:lpstr>서울남산 장체 EB</vt:lpstr>
      <vt:lpstr>Arial</vt:lpstr>
      <vt:lpstr>서울한강 장체 L</vt:lpstr>
      <vt:lpstr>맑은 고딕</vt:lpstr>
      <vt:lpstr>Verdana</vt:lpstr>
      <vt:lpstr>08서울남산체 B</vt:lpstr>
      <vt:lpstr>서울남산 장체 M</vt:lpstr>
      <vt:lpstr>Wingdings</vt:lpstr>
      <vt:lpstr>sample</vt:lpstr>
      <vt:lpstr>PowerPoint 프레젠테이션</vt:lpstr>
      <vt:lpstr>PowerPoint 프레젠테이션</vt:lpstr>
      <vt:lpstr>1) 현대사회에서의 혁신</vt:lpstr>
      <vt:lpstr>2) 외식서비스에서의 혁신</vt:lpstr>
      <vt:lpstr>3) 외식서비스 혁신과 상품개발</vt:lpstr>
      <vt:lpstr>3) 외식서비스 혁신과 상품개발</vt:lpstr>
      <vt:lpstr>PowerPoint 프레젠테이션</vt:lpstr>
      <vt:lpstr>1) 외식서비스 상품 개발의 필요성</vt:lpstr>
      <vt:lpstr>2) 외식서비스 상품 개발의 분류</vt:lpstr>
      <vt:lpstr>2) 외식서비스 상품 개발의 분류</vt:lpstr>
      <vt:lpstr>2) 외식서비스 상품 개발의 분류</vt:lpstr>
      <vt:lpstr>3) 외식서비스 상품 개발의 내용</vt:lpstr>
      <vt:lpstr>3) 외식서비스 상품 개발의 내용</vt:lpstr>
      <vt:lpstr>3) 외식서비스 상품 개발의 내용</vt:lpstr>
      <vt:lpstr>3) 외식서비스 상품 개발의 내용</vt:lpstr>
      <vt:lpstr>3) 외식서비스 상품 개발의 내용</vt:lpstr>
      <vt:lpstr>3) 외식서비스 상품 개발의 내용</vt:lpstr>
      <vt:lpstr>PowerPoint 프레젠테이션</vt:lpstr>
      <vt:lpstr>PowerPoint 프레젠테이션</vt:lpstr>
      <vt:lpstr>1) 고객 이해하기</vt:lpstr>
      <vt:lpstr>1) 고객 이해하기</vt:lpstr>
      <vt:lpstr>1) 고객 이해하기</vt:lpstr>
      <vt:lpstr>1) 고객 이해하기</vt:lpstr>
      <vt:lpstr>2) 소비자의 니즈 또는 문제 파악</vt:lpstr>
      <vt:lpstr>3) 해결방안 만들기와 제공</vt:lpstr>
      <vt:lpstr>PowerPoint 프레젠테이션</vt:lpstr>
      <vt:lpstr>3) 해결방안 만들기와 제공</vt:lpstr>
      <vt:lpstr>3) 해결방안 만들기와 제공</vt:lpstr>
      <vt:lpstr>3) 해결방안 만들기와 제공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124</cp:revision>
  <dcterms:created xsi:type="dcterms:W3CDTF">2022-02-07T06:24:49Z</dcterms:created>
  <dcterms:modified xsi:type="dcterms:W3CDTF">2022-05-10T13:29:17Z</dcterms:modified>
</cp:coreProperties>
</file>