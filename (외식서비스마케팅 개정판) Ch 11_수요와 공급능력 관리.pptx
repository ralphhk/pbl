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6"/>
  </p:notesMasterIdLst>
  <p:sldIdLst>
    <p:sldId id="278" r:id="rId2"/>
    <p:sldId id="280" r:id="rId3"/>
    <p:sldId id="279" r:id="rId4"/>
    <p:sldId id="345" r:id="rId5"/>
    <p:sldId id="326" r:id="rId6"/>
    <p:sldId id="327" r:id="rId7"/>
    <p:sldId id="343" r:id="rId8"/>
    <p:sldId id="344" r:id="rId9"/>
    <p:sldId id="328" r:id="rId10"/>
    <p:sldId id="341" r:id="rId11"/>
    <p:sldId id="342" r:id="rId12"/>
    <p:sldId id="329" r:id="rId13"/>
    <p:sldId id="336" r:id="rId14"/>
    <p:sldId id="337" r:id="rId15"/>
    <p:sldId id="338" r:id="rId16"/>
    <p:sldId id="339" r:id="rId17"/>
    <p:sldId id="340" r:id="rId18"/>
    <p:sldId id="330" r:id="rId19"/>
    <p:sldId id="331" r:id="rId20"/>
    <p:sldId id="332" r:id="rId21"/>
    <p:sldId id="334" r:id="rId22"/>
    <p:sldId id="333" r:id="rId23"/>
    <p:sldId id="335" r:id="rId24"/>
    <p:sldId id="346" r:id="rId25"/>
  </p:sldIdLst>
  <p:sldSz cx="12192000" cy="6858000"/>
  <p:notesSz cx="6858000" cy="9144000"/>
  <p:embeddedFontLst>
    <p:embeddedFont>
      <p:font typeface="Verdana" panose="020B0604030504040204" pitchFamily="34" charset="0"/>
      <p:regular r:id="rId27"/>
      <p:bold r:id="rId28"/>
      <p:italic r:id="rId29"/>
      <p:boldItalic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서울남산 장체 EB" panose="02020503020101020101" pitchFamily="18" charset="-127"/>
      <p:regular r:id="rId33"/>
    </p:embeddedFont>
    <p:embeddedFont>
      <p:font typeface="서울남산 장체 L" panose="02020503020101020101" pitchFamily="18" charset="-127"/>
      <p:regular r:id="rId34"/>
    </p:embeddedFont>
    <p:embeddedFont>
      <p:font typeface="서울한강 장체 L" panose="02020503020101020101" pitchFamily="18" charset="-127"/>
      <p:regular r:id="rId35"/>
    </p:embeddedFont>
    <p:embeddedFont>
      <p:font typeface="함초롬돋움" panose="020B0604000101010101" pitchFamily="50" charset="-127"/>
      <p:regular r:id="rId36"/>
      <p:bold r:id="rId37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837" autoAdjust="0"/>
  </p:normalViewPr>
  <p:slideViewPr>
    <p:cSldViewPr snapToGrid="0" showGuides="1">
      <p:cViewPr varScale="1">
        <p:scale>
          <a:sx n="58" d="100"/>
          <a:sy n="58" d="100"/>
        </p:scale>
        <p:origin x="108" y="7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463766A-0D87-4965-890E-7119527B41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893086-10A9-4400-BCF3-3BA1054DA5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9771BFA-93D8-471A-A717-E14A87B64E79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A71B61D-0E17-450F-B8C8-4ED7975E0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4AF33DB7-4390-4928-AD2B-4DACD1E987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19122E-A6A9-4435-9AC9-C834E74773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661C87-BC7C-4EED-84F6-7B9728874F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8B663AB1-2862-4DFA-A17E-BAE38F53FAE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9CB431B5-B021-4AE7-AC22-D695106F37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0E421C61-5364-48B4-A5EF-76F69DEAA2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9CBA0093-CCEE-4A5C-B623-565C7DC9C4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5771911-D366-4154-B444-F52EB383D18B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A157959A-06A8-4406-B011-4A3147AE15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50AB0152-59D5-4D20-9628-091DF7F9B6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B73C6608-27C9-44A9-8C01-B7C032F2E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1935A6A-E9BD-455F-834D-7D2ABAAD5CD9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225A8ED6-D4F1-467F-9613-715E236D76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23A4DCBF-3626-4200-AF4C-C9464D020E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25846BF9-F35C-440A-AADB-D3A2B7FF6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FC85AB5-9EF4-4709-B4F4-026FF5DC754D}" type="slidenum">
              <a:rPr lang="ko-KR" altLang="en-US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5371E1D4-367C-492E-A7A9-6BB433C014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4B9435CD-7660-45EF-8313-BE2FD55882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316DE3F9-1748-4BC9-A6C6-DCFA85113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8D68CD9-0ADB-4E40-AD08-4BABABE5BCA4}" type="slidenum">
              <a:rPr lang="ko-KR" altLang="en-US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FE302EA-B9C2-4ED7-AA3D-4E39A35FDD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B767411-4C18-4074-BD3D-A66C968AE2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E0DF1BE-2B11-4CCB-953F-CC5B84135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41D5529-4DC5-4470-A527-8344A0E1FA3B}" type="slidenum">
              <a:rPr lang="ko-KR" altLang="en-US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B91AF080-FE48-4688-9D26-647A6ACA65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B1D8BCD1-BF7F-4C01-AD5F-7A836F520E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FCD7BCC1-1237-444C-A3F4-2CD91AA48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B208144-71F4-4FEC-8972-56128F5E0E65}" type="slidenum">
              <a:rPr lang="ko-KR" altLang="en-US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79900094-8AC9-492F-92C4-BA775200FE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1B15FA66-0CC1-4818-97F4-7097656AD7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C26D3109-BD36-473D-B6C1-90851B889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FA4CD1B-21BC-441B-A459-B43CD9BD26AF}" type="slidenum">
              <a:rPr lang="ko-KR" altLang="en-US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>
            <a:extLst>
              <a:ext uri="{FF2B5EF4-FFF2-40B4-BE49-F238E27FC236}">
                <a16:creationId xmlns:a16="http://schemas.microsoft.com/office/drawing/2014/main" id="{03B06E73-2DF6-43AC-BB69-BC14E39A8A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>
            <a:extLst>
              <a:ext uri="{FF2B5EF4-FFF2-40B4-BE49-F238E27FC236}">
                <a16:creationId xmlns:a16="http://schemas.microsoft.com/office/drawing/2014/main" id="{2B39A06C-C080-41F7-8363-36EBA974D5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0484" name="슬라이드 번호 개체 틀 3">
            <a:extLst>
              <a:ext uri="{FF2B5EF4-FFF2-40B4-BE49-F238E27FC236}">
                <a16:creationId xmlns:a16="http://schemas.microsoft.com/office/drawing/2014/main" id="{FBF09E4A-DDB9-4544-8739-93D43CBE0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5B5B68E-5785-4724-8E09-B40AF2BDFA7D}" type="slidenum">
              <a:rPr lang="ko-KR" altLang="en-US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>
            <a:extLst>
              <a:ext uri="{FF2B5EF4-FFF2-40B4-BE49-F238E27FC236}">
                <a16:creationId xmlns:a16="http://schemas.microsoft.com/office/drawing/2014/main" id="{B0B51D8B-4A99-4103-9B8E-B81E42E2340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슬라이드 노트 개체 틀 2">
            <a:extLst>
              <a:ext uri="{FF2B5EF4-FFF2-40B4-BE49-F238E27FC236}">
                <a16:creationId xmlns:a16="http://schemas.microsoft.com/office/drawing/2014/main" id="{68F26796-AEF9-4681-BC60-BDD47A9755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2532" name="슬라이드 번호 개체 틀 3">
            <a:extLst>
              <a:ext uri="{FF2B5EF4-FFF2-40B4-BE49-F238E27FC236}">
                <a16:creationId xmlns:a16="http://schemas.microsoft.com/office/drawing/2014/main" id="{F718505B-8A90-4A11-9EED-E20553290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98105BF9-88F6-403E-BB5A-D6C95F624DEC}" type="slidenum">
              <a:rPr lang="ko-KR" altLang="en-US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6BA51BC3-29FC-4D7A-8353-C0D24B8EAD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337E8F4F-79D9-40D2-A6FC-5179DEF315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C53ED347-7EDE-4429-8E84-5A5DD1D14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25237CE-C6EB-48EF-9905-F11B63C520BE}" type="slidenum">
              <a:rPr lang="ko-KR" altLang="en-US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A8A6609E-1C99-48B7-9310-17D33765AE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8AF95A94-96B9-4E1F-A1FC-5319973D96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DF3D6BCF-3405-4639-BAA9-EC079F759D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F1F9461-AAB7-4A78-9BF0-57463C112842}" type="slidenum">
              <a:rPr lang="ko-KR" altLang="en-US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C1D86D97-BAC0-4EB3-BCB3-5B5CF7A184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E93FF5C1-0DEB-406D-984A-9B878C1CAD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89484ECF-68CD-452E-B943-95133CF40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0C3AB43-8191-44B2-93B8-5588D52126D2}" type="slidenum">
              <a:rPr lang="ko-KR" altLang="en-US"/>
              <a:pPr/>
              <a:t>13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B9023A00-3BC4-43ED-A2DB-751EF94932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90F7A3D6-083F-4632-B4FB-F47B595658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5D74312D-FBAC-4B01-A210-BD5D738E9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29E8E3A-DAFE-40B9-A022-A796352C90FB}" type="slidenum">
              <a:rPr lang="ko-KR" altLang="en-US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960792B5-A5A2-4C4D-95B2-FA30DF084F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117330AC-E47A-4E65-A815-64723ACBB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2AE16FDB-5610-442F-8405-6AB7D61EE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8A4E502-5B56-4440-B65C-473D2BEF6663}" type="slidenum">
              <a:rPr lang="ko-KR" altLang="en-US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E3CCCE61-4DB3-436E-AC99-D6981536F82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4CD4D794-F938-4F22-9AE7-2CF5DEF4D2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EB31C31A-5EB8-426B-A650-1CE25A18F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A6E2D2D-38AD-420A-8C44-D5AB9C4028A8}" type="slidenum">
              <a:rPr lang="ko-KR" altLang="en-US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슬라이드 이미지 개체 틀 1">
            <a:extLst>
              <a:ext uri="{FF2B5EF4-FFF2-40B4-BE49-F238E27FC236}">
                <a16:creationId xmlns:a16="http://schemas.microsoft.com/office/drawing/2014/main" id="{417360C2-2D06-448E-B19E-EADB926A31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슬라이드 노트 개체 틀 2">
            <a:extLst>
              <a:ext uri="{FF2B5EF4-FFF2-40B4-BE49-F238E27FC236}">
                <a16:creationId xmlns:a16="http://schemas.microsoft.com/office/drawing/2014/main" id="{C06ADF36-6355-49AB-B2A7-0508D617D0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6868" name="슬라이드 번호 개체 틀 3">
            <a:extLst>
              <a:ext uri="{FF2B5EF4-FFF2-40B4-BE49-F238E27FC236}">
                <a16:creationId xmlns:a16="http://schemas.microsoft.com/office/drawing/2014/main" id="{7B91C3BF-77F3-4831-96AB-2FCF40DAA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A789AD7-BB74-4C0C-BC10-3A1C1036ABE7}" type="slidenum">
              <a:rPr lang="ko-KR" altLang="en-US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슬라이드 이미지 개체 틀 1">
            <a:extLst>
              <a:ext uri="{FF2B5EF4-FFF2-40B4-BE49-F238E27FC236}">
                <a16:creationId xmlns:a16="http://schemas.microsoft.com/office/drawing/2014/main" id="{5E4C5F22-75AA-491F-B1D4-D84C2B6F62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슬라이드 노트 개체 틀 2">
            <a:extLst>
              <a:ext uri="{FF2B5EF4-FFF2-40B4-BE49-F238E27FC236}">
                <a16:creationId xmlns:a16="http://schemas.microsoft.com/office/drawing/2014/main" id="{F00B251A-F10D-4FC8-9B52-F509BDC7ED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8916" name="슬라이드 번호 개체 틀 3">
            <a:extLst>
              <a:ext uri="{FF2B5EF4-FFF2-40B4-BE49-F238E27FC236}">
                <a16:creationId xmlns:a16="http://schemas.microsoft.com/office/drawing/2014/main" id="{B888DAF3-FC49-4090-A0DB-6B4271E8C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BF47B74-3604-4A0A-85A7-7F4424C990A1}" type="slidenum">
              <a:rPr lang="ko-KR" altLang="en-US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슬라이드 이미지 개체 틀 1">
            <a:extLst>
              <a:ext uri="{FF2B5EF4-FFF2-40B4-BE49-F238E27FC236}">
                <a16:creationId xmlns:a16="http://schemas.microsoft.com/office/drawing/2014/main" id="{4081077C-8BDB-4B43-AC4D-978DE92374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슬라이드 노트 개체 틀 2">
            <a:extLst>
              <a:ext uri="{FF2B5EF4-FFF2-40B4-BE49-F238E27FC236}">
                <a16:creationId xmlns:a16="http://schemas.microsoft.com/office/drawing/2014/main" id="{8F6A0C61-9BA0-4898-9703-66B7A7A880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0964" name="슬라이드 번호 개체 틀 3">
            <a:extLst>
              <a:ext uri="{FF2B5EF4-FFF2-40B4-BE49-F238E27FC236}">
                <a16:creationId xmlns:a16="http://schemas.microsoft.com/office/drawing/2014/main" id="{FF0BE073-B01E-42B8-B2A4-97D391E1F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7B87F25-2E69-4E69-8112-B947E57C0E18}" type="slidenum">
              <a:rPr lang="ko-KR" altLang="en-US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슬라이드 이미지 개체 틀 1">
            <a:extLst>
              <a:ext uri="{FF2B5EF4-FFF2-40B4-BE49-F238E27FC236}">
                <a16:creationId xmlns:a16="http://schemas.microsoft.com/office/drawing/2014/main" id="{6F52BEC5-CB8D-4811-80FF-CCCBD09898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슬라이드 노트 개체 틀 2">
            <a:extLst>
              <a:ext uri="{FF2B5EF4-FFF2-40B4-BE49-F238E27FC236}">
                <a16:creationId xmlns:a16="http://schemas.microsoft.com/office/drawing/2014/main" id="{8A521BC8-1790-4FF5-8484-4070D0E143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3012" name="슬라이드 번호 개체 틀 3">
            <a:extLst>
              <a:ext uri="{FF2B5EF4-FFF2-40B4-BE49-F238E27FC236}">
                <a16:creationId xmlns:a16="http://schemas.microsoft.com/office/drawing/2014/main" id="{E84EEFF4-6C9E-41D2-A7F4-1B0DB0435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E2ABBE4-2EC1-4AA0-B4DD-35784318EFCF}" type="slidenum">
              <a:rPr lang="ko-KR" altLang="en-US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슬라이드 이미지 개체 틀 1">
            <a:extLst>
              <a:ext uri="{FF2B5EF4-FFF2-40B4-BE49-F238E27FC236}">
                <a16:creationId xmlns:a16="http://schemas.microsoft.com/office/drawing/2014/main" id="{5374CF84-819F-415F-959A-CCF844F5D9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슬라이드 노트 개체 틀 2">
            <a:extLst>
              <a:ext uri="{FF2B5EF4-FFF2-40B4-BE49-F238E27FC236}">
                <a16:creationId xmlns:a16="http://schemas.microsoft.com/office/drawing/2014/main" id="{6BEBFB87-16D0-499C-9EBA-80441A7E92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5060" name="슬라이드 번호 개체 틀 3">
            <a:extLst>
              <a:ext uri="{FF2B5EF4-FFF2-40B4-BE49-F238E27FC236}">
                <a16:creationId xmlns:a16="http://schemas.microsoft.com/office/drawing/2014/main" id="{6032C46C-9CFE-4A68-980D-1C29F2F8E8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7DFC06D-4238-4186-BA81-A8520A308F18}" type="slidenum">
              <a:rPr lang="ko-KR" altLang="en-US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슬라이드 이미지 개체 틀 1">
            <a:extLst>
              <a:ext uri="{FF2B5EF4-FFF2-40B4-BE49-F238E27FC236}">
                <a16:creationId xmlns:a16="http://schemas.microsoft.com/office/drawing/2014/main" id="{6D41BAB4-85F0-4D62-BE48-9C83AC5DD8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슬라이드 노트 개체 틀 2">
            <a:extLst>
              <a:ext uri="{FF2B5EF4-FFF2-40B4-BE49-F238E27FC236}">
                <a16:creationId xmlns:a16="http://schemas.microsoft.com/office/drawing/2014/main" id="{600720CE-966E-4429-B9F4-4D6780389F6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7108" name="슬라이드 번호 개체 틀 3">
            <a:extLst>
              <a:ext uri="{FF2B5EF4-FFF2-40B4-BE49-F238E27FC236}">
                <a16:creationId xmlns:a16="http://schemas.microsoft.com/office/drawing/2014/main" id="{7372EE52-E59F-477E-ACE9-B0C5F11CD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8466783-9606-43AC-8AD2-9918800D14F0}" type="slidenum">
              <a:rPr lang="ko-KR" altLang="en-US"/>
              <a:pPr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>
            <a:extLst>
              <a:ext uri="{FF2B5EF4-FFF2-40B4-BE49-F238E27FC236}">
                <a16:creationId xmlns:a16="http://schemas.microsoft.com/office/drawing/2014/main" id="{60526553-BAB6-4D8C-A183-53A888EB4D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슬라이드 노트 개체 틀 2">
            <a:extLst>
              <a:ext uri="{FF2B5EF4-FFF2-40B4-BE49-F238E27FC236}">
                <a16:creationId xmlns:a16="http://schemas.microsoft.com/office/drawing/2014/main" id="{DB9E4FB5-24D9-4A60-9C94-3A645050B8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9156" name="슬라이드 번호 개체 틀 3">
            <a:extLst>
              <a:ext uri="{FF2B5EF4-FFF2-40B4-BE49-F238E27FC236}">
                <a16:creationId xmlns:a16="http://schemas.microsoft.com/office/drawing/2014/main" id="{99A28459-90F9-4CBB-BFC1-192115977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607EB64-D6D2-42DC-B881-E63F81E9481C}" type="slidenum">
              <a:rPr lang="ko-KR" altLang="en-US"/>
              <a:pPr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슬라이드 이미지 개체 틀 1">
            <a:extLst>
              <a:ext uri="{FF2B5EF4-FFF2-40B4-BE49-F238E27FC236}">
                <a16:creationId xmlns:a16="http://schemas.microsoft.com/office/drawing/2014/main" id="{A88D2301-ADA5-41B5-88BB-B53D407508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슬라이드 노트 개체 틀 2">
            <a:extLst>
              <a:ext uri="{FF2B5EF4-FFF2-40B4-BE49-F238E27FC236}">
                <a16:creationId xmlns:a16="http://schemas.microsoft.com/office/drawing/2014/main" id="{FBDAA815-D755-42EB-8034-C2AA98890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1204" name="슬라이드 번호 개체 틀 3">
            <a:extLst>
              <a:ext uri="{FF2B5EF4-FFF2-40B4-BE49-F238E27FC236}">
                <a16:creationId xmlns:a16="http://schemas.microsoft.com/office/drawing/2014/main" id="{BDD586D7-AD6F-491A-9F1B-7270EA00C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76384B5F-167B-411B-ADAE-C2311D9024C1}" type="slidenum">
              <a:rPr lang="ko-KR" altLang="en-US"/>
              <a:pPr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646A0284-B2A8-4D8A-BAC6-C5A830F28D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B9C79CB-B78B-4CA4-BFE1-1DD84C808D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133362A5-EE0A-4595-9B9C-643C418F9E45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11376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767EAC-0A46-4898-8F66-7F4825FA63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9153E1-3F81-48BA-9CB4-A89F025556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A1520-B68A-4713-A187-ED4792F2D4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808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D6B0E3-6C9A-49FF-8E06-C4EC9F96A9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FEA1087-BD69-481E-B20E-486F2AD8FCA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D3B664-08D9-4062-9149-027EF2864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3685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80DAA3-4632-4A83-AE75-311EDE2887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57D68F5-40B3-4E21-B2EB-899B744025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50CA00-ADF2-4D19-91A3-8A34D34983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29458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7BFC00A-9334-48C5-84E2-A58568A396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CE304D5-FAAE-4369-8865-CADE3BEF55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3916D-E76D-44E8-B2F3-F3B527C9B9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704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310DA33-6108-40C7-A1F1-A6B2E8B4C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C6CD63D-A9C7-4FB1-A7A3-06C63E14CF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29E784-DB9A-4E2E-8F1D-31D270C3F3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580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4D97FFB2-BB5A-4B8F-B4CC-5F5AC86EF834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35C5BC62-BE79-44E5-8C0D-D3F49AC53EB0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94C18EE4-6673-45AF-A11E-8E6CC8C14A6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8345ABA0-473E-4449-A448-323240991E4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BCBAD457-BF68-4D03-A338-6E403103E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AEA3FEB-ABE5-4459-8390-0F31D8DCCF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160E01-B151-45DC-93CC-BC251924FD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 smtClean="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90DEB2B1-834F-4EEB-BA28-2E3C76F4D28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25FE7696-94B3-4969-A14E-789D10C0C8ED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31B74A33-F687-4B01-AB56-900D88D4741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B4983BEC-EB78-472F-A737-A3117BDD4B2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1C936462-06A4-4517-986E-244AD494A40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D6B15150-8DFD-44F4-9CD1-8A57D5581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795" r:id="rId2"/>
    <p:sldLayoutId id="2147483796" r:id="rId3"/>
    <p:sldLayoutId id="2147483797" r:id="rId4"/>
    <p:sldLayoutId id="2147483798" r:id="rId5"/>
    <p:sldLayoutId id="2147483799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L" panose="02020503020101020101"/>
          <a:ea typeface="서울남산 장체 L" panose="02020503020101020101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DFDC7D74-A84D-493E-A7EE-38DAC499B2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Chapter 11. </a:t>
            </a:r>
          </a:p>
          <a:p>
            <a:pPr eaLnBrk="1" hangingPunct="1"/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수요와 공급 능력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8EC360D2-8F87-4DF2-B2DF-30726F973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1.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외식서비스 수요와 공급 관리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084629-870D-4E3C-B275-1A4C052C6541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6FC97-C60B-49D9-9670-9F12116DF8BD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13C43364-32BA-4429-B2B3-FB97B5CDE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무엇이 레스토랑의 수익을 제한하는가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A413E0A7-21A8-43D2-9A53-6EB40AD81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8138" y="1466850"/>
            <a:ext cx="1151572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서비스의 </a:t>
            </a:r>
            <a:r>
              <a:rPr lang="ko-KR" altLang="en-US" sz="1800" dirty="0" err="1"/>
              <a:t>소멸성</a:t>
            </a:r>
            <a:r>
              <a:rPr lang="en-US" altLang="ko-KR" sz="1800" dirty="0"/>
              <a:t>, </a:t>
            </a:r>
            <a:r>
              <a:rPr lang="ko-KR" altLang="en-US" sz="1800" dirty="0"/>
              <a:t>생산과 소비의 동시성이라는 특성으로 인해 레스토랑에서 수요와 공급 관리가 어려움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 수요의 변동성과 공급 능력 </a:t>
            </a:r>
            <a:r>
              <a:rPr lang="en-US" altLang="ko-KR" sz="1800" dirty="0"/>
              <a:t>(</a:t>
            </a:r>
            <a:r>
              <a:rPr lang="ko-KR" altLang="en-US" sz="1800" dirty="0"/>
              <a:t>좌석과 인력 등</a:t>
            </a:r>
            <a:r>
              <a:rPr lang="en-US" altLang="ko-KR" sz="1800" dirty="0"/>
              <a:t>) </a:t>
            </a:r>
            <a:r>
              <a:rPr lang="ko-KR" altLang="en-US" sz="1800" dirty="0"/>
              <a:t>의 제약으로 수익 발생이 제한 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시간대에 따른 차별화 마케팅 전략이 필요함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고객의 수요를 조정하여 매출 극대화 달성 가능 </a:t>
            </a: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1800" dirty="0"/>
          </a:p>
        </p:txBody>
      </p:sp>
      <p:pic>
        <p:nvPicPr>
          <p:cNvPr id="7172" name="그림 3">
            <a:extLst>
              <a:ext uri="{FF2B5EF4-FFF2-40B4-BE49-F238E27FC236}">
                <a16:creationId xmlns:a16="http://schemas.microsoft.com/office/drawing/2014/main" id="{47F2FB4B-1C06-4985-A59D-1154B8BB3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3429000"/>
            <a:ext cx="5014913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89ADB11A-1FFA-4B5A-8E76-4863263C91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외식서비스의 수요와 공급의 조화</a:t>
            </a:r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0227505C-67EC-47B9-95C6-218192455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/>
              <a:t>레스토랑에서 수요와 공급 능력을 조화시키는 효과적인 전략을 수립하기 위해</a:t>
            </a:r>
            <a:r>
              <a:rPr lang="en-US" altLang="ko-KR" sz="1800"/>
              <a:t>, </a:t>
            </a:r>
            <a:r>
              <a:rPr lang="ko-KR" altLang="en-US" sz="1800"/>
              <a:t>공급능력의 제약 </a:t>
            </a:r>
            <a:endParaRPr lang="en-US" altLang="ko-KR" sz="1800"/>
          </a:p>
          <a:p>
            <a:pPr marL="3420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/>
              <a:t>조건과 기본적인 수요 패턴을 명확하게 이해 필요</a:t>
            </a:r>
            <a:endParaRPr lang="en-US" altLang="ko-KR" sz="180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/>
              <a:t>서비스 공급능력을 제한하는 핵심 요인들은 시간</a:t>
            </a:r>
            <a:r>
              <a:rPr lang="en-US" altLang="ko-KR" sz="1800"/>
              <a:t>, </a:t>
            </a:r>
            <a:r>
              <a:rPr lang="ko-KR" altLang="en-US" sz="1800"/>
              <a:t>인력</a:t>
            </a:r>
            <a:r>
              <a:rPr lang="en-US" altLang="ko-KR" sz="1800"/>
              <a:t>, </a:t>
            </a:r>
            <a:r>
              <a:rPr lang="ko-KR" altLang="en-US" sz="1800"/>
              <a:t>장비</a:t>
            </a:r>
            <a:r>
              <a:rPr lang="en-US" altLang="ko-KR" sz="1800"/>
              <a:t>, </a:t>
            </a:r>
            <a:r>
              <a:rPr lang="ko-KR" altLang="en-US" sz="1800"/>
              <a:t>시설 또는 이들의 조합</a:t>
            </a:r>
            <a:endParaRPr lang="en-US" altLang="ko-KR" sz="180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/>
              <a:t>레스토랑의 경우 이용 가능한 테이블과 좌석 수에 의해 주로 제약</a:t>
            </a:r>
          </a:p>
        </p:txBody>
      </p:sp>
      <p:pic>
        <p:nvPicPr>
          <p:cNvPr id="9220" name="Picture 2">
            <a:extLst>
              <a:ext uri="{FF2B5EF4-FFF2-40B4-BE49-F238E27FC236}">
                <a16:creationId xmlns:a16="http://schemas.microsoft.com/office/drawing/2014/main" id="{95D1716B-4393-4EAE-A712-2A1EB70C0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3" y="3425825"/>
            <a:ext cx="5734050" cy="3427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A30FA24C-BE8E-4919-B7CB-B0454C6E2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외식서비스의 수요와 공급의 조화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D36AFE3E-77D5-4851-B649-B8A3E2FD45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/>
              <a:t>수요 관리 </a:t>
            </a:r>
            <a:r>
              <a:rPr lang="en-US" altLang="ko-KR" sz="1800"/>
              <a:t>: </a:t>
            </a:r>
            <a:r>
              <a:rPr lang="ko-KR" altLang="en-US" sz="1800"/>
              <a:t>일정한 공급능력에 맞춰 수요를 성수기와 비수기로 선택하게 하고 가격 변경</a:t>
            </a:r>
            <a:r>
              <a:rPr lang="en-US" altLang="ko-KR" sz="1800"/>
              <a:t>, </a:t>
            </a:r>
          </a:p>
          <a:p>
            <a:pPr marL="3420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/>
              <a:t>               광고 촉진</a:t>
            </a:r>
            <a:r>
              <a:rPr lang="en-US" altLang="ko-KR" sz="1800"/>
              <a:t>, </a:t>
            </a:r>
            <a:r>
              <a:rPr lang="ko-KR" altLang="en-US" sz="1800"/>
              <a:t>대안 서비스 제공 등</a:t>
            </a:r>
            <a:endParaRPr lang="en-US" altLang="ko-KR" sz="180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/>
              <a:t>공급 관리 </a:t>
            </a:r>
            <a:r>
              <a:rPr lang="en-US" altLang="ko-KR" sz="1800"/>
              <a:t>: </a:t>
            </a:r>
            <a:r>
              <a:rPr lang="ko-KR" altLang="en-US" sz="1800"/>
              <a:t>수요의 성수기와 비수기에 맞춰 고정된 공급능력을 조정하거나</a:t>
            </a:r>
            <a:r>
              <a:rPr lang="en-US" altLang="ko-KR" sz="1800"/>
              <a:t>, </a:t>
            </a:r>
            <a:r>
              <a:rPr lang="ko-KR" altLang="en-US" sz="1800"/>
              <a:t>유연하게 하거나</a:t>
            </a:r>
            <a:r>
              <a:rPr lang="en-US" altLang="ko-KR" sz="1800"/>
              <a:t>,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/>
              <a:t>                   </a:t>
            </a:r>
            <a:r>
              <a:rPr lang="ko-KR" altLang="en-US" sz="1800"/>
              <a:t>혹은 확대하려고 하는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텍스트 개체 틀 3">
            <a:extLst>
              <a:ext uri="{FF2B5EF4-FFF2-40B4-BE49-F238E27FC236}">
                <a16:creationId xmlns:a16="http://schemas.microsoft.com/office/drawing/2014/main" id="{AD48CC40-8F9B-4D05-81C1-56168CA02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2.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수요 관리 전략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027830E-091C-4771-AC60-CE1A2AB554F2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2032A2-617A-4C67-89D5-FC92B4AF7110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E9194C1A-E777-43BE-B356-65B5B0B65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성수기의 수요 감소시키기</a:t>
            </a:r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9FC6266B-57A9-4120-9DEA-B219D7BA5D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고객에게 수요가 높은 시기를 알려 줌으로써 다른 시간과 서비스를 이용할 수 있게 하여 고객은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</a:t>
            </a:r>
            <a:r>
              <a:rPr lang="ko-KR" altLang="en-US" sz="1800" dirty="0"/>
              <a:t> 붐비거나 서비스가 연기되는 것을 피할 수 있고 외식업체는 수요를 이동할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 서비스가 집중되는 성수기의 수요를 이동시키기 위해</a:t>
            </a:r>
            <a:r>
              <a:rPr lang="en-US" altLang="ko-KR" sz="1800" dirty="0"/>
              <a:t>, </a:t>
            </a:r>
            <a:r>
              <a:rPr lang="ko-KR" altLang="en-US" sz="1800" dirty="0"/>
              <a:t>고객이 비수기</a:t>
            </a:r>
            <a:r>
              <a:rPr lang="en-US" altLang="ko-KR" sz="1800" dirty="0"/>
              <a:t>(non peak time) 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</a:t>
            </a:r>
            <a:r>
              <a:rPr lang="ko-KR" altLang="en-US" sz="1800" dirty="0"/>
              <a:t>서비스 사용 시간으로 변경할 경우 인센티브를 주는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3B08A240-11BD-4EBB-950D-C0C20237E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비수기의 수요 증가시키기</a:t>
            </a:r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09DD3BE9-EF6F-44EF-8977-1E7B52B48F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037437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레스토랑에서 제공하는 서비스 상품을 변화시켜 수요를 창출 </a:t>
            </a:r>
            <a:r>
              <a:rPr lang="en-US" altLang="ko-KR" sz="1800" dirty="0"/>
              <a:t>- </a:t>
            </a:r>
            <a:r>
              <a:rPr lang="ko-KR" altLang="en-US" sz="1800" dirty="0"/>
              <a:t>계절에 따라</a:t>
            </a:r>
            <a:r>
              <a:rPr lang="en-US" altLang="ko-KR" sz="1800" dirty="0"/>
              <a:t>, </a:t>
            </a:r>
            <a:r>
              <a:rPr lang="ko-KR" altLang="en-US" sz="1800" dirty="0"/>
              <a:t>주중 요일에 따라</a:t>
            </a:r>
            <a:r>
              <a:rPr lang="en-US" altLang="ko-KR" sz="1800" dirty="0"/>
              <a:t>, </a:t>
            </a:r>
          </a:p>
          <a:p>
            <a:pPr marL="3420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하루 중 시간에 따라 외식업체에서 제공하는 메뉴와 서비스 제공물의 성격을 달리하는 것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수요의 가격 탄력성에 대한 명확한 이해를 바탕으로 수요가 낮은 기간에 가격을 할인하여 수요를 조절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텍스트 개체 틀 3">
            <a:extLst>
              <a:ext uri="{FF2B5EF4-FFF2-40B4-BE49-F238E27FC236}">
                <a16:creationId xmlns:a16="http://schemas.microsoft.com/office/drawing/2014/main" id="{E9207061-58E9-40FB-92A7-DB00883CE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3.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공급 관리 전략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F11F1E2-8A59-4DA2-95EE-A77D4811DF9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6855A3-3A50-4419-86F0-DADC3215C06F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3F9D4A4C-CD22-4F77-8874-E42D99DCB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성수기 수요에 맞춰 공급능력 늘리기</a:t>
            </a:r>
          </a:p>
        </p:txBody>
      </p:sp>
      <p:sp>
        <p:nvSpPr>
          <p:cNvPr id="21507" name="내용 개체 틀 2">
            <a:extLst>
              <a:ext uri="{FF2B5EF4-FFF2-40B4-BE49-F238E27FC236}">
                <a16:creationId xmlns:a16="http://schemas.microsoft.com/office/drawing/2014/main" id="{1FE70A72-A449-48C8-A927-4DABC6DAF4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수요를 수용하기 위해 일시적으로 서비스 시간을 연장하는 것이 가능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피크 타임에는 사용 가능한 모든 공급능력인력과 시설을 가장 중요한 서비스에 집중시켜 서비스 품질을 유지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성수기 수요에 맞추어 파트 타임 직원을 고용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만약 직원이 다양한 분야에 걸쳐 훈련</a:t>
            </a:r>
            <a:r>
              <a:rPr lang="en-US" altLang="ko-KR" sz="1800" dirty="0"/>
              <a:t>(cross-train)</a:t>
            </a:r>
            <a:r>
              <a:rPr lang="ko-KR" altLang="en-US" sz="1800" dirty="0"/>
              <a:t>이 되어 있다면</a:t>
            </a:r>
            <a:r>
              <a:rPr lang="en-US" altLang="ko-KR" sz="1800" dirty="0"/>
              <a:t>, </a:t>
            </a:r>
            <a:r>
              <a:rPr lang="ko-KR" altLang="en-US" sz="1800" dirty="0"/>
              <a:t>교차 근무가 가능하기 때문에</a:t>
            </a:r>
            <a:endParaRPr lang="en-US" altLang="ko-KR" sz="1800" dirty="0"/>
          </a:p>
          <a:p>
            <a:pPr marL="3420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필요로 하는 곳에 유연하게 인력을 전환 배치할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일시적인 수요가 있을 때 추가적으로 인력을 고용하기보다 전체 서비스에 대하여 </a:t>
            </a:r>
            <a:endParaRPr lang="en-US" altLang="ko-KR" sz="1800" dirty="0"/>
          </a:p>
          <a:p>
            <a:pPr marL="3420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아웃소싱</a:t>
            </a:r>
            <a:r>
              <a:rPr lang="en-US" altLang="ko-KR" sz="1800" dirty="0"/>
              <a:t>(outsourcing)</a:t>
            </a:r>
            <a:r>
              <a:rPr lang="ko-KR" altLang="en-US" sz="1800" dirty="0"/>
              <a:t>을 활용할 수 있음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9E3A669B-5373-499C-A84D-3142659EA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비수기 수요에 맞춰 공급능력 조정하기</a:t>
            </a:r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ABC9C175-7991-4209-B05C-C909225679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수요가 적은 시간에 인력을 줄이거나 레스토랑 영업을 중지하여 공급능력과 수요를 일치시킬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기존의 시설과 장비를 조정하거나 이동하는 등의 창조적 개선을 통해 수요 변동에 맞출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비수기 기간 동안 </a:t>
            </a:r>
            <a:r>
              <a:rPr lang="ko-KR" altLang="en-US" sz="1800" dirty="0" err="1"/>
              <a:t>업장의</a:t>
            </a:r>
            <a:r>
              <a:rPr lang="ko-KR" altLang="en-US" sz="1800" dirty="0"/>
              <a:t> 장비 및 시설을 유지 관리하고 개보수 작업을 진행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비수기 동안 직원들의 휴가를 제공하거나</a:t>
            </a:r>
            <a:r>
              <a:rPr lang="en-US" altLang="ko-KR" sz="1800" dirty="0"/>
              <a:t>, </a:t>
            </a:r>
            <a:r>
              <a:rPr lang="ko-KR" altLang="en-US" sz="1800" dirty="0"/>
              <a:t>직원들의 교육 훈련을 위해 전략적으로 활용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텍스트 개체 틀 3">
            <a:extLst>
              <a:ext uri="{FF2B5EF4-FFF2-40B4-BE49-F238E27FC236}">
                <a16:creationId xmlns:a16="http://schemas.microsoft.com/office/drawing/2014/main" id="{FFD5BEDE-4261-493F-9398-325153620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4. 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외식서비스 대기 관리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DAD365-F759-4B31-BA86-9A2A3E2C4EB9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07666A4-E8E4-490C-BD70-FEDC9B98F15F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E3C0D8D3-7291-495C-884B-EBBF070B9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다양한 대기 행렬 활용</a:t>
            </a:r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F389B3CE-2457-46E7-8B59-FB298D95C7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046480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고객이 서비스를 받기 위해서 기꺼이 기다릴 수 있는 인내의 한계를 확인하고 고 객이 기다리는 동안 시간을 즐겁고 빠르게 보낼 수 있도록 하는 것이 중요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sz="1800" dirty="0"/>
          </a:p>
        </p:txBody>
      </p:sp>
      <p:pic>
        <p:nvPicPr>
          <p:cNvPr id="27652" name="그림 1">
            <a:extLst>
              <a:ext uri="{FF2B5EF4-FFF2-40B4-BE49-F238E27FC236}">
                <a16:creationId xmlns:a16="http://schemas.microsoft.com/office/drawing/2014/main" id="{61C5ACE1-B555-4DD4-B0F9-0A3804EF41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725" y="2432050"/>
            <a:ext cx="6584950" cy="372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A922D3A7-100F-41CC-9752-270444EA2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예약 시스템 도입</a:t>
            </a:r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10FBC493-C60A-4423-91C2-7846D0F1A5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예약 시스템은 고객이 도착했을 때 단순히 바로 서비스를 이용할 수 있도록 하여 기다리는 </a:t>
            </a:r>
            <a:endParaRPr lang="en-US" altLang="ko-KR" sz="1800" dirty="0"/>
          </a:p>
          <a:p>
            <a:pPr marL="2844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시간을 감소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예약을 함으로써 고객은 서비스를 받기 위해 기다릴 필요가 없으며</a:t>
            </a:r>
            <a:r>
              <a:rPr lang="en-US" altLang="ko-KR" sz="1800" dirty="0"/>
              <a:t>, </a:t>
            </a:r>
            <a:r>
              <a:rPr lang="ko-KR" altLang="en-US" sz="1800" dirty="0"/>
              <a:t>레스토랑도 수요를 사전에 </a:t>
            </a:r>
            <a:endParaRPr lang="en-US" altLang="ko-KR" sz="1800" dirty="0"/>
          </a:p>
          <a:p>
            <a:pPr marL="2844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예측할 수 있으므로 수요 관리가 가능하고 서비스의 질을 유지하기가 쉬움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정확한 수요 예측을 바탕으로 정교한 예약 시스템을 갖추어 초과 예약의 위험을 사전에 방지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ko-KR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1E45C220-E0B4-40BA-AE96-9F0F8EA091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 </a:t>
            </a:r>
            <a:r>
              <a:rPr lang="ko-KR" altLang="en-US"/>
              <a:t>대기 관련 정보 제공</a:t>
            </a:r>
          </a:p>
        </p:txBody>
      </p:sp>
      <p:sp>
        <p:nvSpPr>
          <p:cNvPr id="31747" name="내용 개체 틀 2">
            <a:extLst>
              <a:ext uri="{FF2B5EF4-FFF2-40B4-BE49-F238E27FC236}">
                <a16:creationId xmlns:a16="http://schemas.microsoft.com/office/drawing/2014/main" id="{5FB407E6-5C62-4473-AC69-9F163A2828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0506353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대기의 혼잡한 정도를 고객에게 알려 주어 대기라인이 짧거나 덜 혼잡한 곳을 선택하여</a:t>
            </a:r>
            <a:endParaRPr lang="en-US" altLang="ko-KR" sz="1800" dirty="0"/>
          </a:p>
          <a:p>
            <a:pPr marL="2844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서비스를 이용하도록 하는 방법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체인 레스토랑의 경우 예약 및 대기 고객이 많은 혼잡한 점포와 그렇지 않은 점포를 사전에 </a:t>
            </a:r>
            <a:endParaRPr lang="en-US" altLang="ko-KR" sz="1800" dirty="0"/>
          </a:p>
          <a:p>
            <a:pPr marL="28440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알 수 있다면 고객은 대기를 피할 수 있는 레스토랑을 선택하여 방문할 수 있을 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CD3B7F9D-7E2D-40F6-8217-B89EBF91F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4) </a:t>
            </a:r>
            <a:r>
              <a:rPr lang="ko-KR" altLang="en-US"/>
              <a:t>스마트 오더 시스템 도입</a:t>
            </a:r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0F9E0425-156C-4F56-9EEA-B58FFA71BD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매장에서의 서비스 대기라인을 제거할 수 있는 스마트 오더 시스템을 활용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FA9E19D-5B6D-40B5-ABAA-9C4185B7C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856" y="1821873"/>
            <a:ext cx="6010275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0088AB1B-4439-4644-98EC-3D9D49EA7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 </a:t>
            </a:r>
            <a:r>
              <a:rPr lang="ko-KR" altLang="en-US"/>
              <a:t>기다림에 대한 인식 관리</a:t>
            </a:r>
          </a:p>
        </p:txBody>
      </p:sp>
      <p:sp>
        <p:nvSpPr>
          <p:cNvPr id="35843" name="내용 개체 틀 2">
            <a:extLst>
              <a:ext uri="{FF2B5EF4-FFF2-40B4-BE49-F238E27FC236}">
                <a16:creationId xmlns:a16="http://schemas.microsoft.com/office/drawing/2014/main" id="{9660DCCC-72CF-43BD-96F0-4EC47CD7DC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대기시간 동안 서비스 관련 활동을 제공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고객의 걱정을 최소화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고객에게 대기시간을 알려 주기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기다리는 이유를 명확히 설명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공정한 대기 시스템을 마련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텍스트 개체 틀 3">
            <a:extLst>
              <a:ext uri="{FF2B5EF4-FFF2-40B4-BE49-F238E27FC236}">
                <a16:creationId xmlns:a16="http://schemas.microsoft.com/office/drawing/2014/main" id="{A0B727A6-DBF4-4A8A-A3AE-14BAFF87A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5. 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수익 경영 관리 도구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6B2DC3-BC9D-45D7-8EED-0FF12ACBAFA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7B0D8D-1EDC-4623-B39E-8623F648E611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E1CA1EC7-FDFB-4FA4-BB92-EA70090CB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좌석 회전율과 만석률</a:t>
            </a:r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C83C0ED6-FDA1-4F82-82DB-B694B1AFCB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0327243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좌석 </a:t>
            </a:r>
            <a:r>
              <a:rPr lang="ko-KR" altLang="en-US" sz="1800" dirty="0" err="1"/>
              <a:t>만석률</a:t>
            </a:r>
            <a:r>
              <a:rPr lang="ko-KR" altLang="en-US" sz="1800" dirty="0"/>
              <a:t> </a:t>
            </a:r>
            <a:r>
              <a:rPr lang="en-US" altLang="ko-KR" sz="1800" dirty="0"/>
              <a:t>:</a:t>
            </a:r>
            <a:r>
              <a:rPr lang="ko-KR" altLang="en-US" sz="1800" dirty="0"/>
              <a:t> 식사 시간대를 기준으로 공급능력인 좌석 수 대비 고 객이 점유하고 있는 좌석 수의  비율을 의미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좌석 회전율 </a:t>
            </a:r>
            <a:r>
              <a:rPr lang="en-US" altLang="ko-KR" sz="1800" dirty="0"/>
              <a:t>:</a:t>
            </a:r>
            <a:r>
              <a:rPr lang="ko-KR" altLang="en-US" sz="1800" dirty="0"/>
              <a:t> 같은 좌석에 몇 명 의 고객이 서비스를 받았는가를 의미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방문하는 고객 그룹의 규모에 따라 테이블을 전략적으로 배치하거나 수요에 따라 테이블과 좌석을 효율적으로 재배치함으로써 빈 좌석의 발생을 최소화하는 노력이 중요하고</a:t>
            </a:r>
            <a:r>
              <a:rPr lang="en-US" altLang="ko-KR" sz="1800" dirty="0"/>
              <a:t>, </a:t>
            </a:r>
            <a:r>
              <a:rPr lang="ko-KR" altLang="en-US" sz="1800" dirty="0"/>
              <a:t>또한 고객 수요가 몰리는 시간대에는 착석 후 음식이 나오는 시간을 최소화하여 고객 회전율을 최대한 높이는 전략이 필요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43D1ABCA-055E-4C5A-A385-51A93124B0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가용 좌석 시간당 수익 </a:t>
            </a:r>
            <a:r>
              <a:rPr lang="en-US" altLang="ko-KR"/>
              <a:t>: RevPASH</a:t>
            </a:r>
            <a:endParaRPr lang="ko-KR" altLang="en-US"/>
          </a:p>
        </p:txBody>
      </p:sp>
      <p:sp>
        <p:nvSpPr>
          <p:cNvPr id="41987" name="내용 개체 틀 2">
            <a:extLst>
              <a:ext uri="{FF2B5EF4-FFF2-40B4-BE49-F238E27FC236}">
                <a16:creationId xmlns:a16="http://schemas.microsoft.com/office/drawing/2014/main" id="{CB6C2DF4-7DE5-49F4-B0DE-0142E6A6B9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수익 경영 관점에서의 영업성과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가능한 좌석시간당 수입으로 측정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RevPASH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(Revenue per Available Seat Hour)</a:t>
            </a:r>
          </a:p>
          <a:p>
            <a:pPr marL="742950" lvl="1" indent="-285750" algn="just">
              <a:lnSpc>
                <a:spcPct val="150000"/>
              </a:lnSpc>
              <a:buClrTx/>
              <a:buFontTx/>
              <a:buChar char="-"/>
            </a:pPr>
            <a:r>
              <a:rPr lang="ko-KR" altLang="en-US" sz="1800" dirty="0">
                <a:cs typeface="함초롬돋움" panose="020B0604000101010101" pitchFamily="50" charset="-127"/>
              </a:rPr>
              <a:t>가용좌석시간당 수익지표</a:t>
            </a:r>
            <a:endParaRPr lang="en-US" altLang="ko-KR" sz="1800" dirty="0">
              <a:cs typeface="함초롬돋움" panose="020B0604000101010101" pitchFamily="50" charset="-127"/>
            </a:endParaRPr>
          </a:p>
          <a:p>
            <a:pPr marL="742950" lvl="1" indent="-285750" algn="just">
              <a:lnSpc>
                <a:spcPct val="150000"/>
              </a:lnSpc>
              <a:buClrTx/>
              <a:buFontTx/>
              <a:buChar char="-"/>
            </a:pPr>
            <a:r>
              <a:rPr lang="ko-KR" altLang="en-US" sz="1800" dirty="0">
                <a:cs typeface="함초롬돋움" panose="020B0604000101010101" pitchFamily="50" charset="-127"/>
              </a:rPr>
              <a:t>성과를 가능한 좌석시간당 변수로 측정</a:t>
            </a:r>
            <a:r>
              <a:rPr lang="en-US" altLang="ko-KR" sz="1800" dirty="0"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cs typeface="함초롬돋움" panose="020B0604000101010101" pitchFamily="50" charset="-127"/>
              </a:rPr>
              <a:t>수요와 생산 가능한 공급능력이 효율적으로 이용되고 있는가</a:t>
            </a:r>
            <a:r>
              <a:rPr lang="en-US" altLang="ko-KR" sz="1800" dirty="0">
                <a:cs typeface="함초롬돋움" panose="020B0604000101010101" pitchFamily="50" charset="-127"/>
              </a:rPr>
              <a:t> </a:t>
            </a:r>
            <a:r>
              <a:rPr lang="ko-KR" altLang="en-US" sz="1800" dirty="0">
                <a:cs typeface="함초롬돋움" panose="020B0604000101010101" pitchFamily="50" charset="-127"/>
              </a:rPr>
              <a:t>파악</a:t>
            </a:r>
            <a:endParaRPr lang="en-US" altLang="ko-KR" sz="1800" dirty="0">
              <a:cs typeface="함초롬돋움" panose="020B0604000101010101" pitchFamily="50" charset="-127"/>
            </a:endParaRPr>
          </a:p>
          <a:p>
            <a:pPr marL="742950" lvl="1" indent="-285750" algn="just">
              <a:lnSpc>
                <a:spcPct val="150000"/>
              </a:lnSpc>
            </a:pP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41988" name="Picture 2">
            <a:extLst>
              <a:ext uri="{FF2B5EF4-FFF2-40B4-BE49-F238E27FC236}">
                <a16:creationId xmlns:a16="http://schemas.microsoft.com/office/drawing/2014/main" id="{585E12F6-99E3-432B-98D3-C42B49F2E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3898900"/>
            <a:ext cx="8077200" cy="2779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제목 1">
            <a:extLst>
              <a:ext uri="{FF2B5EF4-FFF2-40B4-BE49-F238E27FC236}">
                <a16:creationId xmlns:a16="http://schemas.microsoft.com/office/drawing/2014/main" id="{2AFBEB11-9752-4728-A662-8E7515BE53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가용 좌석 시간당 수익 </a:t>
            </a:r>
            <a:r>
              <a:rPr lang="en-US" altLang="ko-KR"/>
              <a:t>: RevPASH</a:t>
            </a:r>
            <a:endParaRPr lang="ko-KR" altLang="en-US"/>
          </a:p>
        </p:txBody>
      </p:sp>
      <p:sp>
        <p:nvSpPr>
          <p:cNvPr id="44035" name="내용 개체 틀 2">
            <a:extLst>
              <a:ext uri="{FF2B5EF4-FFF2-40B4-BE49-F238E27FC236}">
                <a16:creationId xmlns:a16="http://schemas.microsoft.com/office/drawing/2014/main" id="{DDDD50D6-4D06-4F75-8707-2BF534CDE5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레스토랑 평균 가용좌석 시간 당 수익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 7700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원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영업시간당 평균 좌석 활용률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 60% </a:t>
            </a:r>
          </a:p>
          <a:p>
            <a:pPr marL="457200" lvl="1" algn="just">
              <a:lnSpc>
                <a:spcPct val="150000"/>
              </a:lnSpc>
            </a:pPr>
            <a:endParaRPr lang="en-US" altLang="ko-KR" sz="1600" dirty="0">
              <a:cs typeface="함초롬돋움" panose="020B0604000101010101" pitchFamily="50" charset="-127"/>
            </a:endParaRPr>
          </a:p>
        </p:txBody>
      </p:sp>
      <p:pic>
        <p:nvPicPr>
          <p:cNvPr id="44036" name="그림 1">
            <a:extLst>
              <a:ext uri="{FF2B5EF4-FFF2-40B4-BE49-F238E27FC236}">
                <a16:creationId xmlns:a16="http://schemas.microsoft.com/office/drawing/2014/main" id="{47EBDDAF-4A94-4D60-9209-45AAE5827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278063"/>
            <a:ext cx="7377113" cy="457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제목 1">
            <a:extLst>
              <a:ext uri="{FF2B5EF4-FFF2-40B4-BE49-F238E27FC236}">
                <a16:creationId xmlns:a16="http://schemas.microsoft.com/office/drawing/2014/main" id="{F4C0A00E-085D-4A49-9C45-E99CCDDCD3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 dirty="0"/>
              <a:t>2) </a:t>
            </a:r>
            <a:r>
              <a:rPr lang="ko-KR" altLang="en-US" dirty="0"/>
              <a:t>가용 좌석 시간당 수익 </a:t>
            </a:r>
            <a:r>
              <a:rPr lang="en-US" altLang="ko-KR" dirty="0"/>
              <a:t>: </a:t>
            </a:r>
            <a:r>
              <a:rPr lang="en-US" altLang="ko-KR" dirty="0" err="1"/>
              <a:t>RevPASH</a:t>
            </a:r>
            <a:endParaRPr lang="ko-KR" altLang="en-US" dirty="0"/>
          </a:p>
        </p:txBody>
      </p:sp>
      <p:sp>
        <p:nvSpPr>
          <p:cNvPr id="46083" name="내용 개체 틀 2">
            <a:extLst>
              <a:ext uri="{FF2B5EF4-FFF2-40B4-BE49-F238E27FC236}">
                <a16:creationId xmlns:a16="http://schemas.microsoft.com/office/drawing/2014/main" id="{724A8966-AE5C-4731-B086-821DB21BD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비수기 시간대를 활용한 이후 변화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레스토랑 평균 가용좌석 시간 당 수익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 7610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원으로 상승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영업시간당 평균 좌석 활용률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 70%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으로 상승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457200" lvl="1" algn="just">
              <a:lnSpc>
                <a:spcPct val="150000"/>
              </a:lnSpc>
            </a:pP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46084" name="그림 1">
            <a:extLst>
              <a:ext uri="{FF2B5EF4-FFF2-40B4-BE49-F238E27FC236}">
                <a16:creationId xmlns:a16="http://schemas.microsoft.com/office/drawing/2014/main" id="{DFAE146D-8662-4266-B8BC-FF02092993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3276600"/>
            <a:ext cx="7369175" cy="324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제목 1">
            <a:extLst>
              <a:ext uri="{FF2B5EF4-FFF2-40B4-BE49-F238E27FC236}">
                <a16:creationId xmlns:a16="http://schemas.microsoft.com/office/drawing/2014/main" id="{C78DDEAC-20D3-4AE9-98A4-CA3B908DA5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가용 좌석 시간당 수익 </a:t>
            </a:r>
            <a:r>
              <a:rPr lang="en-US" altLang="ko-KR"/>
              <a:t>: RevPASH</a:t>
            </a:r>
            <a:endParaRPr lang="ko-KR" altLang="en-US"/>
          </a:p>
        </p:txBody>
      </p:sp>
      <p:sp>
        <p:nvSpPr>
          <p:cNvPr id="48131" name="내용 개체 틀 2">
            <a:extLst>
              <a:ext uri="{FF2B5EF4-FFF2-40B4-BE49-F238E27FC236}">
                <a16:creationId xmlns:a16="http://schemas.microsoft.com/office/drawing/2014/main" id="{53A8084C-E867-4508-B572-4D19915FBF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1274763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RevPASH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이용을 통해 영업시간당 수익이 높고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낮은 시간대에 따라 수익을 최대화 할 수 있는 방안 모색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457200" lvl="1" algn="just">
              <a:lnSpc>
                <a:spcPct val="150000"/>
              </a:lnSpc>
            </a:pPr>
            <a:endParaRPr lang="en-US" altLang="ko-KR" sz="16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48132" name="그림 2">
            <a:extLst>
              <a:ext uri="{FF2B5EF4-FFF2-40B4-BE49-F238E27FC236}">
                <a16:creationId xmlns:a16="http://schemas.microsoft.com/office/drawing/2014/main" id="{E8D48F5D-E39F-4D41-969B-63C84704F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3429000"/>
            <a:ext cx="8893175" cy="271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제목 1">
            <a:extLst>
              <a:ext uri="{FF2B5EF4-FFF2-40B4-BE49-F238E27FC236}">
                <a16:creationId xmlns:a16="http://schemas.microsoft.com/office/drawing/2014/main" id="{622D8192-2301-45D3-BAC3-5F210638F9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가용 좌석 시간당 수익 </a:t>
            </a:r>
            <a:r>
              <a:rPr lang="en-US" altLang="ko-KR"/>
              <a:t>: RevPASH</a:t>
            </a:r>
            <a:endParaRPr lang="ko-KR" altLang="en-US"/>
          </a:p>
        </p:txBody>
      </p:sp>
      <p:pic>
        <p:nvPicPr>
          <p:cNvPr id="50179" name="그림 3">
            <a:extLst>
              <a:ext uri="{FF2B5EF4-FFF2-40B4-BE49-F238E27FC236}">
                <a16:creationId xmlns:a16="http://schemas.microsoft.com/office/drawing/2014/main" id="{A461C085-AE96-4B9B-81F9-13262EC4A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663" y="1019175"/>
            <a:ext cx="5273675" cy="583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3163</TotalTime>
  <Words>827</Words>
  <Application>Microsoft Office PowerPoint</Application>
  <PresentationFormat>와이드스크린</PresentationFormat>
  <Paragraphs>107</Paragraphs>
  <Slides>24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굴림</vt:lpstr>
      <vt:lpstr>Arial</vt:lpstr>
      <vt:lpstr>맑은 고딕</vt:lpstr>
      <vt:lpstr>Verdana</vt:lpstr>
      <vt:lpstr>서울한강 장체 L</vt:lpstr>
      <vt:lpstr>서울남산 장체 L</vt:lpstr>
      <vt:lpstr>함초롬돋움</vt:lpstr>
      <vt:lpstr>서울남산 장체 EB</vt:lpstr>
      <vt:lpstr>Wingdings</vt:lpstr>
      <vt:lpstr>sample</vt:lpstr>
      <vt:lpstr>PowerPoint 프레젠테이션</vt:lpstr>
      <vt:lpstr>PowerPoint 프레젠테이션</vt:lpstr>
      <vt:lpstr>1) 무엇이 레스토랑의 수익을 제한하는가? </vt:lpstr>
      <vt:lpstr>2) 외식서비스의 수요와 공급의 조화</vt:lpstr>
      <vt:lpstr>2) 외식서비스의 수요와 공급의 조화</vt:lpstr>
      <vt:lpstr>PowerPoint 프레젠테이션</vt:lpstr>
      <vt:lpstr>1) 성수기의 수요 감소시키기</vt:lpstr>
      <vt:lpstr>2) 비수기의 수요 증가시키기</vt:lpstr>
      <vt:lpstr>PowerPoint 프레젠테이션</vt:lpstr>
      <vt:lpstr>1) 성수기 수요에 맞춰 공급능력 늘리기</vt:lpstr>
      <vt:lpstr>2) 비수기 수요에 맞춰 공급능력 조정하기</vt:lpstr>
      <vt:lpstr>PowerPoint 프레젠테이션</vt:lpstr>
      <vt:lpstr>1) 다양한 대기 행렬 활용</vt:lpstr>
      <vt:lpstr>2) 예약 시스템 도입</vt:lpstr>
      <vt:lpstr>3) 대기 관련 정보 제공</vt:lpstr>
      <vt:lpstr>4) 스마트 오더 시스템 도입</vt:lpstr>
      <vt:lpstr>5) 기다림에 대한 인식 관리</vt:lpstr>
      <vt:lpstr>PowerPoint 프레젠테이션</vt:lpstr>
      <vt:lpstr>1) 좌석 회전율과 만석률</vt:lpstr>
      <vt:lpstr>2) 가용 좌석 시간당 수익 : RevPASH</vt:lpstr>
      <vt:lpstr>2) 가용 좌석 시간당 수익 : RevPASH</vt:lpstr>
      <vt:lpstr>2) 가용 좌석 시간당 수익 : RevPASH</vt:lpstr>
      <vt:lpstr>2) 가용 좌석 시간당 수익 : RevPASH</vt:lpstr>
      <vt:lpstr>2) 가용 좌석 시간당 수익 : RevPASH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user</cp:lastModifiedBy>
  <cp:revision>110</cp:revision>
  <dcterms:created xsi:type="dcterms:W3CDTF">2022-02-07T06:24:49Z</dcterms:created>
  <dcterms:modified xsi:type="dcterms:W3CDTF">2022-05-10T13:19:54Z</dcterms:modified>
</cp:coreProperties>
</file>