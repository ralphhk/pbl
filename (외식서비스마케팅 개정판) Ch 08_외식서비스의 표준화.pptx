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60" r:id="rId1"/>
  </p:sldMasterIdLst>
  <p:notesMasterIdLst>
    <p:notesMasterId r:id="rId41"/>
  </p:notesMasterIdLst>
  <p:sldIdLst>
    <p:sldId id="278" r:id="rId2"/>
    <p:sldId id="280" r:id="rId3"/>
    <p:sldId id="279" r:id="rId4"/>
    <p:sldId id="310" r:id="rId5"/>
    <p:sldId id="281" r:id="rId6"/>
    <p:sldId id="282" r:id="rId7"/>
    <p:sldId id="283" r:id="rId8"/>
    <p:sldId id="314" r:id="rId9"/>
    <p:sldId id="315" r:id="rId10"/>
    <p:sldId id="316" r:id="rId11"/>
    <p:sldId id="293" r:id="rId12"/>
    <p:sldId id="317" r:id="rId13"/>
    <p:sldId id="318" r:id="rId14"/>
    <p:sldId id="288" r:id="rId15"/>
    <p:sldId id="333" r:id="rId16"/>
    <p:sldId id="319" r:id="rId17"/>
    <p:sldId id="334" r:id="rId18"/>
    <p:sldId id="320" r:id="rId19"/>
    <p:sldId id="321" r:id="rId20"/>
    <p:sldId id="322" r:id="rId21"/>
    <p:sldId id="323" r:id="rId22"/>
    <p:sldId id="311" r:id="rId23"/>
    <p:sldId id="337" r:id="rId24"/>
    <p:sldId id="324" r:id="rId25"/>
    <p:sldId id="335" r:id="rId26"/>
    <p:sldId id="336" r:id="rId27"/>
    <p:sldId id="339" r:id="rId28"/>
    <p:sldId id="338" r:id="rId29"/>
    <p:sldId id="304" r:id="rId30"/>
    <p:sldId id="292" r:id="rId31"/>
    <p:sldId id="312" r:id="rId32"/>
    <p:sldId id="325" r:id="rId33"/>
    <p:sldId id="313" r:id="rId34"/>
    <p:sldId id="326" r:id="rId35"/>
    <p:sldId id="328" r:id="rId36"/>
    <p:sldId id="329" r:id="rId37"/>
    <p:sldId id="330" r:id="rId38"/>
    <p:sldId id="332" r:id="rId39"/>
    <p:sldId id="331" r:id="rId40"/>
  </p:sldIdLst>
  <p:sldSz cx="12192000" cy="6858000"/>
  <p:notesSz cx="6858000" cy="9144000"/>
  <p:embeddedFontLst>
    <p:embeddedFont>
      <p:font typeface="Verdana" panose="020B0604030504040204" pitchFamily="34" charset="0"/>
      <p:regular r:id="rId42"/>
      <p:bold r:id="rId43"/>
      <p:italic r:id="rId44"/>
      <p:boldItalic r:id="rId45"/>
    </p:embeddedFont>
    <p:embeddedFont>
      <p:font typeface="맑은 고딕" panose="020B0503020000020004" pitchFamily="50" charset="-127"/>
      <p:regular r:id="rId46"/>
      <p:bold r:id="rId47"/>
    </p:embeddedFont>
    <p:embeddedFont>
      <p:font typeface="서울남산 장체 EB" panose="02020503020101020101" pitchFamily="18" charset="-127"/>
      <p:regular r:id="rId48"/>
    </p:embeddedFont>
    <p:embeddedFont>
      <p:font typeface="서울남산 장체 L" panose="02020503020101020101" pitchFamily="18" charset="-127"/>
      <p:regular r:id="rId49"/>
    </p:embeddedFont>
    <p:embeddedFont>
      <p:font typeface="서울남산 장체 M" panose="02020503020101020101" pitchFamily="18" charset="-127"/>
      <p:regular r:id="rId50"/>
    </p:embeddedFont>
    <p:embeddedFont>
      <p:font typeface="서울한강 장체 L" panose="02020503020101020101" pitchFamily="18" charset="-127"/>
      <p:regular r:id="rId51"/>
    </p:embeddedFont>
    <p:embeddedFont>
      <p:font typeface="함초롬돋움" panose="02030504000101010101" pitchFamily="18" charset="-127"/>
      <p:regular r:id="rId52"/>
      <p:bold r:id="rId53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1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F2D1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64892" autoAdjust="0"/>
  </p:normalViewPr>
  <p:slideViewPr>
    <p:cSldViewPr snapToGrid="0" showGuides="1">
      <p:cViewPr varScale="1">
        <p:scale>
          <a:sx n="70" d="100"/>
          <a:sy n="70" d="100"/>
        </p:scale>
        <p:origin x="2070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1.fntdata"/><Relationship Id="rId47" Type="http://schemas.openxmlformats.org/officeDocument/2006/relationships/font" Target="fonts/font6.fntdata"/><Relationship Id="rId50" Type="http://schemas.openxmlformats.org/officeDocument/2006/relationships/font" Target="fonts/font9.fntdata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font" Target="fonts/font4.fntdata"/><Relationship Id="rId53" Type="http://schemas.openxmlformats.org/officeDocument/2006/relationships/font" Target="fonts/font12.fntdata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font" Target="fonts/font2.fntdata"/><Relationship Id="rId48" Type="http://schemas.openxmlformats.org/officeDocument/2006/relationships/font" Target="fonts/font7.fntdata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font" Target="fonts/font10.fntdata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font" Target="fonts/font5.fntdata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font" Target="fonts/font8.fntdata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font" Target="fonts/font3.fntdata"/><Relationship Id="rId52" Type="http://schemas.openxmlformats.org/officeDocument/2006/relationships/font" Target="fonts/font11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>
            <a:extLst>
              <a:ext uri="{FF2B5EF4-FFF2-40B4-BE49-F238E27FC236}">
                <a16:creationId xmlns:a16="http://schemas.microsoft.com/office/drawing/2014/main" id="{67302489-F4A2-427F-9B29-2CA98139F64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0AC7EBE1-BC25-4302-B497-ACBAF7F738CA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3D0FAC5-5D03-4D3E-A16B-9967A16FBA62}" type="datetimeFigureOut">
              <a:rPr lang="ko-KR" altLang="en-US"/>
              <a:pPr>
                <a:defRPr/>
              </a:pPr>
              <a:t>2022-05-10</a:t>
            </a:fld>
            <a:endParaRPr lang="ko-KR" altLang="en-US"/>
          </a:p>
        </p:txBody>
      </p:sp>
      <p:sp>
        <p:nvSpPr>
          <p:cNvPr id="4" name="슬라이드 이미지 개체 틀 3">
            <a:extLst>
              <a:ext uri="{FF2B5EF4-FFF2-40B4-BE49-F238E27FC236}">
                <a16:creationId xmlns:a16="http://schemas.microsoft.com/office/drawing/2014/main" id="{FA7496ED-8294-4EE6-8A74-1AA01A6A6581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ko-KR" altLang="en-US" noProof="0"/>
          </a:p>
        </p:txBody>
      </p:sp>
      <p:sp>
        <p:nvSpPr>
          <p:cNvPr id="5" name="슬라이드 노트 개체 틀 4">
            <a:extLst>
              <a:ext uri="{FF2B5EF4-FFF2-40B4-BE49-F238E27FC236}">
                <a16:creationId xmlns:a16="http://schemas.microsoft.com/office/drawing/2014/main" id="{AA2F86E2-0539-41ED-A90A-148874BAC33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noProof="0"/>
              <a:t>마스터 텍스트 스타일 편집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20790F66-B257-4489-B838-2F940178C756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49B145D-F3ED-4179-8949-32DDC1FDFC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4E41D0C-874C-412D-A66B-4A6C9C83F491}" type="slidenum">
              <a:rPr lang="ko-KR" altLang="en-US"/>
              <a:pPr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슬라이드 이미지 개체 틀 1">
            <a:extLst>
              <a:ext uri="{FF2B5EF4-FFF2-40B4-BE49-F238E27FC236}">
                <a16:creationId xmlns:a16="http://schemas.microsoft.com/office/drawing/2014/main" id="{B5217F0D-E5AD-4BC0-83EA-49E7AAC07633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3555" name="슬라이드 노트 개체 틀 2">
            <a:extLst>
              <a:ext uri="{FF2B5EF4-FFF2-40B4-BE49-F238E27FC236}">
                <a16:creationId xmlns:a16="http://schemas.microsoft.com/office/drawing/2014/main" id="{19BE77DE-7EBD-4CA1-B7E7-E60552F797F6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latinLnBrk="0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3556" name="슬라이드 번호 개체 틀 3">
            <a:extLst>
              <a:ext uri="{FF2B5EF4-FFF2-40B4-BE49-F238E27FC236}">
                <a16:creationId xmlns:a16="http://schemas.microsoft.com/office/drawing/2014/main" id="{FFB6D7EF-22C8-4BF0-9A6C-17FFF52855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516C8E86-D002-41E0-BC82-5CD9C744B3A0}" type="slidenum">
              <a:rPr lang="ko-KR" altLang="en-US" smtClean="0"/>
              <a:pPr/>
              <a:t>20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슬라이드 이미지 개체 틀 1">
            <a:extLst>
              <a:ext uri="{FF2B5EF4-FFF2-40B4-BE49-F238E27FC236}">
                <a16:creationId xmlns:a16="http://schemas.microsoft.com/office/drawing/2014/main" id="{BB516D46-416C-48E5-9154-EA1909A7FE52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5603" name="슬라이드 노트 개체 틀 2">
            <a:extLst>
              <a:ext uri="{FF2B5EF4-FFF2-40B4-BE49-F238E27FC236}">
                <a16:creationId xmlns:a16="http://schemas.microsoft.com/office/drawing/2014/main" id="{27DA77A7-86EF-49F5-9156-2763AC3B7CF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latinLnBrk="0" hangingPunct="1">
              <a:spcBef>
                <a:spcPct val="0"/>
              </a:spcBef>
            </a:pPr>
            <a:endParaRPr lang="ko-KR" altLang="en-US" dirty="0"/>
          </a:p>
        </p:txBody>
      </p:sp>
      <p:sp>
        <p:nvSpPr>
          <p:cNvPr id="25604" name="슬라이드 번호 개체 틀 3">
            <a:extLst>
              <a:ext uri="{FF2B5EF4-FFF2-40B4-BE49-F238E27FC236}">
                <a16:creationId xmlns:a16="http://schemas.microsoft.com/office/drawing/2014/main" id="{346D1C95-7885-4B18-B4CF-756BD8AAB16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6E54787A-E8A0-4818-960E-3EDB89442A2B}" type="slidenum">
              <a:rPr lang="ko-KR" altLang="en-US" smtClean="0"/>
              <a:pPr/>
              <a:t>21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>
              <a:defRPr/>
            </a:pPr>
            <a:fld id="{34E41D0C-874C-412D-A66B-4A6C9C83F491}" type="slidenum">
              <a:rPr lang="ko-KR" altLang="en-US" smtClean="0"/>
              <a:pPr>
                <a:defRPr/>
              </a:pPr>
              <a:t>25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9169605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슬라이드 이미지 개체 틀 1">
            <a:extLst>
              <a:ext uri="{FF2B5EF4-FFF2-40B4-BE49-F238E27FC236}">
                <a16:creationId xmlns:a16="http://schemas.microsoft.com/office/drawing/2014/main" id="{65E70536-1A0F-4503-BB81-F354C66C896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7891" name="슬라이드 노트 개체 틀 2">
            <a:extLst>
              <a:ext uri="{FF2B5EF4-FFF2-40B4-BE49-F238E27FC236}">
                <a16:creationId xmlns:a16="http://schemas.microsoft.com/office/drawing/2014/main" id="{707C450C-7392-401F-BCB6-1EBF5B01C2EA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 dirty="0"/>
          </a:p>
        </p:txBody>
      </p:sp>
      <p:sp>
        <p:nvSpPr>
          <p:cNvPr id="37892" name="슬라이드 번호 개체 틀 3">
            <a:extLst>
              <a:ext uri="{FF2B5EF4-FFF2-40B4-BE49-F238E27FC236}">
                <a16:creationId xmlns:a16="http://schemas.microsoft.com/office/drawing/2014/main" id="{2BE0D953-F451-4BE5-99ED-FEB9DBC24FE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87B83816-A351-40B7-8A83-C9B4684A8604}" type="slidenum">
              <a:rPr lang="ko-KR" altLang="en-US" smtClean="0"/>
              <a:pPr/>
              <a:t>37</a:t>
            </a:fld>
            <a:endParaRPr lang="ko-KR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슬라이드 이미지 개체 틀 1">
            <a:extLst>
              <a:ext uri="{FF2B5EF4-FFF2-40B4-BE49-F238E27FC236}">
                <a16:creationId xmlns:a16="http://schemas.microsoft.com/office/drawing/2014/main" id="{C7442C83-710C-41A6-BE22-1EBCBB1A96D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슬라이드 노트 개체 틀 2">
            <a:extLst>
              <a:ext uri="{FF2B5EF4-FFF2-40B4-BE49-F238E27FC236}">
                <a16:creationId xmlns:a16="http://schemas.microsoft.com/office/drawing/2014/main" id="{D3B42EE6-CF46-4988-86D5-E88E59CDFC1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/>
            <a:endParaRPr lang="ko-KR" altLang="en-US" dirty="0"/>
          </a:p>
        </p:txBody>
      </p:sp>
      <p:sp>
        <p:nvSpPr>
          <p:cNvPr id="39940" name="슬라이드 번호 개체 틀 3">
            <a:extLst>
              <a:ext uri="{FF2B5EF4-FFF2-40B4-BE49-F238E27FC236}">
                <a16:creationId xmlns:a16="http://schemas.microsoft.com/office/drawing/2014/main" id="{E6A0C6D9-C255-4C15-B869-72B6BA325D8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fld id="{ED84D749-E70E-4604-BC36-1597BFCC6A8B}" type="slidenum">
              <a:rPr lang="ko-KR" altLang="en-US" smtClean="0"/>
              <a:pPr/>
              <a:t>38</a:t>
            </a:fld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17">
            <a:extLst>
              <a:ext uri="{FF2B5EF4-FFF2-40B4-BE49-F238E27FC236}">
                <a16:creationId xmlns:a16="http://schemas.microsoft.com/office/drawing/2014/main" id="{BFBBBBC8-3238-48E8-AE6A-EF79C092BEEF}"/>
              </a:ext>
            </a:extLst>
          </p:cNvPr>
          <p:cNvSpPr>
            <a:spLocks noChangeArrowheads="1"/>
          </p:cNvSpPr>
          <p:nvPr/>
        </p:nvSpPr>
        <p:spPr bwMode="gray">
          <a:xfrm>
            <a:off x="10672763" y="0"/>
            <a:ext cx="1519237" cy="6858000"/>
          </a:xfrm>
          <a:prstGeom prst="rect">
            <a:avLst/>
          </a:prstGeom>
          <a:solidFill>
            <a:schemeClr val="bg2">
              <a:alpha val="39999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4" name="Rectangle 19">
            <a:extLst>
              <a:ext uri="{FF2B5EF4-FFF2-40B4-BE49-F238E27FC236}">
                <a16:creationId xmlns:a16="http://schemas.microsoft.com/office/drawing/2014/main" id="{EE06E146-B873-47CC-BB35-39841AF7EC02}"/>
              </a:ext>
            </a:extLst>
          </p:cNvPr>
          <p:cNvSpPr>
            <a:spLocks noChangeArrowheads="1"/>
          </p:cNvSpPr>
          <p:nvPr/>
        </p:nvSpPr>
        <p:spPr bwMode="gray">
          <a:xfrm>
            <a:off x="0" y="2149475"/>
            <a:ext cx="12192000" cy="2498725"/>
          </a:xfrm>
          <a:prstGeom prst="rect">
            <a:avLst/>
          </a:prstGeom>
          <a:solidFill>
            <a:schemeClr val="tx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endParaRPr lang="ko-KR" altLang="en-US">
              <a:ea typeface="굴림" panose="020B0600000101010101" pitchFamily="50" charset="-127"/>
            </a:endParaRPr>
          </a:p>
        </p:txBody>
      </p:sp>
      <p:sp>
        <p:nvSpPr>
          <p:cNvPr id="5" name="Freeform 20">
            <a:extLst>
              <a:ext uri="{FF2B5EF4-FFF2-40B4-BE49-F238E27FC236}">
                <a16:creationId xmlns:a16="http://schemas.microsoft.com/office/drawing/2014/main" id="{FBC34B85-8744-4C7D-B166-616084567A01}"/>
              </a:ext>
            </a:extLst>
          </p:cNvPr>
          <p:cNvSpPr>
            <a:spLocks/>
          </p:cNvSpPr>
          <p:nvPr/>
        </p:nvSpPr>
        <p:spPr bwMode="gray">
          <a:xfrm>
            <a:off x="-12700" y="2138363"/>
            <a:ext cx="10687050" cy="22717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folHlink">
              <a:alpha val="7294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idx="1"/>
          </p:nvPr>
        </p:nvSpPr>
        <p:spPr bwMode="white">
          <a:xfrm>
            <a:off x="2724727" y="2539998"/>
            <a:ext cx="7740073" cy="1782618"/>
          </a:xfrm>
        </p:spPr>
        <p:txBody>
          <a:bodyPr anchor="ctr"/>
          <a:lstStyle>
            <a:lvl1pPr marL="0" indent="0" algn="r">
              <a:buFont typeface="Wingdings" panose="05000000000000000000" pitchFamily="2" charset="2"/>
              <a:buNone/>
              <a:defRPr sz="3200">
                <a:solidFill>
                  <a:schemeClr val="bg1"/>
                </a:solidFill>
              </a:defRPr>
            </a:lvl1pPr>
          </a:lstStyle>
          <a:p>
            <a:pPr lvl="0"/>
            <a:r>
              <a:rPr lang="ko-KR" altLang="en-US" noProof="0"/>
              <a:t>클릭하여 마스터 부제목 스타일 편집</a:t>
            </a:r>
            <a:endParaRPr lang="en-US" altLang="ko-KR" noProof="0" dirty="0"/>
          </a:p>
        </p:txBody>
      </p:sp>
    </p:spTree>
    <p:extLst>
      <p:ext uri="{BB962C8B-B14F-4D97-AF65-F5344CB8AC3E}">
        <p14:creationId xmlns:p14="http://schemas.microsoft.com/office/powerpoint/2010/main" val="25634546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41B84924-FE98-4085-AB8A-9A32095D0457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B81CF1A5-34AC-4951-A229-5CA2B390CA3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FE0B902-9A41-46FF-8B1B-D9FE43941F4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1161602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2853028"/>
            <a:ext cx="10515600" cy="1500187"/>
          </a:xfrm>
        </p:spPr>
        <p:txBody>
          <a:bodyPr anchor="b"/>
          <a:lstStyle>
            <a:lvl1pPr marL="0" indent="0">
              <a:buNone/>
              <a:defRPr sz="28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0016A288-D488-4171-BD18-B43BCF2ADC4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40E8751C-9A54-4625-B0BC-CCF8F331100D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3F8AA1F-EF7A-473A-BF17-A4D77451BAD8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7692682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92717" y="383056"/>
            <a:ext cx="10515600" cy="549274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320365" y="1210797"/>
            <a:ext cx="5827374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320365" y="2029946"/>
            <a:ext cx="5827374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652247" y="1206034"/>
            <a:ext cx="5856070" cy="971354"/>
          </a:xfrm>
        </p:spPr>
        <p:txBody>
          <a:bodyPr/>
          <a:lstStyle>
            <a:lvl1pPr marL="0" indent="0">
              <a:buNone/>
              <a:defRPr sz="20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dirty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652247" y="2029946"/>
            <a:ext cx="5856070" cy="434396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</a:lstStyle>
          <a:p>
            <a:pPr lvl="0"/>
            <a:endParaRPr lang="en-US" altLang="ko-KR" dirty="0"/>
          </a:p>
          <a:p>
            <a:pPr lvl="0"/>
            <a:r>
              <a:rPr lang="ko-KR" altLang="en-US" dirty="0"/>
              <a:t>마스터 텍스트 스타일 편집</a:t>
            </a:r>
          </a:p>
          <a:p>
            <a:pPr lvl="1"/>
            <a:r>
              <a:rPr lang="ko-KR" altLang="en-US" dirty="0"/>
              <a:t>둘째 수준</a:t>
            </a:r>
          </a:p>
          <a:p>
            <a:pPr lvl="2"/>
            <a:r>
              <a:rPr lang="ko-KR" altLang="en-US" dirty="0"/>
              <a:t>셋째 수준</a:t>
            </a:r>
          </a:p>
          <a:p>
            <a:pPr lvl="3"/>
            <a:r>
              <a:rPr lang="ko-KR" altLang="en-US" dirty="0"/>
              <a:t>넷째 수준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ACB5619C-7B3E-46F4-866A-99592F64DF0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3C5C2613-4CFF-4714-A9A3-70BAE33D3937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FEB5A5-43CC-440F-A9F1-E2270BEB45F9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41027718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093693" y="381000"/>
            <a:ext cx="8940800" cy="563563"/>
          </a:xfrm>
        </p:spPr>
        <p:txBody>
          <a:bodyPr/>
          <a:lstStyle/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4A7FA11B-96F6-42A9-9427-E2B68211F9B0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A55FDBB7-1551-420F-BA0E-C7D8F8358A9F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77DF094-F1E6-4FFC-B8A0-45B0B9E102C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25706491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22687E79-475E-444E-86D3-C266519F73C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E775B4BA-5D6E-4732-B035-849F153015F1}"/>
              </a:ext>
            </a:extLst>
          </p:cNvPr>
          <p:cNvSpPr>
            <a:spLocks noGrp="1" noChangeArrowheads="1"/>
          </p:cNvSpPr>
          <p:nvPr>
            <p:ph type="sldNum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3E247C5-9A7B-44DF-BE6B-34EFBD38DACD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  <p:extLst>
      <p:ext uri="{BB962C8B-B14F-4D97-AF65-F5344CB8AC3E}">
        <p14:creationId xmlns:p14="http://schemas.microsoft.com/office/powerpoint/2010/main" val="16545589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Freeform 15">
            <a:extLst>
              <a:ext uri="{FF2B5EF4-FFF2-40B4-BE49-F238E27FC236}">
                <a16:creationId xmlns:a16="http://schemas.microsoft.com/office/drawing/2014/main" id="{DC3CD95B-94EF-4F52-A3C1-5E39702CDB1C}"/>
              </a:ext>
            </a:extLst>
          </p:cNvPr>
          <p:cNvSpPr>
            <a:spLocks/>
          </p:cNvSpPr>
          <p:nvPr/>
        </p:nvSpPr>
        <p:spPr bwMode="gray">
          <a:xfrm>
            <a:off x="-12700" y="344488"/>
            <a:ext cx="10926763" cy="633412"/>
          </a:xfrm>
          <a:custGeom>
            <a:avLst/>
            <a:gdLst>
              <a:gd name="T0" fmla="*/ 0 w 5049"/>
              <a:gd name="T1" fmla="*/ 0 h 1471"/>
              <a:gd name="T2" fmla="*/ 2147483646 w 5049"/>
              <a:gd name="T3" fmla="*/ 2147483646 h 1471"/>
              <a:gd name="T4" fmla="*/ 2147483646 w 5049"/>
              <a:gd name="T5" fmla="*/ 2147483646 h 1471"/>
              <a:gd name="T6" fmla="*/ 0 w 5049"/>
              <a:gd name="T7" fmla="*/ 2147483646 h 1471"/>
              <a:gd name="T8" fmla="*/ 0 w 5049"/>
              <a:gd name="T9" fmla="*/ 0 h 1471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5049" h="1471">
                <a:moveTo>
                  <a:pt x="0" y="0"/>
                </a:moveTo>
                <a:lnTo>
                  <a:pt x="5049" y="2"/>
                </a:lnTo>
                <a:lnTo>
                  <a:pt x="5048" y="1458"/>
                </a:lnTo>
                <a:lnTo>
                  <a:pt x="0" y="1471"/>
                </a:lnTo>
                <a:lnTo>
                  <a:pt x="0" y="0"/>
                </a:lnTo>
                <a:close/>
              </a:path>
            </a:pathLst>
          </a:custGeom>
          <a:solidFill>
            <a:schemeClr val="tx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003366"/>
                  </a:outerShdw>
                </a:effectLst>
              </a14:hiddenEffects>
            </a:ext>
          </a:extLst>
        </p:spPr>
        <p:txBody>
          <a:bodyPr/>
          <a:lstStyle/>
          <a:p>
            <a:endParaRPr lang="ko-KR" altLang="en-US"/>
          </a:p>
        </p:txBody>
      </p:sp>
      <p:grpSp>
        <p:nvGrpSpPr>
          <p:cNvPr id="1027" name="Group 16">
            <a:extLst>
              <a:ext uri="{FF2B5EF4-FFF2-40B4-BE49-F238E27FC236}">
                <a16:creationId xmlns:a16="http://schemas.microsoft.com/office/drawing/2014/main" id="{B2AE5E8E-FEED-4E03-A809-6E042C16411C}"/>
              </a:ext>
            </a:extLst>
          </p:cNvPr>
          <p:cNvGrpSpPr>
            <a:grpSpLocks/>
          </p:cNvGrpSpPr>
          <p:nvPr/>
        </p:nvGrpSpPr>
        <p:grpSpPr bwMode="auto">
          <a:xfrm>
            <a:off x="10871200" y="0"/>
            <a:ext cx="1320800" cy="6858000"/>
            <a:chOff x="5040" y="0"/>
            <a:chExt cx="720" cy="4320"/>
          </a:xfrm>
        </p:grpSpPr>
        <p:sp>
          <p:nvSpPr>
            <p:cNvPr id="1036" name="Rectangle 17">
              <a:extLst>
                <a:ext uri="{FF2B5EF4-FFF2-40B4-BE49-F238E27FC236}">
                  <a16:creationId xmlns:a16="http://schemas.microsoft.com/office/drawing/2014/main" id="{167612B5-4546-4DE8-B16C-F82E2CCFB5E3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2" y="0"/>
              <a:ext cx="718" cy="4320"/>
            </a:xfrm>
            <a:prstGeom prst="rect">
              <a:avLst/>
            </a:prstGeom>
            <a:solidFill>
              <a:schemeClr val="folHlink">
                <a:alpha val="39999"/>
              </a:schemeClr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7" name="Rectangle 18">
              <a:extLst>
                <a:ext uri="{FF2B5EF4-FFF2-40B4-BE49-F238E27FC236}">
                  <a16:creationId xmlns:a16="http://schemas.microsoft.com/office/drawing/2014/main" id="{C6649FC9-D6AA-4C48-9AA8-237BC97DA1AF}"/>
                </a:ext>
              </a:extLst>
            </p:cNvPr>
            <p:cNvSpPr>
              <a:spLocks noChangeArrowheads="1"/>
            </p:cNvSpPr>
            <p:nvPr/>
          </p:nvSpPr>
          <p:spPr bwMode="gray">
            <a:xfrm>
              <a:off x="5040" y="219"/>
              <a:ext cx="720" cy="393"/>
            </a:xfrm>
            <a:prstGeom prst="rect">
              <a:avLst/>
            </a:prstGeom>
            <a:solidFill>
              <a:schemeClr val="tx1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28" name="Rectangle 3">
            <a:extLst>
              <a:ext uri="{FF2B5EF4-FFF2-40B4-BE49-F238E27FC236}">
                <a16:creationId xmlns:a16="http://schemas.microsoft.com/office/drawing/2014/main" id="{0FD20A08-B161-4BAC-BE79-7D58F48331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44488" y="1076325"/>
            <a:ext cx="11517312" cy="52482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</p:txBody>
      </p:sp>
      <p:sp>
        <p:nvSpPr>
          <p:cNvPr id="2" name="Rectangle 4">
            <a:extLst>
              <a:ext uri="{FF2B5EF4-FFF2-40B4-BE49-F238E27FC236}">
                <a16:creationId xmlns:a16="http://schemas.microsoft.com/office/drawing/2014/main" id="{DB861D93-33D0-4E05-8067-68D33A0BE269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188450" y="6510338"/>
            <a:ext cx="2844800" cy="244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 eaLnBrk="1" fontAlgn="auto" latinLnBrk="1" hangingPunct="1">
              <a:spcBef>
                <a:spcPts val="0"/>
              </a:spcBef>
              <a:spcAft>
                <a:spcPts val="0"/>
              </a:spcAft>
              <a:defRPr sz="1000"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r>
              <a:rPr lang="ko-KR" altLang="en-US"/>
              <a:t>외식서비스 마케팅 전략  </a:t>
            </a:r>
            <a:endParaRPr lang="ko-KR" altLang="ko-KR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55FFDFDB-8130-490F-BB99-6EBD556D968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1353800" y="6526213"/>
            <a:ext cx="609600" cy="228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fontAlgn="auto" latinLnBrk="1" hangingPunct="1">
              <a:spcBef>
                <a:spcPts val="0"/>
              </a:spcBef>
              <a:spcAft>
                <a:spcPts val="0"/>
              </a:spcAft>
              <a:defRPr sz="800">
                <a:solidFill>
                  <a:schemeClr val="tx1"/>
                </a:solidFill>
                <a:latin typeface="서울한강 장체 L" panose="02020503020101020101" pitchFamily="18" charset="-127"/>
                <a:ea typeface="서울한강 장체 L" panose="02020503020101020101" pitchFamily="18" charset="-127"/>
              </a:defRPr>
            </a:lvl1pPr>
          </a:lstStyle>
          <a:p>
            <a:pPr>
              <a:defRPr/>
            </a:pPr>
            <a:fld id="{67B238F4-51C3-49D5-B53A-5E26FE5E469B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  <p:grpSp>
        <p:nvGrpSpPr>
          <p:cNvPr id="1031" name="Group 22">
            <a:extLst>
              <a:ext uri="{FF2B5EF4-FFF2-40B4-BE49-F238E27FC236}">
                <a16:creationId xmlns:a16="http://schemas.microsoft.com/office/drawing/2014/main" id="{89BA7D8D-6128-478F-B226-3D9103BAF917}"/>
              </a:ext>
            </a:extLst>
          </p:cNvPr>
          <p:cNvGrpSpPr>
            <a:grpSpLocks/>
          </p:cNvGrpSpPr>
          <p:nvPr/>
        </p:nvGrpSpPr>
        <p:grpSpPr bwMode="auto">
          <a:xfrm>
            <a:off x="71438" y="300038"/>
            <a:ext cx="684212" cy="661987"/>
            <a:chOff x="18" y="144"/>
            <a:chExt cx="510" cy="480"/>
          </a:xfrm>
        </p:grpSpPr>
        <p:sp>
          <p:nvSpPr>
            <p:cNvPr id="1033" name="AutoShape 23">
              <a:extLst>
                <a:ext uri="{FF2B5EF4-FFF2-40B4-BE49-F238E27FC236}">
                  <a16:creationId xmlns:a16="http://schemas.microsoft.com/office/drawing/2014/main" id="{E62C7D31-F089-47C8-8B33-F313F836CB00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18" y="258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hlink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4" name="AutoShape 24">
              <a:extLst>
                <a:ext uri="{FF2B5EF4-FFF2-40B4-BE49-F238E27FC236}">
                  <a16:creationId xmlns:a16="http://schemas.microsoft.com/office/drawing/2014/main" id="{3F5C4560-CE0B-4E52-86A4-0F6B26A67E9D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144"/>
              <a:ext cx="288" cy="241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2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  <p:sp>
          <p:nvSpPr>
            <p:cNvPr id="1035" name="AutoShape 25">
              <a:extLst>
                <a:ext uri="{FF2B5EF4-FFF2-40B4-BE49-F238E27FC236}">
                  <a16:creationId xmlns:a16="http://schemas.microsoft.com/office/drawing/2014/main" id="{916CE351-A41D-42FA-8CCC-19A63FAD2408}"/>
                </a:ext>
              </a:extLst>
            </p:cNvPr>
            <p:cNvSpPr>
              <a:spLocks noChangeArrowheads="1"/>
            </p:cNvSpPr>
            <p:nvPr userDrawn="1"/>
          </p:nvSpPr>
          <p:spPr bwMode="gray">
            <a:xfrm>
              <a:off x="240" y="385"/>
              <a:ext cx="288" cy="239"/>
            </a:xfrm>
            <a:prstGeom prst="hexagon">
              <a:avLst>
                <a:gd name="adj" fmla="val 30000"/>
                <a:gd name="vf" fmla="val 115470"/>
              </a:avLst>
            </a:prstGeom>
            <a:solidFill>
              <a:schemeClr val="accent1"/>
            </a:solidFill>
            <a:ln w="28575">
              <a:solidFill>
                <a:schemeClr val="bg1"/>
              </a:solidFill>
              <a:miter lim="800000"/>
              <a:headEnd/>
              <a:tailEnd/>
            </a:ln>
            <a:effectLst>
              <a:outerShdw dist="56796" dir="1593903" algn="ctr" rotWithShape="0">
                <a:srgbClr val="666633">
                  <a:alpha val="50000"/>
                </a:srgbClr>
              </a:outerShdw>
            </a:effectLst>
          </p:spPr>
          <p:txBody>
            <a:bodyPr wrap="none" anchor="ctr"/>
            <a:lstStyle>
              <a:lvl1pPr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 latinLnBrk="1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fontAlgn="base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ko-KR" altLang="en-US">
                <a:ea typeface="굴림" panose="020B0600000101010101" pitchFamily="50" charset="-127"/>
              </a:endParaRPr>
            </a:p>
          </p:txBody>
        </p:sp>
      </p:grpSp>
      <p:sp>
        <p:nvSpPr>
          <p:cNvPr id="1032" name="Rectangle 2">
            <a:extLst>
              <a:ext uri="{FF2B5EF4-FFF2-40B4-BE49-F238E27FC236}">
                <a16:creationId xmlns:a16="http://schemas.microsoft.com/office/drawing/2014/main" id="{F8E516FF-1F93-4E91-95AB-157A48D7B4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white">
          <a:xfrm>
            <a:off x="1057275" y="381000"/>
            <a:ext cx="8940800" cy="563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39" r:id="rId2"/>
    <p:sldLayoutId id="2147483740" r:id="rId3"/>
    <p:sldLayoutId id="2147483741" r:id="rId4"/>
    <p:sldLayoutId id="2147483742" r:id="rId5"/>
    <p:sldLayoutId id="2147483743" r:id="rId6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sz="2800" kern="12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sz="2800">
          <a:solidFill>
            <a:schemeClr val="bg1"/>
          </a:solidFill>
          <a:latin typeface="서울남산 장체 EB" panose="02020503020101020101" pitchFamily="18" charset="-127"/>
          <a:ea typeface="서울남산 장체 EB" panose="02020503020101020101" pitchFamily="18" charset="-127"/>
        </a:defRPr>
      </a:lvl5pPr>
      <a:lvl6pPr marL="4572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6pPr>
      <a:lvl7pPr marL="9144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7pPr>
      <a:lvl8pPr marL="13716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8pPr>
      <a:lvl9pPr marL="1828800" algn="l" rtl="0" eaLnBrk="1" fontAlgn="base" latinLnBrk="1" hangingPunct="1">
        <a:spcBef>
          <a:spcPct val="0"/>
        </a:spcBef>
        <a:spcAft>
          <a:spcPct val="0"/>
        </a:spcAft>
        <a:defRPr sz="3200">
          <a:solidFill>
            <a:schemeClr val="bg1"/>
          </a:solidFill>
          <a:latin typeface="Verdana" panose="020B0604030504040204" pitchFamily="34" charset="0"/>
        </a:defRPr>
      </a:lvl9pPr>
    </p:titleStyle>
    <p:bodyStyle>
      <a:lvl1pPr algn="l" rtl="0" eaLnBrk="0" fontAlgn="base" latinLnBrk="1" hangingPunct="0">
        <a:spcBef>
          <a:spcPct val="20000"/>
        </a:spcBef>
        <a:spcAft>
          <a:spcPct val="0"/>
        </a:spcAft>
        <a:buClr>
          <a:schemeClr val="hlink"/>
        </a:buClr>
        <a:buFont typeface="Wingdings" panose="05000000000000000000" pitchFamily="2" charset="2"/>
        <a:defRPr sz="2400" b="1" kern="1200">
          <a:solidFill>
            <a:schemeClr val="tx1"/>
          </a:solidFill>
          <a:latin typeface="서울남산 장체 M" panose="02020503020101020101" pitchFamily="18" charset="-127"/>
          <a:ea typeface="서울남산 장체 M" panose="02020503020101020101" pitchFamily="18" charset="-127"/>
          <a:cs typeface="+mn-cs"/>
        </a:defRPr>
      </a:lvl1pPr>
      <a:lvl2pPr marL="179388" algn="l" rtl="0" eaLnBrk="0" fontAlgn="base" latinLnBrk="1" hangingPunct="0">
        <a:spcBef>
          <a:spcPct val="20000"/>
        </a:spcBef>
        <a:spcAft>
          <a:spcPct val="0"/>
        </a:spcAft>
        <a:buClr>
          <a:schemeClr val="accent1"/>
        </a:buClr>
        <a:buFont typeface="Wingdings" panose="05000000000000000000" pitchFamily="2" charset="2"/>
        <a:defRPr sz="24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2pPr>
      <a:lvl3pPr marL="447675" algn="l" rtl="0" eaLnBrk="0" fontAlgn="base" latinLnBrk="1" hangingPunct="0">
        <a:spcBef>
          <a:spcPct val="20000"/>
        </a:spcBef>
        <a:spcAft>
          <a:spcPct val="0"/>
        </a:spcAft>
        <a:buClr>
          <a:schemeClr val="tx1"/>
        </a:buClr>
        <a:defRPr sz="2000"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3pPr>
      <a:lvl4pPr marL="627063" algn="l" rtl="0" eaLnBrk="0" fontAlgn="base" latinLnBrk="1" hangingPunct="0">
        <a:spcBef>
          <a:spcPct val="20000"/>
        </a:spcBef>
        <a:spcAft>
          <a:spcPct val="0"/>
        </a:spcAft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har char="»"/>
        <a:defRPr kern="1200">
          <a:solidFill>
            <a:schemeClr val="tx1"/>
          </a:solidFill>
          <a:latin typeface="서울남산 장체 L" panose="02020503020101020101" pitchFamily="18" charset="-127"/>
          <a:ea typeface="서울남산 장체 L" panose="02020503020101020101" pitchFamily="18" charset="-127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jpeg"/><Relationship Id="rId4" Type="http://schemas.openxmlformats.org/officeDocument/2006/relationships/image" Target="../media/image7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부제목 3">
            <a:extLst>
              <a:ext uri="{FF2B5EF4-FFF2-40B4-BE49-F238E27FC236}">
                <a16:creationId xmlns:a16="http://schemas.microsoft.com/office/drawing/2014/main" id="{F9472CF8-0438-44C2-B9A2-CA681B5C3C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724150" y="2540000"/>
            <a:ext cx="7740650" cy="1782763"/>
          </a:xfrm>
        </p:spPr>
        <p:txBody>
          <a:bodyPr/>
          <a:lstStyle/>
          <a:p>
            <a:pPr eaLnBrk="1" hangingPunct="1"/>
            <a:r>
              <a:rPr lang="en-US" altLang="ko-KR"/>
              <a:t>Chapter 8. </a:t>
            </a:r>
            <a:r>
              <a:rPr lang="ko-KR" altLang="en-US"/>
              <a:t>외식서비스의 표준화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텍스트 개체 틀 3">
            <a:extLst>
              <a:ext uri="{FF2B5EF4-FFF2-40B4-BE49-F238E27FC236}">
                <a16:creationId xmlns:a16="http://schemas.microsoft.com/office/drawing/2014/main" id="{C50A0646-9B1E-4077-890E-E7184153A6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1. </a:t>
            </a:r>
            <a:r>
              <a:rPr lang="ko-KR" altLang="en-US"/>
              <a:t>고품질 서비스 표준 설정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1854AE3C-C7CA-430E-A795-3F3FA547FD88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23512FA-64D2-41E3-99CE-C94F9465FA99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제목 1">
            <a:extLst>
              <a:ext uri="{FF2B5EF4-FFF2-40B4-BE49-F238E27FC236}">
                <a16:creationId xmlns:a16="http://schemas.microsoft.com/office/drawing/2014/main" id="{7F92ADC4-13B0-49FE-96A6-96683B6A85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1) </a:t>
            </a:r>
            <a:r>
              <a:rPr lang="ko-KR" altLang="en-US"/>
              <a:t>서비스 표준의 의미</a:t>
            </a:r>
          </a:p>
        </p:txBody>
      </p:sp>
      <p:sp>
        <p:nvSpPr>
          <p:cNvPr id="7171" name="내용 개체 틀 2">
            <a:extLst>
              <a:ext uri="{FF2B5EF4-FFF2-40B4-BE49-F238E27FC236}">
                <a16:creationId xmlns:a16="http://schemas.microsoft.com/office/drawing/2014/main" id="{5161231D-4F84-4213-BE5D-77275CE2A4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서비스의 목표</a:t>
            </a:r>
            <a:r>
              <a:rPr lang="en-US" altLang="ko-KR" sz="2000" b="0"/>
              <a:t>, </a:t>
            </a:r>
            <a:r>
              <a:rPr lang="ko-KR" altLang="en-US" sz="2000" b="0"/>
              <a:t>즉 서비스 종사원의 행동이나 행위에 대한 목표 설정</a:t>
            </a:r>
            <a:endParaRPr lang="en-US" altLang="ko-KR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이를 행동으로 옮기기 위한 구체화 작업</a:t>
            </a:r>
            <a:endParaRPr lang="en-US" altLang="ko-KR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‘구체적’</a:t>
            </a:r>
            <a:r>
              <a:rPr lang="en-US" altLang="ko-KR" sz="2000" b="0"/>
              <a:t>,</a:t>
            </a:r>
            <a:r>
              <a:rPr lang="ko-KR" altLang="en-US" sz="2000" b="0"/>
              <a:t> ‘정량적’</a:t>
            </a:r>
            <a:r>
              <a:rPr lang="en-US" altLang="ko-KR" sz="2000" b="0"/>
              <a:t>,</a:t>
            </a:r>
            <a:r>
              <a:rPr lang="ko-KR" altLang="en-US" sz="2000" b="0"/>
              <a:t> ‘측정 가능한’ 서비스 표준 설정이 필요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06311416-94A3-417B-97BF-FE6385C8E4CC}"/>
              </a:ext>
            </a:extLst>
          </p:cNvPr>
          <p:cNvSpPr/>
          <p:nvPr/>
        </p:nvSpPr>
        <p:spPr>
          <a:xfrm>
            <a:off x="430213" y="3963988"/>
            <a:ext cx="9505950" cy="2019300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just">
              <a:lnSpc>
                <a:spcPct val="150000"/>
              </a:lnSpc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고객들이 레스토랑에서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신속한 서비스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‘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를 기대하고 원한다면 이에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 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cs typeface="함초롬돋움" panose="02030504000101010101" pitchFamily="18" charset="-127"/>
              </a:rPr>
              <a:t>대한 구체적 기준 설정이 필요함 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만약 ‘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주문받은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후 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2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분 이내에 햄버거를 </a:t>
            </a:r>
            <a:r>
              <a:rPr lang="ko-KR" altLang="en-US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전달한다’를</a:t>
            </a:r>
            <a:r>
              <a:rPr lang="ko-KR" altLang="en-US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목표로 정하였다면 서비스 종사원들은 구체적이며 명확한 기준을 이해하고 서비스 목표 달성을 위해 행동할 것이다</a:t>
            </a:r>
            <a:r>
              <a:rPr lang="en-US" altLang="ko-KR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  <a:p>
            <a:pPr algn="just">
              <a:lnSpc>
                <a:spcPct val="150000"/>
              </a:lnSpc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40B719B8-E15F-490D-83A7-BFF9EB16DA47}"/>
              </a:ext>
            </a:extLst>
          </p:cNvPr>
          <p:cNvSpPr/>
          <p:nvPr/>
        </p:nvSpPr>
        <p:spPr bwMode="auto">
          <a:xfrm>
            <a:off x="344488" y="3732213"/>
            <a:ext cx="730250" cy="468312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ko-KR">
                <a:latin typeface="Arial" panose="020B0604020202020204" pitchFamily="34" charset="0"/>
                <a:ea typeface="굴림" panose="020B0600000101010101" pitchFamily="50" charset="-127"/>
              </a:rPr>
              <a:t>(EX)</a:t>
            </a:r>
            <a:endParaRPr lang="ko-KR" altLang="en-US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제목 1">
            <a:extLst>
              <a:ext uri="{FF2B5EF4-FFF2-40B4-BE49-F238E27FC236}">
                <a16:creationId xmlns:a16="http://schemas.microsoft.com/office/drawing/2014/main" id="{BC302A93-CD12-4E8C-9B56-B057540F9F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5363" y="381000"/>
            <a:ext cx="8940800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고객 중심적 서비스 표준</a:t>
            </a:r>
          </a:p>
        </p:txBody>
      </p:sp>
      <p:sp>
        <p:nvSpPr>
          <p:cNvPr id="8195" name="내용 개체 틀 2">
            <a:extLst>
              <a:ext uri="{FF2B5EF4-FFF2-40B4-BE49-F238E27FC236}">
                <a16:creationId xmlns:a16="http://schemas.microsoft.com/office/drawing/2014/main" id="{DFCD9DF2-93D4-4B53-B779-CA4A577373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고객 중심적 서비스 표준 </a:t>
            </a:r>
            <a:r>
              <a:rPr lang="en-US" altLang="ko-KR" sz="2000" b="0"/>
              <a:t>: </a:t>
            </a:r>
            <a:r>
              <a:rPr lang="ko-KR" altLang="en-US" sz="2000" b="0"/>
              <a:t>고객의 요구나 기대 수준에 근거한 서비스 표준</a:t>
            </a:r>
            <a:endParaRPr lang="en-US" altLang="ko-KR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기업이 제공하고 싶은 서비스가 아닌 ‘고객이 원하고 바라는 서비스’</a:t>
            </a:r>
            <a:endParaRPr lang="en-US" altLang="ko-KR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종사원에게 요구되는 구체적인 서비스 행동으로 표준화하여 매뉴얼에 제시 </a:t>
            </a:r>
            <a:r>
              <a:rPr lang="en-US" altLang="ko-KR" sz="2000" b="0">
                <a:sym typeface="Wingdings" panose="05000000000000000000" pitchFamily="2" charset="2"/>
              </a:rPr>
              <a:t> </a:t>
            </a:r>
            <a:r>
              <a:rPr lang="ko-KR" altLang="en-US" sz="2000" b="0">
                <a:sym typeface="Wingdings" panose="05000000000000000000" pitchFamily="2" charset="2"/>
              </a:rPr>
              <a:t>효과적</a:t>
            </a:r>
            <a:r>
              <a:rPr lang="en-US" altLang="ko-KR" sz="2000" b="0">
                <a:sym typeface="Wingdings" panose="05000000000000000000" pitchFamily="2" charset="2"/>
              </a:rPr>
              <a:t>, </a:t>
            </a:r>
            <a:r>
              <a:rPr lang="ko-KR" altLang="en-US" sz="2000" b="0">
                <a:sym typeface="Wingdings" panose="05000000000000000000" pitchFamily="2" charset="2"/>
              </a:rPr>
              <a:t>효율적</a:t>
            </a:r>
            <a:endParaRPr lang="en-US" altLang="ko-KR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이를 교육하고 훈련하여 실제 영업 현장에서 실행이 제대로 되는지 평가하는 기준</a:t>
            </a:r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 b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</a:pPr>
            <a:endParaRPr lang="ko-KR" altLang="en-US" sz="2000"/>
          </a:p>
        </p:txBody>
      </p:sp>
      <p:sp>
        <p:nvSpPr>
          <p:cNvPr id="5" name="모서리가 둥근 직사각형 4">
            <a:extLst>
              <a:ext uri="{FF2B5EF4-FFF2-40B4-BE49-F238E27FC236}">
                <a16:creationId xmlns:a16="http://schemas.microsoft.com/office/drawing/2014/main" id="{9765CE37-E21E-4F8E-8492-08D1F82EF3DC}"/>
              </a:ext>
            </a:extLst>
          </p:cNvPr>
          <p:cNvSpPr/>
          <p:nvPr/>
        </p:nvSpPr>
        <p:spPr>
          <a:xfrm>
            <a:off x="430213" y="4035425"/>
            <a:ext cx="9505950" cy="2459038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고객이 식사하는 동안 종사원이 몇 번 정도 테이블에 방문하여 더 필요한 서비스가 없는지 확인해야 고객입장에서 만족한 서비스일까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고객은 </a:t>
            </a:r>
            <a:r>
              <a:rPr lang="ko-KR" altLang="en-US" sz="1600" dirty="0" err="1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컴플레인을</a:t>
            </a: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한 후 얼마나 빨리 답장을 받아야 감동할까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전화벨이 몇 번 울리기 전에 받으면 고객이 만족할까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 </a:t>
            </a: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김치는 어느 정도 익었을 때 가장 맛있다고 할까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서비스 제공 방식에 대한 사례로 흑당 음료는 어떤 모양으로 제공해야 고객들이 매력적이라고 느낄까</a:t>
            </a:r>
            <a:r>
              <a:rPr lang="en-US" altLang="ko-KR" sz="16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?</a:t>
            </a:r>
            <a:endParaRPr lang="ko-KR" altLang="en-US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2" name="모서리가 둥근 직사각형 1">
            <a:extLst>
              <a:ext uri="{FF2B5EF4-FFF2-40B4-BE49-F238E27FC236}">
                <a16:creationId xmlns:a16="http://schemas.microsoft.com/office/drawing/2014/main" id="{91A6E8ED-44CB-45EC-A7DB-7BC692D41890}"/>
              </a:ext>
            </a:extLst>
          </p:cNvPr>
          <p:cNvSpPr/>
          <p:nvPr/>
        </p:nvSpPr>
        <p:spPr bwMode="auto">
          <a:xfrm>
            <a:off x="349250" y="3706813"/>
            <a:ext cx="730250" cy="468312"/>
          </a:xfrm>
          <a:prstGeom prst="roundRect">
            <a:avLst/>
          </a:prstGeom>
          <a:solidFill>
            <a:schemeClr val="tx1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ko-KR" dirty="0">
                <a:latin typeface="Arial" panose="020B0604020202020204" pitchFamily="34" charset="0"/>
                <a:ea typeface="굴림" panose="020B0600000101010101" pitchFamily="50" charset="-127"/>
              </a:rPr>
              <a:t>(EX)</a:t>
            </a:r>
            <a:endParaRPr lang="ko-KR" altLang="en-US" dirty="0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42356A6C-A0A8-416A-A0B5-BF94A852AFDD}"/>
              </a:ext>
            </a:extLst>
          </p:cNvPr>
          <p:cNvSpPr/>
          <p:nvPr/>
        </p:nvSpPr>
        <p:spPr bwMode="auto">
          <a:xfrm>
            <a:off x="5637213" y="2301875"/>
            <a:ext cx="4379912" cy="41656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타이거 슈가 브랜드가 국내에 진출했을 때 네티즌의 호응을 얻었던 가장 큰 이유는 맛도 맛이지만 바로 흑당 버블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밀크티의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매력적인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비주얼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때문이라고 할 수 있다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타이거라는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이름에 어울리게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흑당으로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컵 안에 호랑이 무늬를 만들어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인스타용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감성 사진을 찍을 수 있게 했다</a:t>
            </a: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40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14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sym typeface="Wingdings" panose="05000000000000000000" pitchFamily="2" charset="2"/>
            </a:endParaRPr>
          </a:p>
          <a:p>
            <a:pPr eaLnBrk="1" hangingPunct="1">
              <a:lnSpc>
                <a:spcPct val="150000"/>
              </a:lnSpc>
              <a:defRPr/>
            </a:pPr>
            <a:endParaRPr lang="en-US" altLang="ko-KR" sz="14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sym typeface="Wingdings" panose="05000000000000000000" pitchFamily="2" charset="2"/>
            </a:endParaRPr>
          </a:p>
          <a:p>
            <a:pPr marL="285750" indent="-285750" eaLnBrk="1" hangingPunct="1">
              <a:lnSpc>
                <a:spcPct val="150000"/>
              </a:lnSpc>
              <a:buFont typeface="Wingdings" panose="05000000000000000000" pitchFamily="2" charset="2"/>
              <a:buChar char="à"/>
              <a:defRPr/>
            </a:pP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음료 맛의 표준화 외에도 음료 제공 시의 가장 매력적인  모양의 음료 서비스 표준 설정도 중요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4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6" name="타원 5">
            <a:extLst>
              <a:ext uri="{FF2B5EF4-FFF2-40B4-BE49-F238E27FC236}">
                <a16:creationId xmlns:a16="http://schemas.microsoft.com/office/drawing/2014/main" id="{2AB46546-55DF-4825-8CD9-B3B5FA3152F4}"/>
              </a:ext>
            </a:extLst>
          </p:cNvPr>
          <p:cNvSpPr/>
          <p:nvPr/>
        </p:nvSpPr>
        <p:spPr bwMode="auto">
          <a:xfrm>
            <a:off x="5637213" y="1349375"/>
            <a:ext cx="2262187" cy="73501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타이거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슈가의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흑당 </a:t>
            </a: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밀크티</a:t>
            </a:r>
            <a:endParaRPr lang="ko-KR" altLang="en-US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6A6D4256-07C7-47C6-9B87-674F54E6536C}"/>
              </a:ext>
            </a:extLst>
          </p:cNvPr>
          <p:cNvSpPr/>
          <p:nvPr/>
        </p:nvSpPr>
        <p:spPr bwMode="auto">
          <a:xfrm>
            <a:off x="296863" y="2301875"/>
            <a:ext cx="4483100" cy="4165600"/>
          </a:xfrm>
          <a:prstGeom prst="rect">
            <a:avLst/>
          </a:prstGeom>
          <a:ln>
            <a:headEnd type="none" w="med" len="med"/>
            <a:tailEnd type="none" w="med" len="med"/>
          </a:ln>
          <a:extLst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/>
          <a:lstStyle/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김치는 만들어진 순간부터 발효가 시작되며 시간이 지날수록 젖산 농도와 산도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(pH)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가 높아진다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‘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아삭한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식감’과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‘적절한 새콤한 맛’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‘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청량한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맛’이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느껴지는 순간의 김치 맛을 객관적인 숫자로 표현하면 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pH(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페하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)4.5, 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젖산 농도 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0.6~0.7 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정도라고 한다</a:t>
            </a:r>
            <a:r>
              <a:rPr lang="en-US" altLang="ko-KR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r>
              <a:rPr lang="ko-KR" altLang="en-US" dirty="0"/>
              <a:t> 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그렇다면 ‘맛있는 김치의 </a:t>
            </a:r>
            <a:r>
              <a:rPr lang="ko-KR" altLang="en-US" sz="1400" b="1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표준’을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</a:t>
            </a:r>
            <a:r>
              <a:rPr lang="en-US" altLang="ko-KR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pH 4.5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라고 정하고 조리 매뉴얼에 ‘제공하는 배추김치는 </a:t>
            </a:r>
            <a:r>
              <a:rPr lang="ko-KR" altLang="en-US" sz="1400" b="1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산도계로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측정했을 때 </a:t>
            </a:r>
            <a:r>
              <a:rPr lang="en-US" altLang="ko-KR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pH 4.5 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수준일 때 서비스 </a:t>
            </a:r>
            <a:r>
              <a:rPr lang="ko-KR" altLang="en-US" sz="1400" b="1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한다’라고</a:t>
            </a:r>
            <a:r>
              <a:rPr lang="ko-KR" altLang="en-US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기술하면 된다</a:t>
            </a:r>
            <a:r>
              <a:rPr lang="en-US" altLang="ko-KR" sz="1400" b="1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endParaRPr lang="ko-KR" altLang="en-US" sz="1400" b="1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285750" indent="-285750" eaLnBrk="1" hangingPunct="1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400" b="1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eaLnBrk="1" hangingPunct="1">
              <a:lnSpc>
                <a:spcPct val="150000"/>
              </a:lnSpc>
              <a:defRPr/>
            </a:pPr>
            <a:r>
              <a:rPr lang="en-US" altLang="ko-KR" sz="1400" dirty="0">
                <a:solidFill>
                  <a:schemeClr val="tx1"/>
                </a:solidFill>
                <a:latin typeface="서울남산 장체 M" panose="02020503020101020101" pitchFamily="18" charset="-127"/>
                <a:ea typeface="서울남산 장체 M" panose="02020503020101020101" pitchFamily="18" charset="-127"/>
                <a:sym typeface="Wingdings" panose="05000000000000000000" pitchFamily="2" charset="2"/>
              </a:rPr>
              <a:t> 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조리 종사원들에게 </a:t>
            </a:r>
            <a:r>
              <a:rPr lang="ko-KR" altLang="en-US" sz="140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산도계를</a:t>
            </a:r>
            <a:r>
              <a:rPr lang="ko-KR" altLang="en-US" sz="140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지급하고 활용하도록 훈련</a:t>
            </a:r>
          </a:p>
          <a:p>
            <a:pPr eaLnBrk="1" hangingPunct="1">
              <a:lnSpc>
                <a:spcPct val="150000"/>
              </a:lnSpc>
              <a:defRPr/>
            </a:pPr>
            <a:endParaRPr lang="ko-KR" altLang="en-US" sz="12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7FD50014-0B87-444A-92AA-CDB223375AC6}"/>
              </a:ext>
            </a:extLst>
          </p:cNvPr>
          <p:cNvSpPr/>
          <p:nvPr/>
        </p:nvSpPr>
        <p:spPr bwMode="auto">
          <a:xfrm>
            <a:off x="296863" y="1349375"/>
            <a:ext cx="1984375" cy="735013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  <a:extLst/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defRPr/>
            </a:pPr>
            <a:r>
              <a:rPr lang="ko-KR" altLang="en-US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아사한의</a:t>
            </a:r>
            <a:r>
              <a:rPr lang="ko-KR" altLang="en-US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유산균 김치</a:t>
            </a:r>
          </a:p>
        </p:txBody>
      </p:sp>
      <p:pic>
        <p:nvPicPr>
          <p:cNvPr id="9222" name="Picture 1">
            <a:extLst>
              <a:ext uri="{FF2B5EF4-FFF2-40B4-BE49-F238E27FC236}">
                <a16:creationId xmlns:a16="http://schemas.microsoft.com/office/drawing/2014/main" id="{E3123A8F-922F-4E34-858C-B459723287C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06813" y="5356225"/>
            <a:ext cx="1501775" cy="1501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3" name="Picture 3">
            <a:extLst>
              <a:ext uri="{FF2B5EF4-FFF2-40B4-BE49-F238E27FC236}">
                <a16:creationId xmlns:a16="http://schemas.microsoft.com/office/drawing/2014/main" id="{965326A4-0A57-47BF-8178-3DE5460F94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318625" y="5356225"/>
            <a:ext cx="1358900" cy="13589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224" name="제목 1">
            <a:extLst>
              <a:ext uri="{FF2B5EF4-FFF2-40B4-BE49-F238E27FC236}">
                <a16:creationId xmlns:a16="http://schemas.microsoft.com/office/drawing/2014/main" id="{E5819E14-2305-42DA-A588-56F5D76099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23938" y="381000"/>
            <a:ext cx="8974137" cy="563563"/>
          </a:xfrm>
        </p:spPr>
        <p:txBody>
          <a:bodyPr/>
          <a:lstStyle/>
          <a:p>
            <a:pPr eaLnBrk="1" hangingPunct="1"/>
            <a:r>
              <a:rPr lang="en-US" altLang="ko-KR"/>
              <a:t>2) </a:t>
            </a:r>
            <a:r>
              <a:rPr lang="ko-KR" altLang="en-US"/>
              <a:t>고객 중심적 서비스 표준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제목 1">
            <a:extLst>
              <a:ext uri="{FF2B5EF4-FFF2-40B4-BE49-F238E27FC236}">
                <a16:creationId xmlns:a16="http://schemas.microsoft.com/office/drawing/2014/main" id="{E3E7860C-34AF-4E3C-B5F8-74FF2ED970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서비스 표준의 유형</a:t>
            </a:r>
          </a:p>
        </p:txBody>
      </p:sp>
      <p:sp>
        <p:nvSpPr>
          <p:cNvPr id="8" name="내용 개체 틀 2">
            <a:extLst>
              <a:ext uri="{FF2B5EF4-FFF2-40B4-BE49-F238E27FC236}">
                <a16:creationId xmlns:a16="http://schemas.microsoft.com/office/drawing/2014/main" id="{404348FC-32D8-4E44-A704-9939756EDB8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1517312" cy="5248275"/>
          </a:xfrm>
        </p:spPr>
        <p:txBody>
          <a:bodyPr/>
          <a:lstStyle/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객관적 표준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- </a:t>
            </a:r>
            <a:r>
              <a:rPr lang="ko-KR" altLang="en-US" sz="1800" b="0" dirty="0"/>
              <a:t>조사를 통해 관찰되거나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시간을 재고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계산될 수 있는 것들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ex) </a:t>
            </a:r>
            <a:r>
              <a:rPr lang="ko-KR" altLang="en-US" sz="1800" b="0" dirty="0"/>
              <a:t>피자배달 예정시간 등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en-US" altLang="ko-KR" sz="2000" b="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r>
              <a:rPr lang="ko-KR" altLang="en-US" sz="2000" b="0" dirty="0"/>
              <a:t>주관적 표준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고객의 모든 욕구와 기대를 모니터링하고 시간을 재고 계산할 수는 없기 때문에 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  </a:t>
            </a:r>
            <a:r>
              <a:rPr lang="ko-KR" altLang="en-US" sz="1800" b="0" dirty="0"/>
              <a:t>고객의 의견을 물어서 자료가 수집되는 것 </a:t>
            </a:r>
            <a:r>
              <a:rPr lang="en-US" altLang="ko-KR" sz="1800" b="0" dirty="0"/>
              <a:t>      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ex) </a:t>
            </a:r>
            <a:r>
              <a:rPr lang="ko-KR" altLang="en-US" sz="1800" b="0" dirty="0"/>
              <a:t>설문조사 등</a:t>
            </a:r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285750" indent="-285750" algn="just">
              <a:lnSpc>
                <a:spcPct val="150000"/>
              </a:lnSpc>
              <a:buFont typeface="Wingdings" panose="05000000000000000000" pitchFamily="2" charset="2"/>
              <a:buChar char="§"/>
              <a:defRPr/>
            </a:pPr>
            <a:endParaRPr lang="ko-KR" alt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제목 1">
            <a:extLst>
              <a:ext uri="{FF2B5EF4-FFF2-40B4-BE49-F238E27FC236}">
                <a16:creationId xmlns:a16="http://schemas.microsoft.com/office/drawing/2014/main" id="{55675D2C-C581-4E64-8972-42710BE919D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4)</a:t>
            </a:r>
            <a:r>
              <a:rPr lang="ko-KR" altLang="en-US"/>
              <a:t> 고객 중심적 서비스 표준 개발과정</a:t>
            </a:r>
          </a:p>
        </p:txBody>
      </p:sp>
      <p:sp>
        <p:nvSpPr>
          <p:cNvPr id="11267" name="내용 개체 틀 2">
            <a:extLst>
              <a:ext uri="{FF2B5EF4-FFF2-40B4-BE49-F238E27FC236}">
                <a16:creationId xmlns:a16="http://schemas.microsoft.com/office/drawing/2014/main" id="{A606E45C-79AC-4E1E-A85D-3B2AC29535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28250" cy="5248275"/>
          </a:xfrm>
          <a:solidFill>
            <a:schemeClr val="bg1"/>
          </a:solidFill>
        </p:spPr>
        <p:txBody>
          <a:bodyPr/>
          <a:lstStyle/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단계 </a:t>
            </a:r>
            <a:r>
              <a:rPr lang="en-US" altLang="ko-KR" sz="2000" b="0"/>
              <a:t>1 : </a:t>
            </a:r>
            <a:r>
              <a:rPr lang="ko-KR" altLang="en-US" sz="2000" b="0"/>
              <a:t>고객에게 중요한 서비스 접점을 파악하라</a:t>
            </a:r>
            <a:endParaRPr lang="en-US" altLang="ko-KR" sz="2000" b="0"/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en-US" altLang="ko-KR" sz="2000" b="0"/>
              <a:t>단계 2 : 고객의 기대를 행동과 행위로 전환하라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단계 </a:t>
            </a:r>
            <a:r>
              <a:rPr lang="en-US" altLang="ko-KR" sz="2000" b="0"/>
              <a:t>3 : </a:t>
            </a:r>
            <a:r>
              <a:rPr lang="ko-KR" altLang="en-US" sz="2000" b="0"/>
              <a:t>적절한 표준을 결정하라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단계 </a:t>
            </a:r>
            <a:r>
              <a:rPr lang="en-US" altLang="ko-KR" sz="2000" b="0"/>
              <a:t>4 : </a:t>
            </a:r>
            <a:r>
              <a:rPr lang="ko-KR" altLang="en-US" sz="2000" b="0"/>
              <a:t>표준의 목표 수준을 설정하고 모니터링하라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단계 </a:t>
            </a:r>
            <a:r>
              <a:rPr lang="en-US" altLang="ko-KR" sz="2000" b="0"/>
              <a:t>5 : </a:t>
            </a:r>
            <a:r>
              <a:rPr lang="ko-KR" altLang="en-US" sz="2000" b="0"/>
              <a:t>직원에게 서비스 성과에 대한 피드백을 제공하라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r>
              <a:rPr lang="ko-KR" altLang="en-US" sz="2000" b="0"/>
              <a:t>단계 </a:t>
            </a:r>
            <a:r>
              <a:rPr lang="en-US" altLang="ko-KR" sz="2000" b="0"/>
              <a:t>6 : </a:t>
            </a:r>
            <a:r>
              <a:rPr lang="ko-KR" altLang="en-US" sz="2000" b="0"/>
              <a:t>목표 수준과 측정치를 정기적으로 재조정하라</a:t>
            </a:r>
          </a:p>
          <a:p>
            <a:pPr marL="285750" indent="-285750" algn="just">
              <a:lnSpc>
                <a:spcPct val="250000"/>
              </a:lnSpc>
              <a:buFont typeface="Wingdings" panose="05000000000000000000" pitchFamily="2" charset="2"/>
              <a:buChar char="§"/>
            </a:pPr>
            <a:endParaRPr lang="ko-KR" altLang="en-US" sz="2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제목 1">
            <a:extLst>
              <a:ext uri="{FF2B5EF4-FFF2-40B4-BE49-F238E27FC236}">
                <a16:creationId xmlns:a16="http://schemas.microsoft.com/office/drawing/2014/main" id="{62752A23-9CCA-4C24-B97E-BC401E561B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382588"/>
            <a:ext cx="10515600" cy="549275"/>
          </a:xfrm>
        </p:spPr>
        <p:txBody>
          <a:bodyPr/>
          <a:lstStyle/>
          <a:p>
            <a:r>
              <a:rPr lang="en-US" altLang="ko-KR"/>
              <a:t>4)</a:t>
            </a:r>
            <a:r>
              <a:rPr lang="ko-KR" altLang="en-US"/>
              <a:t> 고객 중심적 서비스 표준 개발과정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14C290A3-22CA-4DA2-B504-0A8DEDA6FB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44475" y="1211263"/>
            <a:ext cx="5033963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b="0" dirty="0"/>
          </a:p>
          <a:p>
            <a:pPr>
              <a:defRPr/>
            </a:pPr>
            <a:r>
              <a:rPr lang="ko-KR" altLang="en-US" dirty="0"/>
              <a:t>단계 </a:t>
            </a:r>
            <a:r>
              <a:rPr lang="en-US" altLang="ko-KR" dirty="0"/>
              <a:t>1 : </a:t>
            </a:r>
            <a:r>
              <a:rPr lang="ko-KR" altLang="en-US" dirty="0"/>
              <a:t>고객에게 중요한 서비스 접점을 파악하라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AA4B78-8C80-4524-8A6F-ACF8A65B18C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675" y="2030413"/>
            <a:ext cx="5021263" cy="43434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고객의 모든 행동을 주의 깊게 관찰함으로써 서비스 접점이 일어나는 포인트를 파악하고 고객의 서비스 품질 평가나 고객 만족에 가장 크게 영향을 미치는 서비스 접점을 파악</a:t>
            </a:r>
            <a:endParaRPr lang="en-US" altLang="ko-KR" sz="1600" b="0" dirty="0"/>
          </a:p>
          <a:p>
            <a:pPr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레스토랑 정보를 검색하는 단계부터 식사 후 계산하고 나오는 서비스 전 과정을 세부적으로 나열하고 고객에게 가장 중요한 접점이 무엇인지 또는 실수하면 안 되는 중요한 접점이 어디인지를 파악</a:t>
            </a:r>
          </a:p>
          <a:p>
            <a:pPr>
              <a:lnSpc>
                <a:spcPct val="150000"/>
              </a:lnSpc>
              <a:defRPr/>
            </a:pPr>
            <a:endParaRPr lang="ko-KR" altLang="en-US" sz="1600" b="0" dirty="0"/>
          </a:p>
          <a:p>
            <a:pPr>
              <a:lnSpc>
                <a:spcPct val="150000"/>
              </a:lnSpc>
              <a:defRPr/>
            </a:pPr>
            <a:endParaRPr lang="ko-KR" altLang="en-US" sz="1600" b="0" dirty="0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28C6F659-DD5F-4EB7-9343-0F7E21DF85A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749925" y="1206500"/>
            <a:ext cx="5457825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b="0" dirty="0"/>
          </a:p>
          <a:p>
            <a:pPr>
              <a:defRPr/>
            </a:pPr>
            <a:r>
              <a:rPr lang="en-US" altLang="ko-KR" dirty="0" err="1"/>
              <a:t>단계</a:t>
            </a:r>
            <a:r>
              <a:rPr lang="en-US" altLang="ko-KR" dirty="0"/>
              <a:t> 2 : </a:t>
            </a:r>
            <a:r>
              <a:rPr lang="en-US" altLang="ko-KR" dirty="0" err="1"/>
              <a:t>고객의</a:t>
            </a:r>
            <a:r>
              <a:rPr lang="en-US" altLang="ko-KR" dirty="0"/>
              <a:t> </a:t>
            </a:r>
            <a:r>
              <a:rPr lang="en-US" altLang="ko-KR" dirty="0" err="1"/>
              <a:t>기대를</a:t>
            </a:r>
            <a:r>
              <a:rPr lang="en-US" altLang="ko-KR" dirty="0"/>
              <a:t> </a:t>
            </a:r>
            <a:r>
              <a:rPr lang="en-US" altLang="ko-KR" dirty="0" err="1"/>
              <a:t>행동과</a:t>
            </a:r>
            <a:r>
              <a:rPr lang="en-US" altLang="ko-KR" dirty="0"/>
              <a:t> </a:t>
            </a:r>
            <a:r>
              <a:rPr lang="en-US" altLang="ko-KR" dirty="0" err="1"/>
              <a:t>행위로</a:t>
            </a:r>
            <a:r>
              <a:rPr lang="en-US" altLang="ko-KR" dirty="0"/>
              <a:t> </a:t>
            </a:r>
            <a:r>
              <a:rPr lang="en-US" altLang="ko-KR" dirty="0" err="1"/>
              <a:t>전환하라</a:t>
            </a:r>
            <a:endParaRPr lang="en-US" altLang="ko-KR" dirty="0"/>
          </a:p>
          <a:p>
            <a:pPr>
              <a:defRPr/>
            </a:pP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C874F501-094E-4EA5-B5D3-A844377FFAD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9925" y="2030413"/>
            <a:ext cx="5757863" cy="4343400"/>
          </a:xfrm>
        </p:spPr>
        <p:txBody>
          <a:bodyPr/>
          <a:lstStyle/>
          <a:p>
            <a:pPr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중요하다고 판단되는 서비스 접점에서의 고객 요구사항과 기대를 파악하고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고객의 기대를 종사원들의 구체적인 행동과 행위로 전환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종사원들의 서비스 행동은 이 접점에서 고객들이 기대하는 그 이상의</a:t>
            </a:r>
            <a:endParaRPr lang="en-US" altLang="ko-KR" sz="1600" b="0" dirty="0"/>
          </a:p>
          <a:p>
            <a:pPr>
              <a:lnSpc>
                <a:spcPct val="150000"/>
              </a:lnSpc>
              <a:defRPr/>
            </a:pPr>
            <a:r>
              <a:rPr lang="en-US" altLang="ko-KR" sz="1600" b="0" dirty="0"/>
              <a:t>   </a:t>
            </a:r>
            <a:r>
              <a:rPr lang="ko-KR" altLang="en-US" sz="1600" b="0" dirty="0"/>
              <a:t> 서비스를 제공할 수 있어야 함</a:t>
            </a:r>
          </a:p>
          <a:p>
            <a:pPr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만족하는 서비스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고품질의 서비스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신속한 서비스</a:t>
            </a:r>
          </a:p>
          <a:p>
            <a:pPr>
              <a:lnSpc>
                <a:spcPct val="150000"/>
              </a:lnSpc>
              <a:defRPr/>
            </a:pPr>
            <a:endParaRPr lang="ko-KR" altLang="en-US" sz="1600" b="0" dirty="0"/>
          </a:p>
          <a:p>
            <a:pPr>
              <a:lnSpc>
                <a:spcPct val="150000"/>
              </a:lnSpc>
              <a:defRPr/>
            </a:pPr>
            <a:endParaRPr lang="ko-KR" altLang="en-US" sz="1600" b="0" dirty="0"/>
          </a:p>
          <a:p>
            <a:pPr>
              <a:lnSpc>
                <a:spcPct val="150000"/>
              </a:lnSpc>
              <a:defRPr/>
            </a:pPr>
            <a:endParaRPr lang="ko-KR" altLang="en-US" sz="1600" b="0" dirty="0"/>
          </a:p>
        </p:txBody>
      </p:sp>
      <p:cxnSp>
        <p:nvCxnSpPr>
          <p:cNvPr id="12295" name="직선 연결선 7">
            <a:extLst>
              <a:ext uri="{FF2B5EF4-FFF2-40B4-BE49-F238E27FC236}">
                <a16:creationId xmlns:a16="http://schemas.microsoft.com/office/drawing/2014/main" id="{5555199F-FF04-4008-B073-D59037BCD5F5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14975" y="1300163"/>
            <a:ext cx="0" cy="50069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제목 1">
            <a:extLst>
              <a:ext uri="{FF2B5EF4-FFF2-40B4-BE49-F238E27FC236}">
                <a16:creationId xmlns:a16="http://schemas.microsoft.com/office/drawing/2014/main" id="{734A0C2F-19D7-47DF-B934-46B7DE18551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382588"/>
            <a:ext cx="10515600" cy="549275"/>
          </a:xfrm>
        </p:spPr>
        <p:txBody>
          <a:bodyPr/>
          <a:lstStyle/>
          <a:p>
            <a:r>
              <a:rPr lang="en-US" altLang="ko-KR"/>
              <a:t>4)</a:t>
            </a:r>
            <a:r>
              <a:rPr lang="ko-KR" altLang="en-US"/>
              <a:t> 고객 중심적 서비스 표준 개발과정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24BF4F6B-18CE-41D9-B0DA-AED9C353A64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563" y="1211263"/>
            <a:ext cx="5095875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b="0" dirty="0"/>
          </a:p>
          <a:p>
            <a:pPr>
              <a:defRPr/>
            </a:pPr>
            <a:r>
              <a:rPr lang="ko-KR" altLang="en-US" dirty="0"/>
              <a:t>단계 </a:t>
            </a:r>
            <a:r>
              <a:rPr lang="en-US" altLang="ko-KR" dirty="0"/>
              <a:t>3 : </a:t>
            </a:r>
            <a:r>
              <a:rPr lang="ko-KR" altLang="en-US" dirty="0"/>
              <a:t>적절한 표준을 결정하라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44019D-860E-4F68-8A2C-BA5221A20CB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675" y="2030413"/>
            <a:ext cx="5021263" cy="4343400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표준은 고객에게 매우 중요한 서비스 행동과 행위에 기초해야 함</a:t>
            </a:r>
            <a:endParaRPr lang="en-US" altLang="ko-KR" sz="1600" b="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표준은 종사원이 통제하고 개선할 수 있는 서비스 행동과 행위를 포함하고 있어야 함</a:t>
            </a:r>
            <a:endParaRPr lang="en-US" altLang="ko-KR" sz="1600" b="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1600" b="0" dirty="0"/>
              <a:t> </a:t>
            </a:r>
            <a:r>
              <a:rPr lang="ko-KR" altLang="en-US" sz="1600" b="0" dirty="0"/>
              <a:t>표준은 종사원에 의해 이해되고 받아들여질 수 있어야 함</a:t>
            </a:r>
            <a:endParaRPr lang="en-US" altLang="ko-KR" sz="1600" b="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표준은 과거의 고객 불평보다는 현재나 미래의 고객 기대 수준에 기반을 두어야 함</a:t>
            </a:r>
            <a:endParaRPr lang="en-US" altLang="ko-KR" sz="1600" b="0" dirty="0"/>
          </a:p>
          <a:p>
            <a:pPr marL="342900" indent="-34290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표준은 현실적이면서도 고품질 서비스를 목표로 도전적으로 설정되어야 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0B7C9F84-C191-4206-AA4D-929E82DC53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1500" y="1211263"/>
            <a:ext cx="5519738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b="0" dirty="0"/>
          </a:p>
          <a:p>
            <a:pPr>
              <a:defRPr/>
            </a:pPr>
            <a:r>
              <a:rPr lang="ko-KR" altLang="en-US" dirty="0"/>
              <a:t>단계 </a:t>
            </a:r>
            <a:r>
              <a:rPr lang="en-US" altLang="ko-KR" dirty="0"/>
              <a:t>4 : </a:t>
            </a:r>
            <a:r>
              <a:rPr lang="ko-KR" altLang="en-US" dirty="0"/>
              <a:t>표준의 목표 수준을 설정하고 모니터링하라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0BC82240-9C4D-4147-A213-4C65A63DE99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9925" y="2030413"/>
            <a:ext cx="5757863" cy="4343400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고객 기대 사항의 특성에 따라 객관적 표준이나 주관적 표준 중 적합한 표준이 결정되고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그 구체적인 표준이 고객 요구사항에 가장 적합하다고 판단되면 서비스 행위를 실제로 측정하고 목표 수준을 설정함</a:t>
            </a:r>
            <a:endParaRPr lang="en-US" altLang="ko-KR" sz="1600" b="0" dirty="0"/>
          </a:p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음식을 제공하는 시간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피자 배달 시간 등을 실제 측정한 측정치를 바탕으로 달성 가능한 서비스 목표 수준을 설정하며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이때 서비스 목표 수준은 고객이 만족할 만한 수준으로 설정하는 것이 매우 중요함</a:t>
            </a:r>
          </a:p>
          <a:p>
            <a:pPr latinLnBrk="0">
              <a:lnSpc>
                <a:spcPct val="150000"/>
              </a:lnSpc>
              <a:defRPr/>
            </a:pPr>
            <a:endParaRPr lang="ko-KR" altLang="en-US" sz="1600" b="0" dirty="0"/>
          </a:p>
          <a:p>
            <a:pPr latinLnBrk="0">
              <a:lnSpc>
                <a:spcPct val="150000"/>
              </a:lnSpc>
              <a:defRPr/>
            </a:pPr>
            <a:endParaRPr lang="ko-KR" altLang="en-US" sz="1600" b="0" dirty="0"/>
          </a:p>
        </p:txBody>
      </p:sp>
      <p:cxnSp>
        <p:nvCxnSpPr>
          <p:cNvPr id="13319" name="직선 연결선 6">
            <a:extLst>
              <a:ext uri="{FF2B5EF4-FFF2-40B4-BE49-F238E27FC236}">
                <a16:creationId xmlns:a16="http://schemas.microsoft.com/office/drawing/2014/main" id="{F20C462B-2C70-4F46-98FA-31497EC96A0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14975" y="1300163"/>
            <a:ext cx="0" cy="50069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제목 1">
            <a:extLst>
              <a:ext uri="{FF2B5EF4-FFF2-40B4-BE49-F238E27FC236}">
                <a16:creationId xmlns:a16="http://schemas.microsoft.com/office/drawing/2014/main" id="{2623F7F4-6D3D-41E8-8A04-84FD321DB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92188" y="382588"/>
            <a:ext cx="10515600" cy="549275"/>
          </a:xfrm>
        </p:spPr>
        <p:txBody>
          <a:bodyPr/>
          <a:lstStyle/>
          <a:p>
            <a:r>
              <a:rPr lang="en-US" altLang="ko-KR"/>
              <a:t>4)</a:t>
            </a:r>
            <a:r>
              <a:rPr lang="ko-KR" altLang="en-US"/>
              <a:t> 고객 중심적 서비스 표준 개발과정</a:t>
            </a:r>
          </a:p>
        </p:txBody>
      </p:sp>
      <p:sp>
        <p:nvSpPr>
          <p:cNvPr id="2" name="텍스트 개체 틀 1">
            <a:extLst>
              <a:ext uri="{FF2B5EF4-FFF2-40B4-BE49-F238E27FC236}">
                <a16:creationId xmlns:a16="http://schemas.microsoft.com/office/drawing/2014/main" id="{D7B2E1CF-7134-4B16-8E5C-8E6895750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563" y="1206500"/>
            <a:ext cx="5332412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sz="1900" b="0" dirty="0"/>
          </a:p>
          <a:p>
            <a:pPr>
              <a:defRPr/>
            </a:pPr>
            <a:r>
              <a:rPr lang="ko-KR" altLang="en-US" sz="1900" dirty="0"/>
              <a:t>단계 </a:t>
            </a:r>
            <a:r>
              <a:rPr lang="en-US" altLang="ko-KR" sz="1900" dirty="0"/>
              <a:t>5 : </a:t>
            </a:r>
            <a:r>
              <a:rPr lang="ko-KR" altLang="en-US" sz="1900" dirty="0"/>
              <a:t>직원에게 서비스 성과에 대한 피드백을 제공하라</a:t>
            </a:r>
          </a:p>
          <a:p>
            <a:pPr>
              <a:defRPr/>
            </a:pPr>
            <a:endParaRPr lang="ko-KR" altLang="en-US" sz="1900" dirty="0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924499D-2348-4E91-8412-E188D8FD67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675" y="2030413"/>
            <a:ext cx="5021263" cy="4343400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서비스 표준을 서비스 종사원이 실제적으로 잘 수행하는지를 파악하여 </a:t>
            </a:r>
            <a:r>
              <a:rPr lang="ko-KR" altLang="en-US" sz="1600" b="0" dirty="0" err="1"/>
              <a:t>피드백하는</a:t>
            </a:r>
            <a:r>
              <a:rPr lang="ko-KR" altLang="en-US" sz="1600" b="0" dirty="0"/>
              <a:t> 과정</a:t>
            </a:r>
            <a:endParaRPr lang="en-US" altLang="ko-KR" sz="1600" b="0" dirty="0"/>
          </a:p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서비스 성과는 서비스 제공자 입장이 아닌 고객의 시각에서 측정해야 함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52251E54-1408-4248-80E7-94E5A52EF5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5651500" y="1206500"/>
            <a:ext cx="5538788" cy="971550"/>
          </a:xfrm>
          <a:solidFill>
            <a:schemeClr val="accent4">
              <a:lumMod val="10000"/>
              <a:lumOff val="90000"/>
            </a:schemeClr>
          </a:solidFill>
        </p:spPr>
        <p:txBody>
          <a:bodyPr/>
          <a:lstStyle/>
          <a:p>
            <a:pPr>
              <a:defRPr/>
            </a:pPr>
            <a:endParaRPr lang="en-US" altLang="ko-KR" b="0" dirty="0"/>
          </a:p>
          <a:p>
            <a:pPr>
              <a:defRPr/>
            </a:pPr>
            <a:r>
              <a:rPr lang="ko-KR" altLang="en-US" dirty="0"/>
              <a:t>단계 </a:t>
            </a:r>
            <a:r>
              <a:rPr lang="en-US" altLang="ko-KR" dirty="0"/>
              <a:t>6 : </a:t>
            </a:r>
            <a:r>
              <a:rPr lang="ko-KR" altLang="en-US" dirty="0"/>
              <a:t>목표 수준과 측정치를 정기적으로 재조정하라</a:t>
            </a:r>
          </a:p>
          <a:p>
            <a:pPr>
              <a:defRPr/>
            </a:pPr>
            <a:endParaRPr lang="ko-KR" altLang="en-US" dirty="0"/>
          </a:p>
        </p:txBody>
      </p:sp>
      <p:sp>
        <p:nvSpPr>
          <p:cNvPr id="5" name="내용 개체 틀 4">
            <a:extLst>
              <a:ext uri="{FF2B5EF4-FFF2-40B4-BE49-F238E27FC236}">
                <a16:creationId xmlns:a16="http://schemas.microsoft.com/office/drawing/2014/main" id="{F2AC8675-E33E-41BD-B0A0-A4C871EADA8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5749925" y="2030413"/>
            <a:ext cx="5757863" cy="4343400"/>
          </a:xfrm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고객 기대에 지속적으로 부응하기 위해 서비스 목표 수준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실제 측정치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고객 요구사항을 정기적으로 재검토하고 조정</a:t>
            </a:r>
            <a:endParaRPr lang="en-US" altLang="ko-KR" sz="1600" b="0" dirty="0"/>
          </a:p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현장 종사원의 서비스 행위를 정기적으로 </a:t>
            </a:r>
            <a:r>
              <a:rPr lang="ko-KR" altLang="en-US" sz="1600" b="0" dirty="0" err="1"/>
              <a:t>모티터링하여</a:t>
            </a:r>
            <a:r>
              <a:rPr lang="ko-KR" altLang="en-US" sz="1600" b="0" dirty="0"/>
              <a:t> 항상 목표 수준을 유지할 수 있도록 </a:t>
            </a:r>
            <a:r>
              <a:rPr lang="ko-KR" altLang="en-US" sz="1600" b="0" dirty="0" err="1"/>
              <a:t>피드백하고</a:t>
            </a:r>
            <a:r>
              <a:rPr lang="ko-KR" altLang="en-US" sz="1600" b="0" dirty="0"/>
              <a:t> 관리</a:t>
            </a:r>
          </a:p>
          <a:p>
            <a:pPr latinLnBrk="0">
              <a:lnSpc>
                <a:spcPct val="150000"/>
              </a:lnSpc>
              <a:defRPr/>
            </a:pPr>
            <a:endParaRPr lang="en-US" altLang="ko-KR" sz="1600" b="0" dirty="0"/>
          </a:p>
          <a:p>
            <a:pPr marL="285750" indent="-285750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고객 기대 수준 향상에 따라 목표 수준을 재검토하여 지속적으로 상향 조정함으로써 늘 고객 기대에 부응하는 고품질 서비스를 제공하도록 노력하며 궁극적으로는 고객 만족을 </a:t>
            </a:r>
            <a:r>
              <a:rPr lang="ko-KR" altLang="en-US" sz="1600" b="0" dirty="0" err="1"/>
              <a:t>달성해야함</a:t>
            </a:r>
            <a:r>
              <a:rPr lang="en-US" altLang="ko-KR" sz="1600" b="0" dirty="0"/>
              <a:t>.</a:t>
            </a:r>
            <a:endParaRPr lang="ko-KR" altLang="en-US" sz="1600" b="0" dirty="0"/>
          </a:p>
          <a:p>
            <a:pPr latinLnBrk="0">
              <a:lnSpc>
                <a:spcPct val="150000"/>
              </a:lnSpc>
              <a:defRPr/>
            </a:pPr>
            <a:endParaRPr lang="ko-KR" altLang="en-US" sz="1600" b="0" dirty="0"/>
          </a:p>
        </p:txBody>
      </p:sp>
      <p:cxnSp>
        <p:nvCxnSpPr>
          <p:cNvPr id="14343" name="직선 연결선 6">
            <a:extLst>
              <a:ext uri="{FF2B5EF4-FFF2-40B4-BE49-F238E27FC236}">
                <a16:creationId xmlns:a16="http://schemas.microsoft.com/office/drawing/2014/main" id="{7E0BA412-30F3-4059-AE93-EA97716F1CF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514975" y="1300163"/>
            <a:ext cx="0" cy="5006975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텍스트 개체 틀 3">
            <a:extLst>
              <a:ext uri="{FF2B5EF4-FFF2-40B4-BE49-F238E27FC236}">
                <a16:creationId xmlns:a16="http://schemas.microsoft.com/office/drawing/2014/main" id="{6F256EF3-F57F-4887-B64B-B087E64F46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2. </a:t>
            </a:r>
            <a:r>
              <a:rPr lang="ko-KR" altLang="en-US"/>
              <a:t>외식서비스 표준화 실제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216951F-C36E-4C94-9449-999B2E19F1DC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A0528DBE-0D5A-49BE-BACF-811AE034E3D2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>
            <a:extLst>
              <a:ext uri="{FF2B5EF4-FFF2-40B4-BE49-F238E27FC236}">
                <a16:creationId xmlns:a16="http://schemas.microsoft.com/office/drawing/2014/main" id="{C57711B3-35EC-4E1A-83B3-77F36B35448B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23E62C19-8157-4A75-ABB7-9369A9D39F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427084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매뉴얼 </a:t>
            </a:r>
            <a:endParaRPr lang="en-US" altLang="ko-KR" sz="2000" b="0" dirty="0"/>
          </a:p>
          <a:p>
            <a:pPr algn="just">
              <a:lnSpc>
                <a:spcPct val="200000"/>
              </a:lnSpc>
              <a:defRPr/>
            </a:pPr>
            <a:r>
              <a:rPr lang="ko-KR" altLang="en-US" sz="2000" b="0" dirty="0"/>
              <a:t> 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기본적으로 </a:t>
            </a:r>
            <a:r>
              <a:rPr lang="ko-KR" altLang="en-US" sz="1800" b="0" dirty="0" err="1"/>
              <a:t>외식업체를</a:t>
            </a:r>
            <a:r>
              <a:rPr lang="ko-KR" altLang="en-US" sz="1800" b="0" dirty="0"/>
              <a:t> 효율적으로 운영 및 관리하기 위해 직원의 업무와 언행들을 표준화한 지침서</a:t>
            </a:r>
            <a:endParaRPr lang="en-US" altLang="ko-KR" sz="1800" b="0" dirty="0"/>
          </a:p>
          <a:p>
            <a:pPr algn="just">
              <a:lnSpc>
                <a:spcPct val="200000"/>
              </a:lnSpc>
              <a:defRPr/>
            </a:pPr>
            <a:r>
              <a:rPr lang="ko-KR" altLang="en-US" sz="1800" b="0" dirty="0"/>
              <a:t> 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주방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홀로 구분</a:t>
            </a:r>
            <a:endParaRPr lang="en-US" altLang="ko-KR" sz="1800" b="0" dirty="0"/>
          </a:p>
          <a:p>
            <a:pPr algn="just">
              <a:lnSpc>
                <a:spcPct val="200000"/>
              </a:lnSpc>
              <a:defRPr/>
            </a:pPr>
            <a:r>
              <a:rPr lang="ko-KR" altLang="en-US" sz="1800" b="0" dirty="0"/>
              <a:t> 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고객의 불만이 발생되지 않도록 직원을 교육하는 용도로 활용되기도 하며 </a:t>
            </a:r>
            <a:endParaRPr lang="en-US" altLang="ko-KR" sz="1800" b="0" dirty="0"/>
          </a:p>
          <a:p>
            <a:pPr algn="just">
              <a:lnSpc>
                <a:spcPct val="200000"/>
              </a:lnSpc>
              <a:defRPr/>
            </a:pPr>
            <a:r>
              <a:rPr lang="en-US" altLang="ko-KR" sz="1800" b="0" dirty="0"/>
              <a:t>     </a:t>
            </a:r>
            <a:r>
              <a:rPr lang="ko-KR" altLang="en-US" sz="1800" b="0" dirty="0" err="1"/>
              <a:t>다점포</a:t>
            </a:r>
            <a:r>
              <a:rPr lang="ko-KR" altLang="en-US" sz="1800" b="0" dirty="0"/>
              <a:t> 동일 브랜드 외식업체의 지속적인 유지 전략으로 활용</a:t>
            </a:r>
            <a:endParaRPr lang="en-US" altLang="ko-KR" sz="1800" b="0" dirty="0"/>
          </a:p>
          <a:p>
            <a:pPr algn="just">
              <a:lnSpc>
                <a:spcPct val="200000"/>
              </a:lnSpc>
              <a:defRPr/>
            </a:pPr>
            <a:r>
              <a:rPr lang="en-US" altLang="ko-KR" sz="1800" b="0" dirty="0"/>
              <a:t>  - </a:t>
            </a:r>
            <a:r>
              <a:rPr lang="ko-KR" altLang="en-US" sz="1800" b="0" dirty="0"/>
              <a:t>조리 레시피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서비스 접점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점포 운영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구매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위생관리 매뉴얼</a:t>
            </a:r>
            <a:r>
              <a:rPr lang="en-US" altLang="ko-KR" sz="1800" b="0" dirty="0"/>
              <a:t>, </a:t>
            </a:r>
            <a:r>
              <a:rPr lang="ko-KR" altLang="en-US" sz="1800" b="0" dirty="0" err="1"/>
              <a:t>직무별</a:t>
            </a:r>
            <a:r>
              <a:rPr lang="ko-KR" altLang="en-US" sz="1800" b="0" dirty="0"/>
              <a:t> 교육 </a:t>
            </a:r>
            <a:r>
              <a:rPr lang="ko-KR" altLang="en-US" sz="1800" b="0" dirty="0" err="1"/>
              <a:t>훈련매뉴얼</a:t>
            </a:r>
            <a:r>
              <a:rPr lang="en-US" altLang="ko-KR" sz="1800" b="0" dirty="0"/>
              <a:t>, </a:t>
            </a:r>
          </a:p>
          <a:p>
            <a:pPr algn="just">
              <a:lnSpc>
                <a:spcPct val="200000"/>
              </a:lnSpc>
              <a:defRPr/>
            </a:pPr>
            <a:r>
              <a:rPr lang="en-US" altLang="ko-KR" sz="1800" b="0" dirty="0"/>
              <a:t>    </a:t>
            </a:r>
            <a:r>
              <a:rPr lang="ko-KR" altLang="en-US" sz="1800" b="0" dirty="0"/>
              <a:t>인테리어 매뉴얼 등</a:t>
            </a:r>
            <a:endParaRPr lang="en-US" altLang="ko-KR" sz="1800" b="0" dirty="0"/>
          </a:p>
          <a:p>
            <a:pPr algn="just">
              <a:lnSpc>
                <a:spcPct val="200000"/>
              </a:lnSpc>
              <a:defRPr/>
            </a:pPr>
            <a:r>
              <a:rPr lang="en-US" altLang="ko-KR" sz="1800" b="0" dirty="0"/>
              <a:t>  </a:t>
            </a:r>
          </a:p>
          <a:p>
            <a:pPr algn="just">
              <a:lnSpc>
                <a:spcPct val="20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20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20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20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DEA6A57B-4BBF-4F56-A0F6-001918901F58}"/>
              </a:ext>
            </a:extLst>
          </p:cNvPr>
          <p:cNvSpPr/>
          <p:nvPr/>
        </p:nvSpPr>
        <p:spPr>
          <a:xfrm>
            <a:off x="368300" y="1276350"/>
            <a:ext cx="11160125" cy="5264150"/>
          </a:xfrm>
          <a:prstGeom prst="rect">
            <a:avLst/>
          </a:prstGeom>
          <a:ln w="19050">
            <a:solidFill>
              <a:schemeClr val="tx1">
                <a:lumMod val="40000"/>
                <a:lumOff val="60000"/>
              </a:schemeClr>
            </a:solidFill>
          </a:ln>
        </p:spPr>
        <p:txBody>
          <a:bodyPr>
            <a:spAutoFit/>
          </a:bodyPr>
          <a:lstStyle/>
          <a:p>
            <a:pPr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매뉴얼의 구체적인 작성 요령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실제 서비스가 전달되는 순서대로 정확하게 정리한다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소요시간이나 서비스 순서는 현장 상황을 반영한다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긴 문장보다는 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Step 1, Step 2 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등으로 눈에 잘 띄도록 요약 정리한다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평소 사용하는 쉬운 언어로 표현한다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중요한 단어나 개념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아이콘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심벌 등은 사전에 설명하도록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정리된 매뉴얼은 실제 서비스 현장 종사원들의 의견을 수렴하여 수정 보완한다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매뉴얼을 사용하는 사람들이 경험이나 지식이 없는 초보자로 생각하고 설명하도록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모든 문장은 현재 시제를 사용한다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 디자인은 실제 서비스 매뉴얼을 현장에서 활용하는 사용자 중심으로 이루어져야 한다</a:t>
            </a: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매뉴얼은 너무 교과서 같지 않도록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, 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너무 크거나 무겁지 않게 제작되어야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매뉴얼의 글씨는 읽기 쉽도록 너무 작지 않게 그림이나 도표 등 시각적인 요소를 효과적으로 사용하여야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매뉴얼은 현장에서 필요할 때 언제든지 접근 가능하도록 해야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들고 다니기 편리한 </a:t>
            </a:r>
            <a:r>
              <a:rPr lang="ko-KR" altLang="en-US" sz="1400" kern="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핸디매뉴얼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handy manual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로 제작하거나 근무 현장에서 수시로 확인할 수 있도록 포스터 형태로 부착할 수 있다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 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marL="342900" indent="-342900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buFont typeface="Wingdings" panose="05000000000000000000" pitchFamily="2" charset="2"/>
              <a:buChar char="l"/>
              <a:defRPr/>
            </a:pP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매뉴얼은 서비스 종사원들의 </a:t>
            </a:r>
            <a:r>
              <a:rPr lang="ko-KR" altLang="en-US" sz="1400" kern="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작업공간에</a:t>
            </a:r>
            <a:r>
              <a:rPr lang="ko-KR" altLang="en-US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비치하여 언제든지 열람할 수 있도록 접근성이 좋아야 한다</a:t>
            </a:r>
            <a:r>
              <a:rPr lang="en-US" altLang="ko-KR" sz="1400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.</a:t>
            </a:r>
            <a:endParaRPr lang="ko-KR" altLang="en-US" sz="1400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46F7067-8CC6-4110-9666-F8CFE0E6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858BAF-708B-4426-96FD-E26BD8545689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0A422B6-B65C-4E13-B9D9-12E7C0C1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061575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품질 변동을 줄이고 조리 시간을 단축 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식재료 손실을 줄여 원가절감 효과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레스토랑 고객의 만족도와 매출 향상에 큰 도움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0" dirty="0"/>
              <a:t>Ex) </a:t>
            </a:r>
            <a:r>
              <a:rPr lang="ko-KR" altLang="en-US" sz="2000" b="0" dirty="0"/>
              <a:t>패스트푸드점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제목 1">
            <a:extLst>
              <a:ext uri="{FF2B5EF4-FFF2-40B4-BE49-F238E27FC236}">
                <a16:creationId xmlns:a16="http://schemas.microsoft.com/office/drawing/2014/main" id="{F46F7067-8CC6-4110-9666-F8CFE0E6EF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57858BAF-708B-4426-96FD-E26BD8545689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0A422B6-B65C-4E13-B9D9-12E7C0C1E9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061575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음식 맛의 계량화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일관된 음식 맛을 유지하기 위해서는 되도록 조리사의 손맛에 의지하지 않도록 해야함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김치의 익은 정도를 </a:t>
            </a:r>
            <a:r>
              <a:rPr lang="ko-KR" altLang="en-US" sz="1800" b="0" dirty="0" err="1"/>
              <a:t>산도계로</a:t>
            </a:r>
            <a:r>
              <a:rPr lang="ko-KR" altLang="en-US" sz="1800" b="0" dirty="0"/>
              <a:t> 측정하고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짠맛은 </a:t>
            </a:r>
            <a:r>
              <a:rPr lang="ko-KR" altLang="en-US" sz="1800" b="0" dirty="0" err="1"/>
              <a:t>염도계로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단맛은 </a:t>
            </a:r>
            <a:r>
              <a:rPr lang="ko-KR" altLang="en-US" sz="1800" b="0" dirty="0" err="1"/>
              <a:t>당도계로</a:t>
            </a:r>
            <a:r>
              <a:rPr lang="ko-KR" altLang="en-US" sz="1800" b="0" dirty="0"/>
              <a:t> 측정하며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매운맛도 </a:t>
            </a:r>
            <a:r>
              <a:rPr lang="ko-KR" altLang="en-US" sz="1800" b="0" dirty="0" err="1"/>
              <a:t>캡사이신의</a:t>
            </a:r>
            <a:r>
              <a:rPr lang="ko-KR" altLang="en-US" sz="1800" b="0" dirty="0"/>
              <a:t> 농도를 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   </a:t>
            </a:r>
            <a:r>
              <a:rPr lang="ko-KR" altLang="en-US" sz="1800" b="0" dirty="0"/>
              <a:t>계량화해 매운맛을 표준화한 </a:t>
            </a:r>
            <a:r>
              <a:rPr lang="ko-KR" altLang="en-US" sz="1800" b="0" dirty="0" err="1"/>
              <a:t>스코빌</a:t>
            </a:r>
            <a:r>
              <a:rPr lang="ko-KR" altLang="en-US" sz="1800" b="0" dirty="0"/>
              <a:t> 지수</a:t>
            </a:r>
            <a:r>
              <a:rPr lang="en-US" altLang="ko-KR" sz="1800" b="0" dirty="0"/>
              <a:t>(SHU: </a:t>
            </a:r>
            <a:r>
              <a:rPr lang="en-US" altLang="ko-KR" sz="1800" b="0" dirty="0" err="1"/>
              <a:t>Scoville</a:t>
            </a:r>
            <a:r>
              <a:rPr lang="en-US" altLang="ko-KR" sz="1800" b="0" dirty="0"/>
              <a:t> Heat Unit)</a:t>
            </a:r>
            <a:r>
              <a:rPr lang="ko-KR" altLang="en-US" sz="1800" b="0" dirty="0"/>
              <a:t>나 고추장의 매운맛을 표준화한 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   GHU(Gochujang Hot taste Unit)</a:t>
            </a:r>
            <a:r>
              <a:rPr lang="ko-KR" altLang="en-US" sz="1800" b="0" dirty="0"/>
              <a:t>를 활용하여 매운맛의 표준을 설정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46539098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모서리가 둥근 직사각형 12">
            <a:extLst>
              <a:ext uri="{FF2B5EF4-FFF2-40B4-BE49-F238E27FC236}">
                <a16:creationId xmlns:a16="http://schemas.microsoft.com/office/drawing/2014/main" id="{508E78EE-41FC-4F4D-A773-F678A53601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64113" y="2841625"/>
            <a:ext cx="376237" cy="2433638"/>
          </a:xfrm>
          <a:prstGeom prst="roundRect">
            <a:avLst>
              <a:gd name="adj" fmla="val 50000"/>
            </a:avLst>
          </a:prstGeom>
          <a:gradFill rotWithShape="1">
            <a:gsLst>
              <a:gs pos="0">
                <a:srgbClr val="950E00"/>
              </a:gs>
              <a:gs pos="50000">
                <a:srgbClr val="D71900"/>
              </a:gs>
              <a:gs pos="100000">
                <a:srgbClr val="FF2003"/>
              </a:gs>
            </a:gsLst>
            <a:lin ang="2700000" scaled="1"/>
          </a:gradFill>
          <a:ln w="9525" algn="ctr">
            <a:solidFill>
              <a:srgbClr val="C00000"/>
            </a:solidFill>
            <a:round/>
            <a:headEnd/>
            <a:tailEnd/>
          </a:ln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n-US" altLang="ko-KR">
                <a:latin typeface="Arial" panose="020B0604020202020204" pitchFamily="34" charset="0"/>
                <a:ea typeface="굴림" panose="020B0600000101010101" pitchFamily="50" charset="-127"/>
              </a:rPr>
              <a:t>3</a:t>
            </a:r>
            <a:r>
              <a:rPr lang="ko-KR" altLang="en-US" sz="900">
                <a:latin typeface="Arial" panose="020B0604020202020204" pitchFamily="34" charset="0"/>
                <a:ea typeface="굴림" panose="020B0600000101010101" pitchFamily="50" charset="-127"/>
              </a:rPr>
              <a:t>단계</a:t>
            </a:r>
          </a:p>
        </p:txBody>
      </p:sp>
      <p:pic>
        <p:nvPicPr>
          <p:cNvPr id="19459" name="Picture 5">
            <a:extLst>
              <a:ext uri="{FF2B5EF4-FFF2-40B4-BE49-F238E27FC236}">
                <a16:creationId xmlns:a16="http://schemas.microsoft.com/office/drawing/2014/main" id="{AE5612D1-2ECD-4493-82D3-6B75E7496A7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7959"/>
          <a:stretch>
            <a:fillRect/>
          </a:stretch>
        </p:blipFill>
        <p:spPr bwMode="auto">
          <a:xfrm>
            <a:off x="771525" y="1520825"/>
            <a:ext cx="3300413" cy="3835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E94E3147-B1F0-4DF4-82B3-B5C9FC53F014}"/>
              </a:ext>
            </a:extLst>
          </p:cNvPr>
          <p:cNvSpPr/>
          <p:nvPr/>
        </p:nvSpPr>
        <p:spPr>
          <a:xfrm>
            <a:off x="1701504" y="5916661"/>
            <a:ext cx="1632178" cy="493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ko-KR" altLang="en-US" kern="0" dirty="0" err="1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스코빌지수</a:t>
            </a:r>
            <a:r>
              <a:rPr lang="en-US" altLang="ko-KR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(SHU)</a:t>
            </a:r>
            <a:endParaRPr lang="ko-KR" altLang="en-US" kern="0" dirty="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graphicFrame>
        <p:nvGraphicFramePr>
          <p:cNvPr id="7" name="표 6">
            <a:extLst>
              <a:ext uri="{FF2B5EF4-FFF2-40B4-BE49-F238E27FC236}">
                <a16:creationId xmlns:a16="http://schemas.microsoft.com/office/drawing/2014/main" id="{B8242F13-C532-416D-8DBA-989F97E75B28}"/>
              </a:ext>
            </a:extLst>
          </p:cNvPr>
          <p:cNvGraphicFramePr>
            <a:graphicFrameLocks noGrp="1"/>
          </p:cNvGraphicFramePr>
          <p:nvPr/>
        </p:nvGraphicFramePr>
        <p:xfrm>
          <a:off x="5340350" y="1520825"/>
          <a:ext cx="1881188" cy="38354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40594">
                  <a:extLst>
                    <a:ext uri="{9D8B030D-6E8A-4147-A177-3AD203B41FA5}">
                      <a16:colId xmlns:a16="http://schemas.microsoft.com/office/drawing/2014/main" val="3482276959"/>
                    </a:ext>
                  </a:extLst>
                </a:gridCol>
                <a:gridCol w="940594">
                  <a:extLst>
                    <a:ext uri="{9D8B030D-6E8A-4147-A177-3AD203B41FA5}">
                      <a16:colId xmlns:a16="http://schemas.microsoft.com/office/drawing/2014/main" val="2443342486"/>
                    </a:ext>
                  </a:extLst>
                </a:gridCol>
              </a:tblGrid>
              <a:tr h="76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매우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매운맛</a:t>
                      </a:r>
                    </a:p>
                  </a:txBody>
                  <a:tcPr marL="91492" marR="91492" marT="45728" marB="4572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100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이상</a:t>
                      </a:r>
                    </a:p>
                  </a:txBody>
                  <a:tcPr marL="91492" marR="91492" marT="45728" marB="45728"/>
                </a:tc>
                <a:extLst>
                  <a:ext uri="{0D108BD9-81ED-4DB2-BD59-A6C34878D82A}">
                    <a16:rowId xmlns:a16="http://schemas.microsoft.com/office/drawing/2014/main" val="2672546190"/>
                  </a:ext>
                </a:extLst>
              </a:tr>
              <a:tr h="76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매운맛</a:t>
                      </a:r>
                    </a:p>
                  </a:txBody>
                  <a:tcPr marL="91492" marR="91492" marT="45728" marB="4572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75-100</a:t>
                      </a:r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92" marR="91492" marT="45728" marB="45728"/>
                </a:tc>
                <a:extLst>
                  <a:ext uri="{0D108BD9-81ED-4DB2-BD59-A6C34878D82A}">
                    <a16:rowId xmlns:a16="http://schemas.microsoft.com/office/drawing/2014/main" val="126567000"/>
                  </a:ext>
                </a:extLst>
              </a:tr>
              <a:tr h="76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solidFill>
                            <a:srgbClr val="C00000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보통</a:t>
                      </a:r>
                      <a:endParaRPr lang="en-US" altLang="ko-KR" sz="1600" dirty="0">
                        <a:solidFill>
                          <a:srgbClr val="C00000"/>
                        </a:solidFill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solidFill>
                            <a:srgbClr val="C00000"/>
                          </a:solidFill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매운맛</a:t>
                      </a:r>
                    </a:p>
                  </a:txBody>
                  <a:tcPr marL="91492" marR="91492" marT="45728" marB="4572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45-75</a:t>
                      </a:r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92" marR="91492" marT="45728" marB="45728"/>
                </a:tc>
                <a:extLst>
                  <a:ext uri="{0D108BD9-81ED-4DB2-BD59-A6C34878D82A}">
                    <a16:rowId xmlns:a16="http://schemas.microsoft.com/office/drawing/2014/main" val="1142323789"/>
                  </a:ext>
                </a:extLst>
              </a:tr>
              <a:tr h="76708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덜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  <a:p>
                      <a:pPr algn="ctr" latinLnBrk="1"/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매운맛</a:t>
                      </a:r>
                      <a:endParaRPr lang="en-US" altLang="ko-KR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92" marR="91492" marT="45728" marB="4572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30-45</a:t>
                      </a:r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92" marR="91492" marT="45728" marB="45728"/>
                </a:tc>
                <a:extLst>
                  <a:ext uri="{0D108BD9-81ED-4DB2-BD59-A6C34878D82A}">
                    <a16:rowId xmlns:a16="http://schemas.microsoft.com/office/drawing/2014/main" val="681129337"/>
                  </a:ext>
                </a:extLst>
              </a:tr>
              <a:tr h="767080"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600" dirty="0" err="1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순한맛</a:t>
                      </a:r>
                      <a:endParaRPr lang="ko-KR" altLang="en-US" sz="1600" dirty="0">
                        <a:latin typeface="서울남산 장체 M" panose="02020503020101020101" pitchFamily="18" charset="-127"/>
                        <a:ea typeface="서울남산 장체 M" panose="02020503020101020101" pitchFamily="18" charset="-127"/>
                      </a:endParaRPr>
                    </a:p>
                  </a:txBody>
                  <a:tcPr marL="91492" marR="91492" marT="45728" marB="45728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30</a:t>
                      </a:r>
                      <a:r>
                        <a:rPr lang="ko-KR" altLang="en-US" sz="1600" dirty="0">
                          <a:latin typeface="서울남산 장체 M" panose="02020503020101020101" pitchFamily="18" charset="-127"/>
                          <a:ea typeface="서울남산 장체 M" panose="02020503020101020101" pitchFamily="18" charset="-127"/>
                        </a:rPr>
                        <a:t>미만</a:t>
                      </a:r>
                    </a:p>
                  </a:txBody>
                  <a:tcPr marL="91492" marR="91492" marT="45728" marB="45728"/>
                </a:tc>
                <a:extLst>
                  <a:ext uri="{0D108BD9-81ED-4DB2-BD59-A6C34878D82A}">
                    <a16:rowId xmlns:a16="http://schemas.microsoft.com/office/drawing/2014/main" val="1490402659"/>
                  </a:ext>
                </a:extLst>
              </a:tr>
            </a:tbl>
          </a:graphicData>
        </a:graphic>
      </p:graphicFrame>
      <p:sp>
        <p:nvSpPr>
          <p:cNvPr id="19481" name="TextBox 7">
            <a:extLst>
              <a:ext uri="{FF2B5EF4-FFF2-40B4-BE49-F238E27FC236}">
                <a16:creationId xmlns:a16="http://schemas.microsoft.com/office/drawing/2014/main" id="{1E8DAF15-D666-41B5-AC3F-74066707DC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305675" y="2252663"/>
            <a:ext cx="3025775" cy="23542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lnSpc>
                <a:spcPct val="150000"/>
              </a:lnSpc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     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[</a:t>
            </a: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맛의 강도 영문 표현법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]</a:t>
            </a:r>
          </a:p>
          <a:p>
            <a:pPr>
              <a:lnSpc>
                <a:spcPct val="150000"/>
              </a:lnSpc>
            </a:pPr>
            <a:endParaRPr lang="en-US" altLang="ko-KR" sz="140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순한맛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– Mid Hot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덜 매운맛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– Slight Hot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보통 매운맛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– Medium Hot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매운맛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– Very Hot</a:t>
            </a:r>
          </a:p>
          <a:p>
            <a:pPr lvl="1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ko-KR" altLang="en-US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매우 매운맛 </a:t>
            </a:r>
            <a:r>
              <a:rPr lang="en-US" altLang="ko-KR" sz="140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– Extreme Hot</a:t>
            </a:r>
            <a:endParaRPr lang="ko-KR" altLang="en-US" sz="1400">
              <a:latin typeface="서울남산 장체 M" panose="02020503020101020101" pitchFamily="18" charset="-127"/>
              <a:ea typeface="서울남산 장체 M" panose="02020503020101020101" pitchFamily="18" charset="-127"/>
            </a:endParaRPr>
          </a:p>
        </p:txBody>
      </p:sp>
      <p:sp>
        <p:nvSpPr>
          <p:cNvPr id="19482" name="모서리가 둥근 직사각형 10">
            <a:extLst>
              <a:ext uri="{FF2B5EF4-FFF2-40B4-BE49-F238E27FC236}">
                <a16:creationId xmlns:a16="http://schemas.microsoft.com/office/drawing/2014/main" id="{503F8330-5BAA-4D71-8EFA-B26EBD2B9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84750" y="1368425"/>
            <a:ext cx="355600" cy="3987800"/>
          </a:xfrm>
          <a:prstGeom prst="roundRect">
            <a:avLst>
              <a:gd name="adj" fmla="val 50000"/>
            </a:avLst>
          </a:prstGeom>
          <a:noFill/>
          <a:ln w="9525" algn="ctr">
            <a:solidFill>
              <a:srgbClr val="C0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endParaRPr lang="ko-KR" altLang="en-US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19483" name="타원 11">
            <a:extLst>
              <a:ext uri="{FF2B5EF4-FFF2-40B4-BE49-F238E27FC236}">
                <a16:creationId xmlns:a16="http://schemas.microsoft.com/office/drawing/2014/main" id="{562DCC96-82CC-4C1F-82A2-510A1D9F02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30775" y="5043488"/>
            <a:ext cx="463550" cy="465137"/>
          </a:xfrm>
          <a:prstGeom prst="ellipse">
            <a:avLst/>
          </a:prstGeom>
          <a:gradFill rotWithShape="1">
            <a:gsLst>
              <a:gs pos="0">
                <a:srgbClr val="950E00"/>
              </a:gs>
              <a:gs pos="50000">
                <a:srgbClr val="D71900"/>
              </a:gs>
              <a:gs pos="100000">
                <a:srgbClr val="FF2003"/>
              </a:gs>
            </a:gsLst>
            <a:lin ang="54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/>
            <a:r>
              <a:rPr lang="en-US" altLang="ko-KR" sz="2400" b="1">
                <a:latin typeface="Arial" panose="020B0604020202020204" pitchFamily="34" charset="0"/>
                <a:ea typeface="굴림" panose="020B0600000101010101" pitchFamily="50" charset="-127"/>
              </a:rPr>
              <a:t>3</a:t>
            </a:r>
            <a:endParaRPr lang="ko-KR" altLang="en-US" sz="2400" b="1"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E1D761DE-1132-4FCD-BD02-31C54CE5AE9B}"/>
              </a:ext>
            </a:extLst>
          </p:cNvPr>
          <p:cNvSpPr/>
          <p:nvPr/>
        </p:nvSpPr>
        <p:spPr>
          <a:xfrm>
            <a:off x="5566358" y="5927724"/>
            <a:ext cx="3621504" cy="49398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160000"/>
              </a:lnSpc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GHU(Gochujang Hot taste Unit) </a:t>
            </a:r>
            <a:r>
              <a:rPr lang="ko-KR" altLang="en-US" kern="0" dirty="0">
                <a:latin typeface="서울남산 장체 M" panose="02020503020101020101" pitchFamily="18" charset="-127"/>
                <a:ea typeface="서울남산 장체 M" panose="02020503020101020101" pitchFamily="18" charset="-127"/>
              </a:rPr>
              <a:t>기준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130" name="Picture 2" descr="매운맛을 보여드립니다 : 네이버 포스트">
            <a:extLst>
              <a:ext uri="{FF2B5EF4-FFF2-40B4-BE49-F238E27FC236}">
                <a16:creationId xmlns:a16="http://schemas.microsoft.com/office/drawing/2014/main" id="{9EBAFEBC-6D02-4B7A-B7C4-41AB27D2D79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5650" y="1651786"/>
            <a:ext cx="8153400" cy="3400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5">
            <a:extLst>
              <a:ext uri="{FF2B5EF4-FFF2-40B4-BE49-F238E27FC236}">
                <a16:creationId xmlns:a16="http://schemas.microsoft.com/office/drawing/2014/main" id="{19C49FCB-D4C8-4EC8-B5D9-0824D86D02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275" b="7959"/>
          <a:stretch>
            <a:fillRect/>
          </a:stretch>
        </p:blipFill>
        <p:spPr bwMode="auto">
          <a:xfrm>
            <a:off x="9665269" y="2081480"/>
            <a:ext cx="2319118" cy="26950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73085929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제목 1">
            <a:extLst>
              <a:ext uri="{FF2B5EF4-FFF2-40B4-BE49-F238E27FC236}">
                <a16:creationId xmlns:a16="http://schemas.microsoft.com/office/drawing/2014/main" id="{F669FE96-A771-4707-863D-35DBCE61DF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7536B724-4880-4B74-88A5-A161AA2951BE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44B0F4E-E2FE-405B-85B6-4C92290FB1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315575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표준 레시피를 활용한 조리법 표준화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조리과정의 표준화는 식재료 구매와 재고관리 계획 수립에도 도움을 줌</a:t>
            </a:r>
            <a:endParaRPr lang="en-US" altLang="ko-KR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 err="1"/>
              <a:t>조리과정에</a:t>
            </a:r>
            <a:r>
              <a:rPr lang="ko-KR" altLang="en-US" sz="1800" b="0" dirty="0"/>
              <a:t> 관한 매뉴얼</a:t>
            </a:r>
            <a:endParaRPr lang="en-US" altLang="ko-KR" sz="1800" b="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600" dirty="0"/>
              <a:t>• </a:t>
            </a:r>
            <a:r>
              <a:rPr lang="ko-KR" altLang="en-US" sz="1600" dirty="0"/>
              <a:t>조리 기준 </a:t>
            </a:r>
            <a:r>
              <a:rPr lang="en-US" altLang="ko-KR" sz="1600" dirty="0"/>
              <a:t>: </a:t>
            </a:r>
            <a:r>
              <a:rPr lang="ko-KR" altLang="en-US" sz="1600" dirty="0"/>
              <a:t>조리용 조미료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식재</a:t>
            </a:r>
            <a:r>
              <a:rPr lang="ko-KR" altLang="en-US" sz="1600" dirty="0"/>
              <a:t> 시스템</a:t>
            </a:r>
            <a:r>
              <a:rPr lang="en-US" altLang="ko-KR" sz="1600" dirty="0"/>
              <a:t>, </a:t>
            </a:r>
            <a:r>
              <a:rPr lang="ko-KR" altLang="en-US" sz="1600" dirty="0"/>
              <a:t>주방기기 사용법</a:t>
            </a:r>
            <a:r>
              <a:rPr lang="en-US" altLang="ko-KR" sz="1600" dirty="0"/>
              <a:t>, </a:t>
            </a:r>
            <a:r>
              <a:rPr lang="ko-KR" altLang="en-US" sz="1600" dirty="0"/>
              <a:t>조리 용구와 식기의 점검 확인에 관한 매뉴얼</a:t>
            </a:r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600" dirty="0"/>
              <a:t>• </a:t>
            </a:r>
            <a:r>
              <a:rPr lang="ko-KR" altLang="en-US" sz="1600" dirty="0"/>
              <a:t>식재료 </a:t>
            </a:r>
            <a:r>
              <a:rPr lang="ko-KR" altLang="en-US" sz="1600" dirty="0" err="1"/>
              <a:t>구매발주</a:t>
            </a:r>
            <a:r>
              <a:rPr lang="ko-KR" altLang="en-US" sz="1600" dirty="0"/>
              <a:t> </a:t>
            </a:r>
            <a:r>
              <a:rPr lang="en-US" altLang="ko-KR" sz="1600" dirty="0"/>
              <a:t>: </a:t>
            </a:r>
            <a:r>
              <a:rPr lang="ko-KR" altLang="en-US" sz="1600" dirty="0"/>
              <a:t>메뉴에 기재된 음식의 조리에 필요한 당일 여유분의 </a:t>
            </a:r>
            <a:r>
              <a:rPr lang="ko-KR" altLang="en-US" sz="1600" dirty="0" err="1"/>
              <a:t>식재</a:t>
            </a:r>
            <a:r>
              <a:rPr lang="ko-KR" altLang="en-US" sz="1600" dirty="0"/>
              <a:t> 품목</a:t>
            </a:r>
            <a:r>
              <a:rPr lang="en-US" altLang="ko-KR" sz="1600" dirty="0"/>
              <a:t>, </a:t>
            </a:r>
            <a:r>
              <a:rPr lang="ko-KR" altLang="en-US" sz="1600" dirty="0"/>
              <a:t>수량의 점검 확인을 위한 매뉴얼</a:t>
            </a:r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600" dirty="0"/>
              <a:t>• </a:t>
            </a:r>
            <a:r>
              <a:rPr lang="ko-KR" altLang="en-US" sz="1600" dirty="0"/>
              <a:t>조리 방법 </a:t>
            </a:r>
            <a:r>
              <a:rPr lang="en-US" altLang="ko-KR" sz="1600" dirty="0"/>
              <a:t>: </a:t>
            </a:r>
            <a:r>
              <a:rPr lang="ko-KR" altLang="en-US" sz="1600" dirty="0"/>
              <a:t>메뉴에 기재된 음식의 조리 순서</a:t>
            </a:r>
            <a:r>
              <a:rPr lang="en-US" altLang="ko-KR" sz="1600" dirty="0"/>
              <a:t>, </a:t>
            </a:r>
            <a:r>
              <a:rPr lang="ko-KR" altLang="en-US" sz="1600" dirty="0"/>
              <a:t>시간</a:t>
            </a:r>
            <a:r>
              <a:rPr lang="en-US" altLang="ko-KR" sz="1600" dirty="0"/>
              <a:t>, </a:t>
            </a:r>
            <a:r>
              <a:rPr lang="ko-KR" altLang="en-US" sz="1600" dirty="0"/>
              <a:t>해당 식기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조리원가에</a:t>
            </a:r>
            <a:r>
              <a:rPr lang="ko-KR" altLang="en-US" sz="1600" dirty="0"/>
              <a:t> 관한 매뉴얼</a:t>
            </a:r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600" dirty="0"/>
              <a:t>• </a:t>
            </a:r>
            <a:r>
              <a:rPr lang="ko-KR" altLang="en-US" sz="1600" dirty="0"/>
              <a:t>원재료 보관 </a:t>
            </a:r>
            <a:r>
              <a:rPr lang="en-US" altLang="ko-KR" sz="1600" dirty="0"/>
              <a:t>: </a:t>
            </a:r>
            <a:r>
              <a:rPr lang="ko-KR" altLang="en-US" sz="1600" dirty="0"/>
              <a:t>메뉴 생산 조리에 필요한 식재료 보관 방법의 매뉴얼</a:t>
            </a:r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제목 1">
            <a:extLst>
              <a:ext uri="{FF2B5EF4-FFF2-40B4-BE49-F238E27FC236}">
                <a16:creationId xmlns:a16="http://schemas.microsoft.com/office/drawing/2014/main" id="{AD6C7BA8-684C-4A67-835D-2718BDBBD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461082B-760D-4CB7-A7AA-4C77608F9F67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B98E9F4C-8462-40E5-A77B-20B61C14B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1"/>
            <a:ext cx="10315575" cy="563564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표준 레시피를 활용한 조리법 표준화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sp>
        <p:nvSpPr>
          <p:cNvPr id="6" name="모서리가 둥근 직사각형 5">
            <a:extLst>
              <a:ext uri="{FF2B5EF4-FFF2-40B4-BE49-F238E27FC236}">
                <a16:creationId xmlns:a16="http://schemas.microsoft.com/office/drawing/2014/main" id="{2FC67A2F-3387-4F5D-940F-CB3C667C93A3}"/>
              </a:ext>
            </a:extLst>
          </p:cNvPr>
          <p:cNvSpPr/>
          <p:nvPr/>
        </p:nvSpPr>
        <p:spPr>
          <a:xfrm>
            <a:off x="670493" y="2180426"/>
            <a:ext cx="9523413" cy="1781175"/>
          </a:xfrm>
          <a:prstGeom prst="roundRect">
            <a:avLst/>
          </a:prstGeom>
          <a:solidFill>
            <a:schemeClr val="bg1"/>
          </a:solidFill>
          <a:ln>
            <a:solidFill>
              <a:srgbClr val="00B0F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>
              <a:lnSpc>
                <a:spcPct val="150000"/>
              </a:lnSpc>
              <a:defRPr/>
            </a:pP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*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특히 음식 맛을 결정하는 </a:t>
            </a:r>
            <a:r>
              <a:rPr lang="ko-KR" altLang="en-US" sz="1600" b="1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조리 방법의 표준화는 표준 레시피를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활용하여 표준화</a:t>
            </a:r>
            <a:endParaRPr lang="en-US" altLang="ko-KR" sz="1600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 표준 레시피는 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-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메뉴의 조리 공정을 위해 필요한 양과 조리법을 기술한 것</a:t>
            </a: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                   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-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음식의 양적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·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질적 표준이 제시되고 정확한 생산량을 계산하여 </a:t>
            </a:r>
            <a:endParaRPr lang="en-US" altLang="ko-KR" sz="1600" dirty="0">
              <a:solidFill>
                <a:schemeClr val="tx1"/>
              </a:solidFill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  <a:p>
            <a:pPr>
              <a:lnSpc>
                <a:spcPct val="150000"/>
              </a:lnSpc>
              <a:defRPr/>
            </a:pP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                    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-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생산 초과나 부족으로 인한 손실을 줄일 수 있는 등 음식의 품질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양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원가</a:t>
            </a:r>
            <a:r>
              <a:rPr lang="en-US" altLang="ko-KR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, </a:t>
            </a:r>
            <a:r>
              <a:rPr lang="ko-KR" altLang="en-US" sz="1600" dirty="0">
                <a:solidFill>
                  <a:schemeClr val="tx1"/>
                </a:solidFill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시간을 효율적으로 조절</a:t>
            </a:r>
          </a:p>
        </p:txBody>
      </p:sp>
      <p:pic>
        <p:nvPicPr>
          <p:cNvPr id="2" name="그림 1">
            <a:extLst>
              <a:ext uri="{FF2B5EF4-FFF2-40B4-BE49-F238E27FC236}">
                <a16:creationId xmlns:a16="http://schemas.microsoft.com/office/drawing/2014/main" id="{769C82B1-4425-4A16-BC7A-24D1838434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8463" y="4238612"/>
            <a:ext cx="6133703" cy="2091841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제목 1">
            <a:extLst>
              <a:ext uri="{FF2B5EF4-FFF2-40B4-BE49-F238E27FC236}">
                <a16:creationId xmlns:a16="http://schemas.microsoft.com/office/drawing/2014/main" id="{BD3A65F1-F1F6-4D91-9439-25747C42AD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EAF26A1D-17E7-4602-B9B5-7536F6BD3411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046322E-4589-4D64-BA94-C4977E49FB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315575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상품 제공 방법의 표준화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음식이나 음료는 조리나 제조된 후 고객들에게 어떻게 제공할 것인가도 </a:t>
            </a:r>
            <a:r>
              <a:rPr lang="en-US" altLang="ko-KR" sz="1800" b="0" dirty="0"/>
              <a:t>‘</a:t>
            </a:r>
            <a:r>
              <a:rPr lang="ko-KR" altLang="en-US" sz="1800" dirty="0"/>
              <a:t>시각적인 측면</a:t>
            </a:r>
            <a:r>
              <a:rPr lang="en-US" altLang="ko-KR" sz="1800" dirty="0"/>
              <a:t>’ </a:t>
            </a:r>
            <a:r>
              <a:rPr lang="ko-KR" altLang="en-US" sz="1800" b="0" dirty="0"/>
              <a:t>에서 표준화해야 함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en-US" altLang="ko-KR" dirty="0"/>
          </a:p>
          <a:p>
            <a:pPr algn="just">
              <a:lnSpc>
                <a:spcPct val="150000"/>
              </a:lnSpc>
              <a:defRPr/>
            </a:pPr>
            <a:endParaRPr lang="en-US" altLang="ko-KR" dirty="0"/>
          </a:p>
          <a:p>
            <a:pPr algn="just">
              <a:lnSpc>
                <a:spcPct val="150000"/>
              </a:lnSpc>
              <a:defRPr/>
            </a:pPr>
            <a:endParaRPr lang="ko-KR" altLang="en-US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pic>
        <p:nvPicPr>
          <p:cNvPr id="22533" name="Picture 3">
            <a:extLst>
              <a:ext uri="{FF2B5EF4-FFF2-40B4-BE49-F238E27FC236}">
                <a16:creationId xmlns:a16="http://schemas.microsoft.com/office/drawing/2014/main" id="{4CEA4361-F6F6-463E-B06E-3AD689ADF8E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49738" y="3213100"/>
            <a:ext cx="2011362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4" name="Picture 4">
            <a:extLst>
              <a:ext uri="{FF2B5EF4-FFF2-40B4-BE49-F238E27FC236}">
                <a16:creationId xmlns:a16="http://schemas.microsoft.com/office/drawing/2014/main" id="{362EEFC7-B990-4D9E-9CDE-AEFFEF7CC13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43725" y="3213100"/>
            <a:ext cx="2051050" cy="17875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5" name="Picture 5">
            <a:extLst>
              <a:ext uri="{FF2B5EF4-FFF2-40B4-BE49-F238E27FC236}">
                <a16:creationId xmlns:a16="http://schemas.microsoft.com/office/drawing/2014/main" id="{E4964DE6-6B64-4FAE-B222-DD41531DC02B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266825" y="3160713"/>
            <a:ext cx="2606675" cy="1930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6" name="TextBox 2">
            <a:extLst>
              <a:ext uri="{FF2B5EF4-FFF2-40B4-BE49-F238E27FC236}">
                <a16:creationId xmlns:a16="http://schemas.microsoft.com/office/drawing/2014/main" id="{47C44905-123E-4C7F-90C0-24830B92804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05338" y="5624513"/>
            <a:ext cx="2338387" cy="339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인스타감성메뉴</a:t>
            </a:r>
            <a:r>
              <a:rPr lang="en-US" altLang="ko-KR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  <a:endParaRPr lang="ko-KR" altLang="en-US" sz="16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제목 1">
            <a:extLst>
              <a:ext uri="{FF2B5EF4-FFF2-40B4-BE49-F238E27FC236}">
                <a16:creationId xmlns:a16="http://schemas.microsoft.com/office/drawing/2014/main" id="{07EF767D-7EA9-4983-A58C-9734D7F7AD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메뉴 품질의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EF68E17-8A7E-4FF1-8F4F-9B828CF5977D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882F049-223E-4E3E-980B-C0FAC63A2C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315575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상품 제공 방법의 표준화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음식이나 음료는 조리나 제조된 후 고객들에게 어떻게 제공할 것인가도 </a:t>
            </a:r>
            <a:r>
              <a:rPr lang="en-US" altLang="ko-KR" sz="1800" b="0" dirty="0"/>
              <a:t>‘</a:t>
            </a:r>
            <a:r>
              <a:rPr lang="ko-KR" altLang="en-US" sz="1800" dirty="0"/>
              <a:t>시각적인 측면</a:t>
            </a:r>
            <a:r>
              <a:rPr lang="en-US" altLang="ko-KR" sz="1800" dirty="0"/>
              <a:t>’ </a:t>
            </a:r>
            <a:r>
              <a:rPr lang="ko-KR" altLang="en-US" sz="1800" b="0" dirty="0"/>
              <a:t>에서 표준화해야 함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en-US" altLang="ko-KR" dirty="0"/>
          </a:p>
          <a:p>
            <a:pPr algn="just">
              <a:lnSpc>
                <a:spcPct val="150000"/>
              </a:lnSpc>
              <a:defRPr/>
            </a:pPr>
            <a:endParaRPr lang="en-US" altLang="ko-KR" dirty="0"/>
          </a:p>
          <a:p>
            <a:pPr algn="just">
              <a:lnSpc>
                <a:spcPct val="150000"/>
              </a:lnSpc>
              <a:defRPr/>
            </a:pPr>
            <a:endParaRPr lang="ko-KR" altLang="en-US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18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sp>
        <p:nvSpPr>
          <p:cNvPr id="24581" name="TextBox 2">
            <a:extLst>
              <a:ext uri="{FF2B5EF4-FFF2-40B4-BE49-F238E27FC236}">
                <a16:creationId xmlns:a16="http://schemas.microsoft.com/office/drawing/2014/main" id="{AFCA1568-57E5-46AC-92A2-B04ECA251B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57688" y="5635625"/>
            <a:ext cx="2917825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r>
              <a:rPr lang="en-US" altLang="ko-KR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[</a:t>
            </a:r>
            <a:r>
              <a:rPr lang="ko-KR" altLang="en-US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테이크아웃</a:t>
            </a:r>
            <a:r>
              <a:rPr lang="en-US" altLang="ko-KR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-</a:t>
            </a:r>
            <a:r>
              <a:rPr lang="ko-KR" altLang="en-US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효창동 전복가게</a:t>
            </a:r>
            <a:r>
              <a:rPr lang="en-US" altLang="ko-KR" sz="1600">
                <a:latin typeface="서울남산 장체 L" panose="02020503020101020101" pitchFamily="18" charset="-127"/>
                <a:ea typeface="서울남산 장체 L" panose="02020503020101020101" pitchFamily="18" charset="-127"/>
              </a:rPr>
              <a:t>]</a:t>
            </a:r>
            <a:endParaRPr lang="ko-KR" altLang="en-US" sz="1600">
              <a:latin typeface="서울남산 장체 L" panose="02020503020101020101" pitchFamily="18" charset="-127"/>
              <a:ea typeface="서울남산 장체 L" panose="02020503020101020101" pitchFamily="18" charset="-127"/>
            </a:endParaRPr>
          </a:p>
        </p:txBody>
      </p:sp>
      <p:pic>
        <p:nvPicPr>
          <p:cNvPr id="24582" name="그림 3">
            <a:extLst>
              <a:ext uri="{FF2B5EF4-FFF2-40B4-BE49-F238E27FC236}">
                <a16:creationId xmlns:a16="http://schemas.microsoft.com/office/drawing/2014/main" id="{5A2CD1F9-CC25-410B-A83A-F2833235672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57688" y="3168650"/>
            <a:ext cx="1800225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3" name="그림 10">
            <a:extLst>
              <a:ext uri="{FF2B5EF4-FFF2-40B4-BE49-F238E27FC236}">
                <a16:creationId xmlns:a16="http://schemas.microsoft.com/office/drawing/2014/main" id="{23671C87-EAB6-45E8-BF5C-99632CBB477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45275" y="3130550"/>
            <a:ext cx="2508250" cy="20907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4584" name="그림 11">
            <a:extLst>
              <a:ext uri="{FF2B5EF4-FFF2-40B4-BE49-F238E27FC236}">
                <a16:creationId xmlns:a16="http://schemas.microsoft.com/office/drawing/2014/main" id="{E8973285-B6CF-4AF3-BD00-89CAB0A74891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630363" y="3186113"/>
            <a:ext cx="2238375" cy="2054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제목 1">
            <a:extLst>
              <a:ext uri="{FF2B5EF4-FFF2-40B4-BE49-F238E27FC236}">
                <a16:creationId xmlns:a16="http://schemas.microsoft.com/office/drawing/2014/main" id="{47970F47-6AF5-4272-9186-E5A66FBCA7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A05C9658-06C8-4A49-B39F-33CD232C118C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C0C118B-0DCA-4035-8645-2C8447F213A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서비스는 </a:t>
            </a:r>
            <a:r>
              <a:rPr lang="ko-KR" altLang="en-US" sz="2000" b="0" dirty="0" err="1"/>
              <a:t>무형성</a:t>
            </a:r>
            <a:r>
              <a:rPr lang="en-US" altLang="ko-KR" sz="2000" b="0" dirty="0"/>
              <a:t>, </a:t>
            </a:r>
            <a:r>
              <a:rPr lang="ko-KR" altLang="en-US" sz="2000" b="0" dirty="0" err="1"/>
              <a:t>비분리성</a:t>
            </a:r>
            <a:r>
              <a:rPr lang="ko-KR" altLang="en-US" sz="2000" b="0" dirty="0"/>
              <a:t> 등의 특성으로</a:t>
            </a:r>
            <a:r>
              <a:rPr lang="en-US" altLang="ko-KR" sz="2000" b="0" dirty="0"/>
              <a:t> </a:t>
            </a:r>
            <a:r>
              <a:rPr lang="ko-KR" altLang="en-US" sz="2000" b="0" dirty="0"/>
              <a:t>서비스의 경험을 구체적인 형상으로 표준화하는 것이 중요함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온라인과 오프라인 모든 서비스 접점에서 구체적인 서비스 내용을 매뉴얼화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서비스 매뉴얼 준수 여부는 미스터리 쇼핑 프로그램으로 확인해야함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서비스 </a:t>
            </a:r>
            <a:r>
              <a:rPr lang="ko-KR" altLang="en-US" sz="2000" b="0" dirty="0" err="1"/>
              <a:t>접점별</a:t>
            </a:r>
            <a:r>
              <a:rPr lang="ko-KR" altLang="en-US" sz="2000" b="0" dirty="0"/>
              <a:t> 표준화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고객 응대 과정에서의 서비스 종사원의 서비스 제공 태도나 행동에 대한 서비스 기준을 표준화하는 것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고객 응대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서비스 매뉴얼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서비스 접점 매뉴얼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800" b="0" dirty="0"/>
              <a:t>고객 기대를 바탕으로 접점에서의 긍정적 경험을 강화시키는 서비스 행동이나 행위를 구체적으로 매뉴얼에 담음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고객 대기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 </a:t>
            </a:r>
            <a:r>
              <a:rPr lang="ko-KR" altLang="en-US" sz="1600" dirty="0" err="1"/>
              <a:t>앞에서뿐만</a:t>
            </a:r>
            <a:r>
              <a:rPr lang="ko-KR" altLang="en-US" sz="1600" dirty="0"/>
              <a:t> 아니라 고객을 기다릴 때에도 항상 자세가 흐트러지지 않도록 하여야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대기 자세는 고객에게 있어 첫인상이 될 수도 있기 때문에 매우 주의하여야 한다</a:t>
            </a:r>
            <a:r>
              <a:rPr lang="en-US" altLang="ko-KR" sz="1600" dirty="0"/>
              <a:t>.</a:t>
            </a:r>
          </a:p>
          <a:p>
            <a:pPr lvl="1" algn="just">
              <a:lnSpc>
                <a:spcPct val="150000"/>
              </a:lnSpc>
              <a:defRPr/>
            </a:pPr>
            <a:endParaRPr lang="en-US" altLang="ko-KR" sz="180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고객 환영 및 자리 안내 상황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고객이 내점 즉시 “안녕하세요</a:t>
            </a:r>
            <a:r>
              <a:rPr lang="en-US" altLang="ko-KR" sz="1600" dirty="0"/>
              <a:t>. </a:t>
            </a:r>
            <a:r>
              <a:rPr lang="ko-KR" altLang="en-US" sz="1600" dirty="0"/>
              <a:t>어서 </a:t>
            </a:r>
            <a:r>
              <a:rPr lang="ko-KR" altLang="en-US" sz="1600" dirty="0" err="1"/>
              <a:t>오세요”라고</a:t>
            </a:r>
            <a:r>
              <a:rPr lang="ko-KR" altLang="en-US" sz="1600" dirty="0"/>
              <a:t> 인사하고 외식기업의 브랜드를 알리며 환영 인사를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다음으로 예약 여부를 확인할 시에는 “예약하셨습니까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말한다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예약 고객이 아니라면 “몇 분이십니까</a:t>
            </a:r>
            <a:r>
              <a:rPr lang="en-US" altLang="ko-KR" sz="1600" dirty="0"/>
              <a:t>?”</a:t>
            </a:r>
            <a:r>
              <a:rPr lang="ko-KR" altLang="en-US" sz="1600" dirty="0"/>
              <a:t>라며 동행 고객 수를 확인한다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기다린 고객을 안내할 시에는 “기다려 주셔서 </a:t>
            </a:r>
            <a:r>
              <a:rPr lang="ko-KR" altLang="en-US" sz="1600" dirty="0" err="1"/>
              <a:t>감사합니다”라고</a:t>
            </a:r>
            <a:r>
              <a:rPr lang="ko-KR" altLang="en-US" sz="1600" dirty="0"/>
              <a:t> 기다린 것에 대한 감사를 표시한다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고객이 특별히 선호하는 자리가 있는지 물어보고 안내한다</a:t>
            </a:r>
            <a:r>
              <a:rPr lang="en-US" altLang="ko-KR" sz="1600" dirty="0"/>
              <a:t>. </a:t>
            </a:r>
            <a:r>
              <a:rPr lang="ko-KR" altLang="en-US" sz="1600" dirty="0"/>
              <a:t>흡연석이나 금연석 혹은 창가나 구석 자리 등에 대한 선호도를 물어보아야 한다</a:t>
            </a:r>
            <a:r>
              <a:rPr lang="en-US" altLang="ko-KR" sz="1600" dirty="0"/>
              <a:t>.</a:t>
            </a:r>
            <a:endParaRPr lang="ko-KR" altLang="en-US" sz="16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63512702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물과 </a:t>
            </a:r>
            <a:r>
              <a:rPr lang="ko-KR" altLang="en-US" sz="1800" dirty="0" err="1"/>
              <a:t>메뉴북을</a:t>
            </a:r>
            <a:r>
              <a:rPr lang="ko-KR" altLang="en-US" sz="1800" dirty="0"/>
              <a:t> 제공하는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담당 서비스 종사원은 “물과 </a:t>
            </a:r>
            <a:r>
              <a:rPr lang="ko-KR" altLang="en-US" sz="1600" dirty="0" err="1"/>
              <a:t>메뉴북</a:t>
            </a:r>
            <a:r>
              <a:rPr lang="ko-KR" altLang="en-US" sz="1600" dirty="0"/>
              <a:t> 여기 </a:t>
            </a:r>
            <a:r>
              <a:rPr lang="ko-KR" altLang="en-US" sz="1600" dirty="0" err="1"/>
              <a:t>있습니다”라고</a:t>
            </a:r>
            <a:r>
              <a:rPr lang="ko-KR" altLang="en-US" sz="1600" dirty="0"/>
              <a:t> 말하며 </a:t>
            </a:r>
            <a:r>
              <a:rPr lang="ko-KR" altLang="en-US" sz="1600" dirty="0" err="1"/>
              <a:t>메뉴북과</a:t>
            </a:r>
            <a:r>
              <a:rPr lang="ko-KR" altLang="en-US" sz="1600" dirty="0"/>
              <a:t> 물을 제공한다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 err="1"/>
              <a:t>메뉴북의</a:t>
            </a:r>
            <a:r>
              <a:rPr lang="ko-KR" altLang="en-US" sz="1600" dirty="0"/>
              <a:t> 서빙이 끝나면 간단히 목례 후 물러서서 대기한다</a:t>
            </a:r>
            <a:r>
              <a:rPr lang="en-US" altLang="ko-KR" sz="1600" dirty="0"/>
              <a:t>. </a:t>
            </a:r>
            <a:r>
              <a:rPr lang="ko-KR" altLang="en-US" sz="1600" dirty="0"/>
              <a:t>대기 시에는 고객에게 빠른 메뉴 선택을 강요하는 느낌을 주어서는 안 되며</a:t>
            </a:r>
            <a:r>
              <a:rPr lang="en-US" altLang="ko-KR" sz="1600" dirty="0"/>
              <a:t>, </a:t>
            </a:r>
            <a:r>
              <a:rPr lang="ko-KR" altLang="en-US" sz="1600" dirty="0"/>
              <a:t>반대로 고객에 대한 무관심 이 표현되어서도 안 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algn="just">
              <a:lnSpc>
                <a:spcPct val="150000"/>
              </a:lnSpc>
              <a:defRPr/>
            </a:pPr>
            <a:endParaRPr lang="en-US" altLang="ko-KR" sz="180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</a:t>
            </a:r>
            <a:r>
              <a:rPr lang="ko-KR" altLang="en-US" sz="1800" dirty="0" err="1"/>
              <a:t>주문받는</a:t>
            </a:r>
            <a:r>
              <a:rPr lang="ko-KR" altLang="en-US" sz="1800" dirty="0"/>
              <a:t>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 고객이 메뉴 선택을 하였다고 판단되면 다가서서 “주문 </a:t>
            </a:r>
            <a:r>
              <a:rPr lang="ko-KR" altLang="en-US" sz="1600" dirty="0" err="1"/>
              <a:t>도와드리겠습니다”라고</a:t>
            </a:r>
            <a:r>
              <a:rPr lang="ko-KR" altLang="en-US" sz="1600" dirty="0"/>
              <a:t> 말하고 주문을 받아야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주문을 받은 후에는 “주문하신 메뉴</a:t>
            </a:r>
            <a:r>
              <a:rPr lang="en-US" altLang="ko-KR" sz="1600" dirty="0"/>
              <a:t>, </a:t>
            </a:r>
            <a:r>
              <a:rPr lang="ko-KR" altLang="en-US" sz="1600" dirty="0"/>
              <a:t>확인해 </a:t>
            </a:r>
            <a:r>
              <a:rPr lang="ko-KR" altLang="en-US" sz="1600" dirty="0" err="1"/>
              <a:t>드리겠습니다”라고</a:t>
            </a:r>
            <a:r>
              <a:rPr lang="ko-KR" altLang="en-US" sz="1600" dirty="0"/>
              <a:t> 말하고 고객과 눈을 맞춘 후 반드시 고객에게 주문 내용을 정확히 복창하여야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주문을 받을 시 “음료나 술은 필요하지 않으십니까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말하며 음료나 주류의 추가 주문을 유도하여야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 latinLnBrk="0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 latinLnBrk="0">
              <a:lnSpc>
                <a:spcPct val="150000"/>
              </a:lnSpc>
              <a:defRPr/>
            </a:pPr>
            <a:r>
              <a:rPr lang="ko-KR" altLang="en-US" sz="1800" dirty="0"/>
              <a:t>■ 메뉴 예비 세팅 상황</a:t>
            </a:r>
            <a:endParaRPr lang="en-US" altLang="ko-KR" sz="1800" dirty="0"/>
          </a:p>
          <a:p>
            <a:pPr marL="465138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담당 서비스 종사원은 음식을 </a:t>
            </a:r>
            <a:r>
              <a:rPr lang="ko-KR" altLang="en-US" sz="1600" dirty="0" err="1"/>
              <a:t>주문받고</a:t>
            </a:r>
            <a:r>
              <a:rPr lang="ko-KR" altLang="en-US" sz="1600" dirty="0"/>
              <a:t> 나서</a:t>
            </a:r>
            <a:r>
              <a:rPr lang="en-US" altLang="ko-KR" sz="1600" dirty="0"/>
              <a:t>, 5</a:t>
            </a:r>
            <a:r>
              <a:rPr lang="ko-KR" altLang="en-US" sz="1600" dirty="0"/>
              <a:t>분 안에 기본적인 </a:t>
            </a:r>
            <a:r>
              <a:rPr lang="ko-KR" altLang="en-US" sz="1600" dirty="0" err="1"/>
              <a:t>찬류와</a:t>
            </a:r>
            <a:r>
              <a:rPr lang="ko-KR" altLang="en-US" sz="1600" dirty="0"/>
              <a:t> 주류를 세팅하여야 한다</a:t>
            </a:r>
            <a:r>
              <a:rPr lang="en-US" altLang="ko-KR" sz="1600" dirty="0"/>
              <a:t>.</a:t>
            </a:r>
          </a:p>
          <a:p>
            <a:pPr lvl="1" algn="just" latinLnBrk="0">
              <a:lnSpc>
                <a:spcPct val="150000"/>
              </a:lnSpc>
              <a:defRPr/>
            </a:pPr>
            <a:endParaRPr lang="ko-KR" altLang="en-US" sz="1600" dirty="0"/>
          </a:p>
          <a:p>
            <a:pPr lvl="1" algn="just" latinLnBrk="0">
              <a:lnSpc>
                <a:spcPct val="150000"/>
              </a:lnSpc>
              <a:defRPr/>
            </a:pPr>
            <a:r>
              <a:rPr lang="ko-KR" altLang="en-US" sz="1800" dirty="0"/>
              <a:t>■ 메뉴의 제공 상황</a:t>
            </a:r>
          </a:p>
          <a:p>
            <a:pPr marL="465138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고객에게 </a:t>
            </a:r>
            <a:r>
              <a:rPr lang="ko-KR" altLang="en-US" sz="1600" dirty="0" err="1"/>
              <a:t>찬류를</a:t>
            </a:r>
            <a:r>
              <a:rPr lang="ko-KR" altLang="en-US" sz="1600" dirty="0"/>
              <a:t> 제공한 후 메인 메뉴는 </a:t>
            </a:r>
            <a:r>
              <a:rPr lang="en-US" altLang="ko-KR" sz="1600" dirty="0"/>
              <a:t>15</a:t>
            </a:r>
            <a:r>
              <a:rPr lang="ko-KR" altLang="en-US" sz="1600" dirty="0"/>
              <a:t>분 안에 제공하여야 한다</a:t>
            </a:r>
            <a:r>
              <a:rPr lang="en-US" altLang="ko-KR" sz="1600" dirty="0"/>
              <a:t>. </a:t>
            </a:r>
            <a:r>
              <a:rPr lang="ko-KR" altLang="en-US" sz="1600" dirty="0"/>
              <a:t>메뉴에 따라 그 차이는 있겠지만 </a:t>
            </a:r>
            <a:r>
              <a:rPr lang="en-US" altLang="ko-KR" sz="1600" dirty="0"/>
              <a:t>15</a:t>
            </a:r>
            <a:r>
              <a:rPr lang="ko-KR" altLang="en-US" sz="1600" dirty="0"/>
              <a:t>분이 경과하게 되면 고객은 자신에 대한 무관심에 대한 불 안감을 갖게 되기 때문이다</a:t>
            </a:r>
            <a:r>
              <a:rPr lang="en-US" altLang="ko-KR" sz="1600" dirty="0"/>
              <a:t>. </a:t>
            </a:r>
            <a:r>
              <a:rPr lang="ko-KR" altLang="en-US" sz="1600" dirty="0"/>
              <a:t>시간이 오래 걸리는 메뉴라면 주문을 받을 때에 조리 시간을 알려 고객의 불안감을 없애야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주방의 문제로 메뉴가 예정된 시간보다 늦을 경우에는 고객에게 상황을 알리고 메뉴 제공 시간에 대한 공지가 있어야 한다</a:t>
            </a:r>
            <a:r>
              <a:rPr lang="en-US" altLang="ko-KR" sz="1600" dirty="0"/>
              <a:t>.</a:t>
            </a:r>
          </a:p>
          <a:p>
            <a:pPr marL="465138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고객이 주문한 음식이 제대로 나왔는지 확인하고 “잠시만 실례하겠습니다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주문하신 메뉴 </a:t>
            </a:r>
            <a:r>
              <a:rPr lang="ko-KR" altLang="en-US" sz="1600" dirty="0" err="1"/>
              <a:t>나왔습니다”라고</a:t>
            </a:r>
            <a:r>
              <a:rPr lang="ko-KR" altLang="en-US" sz="1600" dirty="0"/>
              <a:t> 말하며 제공하여야 한다</a:t>
            </a:r>
            <a:r>
              <a:rPr lang="en-US" altLang="ko-KR" sz="1600" dirty="0"/>
              <a:t>.</a:t>
            </a:r>
          </a:p>
          <a:p>
            <a:pPr marL="465138" lvl="1" indent="-28575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고객에게 더 필요한 것은 없는지 물어보며 필요한 것이 있으면 확인하여 제공한다</a:t>
            </a:r>
            <a:r>
              <a:rPr lang="en-US" altLang="ko-KR" sz="1600" dirty="0"/>
              <a:t>.</a:t>
            </a:r>
            <a:endParaRPr lang="ko-KR" altLang="en-US" sz="1600" b="0" dirty="0"/>
          </a:p>
          <a:p>
            <a:pPr marL="342900" indent="-342900" algn="just" latinLnBrk="0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 latinLnBrk="0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20230957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중간 서비스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고객이 식사를 하는 중간에 </a:t>
            </a:r>
            <a:r>
              <a:rPr lang="en-US" altLang="ko-KR" sz="1600" dirty="0"/>
              <a:t>2</a:t>
            </a:r>
            <a:r>
              <a:rPr lang="ko-KR" altLang="en-US" sz="1600" dirty="0"/>
              <a:t>회 테이블을 방문하여 고객의 만족도 및 필요사항에 대하여 확인하고 제공한다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다 드신 그릇은 고객에게 “빈 그릇은 치워 드릴까요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동의를 구하여 치우거나 리필 가능한 것이라면 고객에게 필요 여부를 물어 </a:t>
            </a:r>
            <a:r>
              <a:rPr lang="ko-KR" altLang="en-US" sz="1600" dirty="0" err="1"/>
              <a:t>리필해</a:t>
            </a:r>
            <a:r>
              <a:rPr lang="ko-KR" altLang="en-US" sz="1600" dirty="0"/>
              <a:t> 주어야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lvl="1" algn="just">
              <a:lnSpc>
                <a:spcPct val="150000"/>
              </a:lnSpc>
              <a:defRPr/>
            </a:pPr>
            <a:endParaRPr lang="en-US" altLang="ko-KR" sz="180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계산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 계산할 때는 “감사합니다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오늘 식사는 맛있게 하셨습니까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말하며</a:t>
            </a:r>
            <a:r>
              <a:rPr lang="en-US" altLang="ko-KR" sz="1600" dirty="0"/>
              <a:t>, </a:t>
            </a:r>
            <a:r>
              <a:rPr lang="ko-KR" altLang="en-US" sz="1600" dirty="0"/>
              <a:t>고객이 주문했던 메뉴와 합계 금액을 정확히 알려주어야 한다</a:t>
            </a:r>
            <a:r>
              <a:rPr lang="en-US" altLang="ko-KR" sz="1600" dirty="0"/>
              <a:t>. “</a:t>
            </a:r>
            <a:r>
              <a:rPr lang="ko-KR" altLang="en-US" sz="1600" dirty="0"/>
              <a:t>오늘 드신 메뉴는 </a:t>
            </a:r>
            <a:r>
              <a:rPr lang="en-US" altLang="ko-KR" sz="1600" dirty="0"/>
              <a:t>(     ), (     ) </a:t>
            </a:r>
            <a:r>
              <a:rPr lang="ko-KR" altLang="en-US" sz="1600" dirty="0"/>
              <a:t>맞으십니까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말한다</a:t>
            </a:r>
            <a:r>
              <a:rPr lang="en-US" altLang="ko-KR" sz="1600" dirty="0"/>
              <a:t>.</a:t>
            </a:r>
          </a:p>
          <a:p>
            <a:pPr lvl="1"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404598480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전화 응대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전화는 가능한 </a:t>
            </a:r>
            <a:r>
              <a:rPr lang="ko-KR" altLang="en-US" sz="1600" b="0" dirty="0" err="1"/>
              <a:t>벨이</a:t>
            </a:r>
            <a:r>
              <a:rPr lang="ko-KR" altLang="en-US" sz="1600" b="0" dirty="0"/>
              <a:t> 세 번 울리기 전에 받아야 하며 “감사합니다</a:t>
            </a:r>
            <a:r>
              <a:rPr lang="en-US" altLang="ko-KR" sz="1600" b="0" dirty="0"/>
              <a:t>. ○○○</a:t>
            </a:r>
            <a:r>
              <a:rPr lang="ko-KR" altLang="en-US" sz="1600" b="0" dirty="0"/>
              <a:t>입니다”라고 말한다</a:t>
            </a:r>
            <a:r>
              <a:rPr lang="en-US" altLang="ko-KR" sz="1600" b="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세 번 이상 울려 늦게 전화를 받았다면 늦은 것에 대해 사과해야 한다</a:t>
            </a:r>
            <a:r>
              <a:rPr lang="en-US" altLang="ko-KR" sz="1600" b="0" dirty="0"/>
              <a:t>. “</a:t>
            </a:r>
            <a:r>
              <a:rPr lang="ko-KR" altLang="en-US" sz="1600" b="0" dirty="0"/>
              <a:t>늦게 받아 죄송합니다</a:t>
            </a:r>
            <a:r>
              <a:rPr lang="en-US" altLang="ko-KR" sz="1600" b="0" dirty="0"/>
              <a:t>. ○○○</a:t>
            </a:r>
            <a:r>
              <a:rPr lang="ko-KR" altLang="en-US" sz="1600" b="0" dirty="0"/>
              <a:t>입니다”라고 말한다</a:t>
            </a:r>
            <a:r>
              <a:rPr lang="en-US" altLang="ko-KR" sz="1600" b="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예약 전화라면 성함단체명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날짜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인원수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연락처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메뉴</a:t>
            </a:r>
            <a:r>
              <a:rPr lang="en-US" altLang="ko-KR" sz="1600" b="0" dirty="0"/>
              <a:t>, </a:t>
            </a:r>
            <a:r>
              <a:rPr lang="ko-KR" altLang="en-US" sz="1600" b="0" dirty="0"/>
              <a:t>원하는 자리 등을 필히 확 인하여야 한다</a:t>
            </a:r>
            <a:r>
              <a:rPr lang="en-US" altLang="ko-KR" sz="1600" b="0" dirty="0"/>
              <a:t>. </a:t>
            </a:r>
            <a:r>
              <a:rPr lang="ko-KR" altLang="en-US" sz="1600" b="0" dirty="0"/>
              <a:t>실제 예약할 필요가 없는 시간대라 하더라도 예약 전화는 친절히 응대하여 예약을 받도록 해야 한다</a:t>
            </a:r>
            <a:r>
              <a:rPr lang="en-US" altLang="ko-KR" sz="1600" b="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경영자는 점포의 위치를 명확하게 알릴 수 있는 멘트를 준비하여야 한다</a:t>
            </a:r>
            <a:r>
              <a:rPr lang="en-US" altLang="ko-KR" sz="1600" b="0" dirty="0"/>
              <a:t>. “</a:t>
            </a:r>
            <a:r>
              <a:rPr lang="ko-KR" altLang="en-US" sz="1600" b="0" dirty="0"/>
              <a:t>지하철 ○○역 ○번 출구로 나와 ○○ 방향으로 ○○</a:t>
            </a:r>
            <a:r>
              <a:rPr lang="ko-KR" altLang="en-US" sz="1600" b="0" dirty="0" err="1"/>
              <a:t>미터가량</a:t>
            </a:r>
            <a:r>
              <a:rPr lang="ko-KR" altLang="en-US" sz="1600" b="0" dirty="0"/>
              <a:t> 오시면 오른편에 위치해 </a:t>
            </a:r>
            <a:r>
              <a:rPr lang="ko-KR" altLang="en-US" sz="1600" b="0" dirty="0" err="1"/>
              <a:t>있습</a:t>
            </a:r>
            <a:r>
              <a:rPr lang="ko-KR" altLang="en-US" sz="1600" b="0" dirty="0"/>
              <a:t> </a:t>
            </a:r>
            <a:r>
              <a:rPr lang="ko-KR" altLang="en-US" sz="1600" b="0" dirty="0" err="1"/>
              <a:t>니다</a:t>
            </a:r>
            <a:r>
              <a:rPr lang="ko-KR" altLang="en-US" sz="1600" b="0" dirty="0"/>
              <a:t>” 자가용 이용 고객에게는 주차장의 위치를 명확히 알려야 한다</a:t>
            </a:r>
            <a:r>
              <a:rPr lang="en-US" altLang="ko-KR" sz="1600" b="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b="0" dirty="0"/>
              <a:t>전화를 끊을 시에는 “전화해 주셔서 감사합니다</a:t>
            </a:r>
            <a:r>
              <a:rPr lang="en-US" altLang="ko-KR" sz="1600" b="0" dirty="0"/>
              <a:t>. </a:t>
            </a:r>
            <a:r>
              <a:rPr lang="ko-KR" altLang="en-US" sz="1600" b="0" dirty="0"/>
              <a:t>좋은 하루 </a:t>
            </a:r>
            <a:r>
              <a:rPr lang="ko-KR" altLang="en-US" sz="1600" b="0" dirty="0" err="1"/>
              <a:t>되십시오”라고</a:t>
            </a:r>
            <a:r>
              <a:rPr lang="ko-KR" altLang="en-US" sz="1600" b="0" dirty="0"/>
              <a:t> 상냥하고 밝은 음성으로 인사하여야 한다</a:t>
            </a:r>
            <a:r>
              <a:rPr lang="en-US" altLang="ko-KR" sz="1600" b="0" dirty="0"/>
              <a:t>.</a:t>
            </a:r>
            <a:endParaRPr lang="ko-KR" altLang="en-US" sz="16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662686505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제목 1">
            <a:extLst>
              <a:ext uri="{FF2B5EF4-FFF2-40B4-BE49-F238E27FC236}">
                <a16:creationId xmlns:a16="http://schemas.microsoft.com/office/drawing/2014/main" id="{A52881AA-26A9-4AE3-9D05-FE24B8A104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서비스 프로세스의 표준화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D957E0AB-F826-4C05-9D27-087041FFCB60}"/>
              </a:ext>
            </a:extLst>
          </p:cNvPr>
          <p:cNvSpPr/>
          <p:nvPr/>
        </p:nvSpPr>
        <p:spPr>
          <a:xfrm>
            <a:off x="6261100" y="1071563"/>
            <a:ext cx="4305300" cy="3586162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 typeface="Wingdings" panose="05000000000000000000" pitchFamily="2" charset="2"/>
              <a:buAutoNum type="arabicParenBoth" startAt="2"/>
              <a:defRPr/>
            </a:pPr>
            <a:endParaRPr lang="en-US" altLang="ko-KR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3C36AF75-3B30-4B25-AD16-B84B10751D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 err="1"/>
              <a:t>상황별</a:t>
            </a:r>
            <a:r>
              <a:rPr lang="ko-KR" altLang="en-US" sz="2000" b="0" dirty="0"/>
              <a:t> 서비스 표준화 사례</a:t>
            </a:r>
            <a:endParaRPr lang="en-US" altLang="ko-KR" sz="2000" b="0" dirty="0"/>
          </a:p>
          <a:p>
            <a:pPr lvl="1" algn="just">
              <a:lnSpc>
                <a:spcPct val="150000"/>
              </a:lnSpc>
              <a:defRPr/>
            </a:pPr>
            <a:r>
              <a:rPr lang="ko-KR" altLang="en-US" sz="1800" dirty="0"/>
              <a:t>■ 주차장에서의 접객 상황</a:t>
            </a:r>
            <a:endParaRPr lang="en-US" altLang="ko-KR" sz="1800" dirty="0"/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주차장은 고객 방문의 첫 단계이자 마무리 단계이므로 항상 친절한 서비스를 제공하여야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주차가 완료된 고객에게는 “입구는 </a:t>
            </a:r>
            <a:r>
              <a:rPr lang="ko-KR" altLang="en-US" sz="1600" dirty="0" err="1"/>
              <a:t>이쪽입니다”라고</a:t>
            </a:r>
            <a:r>
              <a:rPr lang="ko-KR" altLang="en-US" sz="1600" dirty="0"/>
              <a:t> 매장 입구의 위치를 안내하며 “즐거운 시간 </a:t>
            </a:r>
            <a:r>
              <a:rPr lang="ko-KR" altLang="en-US" sz="1600" dirty="0" err="1"/>
              <a:t>되세요”라고</a:t>
            </a:r>
            <a:r>
              <a:rPr lang="ko-KR" altLang="en-US" sz="1600" dirty="0"/>
              <a:t> 말한다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식사를 마치고 나가는 고객에게는 먼저 “감사합니다</a:t>
            </a:r>
            <a:r>
              <a:rPr lang="en-US" altLang="ko-KR" sz="1600" dirty="0"/>
              <a:t>. </a:t>
            </a:r>
            <a:r>
              <a:rPr lang="ko-KR" altLang="en-US" sz="1600" dirty="0"/>
              <a:t>식사는 맛있게 하셨나요</a:t>
            </a:r>
            <a:r>
              <a:rPr lang="en-US" altLang="ko-KR" sz="1600" dirty="0"/>
              <a:t>?”</a:t>
            </a:r>
            <a:r>
              <a:rPr lang="ko-KR" altLang="en-US" sz="1600" dirty="0"/>
              <a:t>라고 물어보아야 한다</a:t>
            </a:r>
            <a:r>
              <a:rPr lang="en-US" altLang="ko-KR" sz="1600" dirty="0"/>
              <a:t>.</a:t>
            </a:r>
          </a:p>
          <a:p>
            <a:pPr marL="465138" lvl="1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1600" dirty="0"/>
              <a:t>주차장은 항상 깨끗한 상태를 유지할 수 있도록 하여야 하며</a:t>
            </a:r>
            <a:r>
              <a:rPr lang="en-US" altLang="ko-KR" sz="1600" dirty="0"/>
              <a:t>, </a:t>
            </a:r>
            <a:r>
              <a:rPr lang="ko-KR" altLang="en-US" sz="1600" dirty="0"/>
              <a:t>주차 담당자는 항상 깨끗한 유니폼과 함께 밝은 인상을 주도록 한다</a:t>
            </a:r>
            <a:r>
              <a:rPr lang="en-US" altLang="ko-KR" sz="1600" dirty="0"/>
              <a:t>.</a:t>
            </a:r>
            <a:endParaRPr lang="ko-KR" altLang="en-US" sz="160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  <p:extLst>
      <p:ext uri="{BB962C8B-B14F-4D97-AF65-F5344CB8AC3E}">
        <p14:creationId xmlns:p14="http://schemas.microsoft.com/office/powerpoint/2010/main" val="1635837077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텍스트 개체 틀 3">
            <a:extLst>
              <a:ext uri="{FF2B5EF4-FFF2-40B4-BE49-F238E27FC236}">
                <a16:creationId xmlns:a16="http://schemas.microsoft.com/office/drawing/2014/main" id="{7984E0D8-C61C-484C-B3CB-DA33DEE4589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2852738"/>
            <a:ext cx="10515600" cy="1500187"/>
          </a:xfrm>
        </p:spPr>
        <p:txBody>
          <a:bodyPr/>
          <a:lstStyle/>
          <a:p>
            <a:pPr eaLnBrk="1" hangingPunct="1"/>
            <a:r>
              <a:rPr lang="en-US" altLang="ko-KR"/>
              <a:t>3. </a:t>
            </a:r>
            <a:r>
              <a:rPr lang="ko-KR" altLang="en-US"/>
              <a:t>미스터리 쇼핑을 통한 서비스 품질관리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638688F8-74FC-4AD5-87C6-35AD301A6028}"/>
              </a:ext>
            </a:extLst>
          </p:cNvPr>
          <p:cNvSpPr/>
          <p:nvPr/>
        </p:nvSpPr>
        <p:spPr bwMode="auto">
          <a:xfrm>
            <a:off x="838200" y="4419600"/>
            <a:ext cx="10026650" cy="115888"/>
          </a:xfrm>
          <a:prstGeom prst="rect">
            <a:avLst/>
          </a:prstGeom>
          <a:solidFill>
            <a:schemeClr val="tx2"/>
          </a:solidFill>
          <a:ln w="9525" cap="flat" cmpd="sng" algn="ctr">
            <a:solidFill>
              <a:schemeClr val="tx2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17BAA4E-1188-40B8-A06E-3B6BEA308329}"/>
              </a:ext>
            </a:extLst>
          </p:cNvPr>
          <p:cNvSpPr/>
          <p:nvPr/>
        </p:nvSpPr>
        <p:spPr bwMode="auto">
          <a:xfrm>
            <a:off x="10874375" y="4419600"/>
            <a:ext cx="1354138" cy="115888"/>
          </a:xfrm>
          <a:prstGeom prst="rect">
            <a:avLst/>
          </a:prstGeom>
          <a:solidFill>
            <a:schemeClr val="tx1"/>
          </a:solidFill>
          <a:ln w="9525" cap="flat" cmpd="sng" algn="ctr">
            <a:solidFill>
              <a:schemeClr val="tx1">
                <a:lumMod val="75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>
            <a:lvl1pPr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 latinLnBrk="1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latinLnBrk="0" hangingPunct="1">
              <a:defRPr/>
            </a:pPr>
            <a:endParaRPr lang="ko-KR" altLang="en-US">
              <a:effectLst>
                <a:outerShdw blurRad="38100" dist="38100" dir="2700000" algn="tl">
                  <a:srgbClr val="000000"/>
                </a:outerShdw>
              </a:effectLst>
              <a:latin typeface="Arial" panose="020B0604020202020204" pitchFamily="34" charset="0"/>
              <a:ea typeface="굴림" panose="020B0600000101010101" pitchFamily="50" charset="-127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제목 1">
            <a:extLst>
              <a:ext uri="{FF2B5EF4-FFF2-40B4-BE49-F238E27FC236}">
                <a16:creationId xmlns:a16="http://schemas.microsoft.com/office/drawing/2014/main" id="{235DD824-B287-447B-A637-E14526ED42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1) </a:t>
            </a:r>
            <a:r>
              <a:rPr lang="ko-KR" altLang="en-US"/>
              <a:t>미스터리 쇼핑의 이해와 활용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94DEF675-1317-4C03-8F93-4DA404695B75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E4882668-7DAF-417E-86C9-77AC88131D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4" y="1339850"/>
            <a:ext cx="10361612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쇼핑</a:t>
            </a:r>
            <a:r>
              <a:rPr lang="en-US" altLang="ko-KR" sz="2000" b="0" dirty="0"/>
              <a:t>(mystery shopping)</a:t>
            </a:r>
            <a:r>
              <a:rPr lang="ko-KR" altLang="en-US" sz="2000" b="0" dirty="0"/>
              <a:t>은</a:t>
            </a:r>
          </a:p>
          <a:p>
            <a:pPr algn="just">
              <a:lnSpc>
                <a:spcPct val="150000"/>
              </a:lnSpc>
              <a:defRPr/>
            </a:pPr>
            <a:r>
              <a:rPr lang="ko-KR" altLang="en-US" sz="2000" b="0" dirty="0"/>
              <a:t>    </a:t>
            </a:r>
            <a:r>
              <a:rPr lang="ko-KR" altLang="en-US" sz="1800" b="0" dirty="0"/>
              <a:t>레스토랑에서 발생하는 모든 서비스 접점의 서비스 품질을 평가자가 고객으로 가장해 평가하는 프로그램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쇼핑에서 점검하는 내용은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ko-KR" altLang="en-US" sz="2000" b="0" dirty="0"/>
              <a:t>    </a:t>
            </a:r>
            <a:r>
              <a:rPr lang="ko-KR" altLang="en-US" sz="1800" b="0" dirty="0"/>
              <a:t>서비스 표준화 매뉴얼에 제시된 서비스 표준대로 서비스가 실제 제공되는지를 파악하는 것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서비스 표준을 일관성 있게 전달하여 고객이 만족할 수 있는 서비스를 제공하도록 하는데 도움을 줌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쇼핑의 결과는 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ko-KR" altLang="en-US" sz="2000" b="0" dirty="0"/>
              <a:t>    </a:t>
            </a:r>
            <a:r>
              <a:rPr lang="ko-KR" altLang="en-US" sz="1800" b="0" dirty="0"/>
              <a:t>외식업체의 매장관리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직원교육</a:t>
            </a:r>
            <a:r>
              <a:rPr lang="en-US" altLang="ko-KR" sz="1800" b="0" dirty="0"/>
              <a:t>, </a:t>
            </a:r>
            <a:r>
              <a:rPr lang="ko-KR" altLang="en-US" sz="1800" b="0" dirty="0" err="1"/>
              <a:t>매장직원의</a:t>
            </a:r>
            <a:r>
              <a:rPr lang="ko-KR" altLang="en-US" sz="1800" b="0" dirty="0"/>
              <a:t> 인사고과정책 활용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프랜차이즈에서의 가맹점 동질성 </a:t>
            </a:r>
            <a:r>
              <a:rPr lang="ko-KR" altLang="en-US" sz="1800" b="0" dirty="0" err="1"/>
              <a:t>강화등에</a:t>
            </a:r>
            <a:r>
              <a:rPr lang="ko-KR" altLang="en-US" sz="1800" b="0" dirty="0"/>
              <a:t> 활용 </a:t>
            </a: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제목 1">
            <a:extLst>
              <a:ext uri="{FF2B5EF4-FFF2-40B4-BE49-F238E27FC236}">
                <a16:creationId xmlns:a16="http://schemas.microsoft.com/office/drawing/2014/main" id="{313FAB6E-D146-458B-AF53-EDE5B5E0A1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미스터리 쇼핑의 실행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C6F1EF56-EF68-408A-8BD9-41B1F8959BDD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F57FC745-A920-4238-8D23-8435435DA47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ctr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ctr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ctr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ctr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grpSp>
        <p:nvGrpSpPr>
          <p:cNvPr id="30725" name="그룹 2">
            <a:extLst>
              <a:ext uri="{FF2B5EF4-FFF2-40B4-BE49-F238E27FC236}">
                <a16:creationId xmlns:a16="http://schemas.microsoft.com/office/drawing/2014/main" id="{03917D5B-F4E7-4DBA-962B-26FD0D550EE5}"/>
              </a:ext>
            </a:extLst>
          </p:cNvPr>
          <p:cNvGrpSpPr>
            <a:grpSpLocks/>
          </p:cNvGrpSpPr>
          <p:nvPr/>
        </p:nvGrpSpPr>
        <p:grpSpPr bwMode="auto">
          <a:xfrm>
            <a:off x="539750" y="2593975"/>
            <a:ext cx="9917113" cy="2097088"/>
            <a:chOff x="1057275" y="2584174"/>
            <a:chExt cx="9101760" cy="1709530"/>
          </a:xfrm>
        </p:grpSpPr>
        <p:sp>
          <p:nvSpPr>
            <p:cNvPr id="2" name="오각형 1">
              <a:extLst>
                <a:ext uri="{FF2B5EF4-FFF2-40B4-BE49-F238E27FC236}">
                  <a16:creationId xmlns:a16="http://schemas.microsoft.com/office/drawing/2014/main" id="{8C4BFEC9-41C6-4FC2-AF14-085D2E5A5E73}"/>
                </a:ext>
              </a:extLst>
            </p:cNvPr>
            <p:cNvSpPr/>
            <p:nvPr/>
          </p:nvSpPr>
          <p:spPr bwMode="auto">
            <a:xfrm>
              <a:off x="1057275" y="2584174"/>
              <a:ext cx="1516718" cy="1709530"/>
            </a:xfrm>
            <a:prstGeom prst="homePlate">
              <a:avLst>
                <a:gd name="adj" fmla="val 25598"/>
              </a:avLst>
            </a:prstGeom>
            <a:solidFill>
              <a:schemeClr val="accent3">
                <a:lumMod val="8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defRPr/>
              </a:pP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미스터리  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쇼핑의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목표설정</a:t>
              </a:r>
            </a:p>
          </p:txBody>
        </p:sp>
        <p:sp>
          <p:nvSpPr>
            <p:cNvPr id="7" name="오각형 6">
              <a:extLst>
                <a:ext uri="{FF2B5EF4-FFF2-40B4-BE49-F238E27FC236}">
                  <a16:creationId xmlns:a16="http://schemas.microsoft.com/office/drawing/2014/main" id="{D10CECAB-29CC-474E-B285-7B511D4D8E29}"/>
                </a:ext>
              </a:extLst>
            </p:cNvPr>
            <p:cNvSpPr/>
            <p:nvPr/>
          </p:nvSpPr>
          <p:spPr bwMode="auto">
            <a:xfrm>
              <a:off x="2573993" y="2584174"/>
              <a:ext cx="1516717" cy="1709530"/>
            </a:xfrm>
            <a:prstGeom prst="homePlate">
              <a:avLst>
                <a:gd name="adj" fmla="val 25598"/>
              </a:avLst>
            </a:prstGeom>
            <a:solidFill>
              <a:schemeClr val="accent4">
                <a:lumMod val="10000"/>
                <a:lumOff val="9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lnSpc>
                  <a:spcPct val="200000"/>
                </a:lnSpc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서비스  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매뉴얼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토대로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체크리스트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설계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</p:txBody>
        </p:sp>
        <p:sp>
          <p:nvSpPr>
            <p:cNvPr id="8" name="오각형 7">
              <a:extLst>
                <a:ext uri="{FF2B5EF4-FFF2-40B4-BE49-F238E27FC236}">
                  <a16:creationId xmlns:a16="http://schemas.microsoft.com/office/drawing/2014/main" id="{8235C5B3-B5C4-4B2B-B61A-D1A201E63143}"/>
                </a:ext>
              </a:extLst>
            </p:cNvPr>
            <p:cNvSpPr/>
            <p:nvPr/>
          </p:nvSpPr>
          <p:spPr bwMode="auto">
            <a:xfrm>
              <a:off x="4090709" y="2584174"/>
              <a:ext cx="1518174" cy="1709530"/>
            </a:xfrm>
            <a:prstGeom prst="homePlate">
              <a:avLst>
                <a:gd name="adj" fmla="val 25598"/>
              </a:avLst>
            </a:prstGeom>
            <a:solidFill>
              <a:schemeClr val="tx2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defRPr/>
              </a:pP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미스터리  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 err="1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쇼퍼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선발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및 훈련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</p:txBody>
        </p:sp>
        <p:sp>
          <p:nvSpPr>
            <p:cNvPr id="9" name="오각형 8">
              <a:extLst>
                <a:ext uri="{FF2B5EF4-FFF2-40B4-BE49-F238E27FC236}">
                  <a16:creationId xmlns:a16="http://schemas.microsoft.com/office/drawing/2014/main" id="{A78ABAB0-E103-4B4C-BA27-4F75582D16B8}"/>
                </a:ext>
              </a:extLst>
            </p:cNvPr>
            <p:cNvSpPr/>
            <p:nvPr/>
          </p:nvSpPr>
          <p:spPr bwMode="auto">
            <a:xfrm>
              <a:off x="5608883" y="2584174"/>
              <a:ext cx="1516718" cy="1709530"/>
            </a:xfrm>
            <a:prstGeom prst="homePlate">
              <a:avLst>
                <a:gd name="adj" fmla="val 25598"/>
              </a:avLst>
            </a:prstGeom>
            <a:solidFill>
              <a:schemeClr val="accent1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defRPr/>
              </a:pP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 err="1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개별점포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방문하여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체크리스트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작성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</p:txBody>
        </p:sp>
        <p:sp>
          <p:nvSpPr>
            <p:cNvPr id="10" name="오각형 9">
              <a:extLst>
                <a:ext uri="{FF2B5EF4-FFF2-40B4-BE49-F238E27FC236}">
                  <a16:creationId xmlns:a16="http://schemas.microsoft.com/office/drawing/2014/main" id="{EFA0C774-669B-4C9A-9966-4AFAC2D7A8FE}"/>
                </a:ext>
              </a:extLst>
            </p:cNvPr>
            <p:cNvSpPr/>
            <p:nvPr/>
          </p:nvSpPr>
          <p:spPr bwMode="auto">
            <a:xfrm>
              <a:off x="7125601" y="2584174"/>
              <a:ext cx="1516717" cy="1709530"/>
            </a:xfrm>
            <a:prstGeom prst="homePlate">
              <a:avLst>
                <a:gd name="adj" fmla="val 25598"/>
              </a:avLst>
            </a:prstGeom>
            <a:solidFill>
              <a:schemeClr val="accent6">
                <a:lumMod val="60000"/>
                <a:lumOff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lnSpc>
                  <a:spcPct val="200000"/>
                </a:lnSpc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미스터리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쇼핑  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체크리스트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회수 및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자료분석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</p:txBody>
        </p:sp>
        <p:sp>
          <p:nvSpPr>
            <p:cNvPr id="11" name="오각형 10">
              <a:extLst>
                <a:ext uri="{FF2B5EF4-FFF2-40B4-BE49-F238E27FC236}">
                  <a16:creationId xmlns:a16="http://schemas.microsoft.com/office/drawing/2014/main" id="{AAF45375-C5BC-438E-A46A-33D7F8785F69}"/>
                </a:ext>
              </a:extLst>
            </p:cNvPr>
            <p:cNvSpPr/>
            <p:nvPr/>
          </p:nvSpPr>
          <p:spPr bwMode="auto">
            <a:xfrm>
              <a:off x="8642317" y="2584174"/>
              <a:ext cx="1516718" cy="1709530"/>
            </a:xfrm>
            <a:prstGeom prst="homePlate">
              <a:avLst>
                <a:gd name="adj" fmla="val 25598"/>
              </a:avLst>
            </a:prstGeom>
            <a:solidFill>
              <a:schemeClr val="bg1">
                <a:lumMod val="75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  <a:extLst/>
          </p:spPr>
          <p:txBody>
            <a:bodyPr/>
            <a:lstStyle/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미스터리  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en-US" altLang="ko-KR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</a:t>
              </a:r>
              <a:r>
                <a:rPr lang="ko-KR" altLang="en-US" dirty="0" err="1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쇼핑결과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및 개선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  <a:p>
              <a:pPr eaLnBrk="1" hangingPunct="1">
                <a:defRPr/>
              </a:pPr>
              <a:r>
                <a:rPr lang="ko-KR" altLang="en-US" dirty="0">
                  <a:latin typeface="서울남산 장체 L" panose="02020503020101020101" pitchFamily="18" charset="-127"/>
                  <a:ea typeface="서울남산 장체 L" panose="02020503020101020101" pitchFamily="18" charset="-127"/>
                </a:rPr>
                <a:t> 방안 도출</a:t>
              </a:r>
              <a:endParaRPr lang="en-US" altLang="ko-KR" dirty="0">
                <a:latin typeface="서울남산 장체 L" panose="02020503020101020101" pitchFamily="18" charset="-127"/>
                <a:ea typeface="서울남산 장체 L" panose="02020503020101020101" pitchFamily="18" charset="-127"/>
              </a:endParaRPr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제목 1">
            <a:extLst>
              <a:ext uri="{FF2B5EF4-FFF2-40B4-BE49-F238E27FC236}">
                <a16:creationId xmlns:a16="http://schemas.microsoft.com/office/drawing/2014/main" id="{BB0CDD90-611B-4269-909F-FF7A7F8DD9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2) </a:t>
            </a:r>
            <a:r>
              <a:rPr lang="ko-KR" altLang="en-US"/>
              <a:t>미스터리 쇼핑의 실행 프로세스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818028C2-A087-4CED-BA65-FE4C877ECF2A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602382C-8F68-4253-819E-45C62E656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accent3">
              <a:lumMod val="95000"/>
            </a:schemeClr>
          </a:solidFill>
        </p:spPr>
        <p:txBody>
          <a:bodyPr/>
          <a:lstStyle/>
          <a:p>
            <a:pPr latinLnBrk="0">
              <a:lnSpc>
                <a:spcPct val="150000"/>
              </a:lnSpc>
              <a:defRPr/>
            </a:pPr>
            <a:r>
              <a:rPr lang="en-US" altLang="ko-KR" sz="2000" dirty="0"/>
              <a:t>* </a:t>
            </a:r>
            <a:r>
              <a:rPr lang="ko-KR" altLang="en-US" sz="2000" dirty="0"/>
              <a:t>미스터리 </a:t>
            </a:r>
            <a:r>
              <a:rPr lang="ko-KR" altLang="en-US" sz="2000" dirty="0" err="1"/>
              <a:t>쇼퍼의</a:t>
            </a:r>
            <a:r>
              <a:rPr lang="ko-KR" altLang="en-US" sz="2000" dirty="0"/>
              <a:t> 조건</a:t>
            </a:r>
          </a:p>
          <a:p>
            <a:pPr latinLnBrk="0">
              <a:lnSpc>
                <a:spcPct val="150000"/>
              </a:lnSpc>
              <a:defRPr/>
            </a:pPr>
            <a:r>
              <a:rPr lang="ko-KR" altLang="en-US" sz="2000" b="0" dirty="0"/>
              <a:t>올바른 미스터리 쇼핑 프로그램 진행을 위해 미스터리 </a:t>
            </a:r>
            <a:r>
              <a:rPr lang="ko-KR" altLang="en-US" sz="2000" b="0" dirty="0" err="1"/>
              <a:t>쇼퍼는</a:t>
            </a:r>
            <a:r>
              <a:rPr lang="ko-KR" altLang="en-US" sz="2000" b="0" dirty="0"/>
              <a:t> 다음과 같은 조건을 갖추어야 함</a:t>
            </a:r>
            <a:r>
              <a:rPr lang="en-US" altLang="ko-KR" sz="2000" b="0" dirty="0"/>
              <a:t>.</a:t>
            </a:r>
          </a:p>
          <a:p>
            <a:pPr latinLnBrk="0">
              <a:lnSpc>
                <a:spcPct val="150000"/>
              </a:lnSpc>
              <a:defRPr/>
            </a:pPr>
            <a:endParaRPr lang="ko-KR" altLang="en-US" sz="2000" b="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600" dirty="0"/>
              <a:t>•</a:t>
            </a:r>
            <a:r>
              <a:rPr lang="ko-KR" altLang="en-US" sz="1800" dirty="0"/>
              <a:t>일반 고객과 유사한 인구통계학적 특성을 보유한다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•</a:t>
            </a:r>
            <a:r>
              <a:rPr lang="ko-KR" altLang="en-US" sz="1800" dirty="0"/>
              <a:t>고객의 서비스 요구사항에 대한 기본적인 지식을 보유하고 있다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•</a:t>
            </a:r>
            <a:r>
              <a:rPr lang="ko-KR" altLang="en-US" sz="1800" dirty="0"/>
              <a:t>서비스 전 과정의 서비스 표준에 대해 충분히 이해하고 있다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• </a:t>
            </a:r>
            <a:r>
              <a:rPr lang="ko-KR" altLang="en-US" sz="1800" dirty="0"/>
              <a:t>서비스 과정에 대해 객관적이고 정확하게 측정할 수 있는 관찰력을 보유하고 있다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• </a:t>
            </a:r>
            <a:r>
              <a:rPr lang="ko-KR" altLang="en-US" sz="1800" dirty="0"/>
              <a:t>체크리스트를 충분히 숙지하고 측정 시 설정된 기준에 의해 객관적인 측정이 이루어져야 한다</a:t>
            </a:r>
            <a:r>
              <a:rPr lang="en-US" altLang="ko-KR" sz="1800" dirty="0"/>
              <a:t>.</a:t>
            </a:r>
            <a:endParaRPr lang="ko-KR" altLang="en-US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• </a:t>
            </a:r>
            <a:r>
              <a:rPr lang="ko-KR" altLang="en-US" sz="1800" dirty="0"/>
              <a:t>미스터리 </a:t>
            </a:r>
            <a:r>
              <a:rPr lang="ko-KR" altLang="en-US" sz="1800" dirty="0" err="1"/>
              <a:t>쇼퍼로서</a:t>
            </a:r>
            <a:r>
              <a:rPr lang="ko-KR" altLang="en-US" sz="1800" dirty="0"/>
              <a:t> 보안을 유지한 채 일반 고객들처럼 행동하여 서비스를 점검하는 사람으로 비춰지지    </a:t>
            </a:r>
            <a:endParaRPr lang="en-US" altLang="ko-KR" sz="1800" dirty="0"/>
          </a:p>
          <a:p>
            <a:pPr lvl="2" latinLnBrk="0">
              <a:lnSpc>
                <a:spcPct val="150000"/>
              </a:lnSpc>
              <a:defRPr/>
            </a:pPr>
            <a:r>
              <a:rPr lang="en-US" altLang="ko-KR" sz="1800" dirty="0"/>
              <a:t>    </a:t>
            </a:r>
            <a:r>
              <a:rPr lang="ko-KR" altLang="en-US" sz="1800" dirty="0"/>
              <a:t>않도록 주의해야 한다</a:t>
            </a:r>
            <a:r>
              <a:rPr lang="en-US" altLang="ko-KR" sz="1800" dirty="0"/>
              <a:t>.</a:t>
            </a:r>
            <a:endParaRPr lang="ko-KR" altLang="en-US" sz="18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제목 1">
            <a:extLst>
              <a:ext uri="{FF2B5EF4-FFF2-40B4-BE49-F238E27FC236}">
                <a16:creationId xmlns:a16="http://schemas.microsoft.com/office/drawing/2014/main" id="{79F8A8FA-2438-428F-AA1C-7B7D2A075C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6698086F-F96F-4894-85E5-B4C1424F521E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DDD0B6D4-F844-49B7-A0AF-FE22D511963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</a:t>
            </a:r>
            <a:r>
              <a:rPr lang="ko-KR" altLang="en-US" sz="2000" b="0" dirty="0" err="1"/>
              <a:t>쇼퍼의</a:t>
            </a:r>
            <a:r>
              <a:rPr lang="ko-KR" altLang="en-US" sz="2000" b="0" dirty="0"/>
              <a:t> 체크리스트는 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</a:t>
            </a:r>
            <a:r>
              <a:rPr lang="ko-KR" altLang="en-US" sz="1800" b="0" dirty="0"/>
              <a:t>서비스 매뉴얼 내용을 바탕으로 기대되는 종사원의 특정 서비스 행동을 질문 형식으로 정리하여 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  YES/NO</a:t>
            </a:r>
            <a:r>
              <a:rPr lang="ko-KR" altLang="en-US" sz="1800" b="0" dirty="0"/>
              <a:t>로 평가함</a:t>
            </a:r>
            <a:r>
              <a:rPr lang="en-US" altLang="ko-KR" sz="1800" b="0" dirty="0"/>
              <a:t>.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</a:t>
            </a:r>
            <a:r>
              <a:rPr lang="ko-KR" altLang="en-US" sz="1800" b="0" dirty="0"/>
              <a:t>미스터리 </a:t>
            </a:r>
            <a:r>
              <a:rPr lang="ko-KR" altLang="en-US" sz="1800" b="0" dirty="0" err="1"/>
              <a:t>쇼퍼가</a:t>
            </a:r>
            <a:r>
              <a:rPr lang="ko-KR" altLang="en-US" sz="1800" b="0" dirty="0"/>
              <a:t> 평가하기에 어려움이 없도록 적절한 점검 항목의 수와 평가기준을 제시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</a:t>
            </a:r>
            <a:r>
              <a:rPr lang="ko-KR" altLang="en-US" sz="1800" b="0" dirty="0"/>
              <a:t>미스터리 </a:t>
            </a:r>
            <a:r>
              <a:rPr lang="ko-KR" altLang="en-US" sz="1800" b="0" dirty="0" err="1"/>
              <a:t>쇼퍼가</a:t>
            </a:r>
            <a:r>
              <a:rPr lang="ko-KR" altLang="en-US" sz="1800" b="0" dirty="0"/>
              <a:t> 지각한 서비스 품질은 평점척도</a:t>
            </a:r>
            <a:r>
              <a:rPr lang="en-US" altLang="ko-KR" sz="1800" b="0" dirty="0"/>
              <a:t>(rating scale)</a:t>
            </a:r>
            <a:r>
              <a:rPr lang="ko-KR" altLang="en-US" sz="1800" b="0" dirty="0"/>
              <a:t>에 따라 평가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 - </a:t>
            </a:r>
            <a:r>
              <a:rPr lang="ko-KR" altLang="en-US" sz="1800" b="0" dirty="0"/>
              <a:t>미스터리 </a:t>
            </a:r>
            <a:r>
              <a:rPr lang="ko-KR" altLang="en-US" sz="1800" b="0" dirty="0" err="1"/>
              <a:t>쇼퍼의</a:t>
            </a:r>
            <a:r>
              <a:rPr lang="ko-KR" altLang="en-US" sz="1800" b="0" dirty="0"/>
              <a:t> 전반적인 경험에 대한 주관적 의견을 추가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서비스 품질 평가에 대한 근거를 설명</a:t>
            </a:r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제목 1">
            <a:extLst>
              <a:ext uri="{FF2B5EF4-FFF2-40B4-BE49-F238E27FC236}">
                <a16:creationId xmlns:a16="http://schemas.microsoft.com/office/drawing/2014/main" id="{BE6B6155-E9A8-4278-9AAA-29ACA621A5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1AA8B456-8881-4C1A-BCE7-4538E8F89EAA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4D411560-BBC9-408B-82A8-69A9A54FF3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                       [</a:t>
            </a:r>
            <a:r>
              <a:rPr lang="ko-KR" altLang="en-US" sz="2000" b="0" dirty="0"/>
              <a:t>서비스 표준화 매뉴얼에 따른 체크리스트 항목 예시</a:t>
            </a:r>
            <a:r>
              <a:rPr lang="en-US" altLang="ko-KR" sz="2000" b="0" dirty="0"/>
              <a:t>]</a:t>
            </a: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pic>
        <p:nvPicPr>
          <p:cNvPr id="33797" name="그림 1">
            <a:extLst>
              <a:ext uri="{FF2B5EF4-FFF2-40B4-BE49-F238E27FC236}">
                <a16:creationId xmlns:a16="http://schemas.microsoft.com/office/drawing/2014/main" id="{368640BB-2548-4B7C-8597-7331A1CE1F6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7275" y="2197100"/>
            <a:ext cx="8477250" cy="35337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제목 1">
            <a:extLst>
              <a:ext uri="{FF2B5EF4-FFF2-40B4-BE49-F238E27FC236}">
                <a16:creationId xmlns:a16="http://schemas.microsoft.com/office/drawing/2014/main" id="{B432731F-217F-4FE4-912C-7532B9E23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CD670A7-38BC-4FE5-AA0D-51D47B3710EA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DA84D50-26AD-49E0-8424-302FFB272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 [</a:t>
            </a:r>
            <a:r>
              <a:rPr lang="ko-KR" altLang="en-US" sz="2000" b="0" dirty="0"/>
              <a:t>미스터리 쇼핑의 주요 평가 항목 예시</a:t>
            </a:r>
            <a:r>
              <a:rPr lang="en-US" altLang="ko-KR" sz="2000" b="0" dirty="0"/>
              <a:t>]</a:t>
            </a: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pic>
        <p:nvPicPr>
          <p:cNvPr id="34821" name="그림 2">
            <a:extLst>
              <a:ext uri="{FF2B5EF4-FFF2-40B4-BE49-F238E27FC236}">
                <a16:creationId xmlns:a16="http://schemas.microsoft.com/office/drawing/2014/main" id="{5428C1BA-8DF8-4AA4-9FBD-03FD6F3038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52975" y="1339850"/>
            <a:ext cx="5500688" cy="4989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제목 1">
            <a:extLst>
              <a:ext uri="{FF2B5EF4-FFF2-40B4-BE49-F238E27FC236}">
                <a16:creationId xmlns:a16="http://schemas.microsoft.com/office/drawing/2014/main" id="{107CBA40-0663-4D99-807A-08F04C1CF3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F3E0C5DD-ABF9-4151-9689-8F7D66CC2468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1E87EF43-0C43-4A47-B1E1-BCCCA9F0D76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                                   [</a:t>
            </a:r>
            <a:r>
              <a:rPr lang="ko-KR" altLang="en-US" sz="2000" b="0" dirty="0"/>
              <a:t>미스터리 쇼핑의 공간별 평가 항목 예시</a:t>
            </a:r>
            <a:r>
              <a:rPr lang="en-US" altLang="ko-KR" sz="2000" b="0" dirty="0"/>
              <a:t>]</a:t>
            </a: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  <p:pic>
        <p:nvPicPr>
          <p:cNvPr id="35845" name="그림 1">
            <a:extLst>
              <a:ext uri="{FF2B5EF4-FFF2-40B4-BE49-F238E27FC236}">
                <a16:creationId xmlns:a16="http://schemas.microsoft.com/office/drawing/2014/main" id="{4BD5C01A-30A7-4089-9C5D-98FB0C8718D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6650" y="2266950"/>
            <a:ext cx="8969375" cy="311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제목 1">
            <a:extLst>
              <a:ext uri="{FF2B5EF4-FFF2-40B4-BE49-F238E27FC236}">
                <a16:creationId xmlns:a16="http://schemas.microsoft.com/office/drawing/2014/main" id="{D75E63FC-1A73-4245-8B4C-376B340215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00973429-D303-407E-AF8A-53205CB6E64B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83B1BC29-628E-41EF-B6C8-FE2F8DE4F8E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(1) </a:t>
            </a:r>
            <a:r>
              <a:rPr lang="ko-KR" altLang="en-US" sz="2000" b="0" dirty="0"/>
              <a:t>서비스 품질 평가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서비스 종사원의 태도나 사용 언어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행동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용모 등이 포함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dirty="0"/>
              <a:t> </a:t>
            </a:r>
            <a:r>
              <a:rPr lang="en-US" altLang="ko-KR" sz="1800" b="0" dirty="0"/>
              <a:t>- </a:t>
            </a:r>
            <a:r>
              <a:rPr lang="ko-KR" altLang="en-US" sz="1800" b="0" dirty="0"/>
              <a:t>고객과의 모든 서비스 접점을 고려하여 서비스 품질 평가 항목을 설계해야 함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해당 점포의 업종과 업태에 맞는 서비스 형태와 수준을 고려하여 서비스 평가 항목을 조정할 수 있음</a:t>
            </a:r>
            <a:r>
              <a:rPr lang="en-US" altLang="ko-KR" sz="2000" b="0" dirty="0"/>
              <a:t>.</a:t>
            </a: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(2) </a:t>
            </a:r>
            <a:r>
              <a:rPr lang="ko-KR" altLang="en-US" sz="2000" b="0" dirty="0"/>
              <a:t>메뉴 품질 평가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음식의 맛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음식의 신선도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위생상태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음식의 적절한 온도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담긴 그릇과의 어울림 등을 확인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구매한 메뉴가 표준 레시피와 판매상품 표준화에 제시된 기준에 부합하는지 평가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객관적인 평가가 이루어지도록 체크리스트 평가를 위한 정확한 기준의 제시가 필요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제목 1">
            <a:extLst>
              <a:ext uri="{FF2B5EF4-FFF2-40B4-BE49-F238E27FC236}">
                <a16:creationId xmlns:a16="http://schemas.microsoft.com/office/drawing/2014/main" id="{0BFF1C40-0038-4385-B0CC-6E04BFB35F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3) </a:t>
            </a:r>
            <a:r>
              <a:rPr lang="ko-KR" altLang="en-US"/>
              <a:t>미스터리 쇼핑의 체크리스트 평가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53D4B53E-73E8-4761-9366-D5A084C2F84E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CC673366-038F-4E0B-AB53-CFCCE0B831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(3) </a:t>
            </a:r>
            <a:r>
              <a:rPr lang="ko-KR" altLang="en-US" sz="2000" b="0" dirty="0"/>
              <a:t>위생관리 평가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외식업체의 모든 시설물의 위생 및 </a:t>
            </a:r>
            <a:r>
              <a:rPr lang="ko-KR" altLang="en-US" sz="1800" b="0" dirty="0" err="1"/>
              <a:t>점검상태와</a:t>
            </a:r>
            <a:r>
              <a:rPr lang="ko-KR" altLang="en-US" sz="1800" b="0" dirty="0"/>
              <a:t> 종사원의 개인 위생상태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음식의 이물질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식기와 시설의 청결 정도와 정리정돈상태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서비스 종사원의 개인위생 행동을 주로 평가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(4) </a:t>
            </a:r>
            <a:r>
              <a:rPr lang="ko-KR" altLang="en-US" sz="2000" b="0" dirty="0"/>
              <a:t>물리적 환경 평가</a:t>
            </a:r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en-US" altLang="ko-KR" sz="1800" b="0" dirty="0" err="1"/>
              <a:t>최근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음식의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질보다는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외식업체의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분위기를</a:t>
            </a:r>
            <a:r>
              <a:rPr lang="en-US" altLang="ko-KR" sz="1800" b="0" dirty="0"/>
              <a:t> 더 </a:t>
            </a:r>
            <a:r>
              <a:rPr lang="en-US" altLang="ko-KR" sz="1800" b="0" dirty="0" err="1"/>
              <a:t>중요하게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생각하는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고객들이</a:t>
            </a:r>
            <a:r>
              <a:rPr lang="en-US" altLang="ko-KR" sz="1800" b="0" dirty="0"/>
              <a:t> </a:t>
            </a:r>
            <a:r>
              <a:rPr lang="en-US" altLang="ko-KR" sz="1800" b="0" dirty="0" err="1"/>
              <a:t>증가하고</a:t>
            </a:r>
            <a:r>
              <a:rPr lang="en-US" altLang="ko-KR" sz="1800" b="0" dirty="0"/>
              <a:t> 있</a:t>
            </a:r>
            <a:r>
              <a:rPr lang="ko-KR" altLang="en-US" sz="1800" b="0" dirty="0"/>
              <a:t>음</a:t>
            </a:r>
            <a:endParaRPr lang="en-US" altLang="ko-KR" sz="18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1800" b="0" dirty="0"/>
              <a:t> - </a:t>
            </a:r>
            <a:r>
              <a:rPr lang="ko-KR" altLang="en-US" sz="1800" b="0" dirty="0"/>
              <a:t>외식업체의 분위기</a:t>
            </a:r>
            <a:r>
              <a:rPr lang="en-US" altLang="ko-KR" sz="1800" b="0" dirty="0"/>
              <a:t>, </a:t>
            </a:r>
            <a:r>
              <a:rPr lang="ko-KR" altLang="en-US" sz="1800" b="0" dirty="0"/>
              <a:t>물리적 시설의 파손 여부와 편리성 등을 고려함</a:t>
            </a:r>
          </a:p>
          <a:p>
            <a:pPr algn="just">
              <a:lnSpc>
                <a:spcPct val="150000"/>
              </a:lnSpc>
              <a:defRPr/>
            </a:pP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제목 1">
            <a:extLst>
              <a:ext uri="{FF2B5EF4-FFF2-40B4-BE49-F238E27FC236}">
                <a16:creationId xmlns:a16="http://schemas.microsoft.com/office/drawing/2014/main" id="{B0757B8B-3A40-4167-9215-35C0621730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/>
              <a:t>4) </a:t>
            </a:r>
            <a:r>
              <a:rPr lang="ko-KR" altLang="en-US"/>
              <a:t>미스터리 쇼핑의 평가 결과 검증</a:t>
            </a:r>
          </a:p>
        </p:txBody>
      </p:sp>
      <p:sp>
        <p:nvSpPr>
          <p:cNvPr id="4" name="직사각형 3">
            <a:extLst>
              <a:ext uri="{FF2B5EF4-FFF2-40B4-BE49-F238E27FC236}">
                <a16:creationId xmlns:a16="http://schemas.microsoft.com/office/drawing/2014/main" id="{7F6271C0-978F-439A-800F-5289705A5651}"/>
              </a:ext>
            </a:extLst>
          </p:cNvPr>
          <p:cNvSpPr/>
          <p:nvPr/>
        </p:nvSpPr>
        <p:spPr>
          <a:xfrm>
            <a:off x="815975" y="1114425"/>
            <a:ext cx="9975850" cy="2185988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marL="342900" indent="-342900" algn="just">
              <a:lnSpc>
                <a:spcPct val="150000"/>
              </a:lnSpc>
              <a:buFontTx/>
              <a:buAutoNum type="arabicParenBoth"/>
              <a:defRPr/>
            </a:pPr>
            <a:endParaRPr lang="en-US" altLang="ko-KR" sz="1600" dirty="0">
              <a:solidFill>
                <a:schemeClr val="tx1"/>
              </a:solidFill>
              <a:latin typeface="서울남산 장체 M" panose="02020503020101020101" pitchFamily="18" charset="-127"/>
              <a:ea typeface="서울남산 장체 M" panose="02020503020101020101" pitchFamily="18" charset="-127"/>
              <a:cs typeface="함초롬돋움" panose="02030504000101010101" pitchFamily="18" charset="-127"/>
            </a:endParaRPr>
          </a:p>
        </p:txBody>
      </p:sp>
      <p:sp>
        <p:nvSpPr>
          <p:cNvPr id="5" name="내용 개체 틀 2">
            <a:extLst>
              <a:ext uri="{FF2B5EF4-FFF2-40B4-BE49-F238E27FC236}">
                <a16:creationId xmlns:a16="http://schemas.microsoft.com/office/drawing/2014/main" id="{A7CC469A-AD57-4ED8-AC81-CDE690E744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30213" y="1339850"/>
            <a:ext cx="10136187" cy="5248275"/>
          </a:xfrm>
          <a:solidFill>
            <a:schemeClr val="bg1"/>
          </a:solidFill>
        </p:spPr>
        <p:txBody>
          <a:bodyPr/>
          <a:lstStyle/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en-US" altLang="ko-KR" sz="2000" b="0" dirty="0"/>
              <a:t>1</a:t>
            </a:r>
            <a:r>
              <a:rPr lang="ko-KR" altLang="en-US" sz="2000" b="0" dirty="0"/>
              <a:t>차 검증은 미스터리 쇼핑이 실제 계획한 날짜에 맞추어 점포를 평가하였고 정확한 평가 기준에 따라 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   </a:t>
            </a:r>
            <a:r>
              <a:rPr lang="ko-KR" altLang="en-US" sz="2000" b="0" dirty="0" err="1"/>
              <a:t>평가하였는지를</a:t>
            </a:r>
            <a:r>
              <a:rPr lang="ko-KR" altLang="en-US" sz="2000" b="0" dirty="0"/>
              <a:t> 점검 함</a:t>
            </a:r>
            <a:r>
              <a:rPr lang="en-US" altLang="ko-KR" sz="2000" b="0" dirty="0"/>
              <a:t>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이를 바탕으로 평가 결과 자체에 대한 검증을 실시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</a:t>
            </a:r>
            <a:r>
              <a:rPr lang="ko-KR" altLang="en-US" sz="2000" b="0" dirty="0" err="1"/>
              <a:t>쇼퍼가</a:t>
            </a:r>
            <a:r>
              <a:rPr lang="ko-KR" altLang="en-US" sz="2000" b="0" dirty="0"/>
              <a:t> 정확한 기준에 의해 점검하고 평가하였는지</a:t>
            </a:r>
            <a:r>
              <a:rPr lang="en-US" altLang="ko-KR" sz="2000" b="0" dirty="0"/>
              <a:t>,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일관성 있게 하였는지</a:t>
            </a:r>
            <a:r>
              <a:rPr lang="en-US" altLang="ko-KR" sz="2000" b="0" dirty="0"/>
              <a:t>, 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평가 결과가 미스터리 쇼핑 프로그램의 실행 목적에 따라 점포의 현재 상태를 알려줄 수 있는 근거와 </a:t>
            </a:r>
            <a:endParaRPr lang="en-US" altLang="ko-KR" sz="2000" b="0" dirty="0"/>
          </a:p>
          <a:p>
            <a:pPr algn="just">
              <a:lnSpc>
                <a:spcPct val="150000"/>
              </a:lnSpc>
              <a:defRPr/>
            </a:pPr>
            <a:r>
              <a:rPr lang="en-US" altLang="ko-KR" sz="2000" b="0" dirty="0"/>
              <a:t>     </a:t>
            </a:r>
            <a:r>
              <a:rPr lang="ko-KR" altLang="en-US" sz="2000" b="0" dirty="0"/>
              <a:t>문제점을 정확하게 제시하고 있는지에 대한 검증이 필요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미스터리 쇼핑의 평가 결과를 근거로 서비스 표준과 일치하지 않는 사항을 지적하여야 하며 </a:t>
            </a:r>
            <a:endParaRPr lang="en-US" altLang="ko-KR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r>
              <a:rPr lang="ko-KR" altLang="en-US" sz="2000" b="0" dirty="0"/>
              <a:t>낮은 평가를 받은 내용에 대해서는 원인을 규명하고</a:t>
            </a:r>
            <a:r>
              <a:rPr lang="en-US" altLang="ko-KR" sz="2000" b="0" dirty="0"/>
              <a:t>, </a:t>
            </a:r>
            <a:r>
              <a:rPr lang="ko-KR" altLang="en-US" sz="2000" b="0" dirty="0"/>
              <a:t>서비스품질 개선 방안을 제안함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18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  <a:defRPr/>
            </a:pPr>
            <a:endParaRPr lang="ko-KR" altLang="en-US" sz="2000" b="0" dirty="0"/>
          </a:p>
          <a:p>
            <a:pPr algn="just">
              <a:lnSpc>
                <a:spcPct val="150000"/>
              </a:lnSpc>
              <a:defRPr/>
            </a:pPr>
            <a:endParaRPr lang="ko-KR" altLang="en-US" sz="2000" b="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ample">
  <a:themeElements>
    <a:clrScheme name="sample 3">
      <a:dk1>
        <a:srgbClr val="003366"/>
      </a:dk1>
      <a:lt1>
        <a:srgbClr val="FFFFFF"/>
      </a:lt1>
      <a:dk2>
        <a:srgbClr val="5086C2"/>
      </a:dk2>
      <a:lt2>
        <a:srgbClr val="C0C0C0"/>
      </a:lt2>
      <a:accent1>
        <a:srgbClr val="DE8848"/>
      </a:accent1>
      <a:accent2>
        <a:srgbClr val="85BA54"/>
      </a:accent2>
      <a:accent3>
        <a:srgbClr val="FFFFFF"/>
      </a:accent3>
      <a:accent4>
        <a:srgbClr val="002A56"/>
      </a:accent4>
      <a:accent5>
        <a:srgbClr val="ECC3B1"/>
      </a:accent5>
      <a:accent6>
        <a:srgbClr val="78A84B"/>
      </a:accent6>
      <a:hlink>
        <a:srgbClr val="4C59D2"/>
      </a:hlink>
      <a:folHlink>
        <a:srgbClr val="A0B5C4"/>
      </a:folHlink>
    </a:clrScheme>
    <a:fontScheme name="samp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altLang="ko-KR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604020202020204" pitchFamily="34" charset="0"/>
          </a:defRPr>
        </a:defPPr>
      </a:lstStyle>
    </a:lnDef>
  </a:objectDefaults>
  <a:extraClrSchemeLst>
    <a:extraClrScheme>
      <a:clrScheme name="sample 1">
        <a:dk1>
          <a:srgbClr val="48806B"/>
        </a:dk1>
        <a:lt1>
          <a:srgbClr val="FFFFFF"/>
        </a:lt1>
        <a:dk2>
          <a:srgbClr val="77956D"/>
        </a:dk2>
        <a:lt2>
          <a:srgbClr val="C0C0C0"/>
        </a:lt2>
        <a:accent1>
          <a:srgbClr val="6BB9C3"/>
        </a:accent1>
        <a:accent2>
          <a:srgbClr val="E7BA15"/>
        </a:accent2>
        <a:accent3>
          <a:srgbClr val="FFFFFF"/>
        </a:accent3>
        <a:accent4>
          <a:srgbClr val="3C6C5A"/>
        </a:accent4>
        <a:accent5>
          <a:srgbClr val="BAD9DE"/>
        </a:accent5>
        <a:accent6>
          <a:srgbClr val="D1A812"/>
        </a:accent6>
        <a:hlink>
          <a:srgbClr val="76C14D"/>
        </a:hlink>
        <a:folHlink>
          <a:srgbClr val="B0C2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2">
        <a:dk1>
          <a:srgbClr val="5F5F5F"/>
        </a:dk1>
        <a:lt1>
          <a:srgbClr val="FFFFFF"/>
        </a:lt1>
        <a:dk2>
          <a:srgbClr val="8D8D8D"/>
        </a:dk2>
        <a:lt2>
          <a:srgbClr val="C0C0C0"/>
        </a:lt2>
        <a:accent1>
          <a:srgbClr val="8EC072"/>
        </a:accent1>
        <a:accent2>
          <a:srgbClr val="5DB8CD"/>
        </a:accent2>
        <a:accent3>
          <a:srgbClr val="FFFFFF"/>
        </a:accent3>
        <a:accent4>
          <a:srgbClr val="505050"/>
        </a:accent4>
        <a:accent5>
          <a:srgbClr val="C6DCBC"/>
        </a:accent5>
        <a:accent6>
          <a:srgbClr val="53A6BA"/>
        </a:accent6>
        <a:hlink>
          <a:srgbClr val="D68B40"/>
        </a:hlink>
        <a:folHlink>
          <a:srgbClr val="D5D17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ample 3">
        <a:dk1>
          <a:srgbClr val="003366"/>
        </a:dk1>
        <a:lt1>
          <a:srgbClr val="FFFFFF"/>
        </a:lt1>
        <a:dk2>
          <a:srgbClr val="5086C2"/>
        </a:dk2>
        <a:lt2>
          <a:srgbClr val="C0C0C0"/>
        </a:lt2>
        <a:accent1>
          <a:srgbClr val="DE8848"/>
        </a:accent1>
        <a:accent2>
          <a:srgbClr val="85BA54"/>
        </a:accent2>
        <a:accent3>
          <a:srgbClr val="FFFFFF"/>
        </a:accent3>
        <a:accent4>
          <a:srgbClr val="002A56"/>
        </a:accent4>
        <a:accent5>
          <a:srgbClr val="ECC3B1"/>
        </a:accent5>
        <a:accent6>
          <a:srgbClr val="78A84B"/>
        </a:accent6>
        <a:hlink>
          <a:srgbClr val="4C59D2"/>
        </a:hlink>
        <a:folHlink>
          <a:srgbClr val="A0B5C4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588</TotalTime>
  <Words>2866</Words>
  <Application>Microsoft Office PowerPoint</Application>
  <PresentationFormat>와이드스크린</PresentationFormat>
  <Paragraphs>436</Paragraphs>
  <Slides>39</Slides>
  <Notes>5</Notes>
  <HiddenSlides>0</HiddenSlides>
  <MMClips>0</MMClips>
  <ScaleCrop>false</ScaleCrop>
  <HeadingPairs>
    <vt:vector size="6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39</vt:i4>
      </vt:variant>
    </vt:vector>
  </HeadingPairs>
  <TitlesOfParts>
    <vt:vector size="50" baseType="lpstr">
      <vt:lpstr>굴림</vt:lpstr>
      <vt:lpstr>Arial</vt:lpstr>
      <vt:lpstr>서울한강 장체 L</vt:lpstr>
      <vt:lpstr>서울남산 장체 EB</vt:lpstr>
      <vt:lpstr>맑은 고딕</vt:lpstr>
      <vt:lpstr>서울남산 장체 L</vt:lpstr>
      <vt:lpstr>함초롬돋움</vt:lpstr>
      <vt:lpstr>Verdana</vt:lpstr>
      <vt:lpstr>서울남산 장체 M</vt:lpstr>
      <vt:lpstr>Wingdings</vt:lpstr>
      <vt:lpstr>sample</vt:lpstr>
      <vt:lpstr>PowerPoint 프레젠테이션</vt:lpstr>
      <vt:lpstr>PowerPoint 프레젠테이션</vt:lpstr>
      <vt:lpstr>1) 서비스 표준의 의미</vt:lpstr>
      <vt:lpstr>2) 고객 중심적 서비스 표준</vt:lpstr>
      <vt:lpstr>2) 고객 중심적 서비스 표준</vt:lpstr>
      <vt:lpstr>3) 서비스 표준의 유형</vt:lpstr>
      <vt:lpstr>4) 고객 중심적 서비스 표준 개발과정</vt:lpstr>
      <vt:lpstr>4) 고객 중심적 서비스 표준 개발과정</vt:lpstr>
      <vt:lpstr>4) 고객 중심적 서비스 표준 개발과정</vt:lpstr>
      <vt:lpstr>4) 고객 중심적 서비스 표준 개발과정</vt:lpstr>
      <vt:lpstr>PowerPoint 프레젠테이션</vt:lpstr>
      <vt:lpstr>PowerPoint 프레젠테이션</vt:lpstr>
      <vt:lpstr>PowerPoint 프레젠테이션</vt:lpstr>
      <vt:lpstr>1) 메뉴 품질의 표준화</vt:lpstr>
      <vt:lpstr>1) 메뉴 품질의 표준화</vt:lpstr>
      <vt:lpstr>PowerPoint 프레젠테이션</vt:lpstr>
      <vt:lpstr>PowerPoint 프레젠테이션</vt:lpstr>
      <vt:lpstr>1) 메뉴 품질의 표준화</vt:lpstr>
      <vt:lpstr>1) 메뉴 품질의 표준화</vt:lpstr>
      <vt:lpstr>1) 메뉴 품질의 표준화</vt:lpstr>
      <vt:lpstr>1) 메뉴 품질의 표준화</vt:lpstr>
      <vt:lpstr>2) 서비스 프로세스의 표준화</vt:lpstr>
      <vt:lpstr>2) 서비스 프로세스의 표준화</vt:lpstr>
      <vt:lpstr>2) 서비스 프로세스의 표준화</vt:lpstr>
      <vt:lpstr>2) 서비스 프로세스의 표준화</vt:lpstr>
      <vt:lpstr>2) 서비스 프로세스의 표준화</vt:lpstr>
      <vt:lpstr>2) 서비스 프로세스의 표준화</vt:lpstr>
      <vt:lpstr>2) 서비스 프로세스의 표준화</vt:lpstr>
      <vt:lpstr>PowerPoint 프레젠테이션</vt:lpstr>
      <vt:lpstr>1) 미스터리 쇼핑의 이해와 활용</vt:lpstr>
      <vt:lpstr>2) 미스터리 쇼핑의 실행 프로세스</vt:lpstr>
      <vt:lpstr>2) 미스터리 쇼핑의 실행 프로세스</vt:lpstr>
      <vt:lpstr>3) 미스터리 쇼핑의 체크리스트 평가</vt:lpstr>
      <vt:lpstr>3) 미스터리 쇼핑의 체크리스트 평가</vt:lpstr>
      <vt:lpstr>3) 미스터리 쇼핑의 체크리스트 평가</vt:lpstr>
      <vt:lpstr>3) 미스터리 쇼핑의 체크리스트 평가</vt:lpstr>
      <vt:lpstr>3) 미스터리 쇼핑의 체크리스트 평가</vt:lpstr>
      <vt:lpstr>3) 미스터리 쇼핑의 체크리스트 평가</vt:lpstr>
      <vt:lpstr>4) 미스터리 쇼핑의 평가 결과 검증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Template</dc:title>
  <dc:creator>Windows 사용자</dc:creator>
  <cp:lastModifiedBy>Windows 사용자</cp:lastModifiedBy>
  <cp:revision>83</cp:revision>
  <dcterms:created xsi:type="dcterms:W3CDTF">2022-02-07T06:24:49Z</dcterms:created>
  <dcterms:modified xsi:type="dcterms:W3CDTF">2022-05-10T13:33:09Z</dcterms:modified>
</cp:coreProperties>
</file>