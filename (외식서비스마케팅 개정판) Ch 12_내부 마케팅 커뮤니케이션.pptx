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8"/>
  </p:notesMasterIdLst>
  <p:sldIdLst>
    <p:sldId id="278" r:id="rId2"/>
    <p:sldId id="280" r:id="rId3"/>
    <p:sldId id="279" r:id="rId4"/>
    <p:sldId id="314" r:id="rId5"/>
    <p:sldId id="284" r:id="rId6"/>
    <p:sldId id="315" r:id="rId7"/>
    <p:sldId id="281" r:id="rId8"/>
    <p:sldId id="316" r:id="rId9"/>
    <p:sldId id="317" r:id="rId10"/>
    <p:sldId id="282" r:id="rId11"/>
    <p:sldId id="285" r:id="rId12"/>
    <p:sldId id="287" r:id="rId13"/>
    <p:sldId id="318" r:id="rId14"/>
    <p:sldId id="319" r:id="rId15"/>
    <p:sldId id="320" r:id="rId16"/>
    <p:sldId id="288" r:id="rId17"/>
    <p:sldId id="321" r:id="rId18"/>
    <p:sldId id="327" r:id="rId19"/>
    <p:sldId id="322" r:id="rId20"/>
    <p:sldId id="326" r:id="rId21"/>
    <p:sldId id="328" r:id="rId22"/>
    <p:sldId id="325" r:id="rId23"/>
    <p:sldId id="323" r:id="rId24"/>
    <p:sldId id="324" r:id="rId25"/>
    <p:sldId id="329" r:id="rId26"/>
    <p:sldId id="330" r:id="rId27"/>
  </p:sldIdLst>
  <p:sldSz cx="12192000" cy="6858000"/>
  <p:notesSz cx="6858000" cy="9144000"/>
  <p:embeddedFontLst>
    <p:embeddedFont>
      <p:font typeface="Verdana" panose="020B0604030504040204" pitchFamily="34" charset="0"/>
      <p:regular r:id="rId29"/>
      <p:bold r:id="rId30"/>
      <p:italic r:id="rId31"/>
      <p:boldItalic r:id="rId32"/>
    </p:embeddedFont>
    <p:embeddedFont>
      <p:font typeface="맑은 고딕" panose="020B0503020000020004" pitchFamily="50" charset="-127"/>
      <p:regular r:id="rId33"/>
      <p:bold r:id="rId34"/>
    </p:embeddedFont>
    <p:embeddedFont>
      <p:font typeface="서울남산 장체 EB" panose="02020503020101020101" pitchFamily="18" charset="-127"/>
      <p:regular r:id="rId35"/>
    </p:embeddedFont>
    <p:embeddedFont>
      <p:font typeface="서울남산 장체 L" panose="02020503020101020101" pitchFamily="18" charset="-127"/>
      <p:regular r:id="rId36"/>
    </p:embeddedFont>
    <p:embeddedFont>
      <p:font typeface="서울남산 장체 M" panose="02020503020101020101" pitchFamily="18" charset="-127"/>
      <p:regular r:id="rId37"/>
    </p:embeddedFont>
    <p:embeddedFont>
      <p:font typeface="서울한강 장체 L" panose="02020503020101020101" pitchFamily="18" charset="-127"/>
      <p:regular r:id="rId38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4837" autoAdjust="0"/>
  </p:normalViewPr>
  <p:slideViewPr>
    <p:cSldViewPr snapToGrid="0" showGuides="1">
      <p:cViewPr varScale="1">
        <p:scale>
          <a:sx n="58" d="100"/>
          <a:sy n="58" d="100"/>
        </p:scale>
        <p:origin x="108" y="7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AE4DC-26A6-44C0-A78A-ABB449DCF4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서울남산 장체 L" panose="02020503020101020101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B0A08E-0DC9-40D1-B281-58375F5BDC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서울남산 장체 L" panose="02020503020101020101"/>
              </a:defRPr>
            </a:lvl1pPr>
          </a:lstStyle>
          <a:p>
            <a:pPr>
              <a:defRPr/>
            </a:pPr>
            <a:fld id="{44BA3993-3E88-499D-A82C-CD7650B82C83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64A595B-2B80-42D9-8DC2-1E918A1D28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61370AF-4359-4EFE-8D92-E259D992A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370DFF-BCDC-4106-BF57-478AEBB561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서울남산 장체 L" panose="02020503020101020101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123F5D-0204-4BBA-B3DE-4DF256497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ea typeface="서울남산 장체 L" pitchFamily="18" charset="-127"/>
              </a:defRPr>
            </a:lvl1pPr>
          </a:lstStyle>
          <a:p>
            <a:pPr>
              <a:defRPr/>
            </a:pPr>
            <a:fld id="{7924FE38-9AD0-48F9-9D78-280391BFD29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서울남산 장체 L" panose="02020503020101020101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서울남산 장체 L" panose="02020503020101020101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서울남산 장체 L" panose="02020503020101020101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서울남산 장체 L" panose="02020503020101020101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서울남산 장체 L" panose="02020503020101020101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3AC82A2F-CB55-4D8D-B93E-2A0F4E8B2C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5B3AD8DE-4EAA-4ADD-BC8D-23D4DE29FF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65BD1D74-FF60-4F55-96E5-389B13941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5E1657C-29B7-415E-B220-343BB0CC43DD}" type="slidenum">
              <a:rPr lang="ko-KR" altLang="en-US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47944CCD-1F41-4E26-914D-2A3FC4C1D4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0207CE6D-C01A-4BE8-A3F5-36C75712D1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20507AB8-18E9-4750-BB27-F0FD75DFE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A57AB57-8A48-4900-96FC-400912EF879C}" type="slidenum">
              <a:rPr lang="ko-KR" altLang="en-US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0F230E99-2F4C-4BD8-A6DA-05B842976A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10C74104-E470-432B-BA67-C7F39EE7C9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2D23DFA7-6EAB-4AC3-9A17-11533C215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CDD6714-6B32-4EA5-9130-2D50A5F75244}" type="slidenum">
              <a:rPr lang="ko-KR" altLang="en-US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4CE10781-680D-4825-9568-1BD890BA75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CBFEB45E-DF9B-4239-8418-B290F2AAB5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E97A2491-ABE2-42C1-A7D0-EF0E30861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ABC40A0-EDF6-46DB-A192-B29B39A26AF5}" type="slidenum">
              <a:rPr lang="ko-KR" altLang="en-US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0CDDDF4-4283-427F-88E3-E2250057BF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3D47E56-0841-46AD-8E03-555856C314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B558243-E983-4C95-BC01-B3B531FD9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0F2D37A-2ACB-48A3-A2A7-E34CC77E65F6}" type="slidenum">
              <a:rPr lang="ko-KR" altLang="en-US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4A2B042-530A-4B98-A1FF-A90038D747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DE2AC-78BA-4A95-8428-1D0B8B64F9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04321311-6B55-4CE0-8ED1-86D6A2D6C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81499DE-A3CF-4C69-8B7D-9017AFA1938E}" type="slidenum">
              <a:rPr lang="ko-KR" altLang="en-US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>
            <a:extLst>
              <a:ext uri="{FF2B5EF4-FFF2-40B4-BE49-F238E27FC236}">
                <a16:creationId xmlns:a16="http://schemas.microsoft.com/office/drawing/2014/main" id="{6C448B19-5CDA-460E-8FB4-FB41C30196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슬라이드 노트 개체 틀 2">
            <a:extLst>
              <a:ext uri="{FF2B5EF4-FFF2-40B4-BE49-F238E27FC236}">
                <a16:creationId xmlns:a16="http://schemas.microsoft.com/office/drawing/2014/main" id="{43322869-CFE7-4FA7-B33F-77FB6883DE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19460" name="슬라이드 번호 개체 틀 3">
            <a:extLst>
              <a:ext uri="{FF2B5EF4-FFF2-40B4-BE49-F238E27FC236}">
                <a16:creationId xmlns:a16="http://schemas.microsoft.com/office/drawing/2014/main" id="{23DE13DD-7B01-4C45-9D93-5440A5205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133ABA8-20DB-47E1-8901-A3525A03A72E}" type="slidenum">
              <a:rPr lang="ko-KR" altLang="en-US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2148CECD-A75E-4640-8F6C-FB418E3A26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536F52F2-44F4-4166-A176-6B267D5973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85F52E7D-1D0C-4BAA-9BBB-79146E57E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43DCBB5-47C3-4C3F-BF7E-9EB7924F11A1}" type="slidenum">
              <a:rPr lang="ko-KR" altLang="en-US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D65C38CE-B449-48EF-8409-C32D31C102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6FA0667B-2A1F-4CF5-801D-26459C62ED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2F7F44CA-C3CE-4216-8EDF-3C8F528F5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85749E7-AE56-4F7E-B38C-01D685C72E5B}" type="slidenum">
              <a:rPr lang="ko-KR" altLang="en-US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6F92D81F-EA91-4750-BBB6-6F7431AD9E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4A3DE5A4-BEF4-4982-8D7F-4E11EF022E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37A47238-3495-4BC2-9601-B2299FDFC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FF8FD64-16BA-4273-B654-0ACFEAC6A1B1}" type="slidenum">
              <a:rPr lang="ko-KR" altLang="en-US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143D6D85-F879-4A8C-8CA8-24421C98CD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4DB1E10B-F54E-4A46-995E-069379B347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6726E964-086B-4FFE-B180-0775C9A34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FA0D5CA-44D9-4656-B0AB-F98286C03AB2}" type="slidenum">
              <a:rPr lang="ko-KR" altLang="en-US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이미지 개체 틀 1">
            <a:extLst>
              <a:ext uri="{FF2B5EF4-FFF2-40B4-BE49-F238E27FC236}">
                <a16:creationId xmlns:a16="http://schemas.microsoft.com/office/drawing/2014/main" id="{05857230-5C4B-48B8-80A4-B5CE552466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슬라이드 노트 개체 틀 2">
            <a:extLst>
              <a:ext uri="{FF2B5EF4-FFF2-40B4-BE49-F238E27FC236}">
                <a16:creationId xmlns:a16="http://schemas.microsoft.com/office/drawing/2014/main" id="{415783D9-366A-4D31-9FD3-7F85D0D6F9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31748" name="슬라이드 번호 개체 틀 3">
            <a:extLst>
              <a:ext uri="{FF2B5EF4-FFF2-40B4-BE49-F238E27FC236}">
                <a16:creationId xmlns:a16="http://schemas.microsoft.com/office/drawing/2014/main" id="{0D4C3505-410D-450A-A81B-2BB1D6445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45CCCAF-8B85-41F2-BFCA-4CA4C283A34B}" type="slidenum">
              <a:rPr lang="ko-KR" altLang="en-US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>
            <a:extLst>
              <a:ext uri="{FF2B5EF4-FFF2-40B4-BE49-F238E27FC236}">
                <a16:creationId xmlns:a16="http://schemas.microsoft.com/office/drawing/2014/main" id="{573E021F-AD75-464D-9D0A-7BFCD7435B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>
            <a:extLst>
              <a:ext uri="{FF2B5EF4-FFF2-40B4-BE49-F238E27FC236}">
                <a16:creationId xmlns:a16="http://schemas.microsoft.com/office/drawing/2014/main" id="{6CC1A5EA-2380-44B2-ACA0-EA105E86B8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33796" name="슬라이드 번호 개체 틀 3">
            <a:extLst>
              <a:ext uri="{FF2B5EF4-FFF2-40B4-BE49-F238E27FC236}">
                <a16:creationId xmlns:a16="http://schemas.microsoft.com/office/drawing/2014/main" id="{BF4EDDAB-A001-4A8C-B052-6D204BD85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2686A00-6A6C-433A-BCA6-C5123C1804FA}" type="slidenum">
              <a:rPr lang="ko-KR" altLang="en-US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>
            <a:extLst>
              <a:ext uri="{FF2B5EF4-FFF2-40B4-BE49-F238E27FC236}">
                <a16:creationId xmlns:a16="http://schemas.microsoft.com/office/drawing/2014/main" id="{4093AEA3-96C5-455C-B0CC-A1F1823DC2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슬라이드 노트 개체 틀 2">
            <a:extLst>
              <a:ext uri="{FF2B5EF4-FFF2-40B4-BE49-F238E27FC236}">
                <a16:creationId xmlns:a16="http://schemas.microsoft.com/office/drawing/2014/main" id="{9AAB6A42-104A-485B-9ACF-584D9E923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35844" name="슬라이드 번호 개체 틀 3">
            <a:extLst>
              <a:ext uri="{FF2B5EF4-FFF2-40B4-BE49-F238E27FC236}">
                <a16:creationId xmlns:a16="http://schemas.microsoft.com/office/drawing/2014/main" id="{596CD0F8-0DBE-458F-8343-F10159671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6541184-2AFD-4982-AA29-A669E040771E}" type="slidenum">
              <a:rPr lang="ko-KR" altLang="en-US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>
            <a:extLst>
              <a:ext uri="{FF2B5EF4-FFF2-40B4-BE49-F238E27FC236}">
                <a16:creationId xmlns:a16="http://schemas.microsoft.com/office/drawing/2014/main" id="{2EFD6C1A-CE00-4FDF-B0DC-B9AE913231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슬라이드 노트 개체 틀 2">
            <a:extLst>
              <a:ext uri="{FF2B5EF4-FFF2-40B4-BE49-F238E27FC236}">
                <a16:creationId xmlns:a16="http://schemas.microsoft.com/office/drawing/2014/main" id="{AEF88F4F-14A3-4A65-B541-991F89BFD2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37892" name="슬라이드 번호 개체 틀 3">
            <a:extLst>
              <a:ext uri="{FF2B5EF4-FFF2-40B4-BE49-F238E27FC236}">
                <a16:creationId xmlns:a16="http://schemas.microsoft.com/office/drawing/2014/main" id="{15B71792-CD4E-438E-ADEA-3B473A5CF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CDA96AC-09F8-4697-ABDD-DCEEE7554102}" type="slidenum">
              <a:rPr lang="ko-KR" altLang="en-US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>
            <a:extLst>
              <a:ext uri="{FF2B5EF4-FFF2-40B4-BE49-F238E27FC236}">
                <a16:creationId xmlns:a16="http://schemas.microsoft.com/office/drawing/2014/main" id="{49505C7B-4034-4D2F-97B1-319CBA3173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슬라이드 노트 개체 틀 2">
            <a:extLst>
              <a:ext uri="{FF2B5EF4-FFF2-40B4-BE49-F238E27FC236}">
                <a16:creationId xmlns:a16="http://schemas.microsoft.com/office/drawing/2014/main" id="{6D327705-4F7A-42A5-B18E-6CA0003580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39940" name="슬라이드 번호 개체 틀 3">
            <a:extLst>
              <a:ext uri="{FF2B5EF4-FFF2-40B4-BE49-F238E27FC236}">
                <a16:creationId xmlns:a16="http://schemas.microsoft.com/office/drawing/2014/main" id="{601BD0E8-48E0-40DC-A747-63443849D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3427CC6-C72D-49E0-A232-1AB2E5067EF2}" type="slidenum">
              <a:rPr lang="ko-KR" altLang="en-US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>
            <a:extLst>
              <a:ext uri="{FF2B5EF4-FFF2-40B4-BE49-F238E27FC236}">
                <a16:creationId xmlns:a16="http://schemas.microsoft.com/office/drawing/2014/main" id="{9B4F2A00-920E-4B20-BB84-3BF5F026EA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슬라이드 노트 개체 틀 2">
            <a:extLst>
              <a:ext uri="{FF2B5EF4-FFF2-40B4-BE49-F238E27FC236}">
                <a16:creationId xmlns:a16="http://schemas.microsoft.com/office/drawing/2014/main" id="{BAB7A346-1F71-4024-9BD7-3B828AA20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41988" name="슬라이드 번호 개체 틀 3">
            <a:extLst>
              <a:ext uri="{FF2B5EF4-FFF2-40B4-BE49-F238E27FC236}">
                <a16:creationId xmlns:a16="http://schemas.microsoft.com/office/drawing/2014/main" id="{76BB1886-E80B-4518-8223-4A88F2614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9AF6F81-7EC9-417B-A99E-BD09CC2F7196}" type="slidenum">
              <a:rPr lang="ko-KR" altLang="en-US"/>
              <a:pPr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슬라이드 이미지 개체 틀 1">
            <a:extLst>
              <a:ext uri="{FF2B5EF4-FFF2-40B4-BE49-F238E27FC236}">
                <a16:creationId xmlns:a16="http://schemas.microsoft.com/office/drawing/2014/main" id="{3AE41305-AE25-4FEF-8DB5-C9748FDB1F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슬라이드 노트 개체 틀 2">
            <a:extLst>
              <a:ext uri="{FF2B5EF4-FFF2-40B4-BE49-F238E27FC236}">
                <a16:creationId xmlns:a16="http://schemas.microsoft.com/office/drawing/2014/main" id="{24B9970A-E9A4-4FE4-A6CD-FF3FA32869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44036" name="슬라이드 번호 개체 틀 3">
            <a:extLst>
              <a:ext uri="{FF2B5EF4-FFF2-40B4-BE49-F238E27FC236}">
                <a16:creationId xmlns:a16="http://schemas.microsoft.com/office/drawing/2014/main" id="{8D0A3E35-D0D4-4AB2-AF17-798060243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8474D66-80A2-4EE1-B90F-8BE5D1BCDD6B}" type="slidenum">
              <a:rPr lang="ko-KR" altLang="en-US"/>
              <a:pPr/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>
            <a:extLst>
              <a:ext uri="{FF2B5EF4-FFF2-40B4-BE49-F238E27FC236}">
                <a16:creationId xmlns:a16="http://schemas.microsoft.com/office/drawing/2014/main" id="{84A3409B-7CD6-43B5-BD24-9C5B117296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슬라이드 노트 개체 틀 2">
            <a:extLst>
              <a:ext uri="{FF2B5EF4-FFF2-40B4-BE49-F238E27FC236}">
                <a16:creationId xmlns:a16="http://schemas.microsoft.com/office/drawing/2014/main" id="{474CDC71-7848-44DB-AFE0-006ED29DB0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46084" name="슬라이드 번호 개체 틀 3">
            <a:extLst>
              <a:ext uri="{FF2B5EF4-FFF2-40B4-BE49-F238E27FC236}">
                <a16:creationId xmlns:a16="http://schemas.microsoft.com/office/drawing/2014/main" id="{D98032D0-2581-4102-A19D-DA95522B1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EA68582-638B-49CC-9183-B3BB54D6AE1A}" type="slidenum">
              <a:rPr lang="ko-KR" altLang="en-US"/>
              <a:pPr/>
              <a:t>23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이미지 개체 틀 1">
            <a:extLst>
              <a:ext uri="{FF2B5EF4-FFF2-40B4-BE49-F238E27FC236}">
                <a16:creationId xmlns:a16="http://schemas.microsoft.com/office/drawing/2014/main" id="{04168112-07E3-4243-9399-7A72AA2AA7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슬라이드 노트 개체 틀 2">
            <a:extLst>
              <a:ext uri="{FF2B5EF4-FFF2-40B4-BE49-F238E27FC236}">
                <a16:creationId xmlns:a16="http://schemas.microsoft.com/office/drawing/2014/main" id="{99A915BD-B58A-4458-B31B-66BCA6EA7A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48132" name="슬라이드 번호 개체 틀 3">
            <a:extLst>
              <a:ext uri="{FF2B5EF4-FFF2-40B4-BE49-F238E27FC236}">
                <a16:creationId xmlns:a16="http://schemas.microsoft.com/office/drawing/2014/main" id="{224071D5-4649-428F-80D4-B1CB20828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6DA0C5C-94F7-4C6E-9835-65E1E757BC7E}" type="slidenum">
              <a:rPr lang="ko-KR" altLang="en-US"/>
              <a:pPr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슬라이드 이미지 개체 틀 1">
            <a:extLst>
              <a:ext uri="{FF2B5EF4-FFF2-40B4-BE49-F238E27FC236}">
                <a16:creationId xmlns:a16="http://schemas.microsoft.com/office/drawing/2014/main" id="{52D13BCC-C58D-4AA3-9F9F-282E58B884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슬라이드 노트 개체 틀 2">
            <a:extLst>
              <a:ext uri="{FF2B5EF4-FFF2-40B4-BE49-F238E27FC236}">
                <a16:creationId xmlns:a16="http://schemas.microsoft.com/office/drawing/2014/main" id="{C7AE92A7-121D-4D25-B76B-EC7D30A246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50180" name="슬라이드 번호 개체 틀 3">
            <a:extLst>
              <a:ext uri="{FF2B5EF4-FFF2-40B4-BE49-F238E27FC236}">
                <a16:creationId xmlns:a16="http://schemas.microsoft.com/office/drawing/2014/main" id="{28134C9F-2C8C-4922-9EC7-971E739F0D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A0BBE29-E60D-4FAB-9B4C-A8CF2109AFA8}" type="slidenum">
              <a:rPr lang="ko-KR" altLang="en-US"/>
              <a:pPr/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이미지 개체 틀 1">
            <a:extLst>
              <a:ext uri="{FF2B5EF4-FFF2-40B4-BE49-F238E27FC236}">
                <a16:creationId xmlns:a16="http://schemas.microsoft.com/office/drawing/2014/main" id="{F4FD7D0E-FC00-4AAE-A3FE-7A3D65A349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슬라이드 노트 개체 틀 2">
            <a:extLst>
              <a:ext uri="{FF2B5EF4-FFF2-40B4-BE49-F238E27FC236}">
                <a16:creationId xmlns:a16="http://schemas.microsoft.com/office/drawing/2014/main" id="{ABD1ADF0-3849-4468-A443-30652F1027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>
              <a:ea typeface="서울남산 장체 L" panose="02020503020101020101" pitchFamily="18" charset="-127"/>
            </a:endParaRPr>
          </a:p>
        </p:txBody>
      </p:sp>
      <p:sp>
        <p:nvSpPr>
          <p:cNvPr id="52228" name="슬라이드 번호 개체 틀 3">
            <a:extLst>
              <a:ext uri="{FF2B5EF4-FFF2-40B4-BE49-F238E27FC236}">
                <a16:creationId xmlns:a16="http://schemas.microsoft.com/office/drawing/2014/main" id="{CFC56E58-C343-407D-9AF7-3BCFA3342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C585805-634B-4A6B-882D-F4956665A857}" type="slidenum">
              <a:rPr lang="ko-KR" altLang="en-US"/>
              <a:pPr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DF7B3C09-AD5E-4515-B695-52EF71FD36F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7104F983-326E-420E-A93E-104C808F73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B6742366-7DB0-48C5-8713-5FD120DBD436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08181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7A645E-DEC8-4923-8EA2-6E91AB39D6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02AB7A-C6EB-455B-8454-12C4FE33CB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8E9119-C437-4216-9CD1-67922C3879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41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AEE363-5CBC-4ED9-8216-9B09903FF5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AE9A1E-8F64-4441-8747-E7E3F73E23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9D477-2425-457A-A88B-71E09EB24DA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838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BA3E456-2C95-4DD7-894C-CA685DFE9A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302848B-0878-4B3F-819C-F37611632F0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3D91-544C-4A62-BE1E-52C149FF6B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3472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A140B6E-8296-46AF-8B59-9F0A8B947E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FA2399-9893-4BCF-A34F-E936905BF2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58139-D0BD-4DDC-9E57-651E42613E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8993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48E40A5-37D7-4575-A1ED-C6B63D763E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6DDCA71-BA22-4B8B-9666-C0AFE4262EC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E1CB1-ECE6-4665-99F4-9CBA5F2E9E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27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9155EAAD-7525-4F02-8129-7AC96ED2EF9E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3832D439-132D-4FE7-8827-D86F9355CBB8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D0726C69-0E6C-4EC4-BA4B-CFFC083527F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499506E3-01C4-4959-B464-5DE576A93B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6C9FE6D1-A557-40F7-9D76-558C43F65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26CB1A9-EDD1-480E-B42B-BC0EE05ECC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58B84FF-CA13-4BAC-9A80-F57E2699967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 smtClean="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99D8B7BC-8536-4E77-89F0-4882F0E1D6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5430AE00-54BF-4E24-B718-81A19BC69A92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CC640347-DC77-4693-94E0-D0AE8BC8F18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58483989-2A47-4F62-87E0-4966D35851B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B7BEC2EC-6310-4F41-BA8F-827DB788D32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CB1018AF-07D1-435E-9C8E-BD3CAF73C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5" r:id="rId2"/>
    <p:sldLayoutId id="2147483796" r:id="rId3"/>
    <p:sldLayoutId id="2147483797" r:id="rId4"/>
    <p:sldLayoutId id="2147483798" r:id="rId5"/>
    <p:sldLayoutId id="2147483799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L" panose="02020503020101020101"/>
          <a:ea typeface="서울남산 장체 L" panose="02020503020101020101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6226661E-ADEC-47C2-9EDD-E263E1B1B9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25675" y="2625725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Chapter 12. </a:t>
            </a:r>
          </a:p>
          <a:p>
            <a:pPr eaLnBrk="1" hangingPunct="1"/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내부 마케팅 커뮤니케이션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603E8AB1-62C9-4F20-8E37-1AC114BB5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1.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내부 마케팅의 개념 및 의의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A4CB44-4E94-4C45-9A53-3E34DFA79123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3713A4-27C6-422D-9EAF-2982D2F53A6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C0C27824-EA7F-4C1F-AF4B-EA679ED99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내부 마케팅의 개념 및 의의</a:t>
            </a:r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882481D9-60BA-4132-8281-6BF73F4FD1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0685462" cy="5248275"/>
          </a:xfrm>
        </p:spPr>
        <p:txBody>
          <a:bodyPr/>
          <a:lstStyle/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직원이 직무에 만족할 수 있도록 직무 환경을 조성해 주고 종사원이 고객 지향적인 인식과 태도를 갖도록 동기 부여하고 계발해 주는 모든 활동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내부고객인 종사원의 욕구 충족이 외부고객에게 제공되는 서비스 품질의 개선으로 이어짐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궁극적으로 외부고객 만족이라는 서비스 마케팅의 목표를 달성할 수 있게 됨</a:t>
            </a:r>
          </a:p>
        </p:txBody>
      </p:sp>
      <p:pic>
        <p:nvPicPr>
          <p:cNvPr id="7172" name="그림 1">
            <a:extLst>
              <a:ext uri="{FF2B5EF4-FFF2-40B4-BE49-F238E27FC236}">
                <a16:creationId xmlns:a16="http://schemas.microsoft.com/office/drawing/2014/main" id="{581EE7C6-0309-4F5E-B3DA-8A9889CBA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0" y="3643313"/>
            <a:ext cx="6415088" cy="290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텍스트 개체 틀 3">
            <a:extLst>
              <a:ext uri="{FF2B5EF4-FFF2-40B4-BE49-F238E27FC236}">
                <a16:creationId xmlns:a16="http://schemas.microsoft.com/office/drawing/2014/main" id="{BBE7A7E2-5E90-4411-B1DA-F1DCB78A6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2.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내부 마케팅의 중요성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1796DF-AE18-4C6E-8BD6-06AB7BD41A82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5341C0-65ED-4348-8121-C5527E61B984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129C0E68-5A03-4B5A-AA41-4E7802F891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고객 만족을 위한 서비스 직원의 중요성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8E336194-B420-4F57-9202-A5D8494CF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464800" cy="5248275"/>
          </a:xfrm>
        </p:spPr>
        <p:txBody>
          <a:bodyPr/>
          <a:lstStyle/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직원의 고객 지향적 행동은 고객이 서비스 품질에 대해 긍정적으로 평가하도록 함 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직원의 외모나 복장은 서비스 품질의 유형성에서 중요하므로 서비스 직원은 고객의    서비스 품질 인식에 직접적 영향을 미침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외식 서비스 직원의 만족을 통하여 외부고객의 만족을 추구할 수 있음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직원은 외식업체가 제공하는 상품의 차별화를 만들어주고 상품의 가치를 높여 고객의  반복 구매를 유도하여 매우 중요함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표준에 따라 서비스 직원의 핵심적인 역할을 효과적으로 수행하여 고객에게 서비스가  전달될 수  있도록 하기 위해</a:t>
            </a:r>
            <a:r>
              <a:rPr lang="en-US" altLang="ko-KR" sz="1800" b="1" dirty="0"/>
              <a:t>,</a:t>
            </a:r>
            <a:r>
              <a:rPr lang="ko-KR" altLang="en-US" sz="1800" b="1" dirty="0"/>
              <a:t> 레스토랑은 현장 서비스 직원들을 대상으로 하는 내부 마케팅    전략을 수립하여야 함</a:t>
            </a: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b="1" dirty="0">
              <a:ea typeface="서울남산 장체 L" panose="02020503020101020101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B30F1D72-BAAE-4915-AA8D-15A5D612BB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브랜드로서 서비스 직원의 중요성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450D21AA-A5E5-4750-B690-E00404290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366838"/>
            <a:ext cx="9648825" cy="5248275"/>
          </a:xfrm>
        </p:spPr>
        <p:txBody>
          <a:bodyPr/>
          <a:lstStyle/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직원이 하나의 상품으로서 외식업체의 서비스를 유형화할 뿐만 아니라 마케팅 활동을 수행함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외식업체의 이미지는 서비스 접점 과정에서 서비스 직원과의 상호작용에 의해 형성됨 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기업의 브랜드 이미지는 제품의 광고 뿐만 아니라 일하는 직원들에 의해서도 형성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기업은 직원을 자사의 브랜드라고 간주하며</a:t>
            </a:r>
            <a:r>
              <a:rPr lang="en-US" altLang="ko-KR" sz="1800" b="1" dirty="0"/>
              <a:t>,</a:t>
            </a:r>
            <a:r>
              <a:rPr lang="ko-KR" altLang="en-US" sz="1800" b="1" dirty="0"/>
              <a:t> 직원 역시 각자가 고객 마음에 자사 브랜드 이미지를 구축하려고 노력해야 함 </a:t>
            </a:r>
            <a:endParaRPr lang="en-US" altLang="ko-KR" sz="1800" b="1" dirty="0"/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텍스트 개체 틀 3">
            <a:extLst>
              <a:ext uri="{FF2B5EF4-FFF2-40B4-BE49-F238E27FC236}">
                <a16:creationId xmlns:a16="http://schemas.microsoft.com/office/drawing/2014/main" id="{372BCE6E-EB89-4533-89B1-47CA9DEDB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3.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서비스 문화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BF611F5-3E09-430B-83BE-F9697094FC2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9C9ED4-6F0B-418B-A25A-48C09FFD9E5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FF3F5F11-B461-494F-95B5-A4CC68353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서비스 문화의 중요성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BA9B5D5E-0719-43F0-8380-C8F5B76B8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534633" cy="5248275"/>
          </a:xfrm>
        </p:spPr>
        <p:txBody>
          <a:bodyPr/>
          <a:lstStyle/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>
                <a:solidFill>
                  <a:schemeClr val="tx2">
                    <a:lumMod val="50000"/>
                  </a:schemeClr>
                </a:solidFill>
              </a:rPr>
              <a:t>서비스 문화</a:t>
            </a:r>
            <a:r>
              <a:rPr lang="en-US" altLang="ko-KR" sz="1800" b="1" dirty="0">
                <a:solidFill>
                  <a:schemeClr val="tx2">
                    <a:lumMod val="50000"/>
                  </a:schemeClr>
                </a:solidFill>
              </a:rPr>
              <a:t>: </a:t>
            </a:r>
            <a:r>
              <a:rPr lang="ko-KR" altLang="en-US" sz="1800" b="1" dirty="0">
                <a:solidFill>
                  <a:schemeClr val="tx2">
                    <a:lumMod val="50000"/>
                  </a:schemeClr>
                </a:solidFill>
              </a:rPr>
              <a:t>조직의 모든 구성원이 외부고객뿐만 아니라 내부고객에게 좋은 서비스를 제공하는 것을 중요한 규범이자 자연스러운 생활 방식으로 여기는 문화 </a:t>
            </a:r>
            <a:endParaRPr lang="en-US" altLang="ko-KR" sz="1800" b="1" dirty="0">
              <a:solidFill>
                <a:schemeClr val="tx2">
                  <a:lumMod val="50000"/>
                </a:schemeClr>
              </a:solidFill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직원들이 서비스 마인드를 가지고 고객 지향적으로 행동하게 하고 다른 직원들도 함께  이들을 지원하게 하려면 서비스 문화 구축 필요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강력한 서비스 문화를 구축하고 있다면 모든 직원을 직접적으로 통제하지 않고도 직원에게 고객 지향적인 사고를 갖도록 하여 좋은 서비스를 제공할 수 있음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문화를 갖추고 있다</a:t>
            </a:r>
            <a:r>
              <a:rPr lang="en-US" altLang="ko-KR" sz="1800" b="1" dirty="0"/>
              <a:t>:</a:t>
            </a:r>
            <a:r>
              <a:rPr lang="ko-KR" altLang="en-US" sz="1800" b="1" dirty="0"/>
              <a:t> 직원들이 서비스 지향적인 특징을 가지고 있음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지향성</a:t>
            </a:r>
            <a:r>
              <a:rPr lang="en-US" altLang="ko-KR" sz="1800" b="1" dirty="0"/>
              <a:t>: </a:t>
            </a:r>
            <a:r>
              <a:rPr lang="ko-KR" altLang="en-US" sz="1800" b="1" dirty="0"/>
              <a:t>직원들이 고객에 대해 보다 많은 관심을 보이고 보다 유연하게 대응하여 고객의 요구에 적절하게 반응하려고 하는 것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서비스 지향성은 직원들과 고객 간의 상호작용에서 고객의 서비스 품질에 대한 지각을 높게 해주고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향상된 서비스 품질의 인식은 외식기업의 수익성으로 연결</a:t>
            </a:r>
            <a:endParaRPr lang="ko-KR" altLang="en-US" sz="1800" b="1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17014530-37A2-469D-8EA2-37584F92F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서비스 문화의 창조 및 유지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E367AB85-FE95-4F4F-8E63-CA55499AE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460037" cy="5248275"/>
          </a:xfrm>
        </p:spPr>
        <p:txBody>
          <a:bodyPr/>
          <a:lstStyle/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내부 마케팅 실천과 강력한 서비스 문화 구축을 위해 상위 경영자의 지원과 함께 모든 직원들이 적극적으로 참여하도록 유도해야 함 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모든 관리자들이 외식기업의 사명뿐만 아니라 메뉴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서비스 및 마케팅 커뮤니케이션을 이해하고 서비스 지향적인 관리 및 리더십교육 프로그램을 개발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/>
              <a:t>직원들에게 고객 지향적인 커뮤니케이션과 상호작용 기술을 교육시키고 지속적으로 정보와     피드백 전달</a:t>
            </a:r>
            <a:endParaRPr lang="en-US" altLang="ko-KR" sz="1800" b="1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텍스트 개체 틀 3">
            <a:extLst>
              <a:ext uri="{FF2B5EF4-FFF2-40B4-BE49-F238E27FC236}">
                <a16:creationId xmlns:a16="http://schemas.microsoft.com/office/drawing/2014/main" id="{C451CE58-5455-4F76-98AC-C540B55727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4.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서비스 직원의 감정노동과 갈등 관리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D216166-2930-4B91-A21E-CB1489B56361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C513B6-AABD-4098-A358-B685A8C6F8A6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0A4E1A58-0D55-4E54-8EAC-8B6661DEC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감정노동의 관리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667B49E4-674A-48B6-9389-1B3B933C2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661650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감정노동</a:t>
            </a:r>
            <a:r>
              <a:rPr lang="en-US" altLang="ko-KR" sz="1800" dirty="0"/>
              <a:t>: </a:t>
            </a:r>
            <a:r>
              <a:rPr lang="ko-KR" altLang="en-US" sz="1800" dirty="0"/>
              <a:t>고객과의 직접적 상호작용과 관련된 직무에서 조직이 요구하는 감정을 만들어내기 위해 자신의 어조</a:t>
            </a:r>
            <a:r>
              <a:rPr lang="en-US" altLang="ko-KR" sz="1800" dirty="0"/>
              <a:t>, </a:t>
            </a:r>
            <a:r>
              <a:rPr lang="ko-KR" altLang="en-US" sz="1800" dirty="0"/>
              <a:t>표정</a:t>
            </a:r>
            <a:r>
              <a:rPr lang="en-US" altLang="ko-KR" sz="1800" dirty="0"/>
              <a:t>, </a:t>
            </a:r>
            <a:r>
              <a:rPr lang="ko-KR" altLang="en-US" sz="1800" dirty="0"/>
              <a:t>몸짓 등을 조절하려는 노력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직원의 적절한 감정 표현은 서비스 품질과 고객 충성도에 긍정적으로 영향을 미치며 잘못된 감정 표현은 고객 불만의 원인이 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정신적</a:t>
            </a:r>
            <a:r>
              <a:rPr lang="en-US" altLang="ko-KR" sz="1800" dirty="0"/>
              <a:t>/</a:t>
            </a:r>
            <a:r>
              <a:rPr lang="ko-KR" altLang="en-US" sz="1800" dirty="0"/>
              <a:t>육체적으로 피로한 직원이 업무나 고객에 대한 관심이 저하되어 고객에게 무례한  태도를 보이고 기계적으로 일을 처리한다면 서비스에 대해 불만족하게 되고 외식업체의 이미지에 큰 타격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관리자는 직원의 감정적 스트레스 원인을 파악하고 그에 알맞은 관리 통제를 통해 미리 예방할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8BC4F1DD-8E69-4A58-97C1-D84220308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갈등 관리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92FFEBD8-892C-4315-96F9-D5B37C23E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631487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직원의 개인</a:t>
            </a:r>
            <a:r>
              <a:rPr lang="en-US" altLang="ko-KR" sz="1800" dirty="0"/>
              <a:t>-</a:t>
            </a:r>
            <a:r>
              <a:rPr lang="ko-KR" altLang="en-US" sz="1800" dirty="0"/>
              <a:t>역할 갈등</a:t>
            </a:r>
            <a:r>
              <a:rPr lang="en-US" altLang="ko-KR" sz="1800" dirty="0"/>
              <a:t>(</a:t>
            </a:r>
            <a:r>
              <a:rPr lang="ko-KR" altLang="en-US" sz="1800" dirty="0"/>
              <a:t>역할의 모호성</a:t>
            </a:r>
            <a:r>
              <a:rPr lang="en-US" altLang="ko-KR" sz="1800" dirty="0"/>
              <a:t>)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직무에 따른 요구와 직원 자신의 성격</a:t>
            </a:r>
            <a:r>
              <a:rPr lang="en-US" altLang="ko-KR" sz="1800" dirty="0"/>
              <a:t>, </a:t>
            </a:r>
            <a:r>
              <a:rPr lang="ko-KR" altLang="en-US" sz="1800" dirty="0"/>
              <a:t>신념</a:t>
            </a:r>
            <a:r>
              <a:rPr lang="en-US" altLang="ko-KR" sz="1800" dirty="0"/>
              <a:t>, </a:t>
            </a:r>
            <a:r>
              <a:rPr lang="ko-KR" altLang="en-US" sz="1800" dirty="0"/>
              <a:t>가치관 사이에서 느끼는 갈등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개인</a:t>
            </a:r>
            <a:r>
              <a:rPr lang="en-US" altLang="ko-KR" sz="1800" dirty="0"/>
              <a:t>-</a:t>
            </a:r>
            <a:r>
              <a:rPr lang="ko-KR" altLang="en-US" sz="1800" dirty="0"/>
              <a:t>역할 갈등을 줄이기 위해 채용 단계에서 직무 역할에 적합한 지원자를 고용해야 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직원의 역할에 대한 정의와 과업이 명확하도록 상급자가 업무에 대해 정확한 지침을 주어야 함</a:t>
            </a:r>
            <a:r>
              <a:rPr lang="en-US" altLang="ko-KR" sz="1800" dirty="0"/>
              <a:t>. 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하향적 의사소통</a:t>
            </a:r>
            <a:r>
              <a:rPr lang="en-US" altLang="ko-KR" sz="1800" dirty="0"/>
              <a:t>, </a:t>
            </a:r>
            <a:r>
              <a:rPr lang="ko-KR" altLang="en-US" sz="1800" dirty="0"/>
              <a:t>교육 훈련 등을 통하여 역할 명료성을 확립해야 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직원이 직무에 적합하지 않기 때문에 서비스 품질 문제가 발생하므로 직원</a:t>
            </a:r>
            <a:r>
              <a:rPr lang="en-US" altLang="ko-KR" sz="1800" dirty="0"/>
              <a:t>-</a:t>
            </a:r>
            <a:r>
              <a:rPr lang="ko-KR" altLang="en-US" sz="1800" dirty="0"/>
              <a:t>직무 간 적합성을 높여야 함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048456CA-17CD-4BBF-8F92-7657E8B47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갈등 관리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9BDB4695-7A56-4228-AAB4-411828881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638328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dirty="0"/>
              <a:t>조직</a:t>
            </a:r>
            <a:r>
              <a:rPr lang="en-US" altLang="ko-KR" sz="2000" dirty="0"/>
              <a:t>-</a:t>
            </a:r>
            <a:r>
              <a:rPr lang="ko-KR" altLang="en-US" sz="2000" dirty="0"/>
              <a:t>고객 갈등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조직과 고객 사이에서 겪는 갈등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고객 중심적인 서비스 산업에서 가장 일반적으로 나타나는 갈등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직원이 속한 조직이 정책적인 면에서 옳지 않다고 믿고 있거나 고객의 요구를 수용하고 직무를   잃어버릴 위험을 감수해야 할 때 또는 그 정책을 따라야 할지 결정해야 할 때 조직</a:t>
            </a:r>
            <a:r>
              <a:rPr lang="en-US" altLang="ko-KR" sz="1800" dirty="0"/>
              <a:t>-</a:t>
            </a:r>
            <a:r>
              <a:rPr lang="ko-KR" altLang="en-US" sz="1800" dirty="0"/>
              <a:t>고객 갈등이  가장 커짐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조직</a:t>
            </a:r>
            <a:r>
              <a:rPr lang="en-US" altLang="ko-KR" sz="1800" dirty="0"/>
              <a:t>-</a:t>
            </a:r>
            <a:r>
              <a:rPr lang="ko-KR" altLang="en-US" sz="1800" dirty="0"/>
              <a:t>고객 갈등을 줄이기 위해 직원에게 기업의 방침과 목표를 명확하게 이해시켜 갈등을 협상할 수 있는 권한을 주고 직원의 결정을 지지해야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CA13D7DA-5BDD-464B-AC5B-8DD57B42A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갈등 관리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C1026345-E083-47DD-8A57-4C88B559F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647755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2000" dirty="0"/>
              <a:t>고객간 갈등</a:t>
            </a:r>
            <a:endParaRPr lang="en-US" altLang="ko-KR" sz="20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두 명 이상의 고객으로부터 서비스 요구를 받지만 공평하게 고객 모두를 만족시킬 수 없을 때 겪는 갈등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동시에 많은 고객에게 서비스 하는 경우</a:t>
            </a:r>
            <a:r>
              <a:rPr lang="en-US" altLang="ko-KR" sz="1800" dirty="0"/>
              <a:t>, </a:t>
            </a:r>
            <a:r>
              <a:rPr lang="ko-KR" altLang="en-US" sz="1800" dirty="0"/>
              <a:t>상이한 고객들로 구성된 집단의 욕구 전체를 충족시킨다는 것이 매우 어렵거나 불가능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기업은 직원에게 만족스러운 서비스를 제공해야 하는 효과성과 동시에 정해진 시간 내에 비용을 절감하면서 서비스를 제공하는 효율성 모두 요구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품질과 생산성 또는 효과성과 효율성 사이의 필연적인 상쇄 관계</a:t>
            </a:r>
            <a:r>
              <a:rPr lang="en-US" altLang="ko-KR" sz="1600" dirty="0"/>
              <a:t>quality/productivity</a:t>
            </a:r>
            <a:r>
              <a:rPr lang="ko-KR" altLang="en-US" sz="1800" dirty="0"/>
              <a:t>는 서비스 직원을 압박하여 갈등 유발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텍스트 개체 틀 3">
            <a:extLst>
              <a:ext uri="{FF2B5EF4-FFF2-40B4-BE49-F238E27FC236}">
                <a16:creationId xmlns:a16="http://schemas.microsoft.com/office/drawing/2014/main" id="{F46F125E-BD1F-41E1-BE0B-BDAE24271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5. 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내부 마케팅 실천 전략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F4A139-D20E-415A-ADFC-3157A5143428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3B5E74-04D1-4E1A-88E1-6A6F7B2787EE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1B89AC44-87F4-4E31-90B0-59D065E4D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94742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서비스 역량과 서비스 성향을 갖춘 적합한 인재 채용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6987895B-E8B2-4264-9148-B953FB3F4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628901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역량</a:t>
            </a:r>
            <a:r>
              <a:rPr lang="en-US" altLang="ko-KR" sz="1800" dirty="0"/>
              <a:t>: </a:t>
            </a:r>
            <a:r>
              <a:rPr lang="ko-KR" altLang="en-US" sz="1800" dirty="0"/>
              <a:t>직무를 수행하는 데 필요한 스킬 및 지식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성향</a:t>
            </a:r>
            <a:r>
              <a:rPr lang="en-US" altLang="ko-KR" sz="1800" dirty="0"/>
              <a:t>: </a:t>
            </a:r>
            <a:r>
              <a:rPr lang="ko-KR" altLang="en-US" sz="1800" dirty="0"/>
              <a:t>서비스 업무 수행에 대한 관심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서비스의 신뢰성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공감성</a:t>
            </a:r>
            <a:r>
              <a:rPr lang="en-US" altLang="ko-KR" sz="1800" dirty="0"/>
              <a:t>, </a:t>
            </a:r>
            <a:r>
              <a:rPr lang="ko-KR" altLang="en-US" sz="1800" dirty="0"/>
              <a:t>응답성을 고려할 때 직원의 서비스에 대한 태도는 서비스에 필요한 스킬과 함께 중요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고객과 직접 접촉하는 직원과 지원하는 직원들의 존재 자체가 하나의 마케팅일 수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직원의 역할에 대한 이해를 바탕으로 한 직무 정의가 필요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채용 절차</a:t>
            </a:r>
            <a:r>
              <a:rPr lang="en-US" altLang="ko-KR" sz="1800" dirty="0"/>
              <a:t>, </a:t>
            </a:r>
            <a:r>
              <a:rPr lang="ko-KR" altLang="en-US" sz="1800" dirty="0"/>
              <a:t>경력 개발</a:t>
            </a:r>
            <a:r>
              <a:rPr lang="en-US" altLang="ko-KR" sz="1800" dirty="0"/>
              <a:t>, </a:t>
            </a:r>
            <a:r>
              <a:rPr lang="ko-KR" altLang="en-US" sz="1800" dirty="0"/>
              <a:t>임금</a:t>
            </a:r>
            <a:r>
              <a:rPr lang="en-US" altLang="ko-KR" sz="1800" dirty="0"/>
              <a:t>, </a:t>
            </a:r>
            <a:r>
              <a:rPr lang="ko-KR" altLang="en-US" sz="1800" dirty="0"/>
              <a:t>보너스 체계</a:t>
            </a:r>
            <a:r>
              <a:rPr lang="en-US" altLang="ko-KR" sz="1800" dirty="0"/>
              <a:t>, </a:t>
            </a:r>
            <a:r>
              <a:rPr lang="ko-KR" altLang="en-US" sz="1800" dirty="0"/>
              <a:t>인센티브 제도 등이 내부 마케팅의 취지에 맞게 사전에 설계되어야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직원들에게 다양한 훈련 기회</a:t>
            </a:r>
            <a:r>
              <a:rPr lang="en-US" altLang="ko-KR" sz="1800" dirty="0"/>
              <a:t>, </a:t>
            </a:r>
            <a:r>
              <a:rPr lang="ko-KR" altLang="en-US" sz="1800" dirty="0"/>
              <a:t>승진기회 등 매력적인 보상 계획을 제공하고 직원에게 자부심을 느끼게 해줄 수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433FEB61-AA5E-4ED5-8163-D67311AFB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 직원의 교육 훈련 및 경력 개발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47832A6A-02C6-4AD6-894A-D8B60128F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222790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종사원에 대한 지속적인 훈련은 조직에 대한 충성심을 길러주고 역할 모호성이 감소되어 직무에  대한 자신감과 만족을 느끼게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교육과 훈련은 현재의 직무에서 필요한 역량과 태도를 배양하고 동기 유발을 촉진 시킬 수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전략을 이해하고 다른 직원과 고객과의 관계에 있어서 자신의 역할을 인식하며 마케팅 지향적인 태도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직원들의 커뮤니케이션</a:t>
            </a:r>
            <a:r>
              <a:rPr lang="en-US" altLang="ko-KR" sz="1800" dirty="0"/>
              <a:t>, </a:t>
            </a:r>
            <a:r>
              <a:rPr lang="ko-KR" altLang="en-US" sz="1800" dirty="0"/>
              <a:t>판매</a:t>
            </a:r>
            <a:r>
              <a:rPr lang="en-US" altLang="ko-KR" sz="1800" dirty="0"/>
              <a:t>, </a:t>
            </a:r>
            <a:r>
              <a:rPr lang="ko-KR" altLang="en-US" sz="1800" dirty="0"/>
              <a:t>서비스 기술 교육 프로그램을 개발해야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직원의 능력을 개발하기 위한 교육과 훈련은 직원의 업무 숙련도와 고객 접촉 정도에 따라 세분화할 수 있음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>
                <a:ea typeface="서울남산 장체 L" panose="02020503020101020101"/>
              </a:rPr>
              <a:t>업무 숙련도가 낮은 종업원</a:t>
            </a:r>
            <a:r>
              <a:rPr lang="en-US" altLang="ko-KR" sz="1800" b="1" dirty="0">
                <a:ea typeface="서울남산 장체 L" panose="02020503020101020101"/>
              </a:rPr>
              <a:t>: </a:t>
            </a:r>
            <a:r>
              <a:rPr lang="ko-KR" altLang="en-US" sz="1800" b="1" dirty="0">
                <a:ea typeface="서울남산 장체 L" panose="02020503020101020101"/>
              </a:rPr>
              <a:t>서비스 표준화와 매뉴얼 숙지에 대한 훈련</a:t>
            </a:r>
            <a:endParaRPr lang="en-US" altLang="ko-KR" sz="1800" b="1" dirty="0">
              <a:ea typeface="서울남산 장체 L" panose="02020503020101020101"/>
            </a:endParaRPr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/>
            </a:pPr>
            <a:r>
              <a:rPr lang="ko-KR" altLang="en-US" sz="1800" b="1" dirty="0">
                <a:ea typeface="서울남산 장체 L" panose="02020503020101020101"/>
              </a:rPr>
              <a:t>업무가 숙련된 종업원</a:t>
            </a:r>
            <a:r>
              <a:rPr lang="en-US" altLang="ko-KR" sz="1800" b="1" dirty="0">
                <a:ea typeface="서울남산 장체 L" panose="02020503020101020101"/>
              </a:rPr>
              <a:t>: </a:t>
            </a:r>
            <a:r>
              <a:rPr lang="ko-KR" altLang="en-US" sz="1800" b="1" dirty="0">
                <a:ea typeface="서울남산 장체 L" panose="02020503020101020101"/>
              </a:rPr>
              <a:t>권한 위임을 하여 스스로 목표관리를 하게 함</a:t>
            </a:r>
            <a:endParaRPr lang="en-US" altLang="ko-KR" sz="1800" b="1" dirty="0">
              <a:ea typeface="서울남산 장체 L" panose="02020503020101020101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0AF7BA82-FF42-40ED-9479-4663BC32C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서비스 직원의 교육 훈련 및 경력 개발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5E84F7D0-962D-4429-9E93-71A5238EF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961812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pic>
        <p:nvPicPr>
          <p:cNvPr id="34820" name="그림 2">
            <a:extLst>
              <a:ext uri="{FF2B5EF4-FFF2-40B4-BE49-F238E27FC236}">
                <a16:creationId xmlns:a16="http://schemas.microsoft.com/office/drawing/2014/main" id="{F941A216-9FAA-4900-BCBD-47A13BAB9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513" y="1504950"/>
            <a:ext cx="5778500" cy="478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E5C83E17-C51B-4D24-9C9E-74B0E3353F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내부 커뮤니케이션의 활성화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14245E5A-E99D-4D18-A005-8717E1D6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298963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내부 마케팅 프로그램을 효율적으로 운영하기 위해서는 상위 경영자와 감독자의 역할이 매우 중요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상위 경영자는 직원의 태도와 의지</a:t>
            </a:r>
            <a:r>
              <a:rPr lang="en-US" altLang="ko-KR" sz="1800" dirty="0"/>
              <a:t>, </a:t>
            </a:r>
            <a:r>
              <a:rPr lang="ko-KR" altLang="en-US" sz="1800" dirty="0"/>
              <a:t>능력을 파악하고 서비스 전달에 대한 직원의 경험과 의견을  청취하며 이를 유도할 필요가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계획과 의사 결정에서 직원들의 공식적 또는 비공식적인 피드백을 받아 쌍방향 커뮤니케이션이  이루어져야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CCBD949F-A49E-43C4-AD78-3F57241F5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내부 커뮤니케이션의 활성화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35F3FFDF-A170-4893-91F8-B031A8B58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510837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  <a:defRPr/>
            </a:pPr>
            <a:r>
              <a:rPr lang="ko-KR" altLang="en-US" sz="1800" dirty="0"/>
              <a:t>효과적인 수직적 커뮤니케이션 창출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수직적 커뮤니케이션</a:t>
            </a:r>
            <a:r>
              <a:rPr lang="en-US" altLang="ko-KR" sz="1800" dirty="0"/>
              <a:t>: </a:t>
            </a:r>
            <a:r>
              <a:rPr lang="ko-KR" altLang="en-US" sz="1800" dirty="0"/>
              <a:t>관리자로부터 종사원으로 내려가는 하향적 커뮤니케이션과 종사원으로부터 관리자로 올라가는 상향적 커뮤니케이션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외식업체는 하향적 커뮤니케이션을 통해 서비스 종사원들에게 서비스 전달을 위한 정보</a:t>
            </a:r>
            <a:r>
              <a:rPr lang="en-US" altLang="ko-KR" sz="1800" dirty="0"/>
              <a:t>, </a:t>
            </a:r>
            <a:r>
              <a:rPr lang="ko-KR" altLang="en-US" sz="1800" dirty="0"/>
              <a:t>도구 및 기술 제공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고객과 직접 만나는 서비스 종사원들은 서비스 실패 발생 원인에 대해 잘 알기 때문에 그들이    새로운 아이디어를 제안하도록 상향적 커뮤니케이션이 활성화함 </a:t>
            </a:r>
            <a:r>
              <a:rPr lang="en-US" altLang="ko-KR" sz="1800" dirty="0">
                <a:sym typeface="Wingdings" panose="05000000000000000000" pitchFamily="2" charset="2"/>
              </a:rPr>
              <a:t> </a:t>
            </a:r>
            <a:r>
              <a:rPr lang="ko-KR" altLang="en-US" sz="1800" dirty="0"/>
              <a:t>서비스 실패를 미연에 방지할 수 있고 서비스 약속과 서비스 전달 간의 간격을 좁히는 데 도움이 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2E36978B-96AD-4F7B-AE2D-FD2B2B652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내부 커뮤니케이션의 활성화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703E6E49-8E1D-42D1-B1D8-5345197A7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1904662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  <p:pic>
        <p:nvPicPr>
          <p:cNvPr id="40964" name="그림 1">
            <a:extLst>
              <a:ext uri="{FF2B5EF4-FFF2-40B4-BE49-F238E27FC236}">
                <a16:creationId xmlns:a16="http://schemas.microsoft.com/office/drawing/2014/main" id="{05ECB537-A9CA-4F97-85FC-2A3724566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13" y="2035175"/>
            <a:ext cx="7169150" cy="372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0C9ACB8E-99C1-41E2-8F8F-7A8F709C7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내부 커뮤니케이션의 활성화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1EB406B8-4FBD-40A6-87B4-591375C6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38" y="1228725"/>
            <a:ext cx="10639425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(2) </a:t>
            </a:r>
            <a:r>
              <a:rPr lang="ko-KR" altLang="en-US" sz="1800" dirty="0"/>
              <a:t>효과적인 수평적 커뮤니케이션 창출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수평적 커뮤니케이션은 외식업체 내에 개방적이고 지원적인 내부 분위기가 형성 되어서 고객의     기대와 실제 서비스 전달 간의 격차를 줄여 주는 데 효과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수평적 커뮤니케이션을 위해서 서비스 종사원이 업무 수행 시 다른 서비스 종사원의 서비스 내용을 인식하고 잘못된 서비스 방식에 대한 의견을 제시하며 종사원들 간에 조정을 통해 실수를 미연에 방지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부서 간 수평적 커뮤니케이션을 증대시키기 위한 방안</a:t>
            </a:r>
            <a:r>
              <a:rPr lang="en-US" altLang="ko-KR" sz="1800" dirty="0"/>
              <a:t>: </a:t>
            </a:r>
            <a:r>
              <a:rPr lang="ko-KR" altLang="en-US" sz="1800" dirty="0"/>
              <a:t>교차 </a:t>
            </a:r>
            <a:r>
              <a:rPr lang="ko-KR" altLang="en-US" sz="1800" dirty="0" err="1"/>
              <a:t>기능팀</a:t>
            </a:r>
            <a:r>
              <a:rPr lang="ko-KR" altLang="en-US" sz="1800" dirty="0"/>
              <a:t> 구성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교차 </a:t>
            </a:r>
            <a:r>
              <a:rPr lang="ko-KR" altLang="en-US" sz="1800" dirty="0" err="1"/>
              <a:t>기능팀</a:t>
            </a:r>
            <a:r>
              <a:rPr lang="en-US" altLang="ko-KR" sz="1800" dirty="0"/>
              <a:t>: </a:t>
            </a:r>
            <a:r>
              <a:rPr lang="ko-KR" altLang="en-US" sz="1800" dirty="0"/>
              <a:t>여러 부서에서 사람들을 차출하여 고객들의 욕구를 파악하고</a:t>
            </a:r>
            <a:r>
              <a:rPr lang="en-US" altLang="ko-KR" sz="1800" dirty="0"/>
              <a:t>, </a:t>
            </a:r>
            <a:r>
              <a:rPr lang="ko-KR" altLang="en-US" sz="1800" dirty="0"/>
              <a:t>이에 따라 본인이 속한 부서에서 해야 할 일에 대해 인지하도록 해야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>
            <a:extLst>
              <a:ext uri="{FF2B5EF4-FFF2-40B4-BE49-F238E27FC236}">
                <a16:creationId xmlns:a16="http://schemas.microsoft.com/office/drawing/2014/main" id="{E5D1359D-6B97-4167-88F9-9ABDC6B7FE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4) </a:t>
            </a:r>
            <a:r>
              <a:rPr lang="ko-KR" altLang="en-US"/>
              <a:t>권한 위임과 팀워크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8EDD0C46-B4C6-4D28-926B-B991DC5C8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488" y="1228725"/>
            <a:ext cx="10755312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외식업체는 적임자를 직원으로 선발하고 능력 개발을 위한 교육과 필요한 지원 시스템을 갖추는 것이 필요함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레스토랑 방문고객의 즉각적인 요구에 대응하거나 서비스 실패가 발생했을 때 빠른 시정 조치를 할 수 있도록 직원에게 권한 위임이 필요함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생산과 소비가 동시에 일어나는 서비스의 특성으로 인해 고객과 직접 접촉하는 서비스 직원들에게 일정한 범위 내에서 권한과 책임을 부여해야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권한 행사를 위해 필요한 의사 결정을 할 수 있는 지식과 수단을 교육과 훈련을 통해 제공해야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단계별로 진행되는 서비스 프로세스에 참여하는 모든 직원들의 팀워크가 좋아야 전체 서비스 운영이 효율적으로 되고 고객 만족이 높아짐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동료 의식과 동료의 지원은 탁월한 서비스를 제공하려는 성향을 강화하고 서비스 조직의 팀워크를 촉진시킴으로써 직원의 서비스 제공 능력도 강화될 수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>
            <a:extLst>
              <a:ext uri="{FF2B5EF4-FFF2-40B4-BE49-F238E27FC236}">
                <a16:creationId xmlns:a16="http://schemas.microsoft.com/office/drawing/2014/main" id="{EAE8BB81-9E8C-461B-8A70-27E0AB46D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5) </a:t>
            </a:r>
            <a:r>
              <a:rPr lang="ko-KR" altLang="en-US"/>
              <a:t>우수한 직원 유지를 위한 보상과 동기 부여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F4507B11-4C53-4933-8D4F-4433FB6E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38" y="1274763"/>
            <a:ext cx="10544175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외부고객을 잘 응대할 수 있는 능력을 지닌 종사원을 확보하고 유지하여 외부고객들을 만족시킬 수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직원 모두가 고객에게 만족을 제공할 수 있는 하나의 팀으로서 업무를 수행하도록 동기 부여함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체계적인 경력 개발할 수 있는 조직 내 환경을 조성하여 우수한 직원들에게 동기 부여함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기업은 회사의 비전 수립에 우수한 직원이 참여하도록 하거나 내부고객으로 대우하고 우수 직원에 대한 보상이 주어져야 함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내부고객인 직원들의 동기 부여 요인과 만족 요인을 이해하고 세분화하여 보상 프로그램을 개발할 필요가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직원이 자신의 직무를 통해 적절한 경제적 보상과 경력 개발에 대 한 기대감을 가지도록 하여 이직율과 결근율을 낮추고 생산성을 높일 수 있음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서울남산 장체 M" panose="02020503020101020101" pitchFamily="18" charset="-127"/>
              <a:buChar char="◦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>
            <a:extLst>
              <a:ext uri="{FF2B5EF4-FFF2-40B4-BE49-F238E27FC236}">
                <a16:creationId xmlns:a16="http://schemas.microsoft.com/office/drawing/2014/main" id="{EFD355EC-352E-4388-905F-003B04FC7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5) </a:t>
            </a:r>
            <a:r>
              <a:rPr lang="ko-KR" altLang="en-US"/>
              <a:t>우수한 직원 유지를 위한 보상과 동기 부여</a:t>
            </a:r>
          </a:p>
        </p:txBody>
      </p:sp>
      <p:pic>
        <p:nvPicPr>
          <p:cNvPr id="49155" name="그림 4">
            <a:extLst>
              <a:ext uri="{FF2B5EF4-FFF2-40B4-BE49-F238E27FC236}">
                <a16:creationId xmlns:a16="http://schemas.microsoft.com/office/drawing/2014/main" id="{4B25D13A-CF62-4F42-9833-799ED8C9A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438" y="1152525"/>
            <a:ext cx="672465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>
            <a:extLst>
              <a:ext uri="{FF2B5EF4-FFF2-40B4-BE49-F238E27FC236}">
                <a16:creationId xmlns:a16="http://schemas.microsoft.com/office/drawing/2014/main" id="{C5BBE287-BB63-4F74-B69A-37566258F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5) </a:t>
            </a:r>
            <a:r>
              <a:rPr lang="ko-KR" altLang="en-US"/>
              <a:t>우수한 직원 유지를 위한 보상과 동기 부여</a:t>
            </a:r>
          </a:p>
        </p:txBody>
      </p:sp>
      <p:pic>
        <p:nvPicPr>
          <p:cNvPr id="51203" name="그림 2">
            <a:extLst>
              <a:ext uri="{FF2B5EF4-FFF2-40B4-BE49-F238E27FC236}">
                <a16:creationId xmlns:a16="http://schemas.microsoft.com/office/drawing/2014/main" id="{18EDF91A-7085-4A9F-A5BF-E82E88AFF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1135063"/>
            <a:ext cx="7673975" cy="534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3280</TotalTime>
  <Words>1411</Words>
  <Application>Microsoft Office PowerPoint</Application>
  <PresentationFormat>와이드스크린</PresentationFormat>
  <Paragraphs>192</Paragraphs>
  <Slides>26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굴림</vt:lpstr>
      <vt:lpstr>서울남산 장체 M</vt:lpstr>
      <vt:lpstr>Arial</vt:lpstr>
      <vt:lpstr>서울남산 장체 EB</vt:lpstr>
      <vt:lpstr>서울한강 장체 L</vt:lpstr>
      <vt:lpstr>맑은 고딕</vt:lpstr>
      <vt:lpstr>Verdana</vt:lpstr>
      <vt:lpstr>서울남산 장체 L</vt:lpstr>
      <vt:lpstr>Wingdings</vt:lpstr>
      <vt:lpstr>sample</vt:lpstr>
      <vt:lpstr>PowerPoint 프레젠테이션</vt:lpstr>
      <vt:lpstr>PowerPoint 프레젠테이션</vt:lpstr>
      <vt:lpstr>1) 내부 마케팅의 개념 및 의의</vt:lpstr>
      <vt:lpstr>PowerPoint 프레젠테이션</vt:lpstr>
      <vt:lpstr>1) 고객 만족을 위한 서비스 직원의 중요성</vt:lpstr>
      <vt:lpstr>2) 브랜드로서 서비스 직원의 중요성</vt:lpstr>
      <vt:lpstr>PowerPoint 프레젠테이션</vt:lpstr>
      <vt:lpstr>1) 서비스 문화의 중요성</vt:lpstr>
      <vt:lpstr>2) 서비스 문화의 창조 및 유지</vt:lpstr>
      <vt:lpstr>PowerPoint 프레젠테이션</vt:lpstr>
      <vt:lpstr>1) 감정노동의 관리</vt:lpstr>
      <vt:lpstr>2) 갈등 관리</vt:lpstr>
      <vt:lpstr>2) 갈등 관리</vt:lpstr>
      <vt:lpstr>2) 갈등 관리</vt:lpstr>
      <vt:lpstr>PowerPoint 프레젠테이션</vt:lpstr>
      <vt:lpstr>1) 서비스 역량과 서비스 성향을 갖춘 적합한 인재 채용</vt:lpstr>
      <vt:lpstr>2) 서비스 직원의 교육 훈련 및 경력 개발</vt:lpstr>
      <vt:lpstr>2) 서비스 직원의 교육 훈련 및 경력 개발</vt:lpstr>
      <vt:lpstr>3) 내부 커뮤니케이션의 활성화</vt:lpstr>
      <vt:lpstr>3) 내부 커뮤니케이션의 활성화</vt:lpstr>
      <vt:lpstr>3) 내부 커뮤니케이션의 활성화</vt:lpstr>
      <vt:lpstr>3) 내부 커뮤니케이션의 활성화</vt:lpstr>
      <vt:lpstr>4) 권한 위임과 팀워크</vt:lpstr>
      <vt:lpstr>5) 우수한 직원 유지를 위한 보상과 동기 부여</vt:lpstr>
      <vt:lpstr>5) 우수한 직원 유지를 위한 보상과 동기 부여</vt:lpstr>
      <vt:lpstr>5) 우수한 직원 유지를 위한 보상과 동기 부여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user</cp:lastModifiedBy>
  <cp:revision>114</cp:revision>
  <dcterms:created xsi:type="dcterms:W3CDTF">2022-02-07T06:24:49Z</dcterms:created>
  <dcterms:modified xsi:type="dcterms:W3CDTF">2022-05-10T13:20:06Z</dcterms:modified>
</cp:coreProperties>
</file>