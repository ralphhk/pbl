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3"/>
  </p:notesMasterIdLst>
  <p:sldIdLst>
    <p:sldId id="278" r:id="rId2"/>
    <p:sldId id="280" r:id="rId3"/>
    <p:sldId id="279" r:id="rId4"/>
    <p:sldId id="292" r:id="rId5"/>
    <p:sldId id="348" r:id="rId6"/>
    <p:sldId id="347" r:id="rId7"/>
    <p:sldId id="316" r:id="rId8"/>
    <p:sldId id="317" r:id="rId9"/>
    <p:sldId id="318" r:id="rId10"/>
    <p:sldId id="320" r:id="rId11"/>
    <p:sldId id="281" r:id="rId12"/>
    <p:sldId id="321" r:id="rId13"/>
    <p:sldId id="323" r:id="rId14"/>
    <p:sldId id="322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9" r:id="rId36"/>
    <p:sldId id="344" r:id="rId37"/>
    <p:sldId id="346" r:id="rId38"/>
    <p:sldId id="350" r:id="rId39"/>
    <p:sldId id="345" r:id="rId40"/>
    <p:sldId id="354" r:id="rId41"/>
    <p:sldId id="353" r:id="rId42"/>
  </p:sldIdLst>
  <p:sldSz cx="12192000" cy="6858000"/>
  <p:notesSz cx="6858000" cy="9144000"/>
  <p:embeddedFontLst>
    <p:embeddedFont>
      <p:font typeface="Verdana" panose="020B0604030504040204" pitchFamily="34" charset="0"/>
      <p:regular r:id="rId44"/>
      <p:bold r:id="rId45"/>
      <p:italic r:id="rId46"/>
      <p:boldItalic r:id="rId47"/>
    </p:embeddedFont>
    <p:embeddedFont>
      <p:font typeface="맑은 고딕" panose="020B0503020000020004" pitchFamily="50" charset="-127"/>
      <p:regular r:id="rId48"/>
      <p:bold r:id="rId49"/>
    </p:embeddedFont>
    <p:embeddedFont>
      <p:font typeface="서울남산 장체 EB" panose="02020503020101020101" pitchFamily="18" charset="-127"/>
      <p:regular r:id="rId50"/>
    </p:embeddedFont>
    <p:embeddedFont>
      <p:font typeface="서울남산 장체 L" panose="02020503020101020101" pitchFamily="18" charset="-127"/>
      <p:regular r:id="rId51"/>
    </p:embeddedFont>
    <p:embeddedFont>
      <p:font typeface="서울한강 장체 L" panose="02020503020101020101" pitchFamily="18" charset="-127"/>
      <p:regular r:id="rId52"/>
    </p:embeddedFont>
    <p:embeddedFont>
      <p:font typeface="함초롬돋움" panose="020B0604000101010101" pitchFamily="50" charset="-127"/>
      <p:regular r:id="rId53"/>
      <p:bold r:id="rId54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22" autoAdjust="0"/>
    <p:restoredTop sz="94787"/>
  </p:normalViewPr>
  <p:slideViewPr>
    <p:cSldViewPr snapToGrid="0" showGuides="1">
      <p:cViewPr varScale="1">
        <p:scale>
          <a:sx n="62" d="100"/>
          <a:sy n="62" d="100"/>
        </p:scale>
        <p:origin x="90" y="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4.fntdata"/><Relationship Id="rId50" Type="http://schemas.openxmlformats.org/officeDocument/2006/relationships/font" Target="fonts/font7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3" Type="http://schemas.openxmlformats.org/officeDocument/2006/relationships/font" Target="fonts/font10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font" Target="fonts/font5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6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52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1D80EE1-6E38-4CBC-8FE8-24C01993FD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CAF0218-61A0-48F1-BEB3-8B9D4AFC9F6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637F6AB-D103-4A26-8041-2FA0ED018C65}" type="datetimeFigureOut">
              <a:rPr lang="ko-KR" altLang="en-US"/>
              <a:pPr>
                <a:defRPr/>
              </a:pPr>
              <a:t>2022-05-10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483BCCE0-B9D8-40B3-86E5-C5333C4AE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5086E5FE-5484-403A-892E-2429CBF5CC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A4A26D-AE1C-4D08-85FB-9878D964C6E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F14960-2772-4DDA-96B1-D78E68919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AFB86BFC-C3E4-420D-9132-2E99F9ECB56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86F029AD-CFB6-43B9-8A65-D894A046D14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3EBC1B24-0626-444A-A789-5168B86DDF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914D948A-AF4C-401E-95C8-D5AEA01427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2492546-2156-4DFD-BEAB-2CF2697BFC92}" type="slidenum">
              <a:rPr lang="ko-KR" altLang="en-US"/>
              <a:pPr/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슬라이드 이미지 개체 틀 1">
            <a:extLst>
              <a:ext uri="{FF2B5EF4-FFF2-40B4-BE49-F238E27FC236}">
                <a16:creationId xmlns:a16="http://schemas.microsoft.com/office/drawing/2014/main" id="{815CAFDC-E0AC-4EE3-953B-16A2D5CD58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슬라이드 노트 개체 틀 2">
            <a:extLst>
              <a:ext uri="{FF2B5EF4-FFF2-40B4-BE49-F238E27FC236}">
                <a16:creationId xmlns:a16="http://schemas.microsoft.com/office/drawing/2014/main" id="{13388005-ED89-47E9-8AE6-8B4FFAED19D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0244" name="슬라이드 번호 개체 틀 3">
            <a:extLst>
              <a:ext uri="{FF2B5EF4-FFF2-40B4-BE49-F238E27FC236}">
                <a16:creationId xmlns:a16="http://schemas.microsoft.com/office/drawing/2014/main" id="{CA9E084D-E314-41FB-8614-4C55B40604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B29564B3-09F4-405F-95C3-BB84A407CB6D}" type="slidenum">
              <a:rPr lang="ko-KR" altLang="en-US"/>
              <a:pPr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슬라이드 이미지 개체 틀 1">
            <a:extLst>
              <a:ext uri="{FF2B5EF4-FFF2-40B4-BE49-F238E27FC236}">
                <a16:creationId xmlns:a16="http://schemas.microsoft.com/office/drawing/2014/main" id="{5873F43F-960B-4EE6-82A1-CA9C88C9DF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슬라이드 노트 개체 틀 2">
            <a:extLst>
              <a:ext uri="{FF2B5EF4-FFF2-40B4-BE49-F238E27FC236}">
                <a16:creationId xmlns:a16="http://schemas.microsoft.com/office/drawing/2014/main" id="{6FD4D2CF-308A-404A-B35A-3CA785579E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2292" name="슬라이드 번호 개체 틀 3">
            <a:extLst>
              <a:ext uri="{FF2B5EF4-FFF2-40B4-BE49-F238E27FC236}">
                <a16:creationId xmlns:a16="http://schemas.microsoft.com/office/drawing/2014/main" id="{E97F9F2A-2F73-4830-B9D0-4DF496654B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B0137AA-0988-4F0B-9023-80391B97D650}" type="slidenum">
              <a:rPr lang="ko-KR" altLang="en-US"/>
              <a:pPr/>
              <a:t>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슬라이드 이미지 개체 틀 1">
            <a:extLst>
              <a:ext uri="{FF2B5EF4-FFF2-40B4-BE49-F238E27FC236}">
                <a16:creationId xmlns:a16="http://schemas.microsoft.com/office/drawing/2014/main" id="{4FA46E20-FD2A-4CCC-8CA9-8CA44E8C108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슬라이드 노트 개체 틀 2">
            <a:extLst>
              <a:ext uri="{FF2B5EF4-FFF2-40B4-BE49-F238E27FC236}">
                <a16:creationId xmlns:a16="http://schemas.microsoft.com/office/drawing/2014/main" id="{F72EC5BC-EC29-4C7C-AF26-1EF105D9B4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4340" name="슬라이드 번호 개체 틀 3">
            <a:extLst>
              <a:ext uri="{FF2B5EF4-FFF2-40B4-BE49-F238E27FC236}">
                <a16:creationId xmlns:a16="http://schemas.microsoft.com/office/drawing/2014/main" id="{9AB4AF49-319E-44E9-932D-FE34C25BA4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41BB675-2105-4F70-9D50-1994DD06C05E}" type="slidenum">
              <a:rPr lang="ko-KR" altLang="en-US"/>
              <a:pPr/>
              <a:t>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이미지 개체 틀 1">
            <a:extLst>
              <a:ext uri="{FF2B5EF4-FFF2-40B4-BE49-F238E27FC236}">
                <a16:creationId xmlns:a16="http://schemas.microsoft.com/office/drawing/2014/main" id="{5C21AA2C-C847-4207-82B3-1F0A5B86AB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슬라이드 노트 개체 틀 2">
            <a:extLst>
              <a:ext uri="{FF2B5EF4-FFF2-40B4-BE49-F238E27FC236}">
                <a16:creationId xmlns:a16="http://schemas.microsoft.com/office/drawing/2014/main" id="{51E81886-720D-49DB-951B-C53159FB2A1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6388" name="슬라이드 번호 개체 틀 3">
            <a:extLst>
              <a:ext uri="{FF2B5EF4-FFF2-40B4-BE49-F238E27FC236}">
                <a16:creationId xmlns:a16="http://schemas.microsoft.com/office/drawing/2014/main" id="{EF950916-4239-4449-AD1E-8BFE1DEC7B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86516CE-B096-45FB-9934-D910874129E6}" type="slidenum">
              <a:rPr lang="ko-KR" altLang="en-US"/>
              <a:pPr/>
              <a:t>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슬라이드 이미지 개체 틀 1">
            <a:extLst>
              <a:ext uri="{FF2B5EF4-FFF2-40B4-BE49-F238E27FC236}">
                <a16:creationId xmlns:a16="http://schemas.microsoft.com/office/drawing/2014/main" id="{CE653F61-7C50-4CF1-89E8-834416AEF82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슬라이드 노트 개체 틀 2">
            <a:extLst>
              <a:ext uri="{FF2B5EF4-FFF2-40B4-BE49-F238E27FC236}">
                <a16:creationId xmlns:a16="http://schemas.microsoft.com/office/drawing/2014/main" id="{B761396A-545B-459C-912E-334A84BFD7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8436" name="슬라이드 번호 개체 틀 3">
            <a:extLst>
              <a:ext uri="{FF2B5EF4-FFF2-40B4-BE49-F238E27FC236}">
                <a16:creationId xmlns:a16="http://schemas.microsoft.com/office/drawing/2014/main" id="{91E9460B-7787-46B5-8826-4D8009E3D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BE6DF3E-58F3-416C-B1C4-446C63CA7F57}" type="slidenum">
              <a:rPr lang="ko-KR" altLang="en-US"/>
              <a:pPr/>
              <a:t>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슬라이드 이미지 개체 틀 1">
            <a:extLst>
              <a:ext uri="{FF2B5EF4-FFF2-40B4-BE49-F238E27FC236}">
                <a16:creationId xmlns:a16="http://schemas.microsoft.com/office/drawing/2014/main" id="{35BCEBA4-F53B-43EE-9242-CAAC7840604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슬라이드 노트 개체 틀 2">
            <a:extLst>
              <a:ext uri="{FF2B5EF4-FFF2-40B4-BE49-F238E27FC236}">
                <a16:creationId xmlns:a16="http://schemas.microsoft.com/office/drawing/2014/main" id="{7CF015AB-7559-4342-8693-F4590F23A8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4580" name="슬라이드 번호 개체 틀 3">
            <a:extLst>
              <a:ext uri="{FF2B5EF4-FFF2-40B4-BE49-F238E27FC236}">
                <a16:creationId xmlns:a16="http://schemas.microsoft.com/office/drawing/2014/main" id="{709C5DF3-56D4-425E-9392-D927D95468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4599042-F0FC-46E3-B875-0AA6EC992EEE}" type="slidenum">
              <a:rPr lang="ko-KR" altLang="en-US"/>
              <a:pPr/>
              <a:t>14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슬라이드 이미지 개체 틀 1">
            <a:extLst>
              <a:ext uri="{FF2B5EF4-FFF2-40B4-BE49-F238E27FC236}">
                <a16:creationId xmlns:a16="http://schemas.microsoft.com/office/drawing/2014/main" id="{F15E021F-040D-4826-87DA-E7884C9284A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슬라이드 노트 개체 틀 2">
            <a:extLst>
              <a:ext uri="{FF2B5EF4-FFF2-40B4-BE49-F238E27FC236}">
                <a16:creationId xmlns:a16="http://schemas.microsoft.com/office/drawing/2014/main" id="{B177C592-884B-4D43-AA27-21BCD78E20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6628" name="슬라이드 번호 개체 틀 3">
            <a:extLst>
              <a:ext uri="{FF2B5EF4-FFF2-40B4-BE49-F238E27FC236}">
                <a16:creationId xmlns:a16="http://schemas.microsoft.com/office/drawing/2014/main" id="{E053EF2F-672C-42CB-8EE2-A91CA16E54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536BFCF-1105-41F4-BC86-106D97AB0EBA}" type="slidenum">
              <a:rPr lang="ko-KR" altLang="en-US"/>
              <a:pPr/>
              <a:t>15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슬라이드 이미지 개체 틀 1">
            <a:extLst>
              <a:ext uri="{FF2B5EF4-FFF2-40B4-BE49-F238E27FC236}">
                <a16:creationId xmlns:a16="http://schemas.microsoft.com/office/drawing/2014/main" id="{F9585603-0CF8-488F-8F94-82468E51F4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슬라이드 노트 개체 틀 2">
            <a:extLst>
              <a:ext uri="{FF2B5EF4-FFF2-40B4-BE49-F238E27FC236}">
                <a16:creationId xmlns:a16="http://schemas.microsoft.com/office/drawing/2014/main" id="{5BB4F7BF-9600-4D3E-8EAD-7159F91F46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28676" name="슬라이드 번호 개체 틀 3">
            <a:extLst>
              <a:ext uri="{FF2B5EF4-FFF2-40B4-BE49-F238E27FC236}">
                <a16:creationId xmlns:a16="http://schemas.microsoft.com/office/drawing/2014/main" id="{AFA1A0D4-3772-4910-ABD6-CAFD2134D8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DA6BA8E-3C6A-4BB2-B637-79A8DCFD956B}" type="slidenum">
              <a:rPr lang="ko-KR" altLang="en-US"/>
              <a:pPr/>
              <a:t>16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슬라이드 이미지 개체 틀 1">
            <a:extLst>
              <a:ext uri="{FF2B5EF4-FFF2-40B4-BE49-F238E27FC236}">
                <a16:creationId xmlns:a16="http://schemas.microsoft.com/office/drawing/2014/main" id="{A4A1E2F6-1272-4457-9484-E42CA8F89F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슬라이드 노트 개체 틀 2">
            <a:extLst>
              <a:ext uri="{FF2B5EF4-FFF2-40B4-BE49-F238E27FC236}">
                <a16:creationId xmlns:a16="http://schemas.microsoft.com/office/drawing/2014/main" id="{558C0180-76C4-45BE-BD7E-E0634FB959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0724" name="슬라이드 번호 개체 틀 3">
            <a:extLst>
              <a:ext uri="{FF2B5EF4-FFF2-40B4-BE49-F238E27FC236}">
                <a16:creationId xmlns:a16="http://schemas.microsoft.com/office/drawing/2014/main" id="{8301BA66-19F0-4A75-A348-46D2C5FC3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F3FE136-C1CF-4EF9-9027-6FA15A835CA1}" type="slidenum">
              <a:rPr lang="ko-KR" altLang="en-US"/>
              <a:pPr/>
              <a:t>17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슬라이드 이미지 개체 틀 1">
            <a:extLst>
              <a:ext uri="{FF2B5EF4-FFF2-40B4-BE49-F238E27FC236}">
                <a16:creationId xmlns:a16="http://schemas.microsoft.com/office/drawing/2014/main" id="{85861B0F-F4DD-4B88-B716-301FCC7761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슬라이드 노트 개체 틀 2">
            <a:extLst>
              <a:ext uri="{FF2B5EF4-FFF2-40B4-BE49-F238E27FC236}">
                <a16:creationId xmlns:a16="http://schemas.microsoft.com/office/drawing/2014/main" id="{63D15A59-3718-49BC-91D4-37E955D1D4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2772" name="슬라이드 번호 개체 틀 3">
            <a:extLst>
              <a:ext uri="{FF2B5EF4-FFF2-40B4-BE49-F238E27FC236}">
                <a16:creationId xmlns:a16="http://schemas.microsoft.com/office/drawing/2014/main" id="{4F2DCA0E-0EBD-4886-BE6E-FA313547C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4853CAB-AAC0-422D-91E3-A968AE7EF954}" type="slidenum">
              <a:rPr lang="ko-KR" altLang="en-US"/>
              <a:pPr/>
              <a:t>18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슬라이드 이미지 개체 틀 1">
            <a:extLst>
              <a:ext uri="{FF2B5EF4-FFF2-40B4-BE49-F238E27FC236}">
                <a16:creationId xmlns:a16="http://schemas.microsoft.com/office/drawing/2014/main" id="{AE7297A6-9D9B-4719-8224-96BBAB68DF0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슬라이드 노트 개체 틀 2">
            <a:extLst>
              <a:ext uri="{FF2B5EF4-FFF2-40B4-BE49-F238E27FC236}">
                <a16:creationId xmlns:a16="http://schemas.microsoft.com/office/drawing/2014/main" id="{0056D47D-C06E-4DFE-8E64-18F37C23335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4820" name="슬라이드 번호 개체 틀 3">
            <a:extLst>
              <a:ext uri="{FF2B5EF4-FFF2-40B4-BE49-F238E27FC236}">
                <a16:creationId xmlns:a16="http://schemas.microsoft.com/office/drawing/2014/main" id="{8CD0E9D8-4E79-4811-BD89-A8DC30B7A5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9042455-B3EB-4A8E-BBD0-279F99A66107}" type="slidenum">
              <a:rPr lang="ko-KR" altLang="en-US"/>
              <a:pPr/>
              <a:t>19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이미지 개체 틀 1">
            <a:extLst>
              <a:ext uri="{FF2B5EF4-FFF2-40B4-BE49-F238E27FC236}">
                <a16:creationId xmlns:a16="http://schemas.microsoft.com/office/drawing/2014/main" id="{184A7CE7-A8D8-48E2-A853-FB7D02E3F3A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슬라이드 노트 개체 틀 2">
            <a:extLst>
              <a:ext uri="{FF2B5EF4-FFF2-40B4-BE49-F238E27FC236}">
                <a16:creationId xmlns:a16="http://schemas.microsoft.com/office/drawing/2014/main" id="{A0E1114A-8895-4A05-AA6F-4045AF3EEAD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7892" name="슬라이드 번호 개체 틀 3">
            <a:extLst>
              <a:ext uri="{FF2B5EF4-FFF2-40B4-BE49-F238E27FC236}">
                <a16:creationId xmlns:a16="http://schemas.microsoft.com/office/drawing/2014/main" id="{C8FA8B44-BBE9-43FA-9506-8D09FD328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EACB583-7FD4-4228-BA5F-C8DB51E231AA}" type="slidenum">
              <a:rPr lang="ko-KR" altLang="en-US"/>
              <a:pPr/>
              <a:t>21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슬라이드 이미지 개체 틀 1">
            <a:extLst>
              <a:ext uri="{FF2B5EF4-FFF2-40B4-BE49-F238E27FC236}">
                <a16:creationId xmlns:a16="http://schemas.microsoft.com/office/drawing/2014/main" id="{9F2AA884-BAF4-4936-8D82-2BFC315EA8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슬라이드 노트 개체 틀 2">
            <a:extLst>
              <a:ext uri="{FF2B5EF4-FFF2-40B4-BE49-F238E27FC236}">
                <a16:creationId xmlns:a16="http://schemas.microsoft.com/office/drawing/2014/main" id="{EDEC1D01-6002-4265-9F09-7E9F6085AF9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39940" name="슬라이드 번호 개체 틀 3">
            <a:extLst>
              <a:ext uri="{FF2B5EF4-FFF2-40B4-BE49-F238E27FC236}">
                <a16:creationId xmlns:a16="http://schemas.microsoft.com/office/drawing/2014/main" id="{D6EF5558-6DE8-458F-86D1-A0C7B6A32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9729BB8-C68C-4BBF-A739-578C5FD8054C}" type="slidenum">
              <a:rPr lang="ko-KR" altLang="en-US"/>
              <a:pPr/>
              <a:t>22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슬라이드 이미지 개체 틀 1">
            <a:extLst>
              <a:ext uri="{FF2B5EF4-FFF2-40B4-BE49-F238E27FC236}">
                <a16:creationId xmlns:a16="http://schemas.microsoft.com/office/drawing/2014/main" id="{F0AB12F3-1918-4647-A708-BAD1A81EBE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슬라이드 노트 개체 틀 2">
            <a:extLst>
              <a:ext uri="{FF2B5EF4-FFF2-40B4-BE49-F238E27FC236}">
                <a16:creationId xmlns:a16="http://schemas.microsoft.com/office/drawing/2014/main" id="{2CB8A806-7735-4A31-8349-0F2F9DC726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988" name="슬라이드 번호 개체 틀 3">
            <a:extLst>
              <a:ext uri="{FF2B5EF4-FFF2-40B4-BE49-F238E27FC236}">
                <a16:creationId xmlns:a16="http://schemas.microsoft.com/office/drawing/2014/main" id="{09D5BB29-7C85-4BB9-92F8-796DF5BA01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39B9CB4-4374-4112-9BBE-F01F6985B6A4}" type="slidenum">
              <a:rPr lang="ko-KR" altLang="en-US"/>
              <a:pPr/>
              <a:t>23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슬라이드 이미지 개체 틀 1">
            <a:extLst>
              <a:ext uri="{FF2B5EF4-FFF2-40B4-BE49-F238E27FC236}">
                <a16:creationId xmlns:a16="http://schemas.microsoft.com/office/drawing/2014/main" id="{25464AB5-C031-4F7D-BA86-EB035B9BDBA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슬라이드 노트 개체 틀 2">
            <a:extLst>
              <a:ext uri="{FF2B5EF4-FFF2-40B4-BE49-F238E27FC236}">
                <a16:creationId xmlns:a16="http://schemas.microsoft.com/office/drawing/2014/main" id="{101A42F5-1C25-40DB-86DB-283587FEDC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4036" name="슬라이드 번호 개체 틀 3">
            <a:extLst>
              <a:ext uri="{FF2B5EF4-FFF2-40B4-BE49-F238E27FC236}">
                <a16:creationId xmlns:a16="http://schemas.microsoft.com/office/drawing/2014/main" id="{F612FC52-1F77-48BC-93BC-ACB6A80E6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0EAD974A-FDB7-4F42-AFA9-149F2CB52ACF}" type="slidenum">
              <a:rPr lang="ko-KR" altLang="en-US"/>
              <a:pPr/>
              <a:t>24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>
            <a:extLst>
              <a:ext uri="{FF2B5EF4-FFF2-40B4-BE49-F238E27FC236}">
                <a16:creationId xmlns:a16="http://schemas.microsoft.com/office/drawing/2014/main" id="{22A85755-817C-4359-9CAB-A06D394064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슬라이드 노트 개체 틀 2">
            <a:extLst>
              <a:ext uri="{FF2B5EF4-FFF2-40B4-BE49-F238E27FC236}">
                <a16:creationId xmlns:a16="http://schemas.microsoft.com/office/drawing/2014/main" id="{4D6A262B-15D6-4719-A70E-EBA70B17083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6084" name="슬라이드 번호 개체 틀 3">
            <a:extLst>
              <a:ext uri="{FF2B5EF4-FFF2-40B4-BE49-F238E27FC236}">
                <a16:creationId xmlns:a16="http://schemas.microsoft.com/office/drawing/2014/main" id="{C8FF66AF-8D57-4049-A182-8374768B5E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5B90394-CC37-4AD2-8252-EC05AE6069FA}" type="slidenum">
              <a:rPr lang="ko-KR" altLang="en-US"/>
              <a:pPr/>
              <a:t>25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슬라이드 이미지 개체 틀 1">
            <a:extLst>
              <a:ext uri="{FF2B5EF4-FFF2-40B4-BE49-F238E27FC236}">
                <a16:creationId xmlns:a16="http://schemas.microsoft.com/office/drawing/2014/main" id="{856B1F99-A9C1-4749-9090-25A6158E065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슬라이드 노트 개체 틀 2">
            <a:extLst>
              <a:ext uri="{FF2B5EF4-FFF2-40B4-BE49-F238E27FC236}">
                <a16:creationId xmlns:a16="http://schemas.microsoft.com/office/drawing/2014/main" id="{24E5AC51-FBAC-4C07-B1A7-11BB39E942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8132" name="슬라이드 번호 개체 틀 3">
            <a:extLst>
              <a:ext uri="{FF2B5EF4-FFF2-40B4-BE49-F238E27FC236}">
                <a16:creationId xmlns:a16="http://schemas.microsoft.com/office/drawing/2014/main" id="{9DEA3573-3031-4351-900B-4A39531471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AB99DFD-0AC5-4EB9-8456-A61A48979510}" type="slidenum">
              <a:rPr lang="ko-KR" altLang="en-US"/>
              <a:pPr/>
              <a:t>26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슬라이드 이미지 개체 틀 1">
            <a:extLst>
              <a:ext uri="{FF2B5EF4-FFF2-40B4-BE49-F238E27FC236}">
                <a16:creationId xmlns:a16="http://schemas.microsoft.com/office/drawing/2014/main" id="{5B35157A-00FA-4685-9870-48A7D26831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슬라이드 노트 개체 틀 2">
            <a:extLst>
              <a:ext uri="{FF2B5EF4-FFF2-40B4-BE49-F238E27FC236}">
                <a16:creationId xmlns:a16="http://schemas.microsoft.com/office/drawing/2014/main" id="{6ECA5FE7-4FD0-40A3-BA7B-3813931F5F7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0180" name="슬라이드 번호 개체 틀 3">
            <a:extLst>
              <a:ext uri="{FF2B5EF4-FFF2-40B4-BE49-F238E27FC236}">
                <a16:creationId xmlns:a16="http://schemas.microsoft.com/office/drawing/2014/main" id="{6BF50833-0CE9-4FC3-BAEF-50ECD5C15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F7B98E0C-1176-4194-A610-70664F0934E6}" type="slidenum">
              <a:rPr lang="ko-KR" altLang="en-US"/>
              <a:pPr/>
              <a:t>27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슬라이드 이미지 개체 틀 1">
            <a:extLst>
              <a:ext uri="{FF2B5EF4-FFF2-40B4-BE49-F238E27FC236}">
                <a16:creationId xmlns:a16="http://schemas.microsoft.com/office/drawing/2014/main" id="{CA0F3FC3-DA8E-499A-B528-062B1A84BA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슬라이드 노트 개체 틀 2">
            <a:extLst>
              <a:ext uri="{FF2B5EF4-FFF2-40B4-BE49-F238E27FC236}">
                <a16:creationId xmlns:a16="http://schemas.microsoft.com/office/drawing/2014/main" id="{B2510F97-8D9C-41DC-A5F9-8539030EDEE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2228" name="슬라이드 번호 개체 틀 3">
            <a:extLst>
              <a:ext uri="{FF2B5EF4-FFF2-40B4-BE49-F238E27FC236}">
                <a16:creationId xmlns:a16="http://schemas.microsoft.com/office/drawing/2014/main" id="{A73688DA-AD80-4FB6-94A2-6C841F48D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E8C6C4B-8510-4CA1-AE5D-0417A94FAFB5}" type="slidenum">
              <a:rPr lang="ko-KR" altLang="en-US"/>
              <a:pPr/>
              <a:t>28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슬라이드 이미지 개체 틀 1">
            <a:extLst>
              <a:ext uri="{FF2B5EF4-FFF2-40B4-BE49-F238E27FC236}">
                <a16:creationId xmlns:a16="http://schemas.microsoft.com/office/drawing/2014/main" id="{94C26E4D-FA33-4381-917D-EF854EBF813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슬라이드 노트 개체 틀 2">
            <a:extLst>
              <a:ext uri="{FF2B5EF4-FFF2-40B4-BE49-F238E27FC236}">
                <a16:creationId xmlns:a16="http://schemas.microsoft.com/office/drawing/2014/main" id="{C98DD703-D408-4F56-93F1-7D7A45D1DC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4276" name="슬라이드 번호 개체 틀 3">
            <a:extLst>
              <a:ext uri="{FF2B5EF4-FFF2-40B4-BE49-F238E27FC236}">
                <a16:creationId xmlns:a16="http://schemas.microsoft.com/office/drawing/2014/main" id="{0A4C9EC3-0B9D-42DA-B830-4F989E4BE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D4C2E9A-AF50-4F9C-94DB-69AAA5221ED5}" type="slidenum">
              <a:rPr lang="ko-KR" altLang="en-US"/>
              <a:pPr/>
              <a:t>29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슬라이드 이미지 개체 틀 1">
            <a:extLst>
              <a:ext uri="{FF2B5EF4-FFF2-40B4-BE49-F238E27FC236}">
                <a16:creationId xmlns:a16="http://schemas.microsoft.com/office/drawing/2014/main" id="{4F902C40-D390-476D-9732-194718489F6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슬라이드 노트 개체 틀 2">
            <a:extLst>
              <a:ext uri="{FF2B5EF4-FFF2-40B4-BE49-F238E27FC236}">
                <a16:creationId xmlns:a16="http://schemas.microsoft.com/office/drawing/2014/main" id="{57A981DA-EF4A-46CE-BB0C-C470C901BB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7348" name="슬라이드 번호 개체 틀 3">
            <a:extLst>
              <a:ext uri="{FF2B5EF4-FFF2-40B4-BE49-F238E27FC236}">
                <a16:creationId xmlns:a16="http://schemas.microsoft.com/office/drawing/2014/main" id="{0C932FB4-79EF-43A3-8B95-94E8D50B50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AF94EE96-AB73-436D-909A-82D59A82D7FB}" type="slidenum">
              <a:rPr lang="ko-KR" altLang="en-US"/>
              <a:pPr/>
              <a:t>31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슬라이드 이미지 개체 틀 1">
            <a:extLst>
              <a:ext uri="{FF2B5EF4-FFF2-40B4-BE49-F238E27FC236}">
                <a16:creationId xmlns:a16="http://schemas.microsoft.com/office/drawing/2014/main" id="{C3DFFB97-2BA9-4AD7-AFFA-15F1D5B8B9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슬라이드 노트 개체 틀 2">
            <a:extLst>
              <a:ext uri="{FF2B5EF4-FFF2-40B4-BE49-F238E27FC236}">
                <a16:creationId xmlns:a16="http://schemas.microsoft.com/office/drawing/2014/main" id="{80F122D5-9548-43B2-9854-D8B8D842473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59396" name="슬라이드 번호 개체 틀 3">
            <a:extLst>
              <a:ext uri="{FF2B5EF4-FFF2-40B4-BE49-F238E27FC236}">
                <a16:creationId xmlns:a16="http://schemas.microsoft.com/office/drawing/2014/main" id="{5443EF67-6405-477B-9BC3-94240CBAE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15DC1D5A-2394-4B9B-A2EC-640CA7C78C60}" type="slidenum">
              <a:rPr lang="ko-KR" altLang="en-US"/>
              <a:pPr/>
              <a:t>32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슬라이드 이미지 개체 틀 1">
            <a:extLst>
              <a:ext uri="{FF2B5EF4-FFF2-40B4-BE49-F238E27FC236}">
                <a16:creationId xmlns:a16="http://schemas.microsoft.com/office/drawing/2014/main" id="{F230531D-49F8-45BB-B718-F3C32E5A9CB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슬라이드 노트 개체 틀 2">
            <a:extLst>
              <a:ext uri="{FF2B5EF4-FFF2-40B4-BE49-F238E27FC236}">
                <a16:creationId xmlns:a16="http://schemas.microsoft.com/office/drawing/2014/main" id="{F7B10F0C-C6A9-422B-9B5C-303DADAF1B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1444" name="슬라이드 번호 개체 틀 3">
            <a:extLst>
              <a:ext uri="{FF2B5EF4-FFF2-40B4-BE49-F238E27FC236}">
                <a16:creationId xmlns:a16="http://schemas.microsoft.com/office/drawing/2014/main" id="{F01F0BC4-E83C-44A3-A3CB-4479AA0F6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DF8731E4-CC00-479A-B4BD-452C7BF121ED}" type="slidenum">
              <a:rPr lang="ko-KR" altLang="en-US"/>
              <a:pPr/>
              <a:t>33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슬라이드 이미지 개체 틀 1">
            <a:extLst>
              <a:ext uri="{FF2B5EF4-FFF2-40B4-BE49-F238E27FC236}">
                <a16:creationId xmlns:a16="http://schemas.microsoft.com/office/drawing/2014/main" id="{EB23278E-43BA-4F52-ADC3-E6F2C30C3F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슬라이드 노트 개체 틀 2">
            <a:extLst>
              <a:ext uri="{FF2B5EF4-FFF2-40B4-BE49-F238E27FC236}">
                <a16:creationId xmlns:a16="http://schemas.microsoft.com/office/drawing/2014/main" id="{001B7703-40A1-456A-A6F5-9764621E25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3492" name="슬라이드 번호 개체 틀 3">
            <a:extLst>
              <a:ext uri="{FF2B5EF4-FFF2-40B4-BE49-F238E27FC236}">
                <a16:creationId xmlns:a16="http://schemas.microsoft.com/office/drawing/2014/main" id="{66ACE14B-0770-4C99-A2B9-A4545E913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4063B1B5-653D-49B7-BE40-63EB8DA9E9B4}" type="slidenum">
              <a:rPr lang="ko-KR" altLang="en-US"/>
              <a:pPr/>
              <a:t>34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슬라이드 이미지 개체 틀 1">
            <a:extLst>
              <a:ext uri="{FF2B5EF4-FFF2-40B4-BE49-F238E27FC236}">
                <a16:creationId xmlns:a16="http://schemas.microsoft.com/office/drawing/2014/main" id="{3A32D76A-3A8E-4B0B-B348-49F9337E4D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슬라이드 노트 개체 틀 2">
            <a:extLst>
              <a:ext uri="{FF2B5EF4-FFF2-40B4-BE49-F238E27FC236}">
                <a16:creationId xmlns:a16="http://schemas.microsoft.com/office/drawing/2014/main" id="{EC00788A-DC80-423E-9FE6-B50D4FE5F8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5540" name="슬라이드 번호 개체 틀 3">
            <a:extLst>
              <a:ext uri="{FF2B5EF4-FFF2-40B4-BE49-F238E27FC236}">
                <a16:creationId xmlns:a16="http://schemas.microsoft.com/office/drawing/2014/main" id="{35582454-1FB6-4E45-ADB7-1755D5576C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04EB5EC-18B1-4716-80CF-2E94809640E6}" type="slidenum">
              <a:rPr lang="ko-KR" altLang="en-US"/>
              <a:pPr/>
              <a:t>35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슬라이드 이미지 개체 틀 1">
            <a:extLst>
              <a:ext uri="{FF2B5EF4-FFF2-40B4-BE49-F238E27FC236}">
                <a16:creationId xmlns:a16="http://schemas.microsoft.com/office/drawing/2014/main" id="{1AAFBB72-DCAB-4E66-85E8-5BA682D969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슬라이드 노트 개체 틀 2">
            <a:extLst>
              <a:ext uri="{FF2B5EF4-FFF2-40B4-BE49-F238E27FC236}">
                <a16:creationId xmlns:a16="http://schemas.microsoft.com/office/drawing/2014/main" id="{5271EB71-28E8-4AA7-B08B-8A679CACA2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7588" name="슬라이드 번호 개체 틀 3">
            <a:extLst>
              <a:ext uri="{FF2B5EF4-FFF2-40B4-BE49-F238E27FC236}">
                <a16:creationId xmlns:a16="http://schemas.microsoft.com/office/drawing/2014/main" id="{2E0D271A-2D27-442B-954F-C8AC8806E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3DCA5A8-26B2-4E41-8B60-5801CDFD155F}" type="slidenum">
              <a:rPr lang="ko-KR" altLang="en-US"/>
              <a:pPr/>
              <a:t>36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슬라이드 이미지 개체 틀 1">
            <a:extLst>
              <a:ext uri="{FF2B5EF4-FFF2-40B4-BE49-F238E27FC236}">
                <a16:creationId xmlns:a16="http://schemas.microsoft.com/office/drawing/2014/main" id="{6F848242-BBCC-4F2C-92F7-0940E708F2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슬라이드 노트 개체 틀 2">
            <a:extLst>
              <a:ext uri="{FF2B5EF4-FFF2-40B4-BE49-F238E27FC236}">
                <a16:creationId xmlns:a16="http://schemas.microsoft.com/office/drawing/2014/main" id="{9BBF6AA6-3E1A-4542-9AEE-24DE48F98AD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69636" name="슬라이드 번호 개체 틀 3">
            <a:extLst>
              <a:ext uri="{FF2B5EF4-FFF2-40B4-BE49-F238E27FC236}">
                <a16:creationId xmlns:a16="http://schemas.microsoft.com/office/drawing/2014/main" id="{7FF8E1A1-83C7-454D-AE9A-2ABF38816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076F581-0628-449E-ACEF-9213BC947280}" type="slidenum">
              <a:rPr lang="ko-KR" altLang="en-US"/>
              <a:pPr/>
              <a:t>37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슬라이드 이미지 개체 틀 1">
            <a:extLst>
              <a:ext uri="{FF2B5EF4-FFF2-40B4-BE49-F238E27FC236}">
                <a16:creationId xmlns:a16="http://schemas.microsoft.com/office/drawing/2014/main" id="{E6C95913-48A2-4327-9E12-CAB5A6F85C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슬라이드 노트 개체 틀 2">
            <a:extLst>
              <a:ext uri="{FF2B5EF4-FFF2-40B4-BE49-F238E27FC236}">
                <a16:creationId xmlns:a16="http://schemas.microsoft.com/office/drawing/2014/main" id="{02C9D1D6-FCB1-4DEA-9952-B5CF53F868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71684" name="슬라이드 번호 개체 틀 3">
            <a:extLst>
              <a:ext uri="{FF2B5EF4-FFF2-40B4-BE49-F238E27FC236}">
                <a16:creationId xmlns:a16="http://schemas.microsoft.com/office/drawing/2014/main" id="{68529CBC-00B5-49EB-A099-CC60C7CF3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2F7927B6-D37B-4851-ACD7-512B2BB0239E}" type="slidenum">
              <a:rPr lang="ko-KR" altLang="en-US"/>
              <a:pPr/>
              <a:t>38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슬라이드 이미지 개체 틀 1">
            <a:extLst>
              <a:ext uri="{FF2B5EF4-FFF2-40B4-BE49-F238E27FC236}">
                <a16:creationId xmlns:a16="http://schemas.microsoft.com/office/drawing/2014/main" id="{8CCD0216-F7C6-4D7C-B4DF-301DC266772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슬라이드 노트 개체 틀 2">
            <a:extLst>
              <a:ext uri="{FF2B5EF4-FFF2-40B4-BE49-F238E27FC236}">
                <a16:creationId xmlns:a16="http://schemas.microsoft.com/office/drawing/2014/main" id="{8098B5FC-5859-4CAD-A524-FF5FD07C8DE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73732" name="슬라이드 번호 개체 틀 3">
            <a:extLst>
              <a:ext uri="{FF2B5EF4-FFF2-40B4-BE49-F238E27FC236}">
                <a16:creationId xmlns:a16="http://schemas.microsoft.com/office/drawing/2014/main" id="{6ABF3D34-AD40-42ED-BEAF-8EF030EAD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CB92E6C4-EA6A-4ECC-A5D8-830B097342ED}" type="slidenum">
              <a:rPr lang="ko-KR" altLang="en-US"/>
              <a:pPr/>
              <a:t>39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슬라이드 이미지 개체 틀 1">
            <a:extLst>
              <a:ext uri="{FF2B5EF4-FFF2-40B4-BE49-F238E27FC236}">
                <a16:creationId xmlns:a16="http://schemas.microsoft.com/office/drawing/2014/main" id="{4A69826A-E437-4124-8FF6-C157F3B34C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슬라이드 노트 개체 틀 2">
            <a:extLst>
              <a:ext uri="{FF2B5EF4-FFF2-40B4-BE49-F238E27FC236}">
                <a16:creationId xmlns:a16="http://schemas.microsoft.com/office/drawing/2014/main" id="{7D33BC0C-4C7B-4D99-9031-8926C47A311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75780" name="슬라이드 번호 개체 틀 3">
            <a:extLst>
              <a:ext uri="{FF2B5EF4-FFF2-40B4-BE49-F238E27FC236}">
                <a16:creationId xmlns:a16="http://schemas.microsoft.com/office/drawing/2014/main" id="{5A8E4BB5-4AA6-4452-8ED2-2DB9A6137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A05C350-01B5-40AB-9973-4093D95E96C5}" type="slidenum">
              <a:rPr lang="ko-KR" altLang="en-US"/>
              <a:pPr/>
              <a:t>40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슬라이드 이미지 개체 틀 1">
            <a:extLst>
              <a:ext uri="{FF2B5EF4-FFF2-40B4-BE49-F238E27FC236}">
                <a16:creationId xmlns:a16="http://schemas.microsoft.com/office/drawing/2014/main" id="{8C92B8E7-5AEF-4D92-8C28-92CAFC63DE9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슬라이드 노트 개체 틀 2">
            <a:extLst>
              <a:ext uri="{FF2B5EF4-FFF2-40B4-BE49-F238E27FC236}">
                <a16:creationId xmlns:a16="http://schemas.microsoft.com/office/drawing/2014/main" id="{3498B876-5D42-4362-A06E-CA6031A044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77828" name="슬라이드 번호 개체 틀 3">
            <a:extLst>
              <a:ext uri="{FF2B5EF4-FFF2-40B4-BE49-F238E27FC236}">
                <a16:creationId xmlns:a16="http://schemas.microsoft.com/office/drawing/2014/main" id="{697E428F-BB4E-4E9A-ACB2-E01DC9C504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318D5F92-4F58-4876-9A94-39AA898DF1E3}" type="slidenum">
              <a:rPr lang="ko-KR" altLang="en-US"/>
              <a:pPr/>
              <a:t>41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808476E5-9CA6-4D0D-9698-15C2FD3C280B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BC68E1E1-2E47-433B-A36A-F081B1FD753B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B288588A-920D-4F26-B23C-CDB4EB7BB0E2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1589634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0413957-154B-443E-91DE-0E46934830F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CFC5531-B51A-405C-B80B-1EBCEAEEA74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2D0009-5CEB-4951-9779-DF821621E0F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09724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6A2414-5006-4C08-9CE8-9FF7A524F7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2D981D5-606B-45FA-91CA-674EAF29C6B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5B10EA-7D5E-4756-9385-15C220B5BB6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1443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20808C9-482C-4A69-9888-7ED1C149FA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8AE9A97-8939-4140-B4B7-031D186BDE0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ABBB45-0CF3-4072-B512-7CAC1D407D4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38367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ADF3E00-CDAD-4585-BBFA-820C216FDC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B36430B-EC60-40A2-886A-C0C411BDAC3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310D10-0EF0-4526-BE7F-F94D115976B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5267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CEB6D19-D0B3-48C9-AFBF-9C87E9B274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53D2C-2486-41E4-ADD3-68977AD2C74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72280C-2E4E-4DE3-9AFB-5DEEBC0EB95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3021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86ECD047-6CC3-46FD-9917-F4F6A0AFA9E4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15AB18BF-02FB-4206-8923-49D052F000F4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C18D3148-01A0-42A7-B599-7D00EDA7C74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E1D4D160-FB89-4545-BF0E-FAC473E06F4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E19E8EB1-CDB5-4234-9987-9AEFF0BB4D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6D04CD94-488B-4C35-B212-2A493CC73E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DEFB1A8-3244-4305-BCD6-93CF93FEA56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800" smtClean="0">
                <a:latin typeface="서울한강 장체 L" pitchFamily="18" charset="-127"/>
                <a:ea typeface="서울한강 장체 L" pitchFamily="18" charset="-127"/>
              </a:defRPr>
            </a:lvl1pPr>
          </a:lstStyle>
          <a:p>
            <a:pPr>
              <a:defRPr/>
            </a:pPr>
            <a:fld id="{620914D3-AFDC-48FF-9AE4-B20B1DC7832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92D33DDB-AA60-421E-A5E0-1A3F3728F676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779F390E-D78C-4599-9C9C-1130484FAECC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3B243E23-2B11-45D8-BB92-9F2499E5A29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F4317E61-3539-4362-8303-76F58F5226A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312B6D41-C4EC-4AA3-9D54-71BFED6D8B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67" r:id="rId2"/>
    <p:sldLayoutId id="2147483768" r:id="rId3"/>
    <p:sldLayoutId id="2147483769" r:id="rId4"/>
    <p:sldLayoutId id="2147483770" r:id="rId5"/>
    <p:sldLayoutId id="2147483771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L" panose="02020503020101020101"/>
          <a:ea typeface="서울남산 장체 L" panose="02020503020101020101"/>
          <a:cs typeface="+mn-cs"/>
        </a:defRPr>
      </a:lvl1pPr>
      <a:lvl2pPr marL="1793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부제목 3">
            <a:extLst>
              <a:ext uri="{FF2B5EF4-FFF2-40B4-BE49-F238E27FC236}">
                <a16:creationId xmlns:a16="http://schemas.microsoft.com/office/drawing/2014/main" id="{319905F1-9642-43D8-BBB6-489962AE2A3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hangingPunct="1"/>
            <a:r>
              <a:rPr lang="en-US" altLang="ko-KR" sz="2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Chapter 13. </a:t>
            </a:r>
          </a:p>
          <a:p>
            <a:pPr eaLnBrk="1" hangingPunct="1"/>
            <a:r>
              <a:rPr lang="ko-KR" altLang="en-US" sz="2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외부 마케팅 커뮤니케이션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텍스트 개체 틀 3">
            <a:extLst>
              <a:ext uri="{FF2B5EF4-FFF2-40B4-BE49-F238E27FC236}">
                <a16:creationId xmlns:a16="http://schemas.microsoft.com/office/drawing/2014/main" id="{0F94226A-187B-42DD-A85F-C699734D8A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marL="514350" indent="-514350" eaLnBrk="1" hangingPunct="1">
              <a:buClr>
                <a:schemeClr val="tx1"/>
              </a:buClr>
              <a:buFont typeface="Verdana" panose="020B0604030504040204" pitchFamily="34" charset="0"/>
              <a:buAutoNum type="arabicPeriod"/>
            </a:pPr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외부 마케팅 커뮤니케이션의 이해</a:t>
            </a:r>
            <a:endParaRPr lang="en-US" altLang="ko-KR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B6772D-1657-4889-B9EF-DE39D8D0AE4B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886F002-F2CD-4067-88DD-5B1E602DF83E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21773E20-6C1A-492F-B4D1-B62562F949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ko-KR" altLang="en-US"/>
              <a:t>외부 마케팅 커뮤니케이션의 이해</a:t>
            </a:r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EF66C457-F3A7-44C5-B191-3F7C78279F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95288" y="1317625"/>
            <a:ext cx="10547350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외부 마케팅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서비스가 고객에게 전달되기 이전에 고객과 서비스 내용을 의사소통하고 고객과 지속적으로 관계를 맺는 모든 활동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전통적 마케팅 커뮤니케이션 경로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광고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판매 촉진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인적 판매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홍보 및 대중 관계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온오프라인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마케팅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소셜 미디어 마케팅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마케팅 믹스 중 촉진이라 불리기도 하며 마케팅 커뮤니케이션으로 부르기도 함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고객에게 상품과 서비스 정보를 제공하고 호의적인 태도를 가지도록 설득하며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고객 구매 의사 결정에 영향을 미침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6148" name="직사각형 9">
            <a:extLst>
              <a:ext uri="{FF2B5EF4-FFF2-40B4-BE49-F238E27FC236}">
                <a16:creationId xmlns:a16="http://schemas.microsoft.com/office/drawing/2014/main" id="{652817C9-F3A0-419F-A4CC-BF5BB6E1B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3660F628-67C3-46A5-AF32-935B2782F7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</a:t>
            </a:r>
            <a:r>
              <a:rPr lang="ko-KR" altLang="en-US"/>
              <a:t> 마케팅 커뮤니케이션 환경의 변화</a:t>
            </a:r>
          </a:p>
        </p:txBody>
      </p:sp>
      <p:sp>
        <p:nvSpPr>
          <p:cNvPr id="7171" name="직사각형 9">
            <a:extLst>
              <a:ext uri="{FF2B5EF4-FFF2-40B4-BE49-F238E27FC236}">
                <a16:creationId xmlns:a16="http://schemas.microsoft.com/office/drawing/2014/main" id="{FFD833C6-020B-4E3D-A53D-417686DD4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7172" name="그림 3">
            <a:extLst>
              <a:ext uri="{FF2B5EF4-FFF2-40B4-BE49-F238E27FC236}">
                <a16:creationId xmlns:a16="http://schemas.microsoft.com/office/drawing/2014/main" id="{BB82EA4E-93BE-4398-A92C-9C27B6536B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3" y="1565275"/>
            <a:ext cx="9271000" cy="4837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9761FDC1-B9BE-42AD-8A31-C83FBF9103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</a:t>
            </a:r>
            <a:r>
              <a:rPr lang="ko-KR" altLang="en-US"/>
              <a:t> 마케팅 커뮤니케이션 환경의 변화</a:t>
            </a:r>
          </a:p>
        </p:txBody>
      </p:sp>
      <p:sp>
        <p:nvSpPr>
          <p:cNvPr id="9219" name="직사각형 9">
            <a:extLst>
              <a:ext uri="{FF2B5EF4-FFF2-40B4-BE49-F238E27FC236}">
                <a16:creationId xmlns:a16="http://schemas.microsoft.com/office/drawing/2014/main" id="{E1B2679C-D4DB-46C2-9482-E0C568240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9220" name="그림 2">
            <a:extLst>
              <a:ext uri="{FF2B5EF4-FFF2-40B4-BE49-F238E27FC236}">
                <a16:creationId xmlns:a16="http://schemas.microsoft.com/office/drawing/2014/main" id="{E0C5C9E2-2849-4CC8-88C3-14D215605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513" y="1200150"/>
            <a:ext cx="7810500" cy="527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EF868BBE-1364-40FE-B091-DEC2E537D3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</a:t>
            </a:r>
            <a:r>
              <a:rPr lang="ko-KR" altLang="en-US"/>
              <a:t> 마케팅 커뮤니케이션 환경의 변화</a:t>
            </a:r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2AE6D899-6803-46D2-928F-B684236147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27050" y="1454150"/>
            <a:ext cx="10157515" cy="3949700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마케팅 커뮤니케이션 채널의 확장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552450" lvl="2" indent="-285750" eaLnBrk="1" hangingPunct="1">
              <a:lnSpc>
                <a:spcPct val="150000"/>
              </a:lnSpc>
              <a:buSzPct val="90000"/>
              <a:buFont typeface="Wingdings" panose="05000000000000000000" pitchFamily="2" charset="2"/>
              <a:buChar char="§"/>
            </a:pPr>
            <a:r>
              <a:rPr lang="ko-KR" altLang="en-US" sz="1800" b="1" dirty="0"/>
              <a:t>광고 중심에서  판매 </a:t>
            </a:r>
            <a:r>
              <a:rPr lang="ko-KR" altLang="en-US" sz="1800" b="1" dirty="0">
                <a:cs typeface="함초롬돋움" panose="020B0604000101010101" pitchFamily="50" charset="-127"/>
              </a:rPr>
              <a:t>촉진</a:t>
            </a:r>
            <a:r>
              <a:rPr lang="en-US" altLang="ko-KR" sz="1800" b="1" dirty="0">
                <a:cs typeface="함초롬돋움" panose="020B0604000101010101" pitchFamily="50" charset="-127"/>
              </a:rPr>
              <a:t>,</a:t>
            </a:r>
            <a:r>
              <a:rPr lang="ko-KR" altLang="en-US" sz="1800" b="1" dirty="0">
                <a:cs typeface="함초롬돋움" panose="020B0604000101010101" pitchFamily="50" charset="-127"/>
              </a:rPr>
              <a:t> 이벤트</a:t>
            </a:r>
            <a:r>
              <a:rPr lang="en-US" altLang="ko-KR" sz="1800" b="1" dirty="0">
                <a:cs typeface="함초롬돋움" panose="020B0604000101010101" pitchFamily="50" charset="-127"/>
              </a:rPr>
              <a:t>,</a:t>
            </a:r>
            <a:r>
              <a:rPr lang="ko-KR" altLang="en-US" sz="1800" b="1" dirty="0">
                <a:cs typeface="함초롬돋움" panose="020B0604000101010101" pitchFamily="50" charset="-127"/>
              </a:rPr>
              <a:t> 홍보</a:t>
            </a:r>
            <a:r>
              <a:rPr lang="en-US" altLang="ko-KR" sz="1800" b="1" dirty="0">
                <a:cs typeface="함초롬돋움" panose="020B0604000101010101" pitchFamily="50" charset="-127"/>
              </a:rPr>
              <a:t>,</a:t>
            </a:r>
            <a:r>
              <a:rPr lang="ko-KR" altLang="en-US" sz="1800" b="1" dirty="0">
                <a:cs typeface="함초롬돋움" panose="020B0604000101010101" pitchFamily="50" charset="-127"/>
              </a:rPr>
              <a:t> 직접 마케팅</a:t>
            </a:r>
            <a:r>
              <a:rPr lang="en-US" altLang="ko-KR" sz="1800" b="1" dirty="0">
                <a:cs typeface="함초롬돋움" panose="020B0604000101010101" pitchFamily="50" charset="-127"/>
              </a:rPr>
              <a:t>,</a:t>
            </a:r>
            <a:r>
              <a:rPr lang="ko-KR" altLang="en-US" sz="1800" b="1" dirty="0">
                <a:cs typeface="함초롬돋움" panose="020B0604000101010101" pitchFamily="50" charset="-127"/>
              </a:rPr>
              <a:t> </a:t>
            </a:r>
            <a:r>
              <a:rPr lang="en-US" altLang="ko-KR" sz="1800" b="1" dirty="0">
                <a:cs typeface="함초롬돋움" panose="020B0604000101010101" pitchFamily="50" charset="-127"/>
              </a:rPr>
              <a:t>POP,</a:t>
            </a:r>
            <a:r>
              <a:rPr lang="ko-KR" altLang="en-US" sz="1800" b="1" dirty="0">
                <a:cs typeface="함초롬돋움" panose="020B0604000101010101" pitchFamily="50" charset="-127"/>
              </a:rPr>
              <a:t> 인터넷</a:t>
            </a:r>
            <a:r>
              <a:rPr lang="en-US" altLang="ko-KR" sz="1800" b="1" dirty="0">
                <a:cs typeface="함초롬돋움" panose="020B0604000101010101" pitchFamily="50" charset="-127"/>
              </a:rPr>
              <a:t>,</a:t>
            </a:r>
            <a:r>
              <a:rPr lang="ko-KR" altLang="en-US" sz="1800" b="1" dirty="0">
                <a:cs typeface="함초롬돋움" panose="020B0604000101010101" pitchFamily="50" charset="-127"/>
              </a:rPr>
              <a:t> 소셜 미디어 등과 같이  다양한 커뮤니케이션 수단으로 확장되고 있음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세분화된 매체 시장과 디지털 매체의 부상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다양한 세대의 공존과 고객 시장의 세분화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디지털 방식으로 전환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데이터베이스 마케팅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비대면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유통 채널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</p:txBody>
      </p:sp>
      <p:sp>
        <p:nvSpPr>
          <p:cNvPr id="11268" name="직사각형 9">
            <a:extLst>
              <a:ext uri="{FF2B5EF4-FFF2-40B4-BE49-F238E27FC236}">
                <a16:creationId xmlns:a16="http://schemas.microsoft.com/office/drawing/2014/main" id="{ED1F4A99-5A4E-4B0A-9CA4-AB55A8C28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C34D4E49-8ACC-436B-B643-BEA10360B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마케팅 커뮤니케이션의 목표와 역할</a:t>
            </a:r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0C0AAEA5-0CFE-46BC-807F-8A79E1CBF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1150" y="1282700"/>
            <a:ext cx="11223625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마케팅 커뮤니케이션의 목표 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AutoNum type="circleNumDbPlain"/>
            </a:pPr>
            <a:r>
              <a:rPr lang="ko-KR" altLang="en-US" sz="1800" b="1" dirty="0">
                <a:cs typeface="함초롬돋움" panose="020B0604000101010101" pitchFamily="50" charset="-127"/>
              </a:rPr>
              <a:t> 구매 전 단계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외식업체 선택에 대한 위험을 감소시키고 브랜드 이미지와 인지도를 </a:t>
            </a:r>
            <a:r>
              <a:rPr lang="ko-KR" altLang="en-US" sz="1800" b="1" dirty="0" err="1">
                <a:cs typeface="함초롬돋움" panose="020B0604000101010101" pitchFamily="50" charset="-127"/>
              </a:rPr>
              <a:t>중대시켜</a:t>
            </a:r>
            <a:r>
              <a:rPr lang="ko-KR" altLang="en-US" sz="1800" b="1" dirty="0">
                <a:cs typeface="함초롬돋움" panose="020B0604000101010101" pitchFamily="50" charset="-127"/>
              </a:rPr>
              <a:t> 브랜드 자산을 구축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1800" b="1" dirty="0">
                <a:cs typeface="함초롬돋움" panose="020B0604000101010101" pitchFamily="50" charset="-127"/>
              </a:rPr>
              <a:t>②  소비 단계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고객의 기대나 서비스 평가에 영향을 미치거나 서비스 절차에 대한 정보를 커뮤니케이션함으로써 </a:t>
            </a:r>
            <a:br>
              <a:rPr lang="en-US" altLang="ko-KR" sz="1800" b="1" dirty="0">
                <a:cs typeface="함초롬돋움" panose="020B0604000101010101" pitchFamily="50" charset="-127"/>
              </a:rPr>
            </a:br>
            <a:r>
              <a:rPr lang="en-US" altLang="ko-KR" sz="1800" b="1" dirty="0">
                <a:cs typeface="함초롬돋움" panose="020B0604000101010101" pitchFamily="50" charset="-127"/>
              </a:rPr>
              <a:t> </a:t>
            </a:r>
            <a:r>
              <a:rPr lang="ko-KR" altLang="en-US" sz="1800" b="1" dirty="0">
                <a:cs typeface="함초롬돋움" panose="020B0604000101010101" pitchFamily="50" charset="-127"/>
              </a:rPr>
              <a:t>고객 만족을 </a:t>
            </a:r>
            <a:r>
              <a:rPr lang="ko-KR" altLang="en-US" sz="1800" b="1" dirty="0" err="1">
                <a:cs typeface="함초롬돋움" panose="020B0604000101010101" pitchFamily="50" charset="-127"/>
              </a:rPr>
              <a:t>증대시킴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1800" b="1" dirty="0">
                <a:cs typeface="함초롬돋움" panose="020B0604000101010101" pitchFamily="50" charset="-127"/>
              </a:rPr>
              <a:t>③  구매 후 단계 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고객의 인지부조화를 감소시켜 긍정적인 구전 커뮤니케이션을 장려하며 고객의 재방문 빈도를 높임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서비스의 무형적인 특성으로 인해 구전에 의한 영향력이 크므로 인지 부조화를 감소시킬 수 있는            </a:t>
            </a:r>
            <a:br>
              <a:rPr lang="en-US" altLang="ko-KR" sz="1800" b="1" dirty="0">
                <a:cs typeface="함초롬돋움" panose="020B0604000101010101" pitchFamily="50" charset="-127"/>
              </a:rPr>
            </a:br>
            <a:r>
              <a:rPr lang="en-US" altLang="ko-KR" sz="1800" b="1" dirty="0">
                <a:cs typeface="함초롬돋움" panose="020B0604000101010101" pitchFamily="50" charset="-127"/>
              </a:rPr>
              <a:t> </a:t>
            </a:r>
            <a:r>
              <a:rPr lang="ko-KR" altLang="en-US" sz="1800" b="1" dirty="0">
                <a:cs typeface="함초롬돋움" panose="020B0604000101010101" pitchFamily="50" charset="-127"/>
              </a:rPr>
              <a:t>커뮤니케이션의 역할은 중요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13316" name="직사각형 9">
            <a:extLst>
              <a:ext uri="{FF2B5EF4-FFF2-40B4-BE49-F238E27FC236}">
                <a16:creationId xmlns:a16="http://schemas.microsoft.com/office/drawing/2014/main" id="{17720196-FB92-44DE-8807-C2610EA35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CDD298C3-4BBE-4AB1-A026-CC76AC1520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마케팅 커뮤니케이션의 목표와 역할</a:t>
            </a:r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081469A4-973A-42A2-939A-42F056E77D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2238" y="1144588"/>
            <a:ext cx="10687050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20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마케팅 커뮤니케이션의 역할</a:t>
            </a:r>
            <a:endParaRPr lang="en-US" altLang="ko-KR" sz="20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1800" b="1" dirty="0">
                <a:cs typeface="함초롬돋움" panose="020B0604000101010101" pitchFamily="50" charset="-127"/>
              </a:rPr>
              <a:t>①  정보제공 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상품과 서비스의 종류</a:t>
            </a:r>
            <a:r>
              <a:rPr lang="en-US" altLang="ko-KR" sz="1800" b="1" dirty="0">
                <a:cs typeface="함초롬돋움" panose="020B0604000101010101" pitchFamily="50" charset="-127"/>
              </a:rPr>
              <a:t>,</a:t>
            </a:r>
            <a:r>
              <a:rPr lang="ko-KR" altLang="en-US" sz="1800" b="1" dirty="0">
                <a:cs typeface="함초롬돋움" panose="020B0604000101010101" pitchFamily="50" charset="-127"/>
              </a:rPr>
              <a:t> 가격</a:t>
            </a:r>
            <a:r>
              <a:rPr lang="en-US" altLang="ko-KR" sz="1800" b="1" dirty="0">
                <a:cs typeface="함초롬돋움" panose="020B0604000101010101" pitchFamily="50" charset="-127"/>
              </a:rPr>
              <a:t>,</a:t>
            </a:r>
            <a:r>
              <a:rPr lang="ko-KR" altLang="en-US" sz="1800" b="1" dirty="0">
                <a:cs typeface="함초롬돋움" panose="020B0604000101010101" pitchFamily="50" charset="-127"/>
              </a:rPr>
              <a:t> 영업시간 등이 포함 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신메뉴를 알리거나 새로운 프로모션이나 이벤트를 홍보하는 광고를 통해 정보 제공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직원의 서비스 전달 과정을 보여 주는 홍보 자료와 홈페이지를 통해 서비스 직원의 우수성을 강조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</a:pPr>
            <a:r>
              <a:rPr lang="ko-KR" altLang="en-US" sz="1800" b="1" dirty="0">
                <a:cs typeface="함초롬돋움" panose="020B0604000101010101" pitchFamily="50" charset="-127"/>
              </a:rPr>
              <a:t>②  상품 회상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고객의 주의와 흥미를 끌 수 있게 표적 고객이 자주 접하는 매체에 광고를 해야 함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커뮤니케이션 빈도를 높여 광고를 접하는 기회를 많이 가지게 하여 고객의 기억에 남도록 해야 함 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서비스와 연관 있는 이미지를 제공하여 생동감 있는 정보를 제공하는 것이 좋음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b="1" dirty="0">
                <a:cs typeface="함초롬돋움" panose="020B0604000101010101" pitchFamily="50" charset="-127"/>
              </a:rPr>
              <a:t> 광고에 나타난 특정 요소들은 브랜드의 회상 효과를 </a:t>
            </a:r>
            <a:r>
              <a:rPr lang="ko-KR" altLang="en-US" sz="1800" b="1" dirty="0" err="1">
                <a:cs typeface="함초롬돋움" panose="020B0604000101010101" pitchFamily="50" charset="-127"/>
              </a:rPr>
              <a:t>강화시킴</a:t>
            </a:r>
            <a:endParaRPr lang="en-US" altLang="ko-KR" sz="1800" b="1" dirty="0"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15364" name="직사각형 9">
            <a:extLst>
              <a:ext uri="{FF2B5EF4-FFF2-40B4-BE49-F238E27FC236}">
                <a16:creationId xmlns:a16="http://schemas.microsoft.com/office/drawing/2014/main" id="{F0F295BA-AEEC-446F-95AD-9CFA1F600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CE8358A8-3F2E-4AFA-AE9A-7403C8FF12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마케팅 커뮤니케이션의 목표와 역할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DC0C0C70-EC07-465D-93EA-3F8FA73AE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1058863"/>
            <a:ext cx="11234738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>
                <a:latin typeface="함초롱돋움"/>
              </a:rPr>
              <a:t>③  고객 설득과 구매 행동 유도</a:t>
            </a:r>
            <a:endParaRPr lang="en-US" altLang="ko-KR" sz="1800" dirty="0">
              <a:latin typeface="함초롱돋움"/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b="1" dirty="0">
                <a:latin typeface="함초롱돋움"/>
                <a:ea typeface="서울남산 장체 L" panose="02020503020101020101"/>
              </a:rPr>
              <a:t>광고와 쿠폰이나 프리미엄과 같은 판매 촉진 수단과 결합되어 사용되는 경우가 많음</a:t>
            </a:r>
            <a:endParaRPr lang="en-US" altLang="ko-KR" sz="1800" b="1" dirty="0">
              <a:latin typeface="함초롱돋움"/>
              <a:ea typeface="서울남산 장체 L" panose="02020503020101020101"/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b="1" dirty="0">
                <a:latin typeface="함초롱돋움"/>
                <a:ea typeface="서울남산 장체 L" panose="02020503020101020101"/>
              </a:rPr>
              <a:t>고객과의 접촉이 많아 서비스 접점직원의 친절함과 전문성도 하나의 커뮤니케이션 수단이 됨</a:t>
            </a:r>
            <a:endParaRPr lang="en-US" altLang="ko-KR" sz="1800" b="1" dirty="0">
              <a:latin typeface="함초롱돋움"/>
              <a:ea typeface="서울남산 장체 L" panose="02020503020101020101"/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b="1" dirty="0">
                <a:latin typeface="함초롱돋움"/>
                <a:ea typeface="서울남산 장체 L" panose="02020503020101020101"/>
              </a:rPr>
              <a:t>직원의 서비스가 고객을 만족하게 하고 재방문을 유도하는 역할을 함</a:t>
            </a:r>
            <a:endParaRPr lang="en-US" altLang="ko-KR" sz="1800" b="1" dirty="0">
              <a:latin typeface="함초롱돋움"/>
              <a:ea typeface="서울남산 장체 L" panose="02020503020101020101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>
                <a:latin typeface="함초롱돋움"/>
              </a:rPr>
              <a:t>④  서비스 포지셔닝</a:t>
            </a:r>
            <a:endParaRPr lang="en-US" altLang="ko-KR" sz="1800" dirty="0">
              <a:latin typeface="함초롱돋움"/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b="1" dirty="0">
                <a:latin typeface="함초롱돋움"/>
                <a:ea typeface="서울남산 장체 L" panose="02020503020101020101"/>
              </a:rPr>
              <a:t>고객에게 서비스 내용과 서비스를 통해 얻을 수 있는 혜택을 잘 인지하도록 서비스를 포지셔닝 하는 것</a:t>
            </a:r>
            <a:endParaRPr lang="en-US" altLang="ko-KR" sz="1800" b="1" dirty="0">
              <a:latin typeface="함초롱돋움"/>
              <a:ea typeface="서울남산 장체 L" panose="02020503020101020101"/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b="1" dirty="0">
                <a:latin typeface="함초롱돋움"/>
                <a:ea typeface="서울남산 장체 L" panose="02020503020101020101"/>
              </a:rPr>
              <a:t>서비스에 대한 설명을 커뮤니케이션 매체를 통해 고객에게 전달하여 서비스 가치를 부가할 수 있음 </a:t>
            </a:r>
            <a:endParaRPr lang="en-US" altLang="ko-KR" sz="1800" b="1" dirty="0">
              <a:latin typeface="함초롱돋움"/>
              <a:ea typeface="서울남산 장체 L" panose="02020503020101020101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>
                <a:latin typeface="함초롱돋움"/>
              </a:rPr>
              <a:t>⑤  차별화 단서의 제공 </a:t>
            </a:r>
            <a:endParaRPr lang="en-US" altLang="ko-KR" sz="1800" dirty="0">
              <a:latin typeface="함초롱돋움"/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b="1" dirty="0">
                <a:latin typeface="함초롱돋움"/>
                <a:ea typeface="서울남산 장체 L" panose="02020503020101020101"/>
              </a:rPr>
              <a:t>서비스의 무형성은 고객에게 불안감을 높이는 요소일 수 있음</a:t>
            </a:r>
            <a:endParaRPr lang="en-US" altLang="ko-KR" sz="1800" b="1" dirty="0">
              <a:latin typeface="함초롱돋움"/>
              <a:ea typeface="서울남산 장체 L" panose="02020503020101020101"/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b="1" dirty="0">
                <a:latin typeface="함초롱돋움"/>
                <a:ea typeface="서울남산 장체 L" panose="02020503020101020101"/>
              </a:rPr>
              <a:t>물리적 환경을 잘 조성하고 종사원의 우수한 서비스를 제공하는 등과 같은 차별화 단서를 중심으로   커뮤니케이션함으로써 고객의 불안을 해소함</a:t>
            </a:r>
            <a:endParaRPr lang="en-US" altLang="ko-KR" sz="1800" b="1" dirty="0">
              <a:latin typeface="함초롱돋움"/>
              <a:ea typeface="서울남산 장체 L" panose="02020503020101020101"/>
            </a:endParaRPr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endParaRPr lang="en-US" altLang="ko-KR" sz="1800" dirty="0">
              <a:latin typeface="함초롱돋움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17412" name="직사각형 9">
            <a:extLst>
              <a:ext uri="{FF2B5EF4-FFF2-40B4-BE49-F238E27FC236}">
                <a16:creationId xmlns:a16="http://schemas.microsoft.com/office/drawing/2014/main" id="{2CCC9E60-7049-4766-9247-F59CE39BF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텍스트 개체 틀 3">
            <a:extLst>
              <a:ext uri="{FF2B5EF4-FFF2-40B4-BE49-F238E27FC236}">
                <a16:creationId xmlns:a16="http://schemas.microsoft.com/office/drawing/2014/main" id="{53E5B1A1-4F56-44DE-BB8D-0469AE9B8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2.</a:t>
            </a:r>
            <a:r>
              <a:rPr lang="ko-KR" altLang="en-US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통합 마케팅 커뮤니케이션의 이해</a:t>
            </a:r>
            <a:endParaRPr lang="en-US" altLang="ko-KR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B64952-F509-4BD9-AEB9-5AFB411C662D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10B36BA-6DE3-45EE-9AFC-D9692B456363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ECE684ED-8CA8-42D0-9C33-0BF78363DD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</a:t>
            </a:r>
            <a:r>
              <a:rPr lang="ko-KR" altLang="en-US"/>
              <a:t> 마케팅 커뮤니케이션 믹스와 특징</a:t>
            </a:r>
          </a:p>
        </p:txBody>
      </p:sp>
      <p:pic>
        <p:nvPicPr>
          <p:cNvPr id="20483" name="내용 개체 틀 3">
            <a:extLst>
              <a:ext uri="{FF2B5EF4-FFF2-40B4-BE49-F238E27FC236}">
                <a16:creationId xmlns:a16="http://schemas.microsoft.com/office/drawing/2014/main" id="{8C53B5B2-CB44-4BB2-9034-B1DB1E184F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41438" y="1228725"/>
            <a:ext cx="7631112" cy="5248275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1C546812-4FF3-4A93-A592-56CA58C19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통합 마케팅 커뮤니케이션의 목표</a:t>
            </a:r>
          </a:p>
        </p:txBody>
      </p:sp>
      <p:pic>
        <p:nvPicPr>
          <p:cNvPr id="21507" name="그림 1">
            <a:extLst>
              <a:ext uri="{FF2B5EF4-FFF2-40B4-BE49-F238E27FC236}">
                <a16:creationId xmlns:a16="http://schemas.microsoft.com/office/drawing/2014/main" id="{812EADA5-81B5-4929-8AA7-1DDAF7DE6C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3325" y="1517650"/>
            <a:ext cx="5518150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텍스트 개체 틀 3">
            <a:extLst>
              <a:ext uri="{FF2B5EF4-FFF2-40B4-BE49-F238E27FC236}">
                <a16:creationId xmlns:a16="http://schemas.microsoft.com/office/drawing/2014/main" id="{D277D96F-B435-495E-89CA-12C8748D2E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3.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마케팅 커뮤니케이션 믹스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76ED38E-3E90-47A1-8800-499EBDF7BFE6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EBE841-63B4-44F7-9A94-B8A7D8D1F309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BE3AD2DD-734A-4171-9164-DE6D923FDD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</a:t>
            </a:r>
            <a:r>
              <a:rPr lang="ko-KR" altLang="en-US"/>
              <a:t> 광고</a:t>
            </a:r>
          </a:p>
        </p:txBody>
      </p:sp>
      <p:sp>
        <p:nvSpPr>
          <p:cNvPr id="30722" name="내용 개체 틀 2">
            <a:extLst>
              <a:ext uri="{FF2B5EF4-FFF2-40B4-BE49-F238E27FC236}">
                <a16:creationId xmlns:a16="http://schemas.microsoft.com/office/drawing/2014/main" id="{134F8B1C-BE02-4032-8935-A249C6B11A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8138" y="1228725"/>
            <a:ext cx="1053941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광고는 광고주가 아이디어</a:t>
            </a:r>
            <a:r>
              <a:rPr lang="en-US" altLang="ko-KR" sz="1800" dirty="0"/>
              <a:t>,</a:t>
            </a:r>
            <a:r>
              <a:rPr lang="ko-KR" altLang="en-US" sz="1800" dirty="0"/>
              <a:t> 상품</a:t>
            </a:r>
            <a:r>
              <a:rPr lang="en-US" altLang="ko-KR" sz="1800" dirty="0"/>
              <a:t>,</a:t>
            </a:r>
            <a:r>
              <a:rPr lang="ko-KR" altLang="en-US" sz="1800" dirty="0"/>
              <a:t> 서비스에 관한 비인적 프레젠테이션에 대해 비용을 지불한 모든 형태로 인쇄 광고</a:t>
            </a:r>
            <a:r>
              <a:rPr lang="en-US" altLang="ko-KR" sz="1800" dirty="0"/>
              <a:t>,</a:t>
            </a:r>
            <a:r>
              <a:rPr lang="ko-KR" altLang="en-US" sz="1800" dirty="0"/>
              <a:t> 방송 광고</a:t>
            </a:r>
            <a:r>
              <a:rPr lang="en-US" altLang="ko-KR" sz="1800" dirty="0"/>
              <a:t>,</a:t>
            </a:r>
            <a:r>
              <a:rPr lang="ko-KR" altLang="en-US" sz="1800" dirty="0"/>
              <a:t> 옥외 광고 등이 있음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장기적으로 브랜드 이미지를 형성하고 단기적으로 구매를 자극하고 메시지의 반복이 가능하며  많은 고객에게 접근이 가능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비인적 및 일방통행의 커뮤니케이션이고 비용이 많이 듦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짧은 시간에 동시에 다수의 고객에게 접근하여 서비스 정보를 제공하고 고객을 설득하며 회상하도록 하여 궁극적으로 구매 행동을 유도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광고를 이용하여 서비스의 </a:t>
            </a:r>
            <a:r>
              <a:rPr lang="ko-KR" altLang="en-US" sz="1800" dirty="0" err="1"/>
              <a:t>무형성을</a:t>
            </a:r>
            <a:r>
              <a:rPr lang="ko-KR" altLang="en-US" sz="1800" dirty="0"/>
              <a:t> 감소시켜 고객의 위험 부담을 낮춰 주고 추상적인 서비스를 고객의 마음속에 </a:t>
            </a:r>
            <a:r>
              <a:rPr lang="ko-KR" altLang="en-US" sz="1800" dirty="0" err="1"/>
              <a:t>포지셔닝하고</a:t>
            </a:r>
            <a:r>
              <a:rPr lang="ko-KR" altLang="en-US" sz="1800" dirty="0"/>
              <a:t> 브랜드 자산을 구축하는 데 중요한 역할 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광고 효과가 매출로 연결되기에는 시간이 오래 걸리는 단점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23556" name="직사각형 9">
            <a:extLst>
              <a:ext uri="{FF2B5EF4-FFF2-40B4-BE49-F238E27FC236}">
                <a16:creationId xmlns:a16="http://schemas.microsoft.com/office/drawing/2014/main" id="{62C2F936-8922-4AC0-82AE-3323B9B0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23557" name="그림 2">
            <a:extLst>
              <a:ext uri="{FF2B5EF4-FFF2-40B4-BE49-F238E27FC236}">
                <a16:creationId xmlns:a16="http://schemas.microsoft.com/office/drawing/2014/main" id="{893401B4-F601-43CF-B457-AFE84B9B9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2375" y="5465763"/>
            <a:ext cx="1571625" cy="140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8" name="그림 4">
            <a:extLst>
              <a:ext uri="{FF2B5EF4-FFF2-40B4-BE49-F238E27FC236}">
                <a16:creationId xmlns:a16="http://schemas.microsoft.com/office/drawing/2014/main" id="{2982A34C-8FB8-4571-AA2D-11FB3DAD0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3700" y="4764088"/>
            <a:ext cx="1452563" cy="209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193261F3-EECC-42AB-8EC6-CE8C64DB33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판매 촉진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0DB509A3-3FC8-4AD0-9AB0-BF2BF3845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975" y="1127125"/>
            <a:ext cx="10634663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판매촉진</a:t>
            </a:r>
            <a:r>
              <a:rPr lang="en-US" altLang="ko-KR" sz="1800" dirty="0"/>
              <a:t>: </a:t>
            </a:r>
            <a:r>
              <a:rPr lang="ko-KR" altLang="en-US" sz="1800" dirty="0"/>
              <a:t>상품 또는 서비스의 구매를 촉진하기 위한 단기적 자극수단으로 고객의 심리적 불안감에 대한 보상으로 비용을 줄여 주어 첫 방문을 유도하는 활동 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판매촉진의 역할</a:t>
            </a:r>
            <a:endParaRPr lang="en-US" altLang="ko-KR" sz="18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ko-KR" altLang="en-US" sz="1800" dirty="0"/>
              <a:t>단기 매출 향상과 장기적 시장점유율 확립에 도움이 되며</a:t>
            </a:r>
            <a:r>
              <a:rPr lang="en-US" altLang="ko-KR" sz="1800" dirty="0"/>
              <a:t>,</a:t>
            </a:r>
            <a:r>
              <a:rPr lang="ko-KR" altLang="en-US" sz="1800" dirty="0"/>
              <a:t> 특히 광고와 인적 판매에 함께 활용될 때 가장 효과적</a:t>
            </a:r>
            <a:endParaRPr lang="en-US" altLang="ko-KR" sz="18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ko-KR" altLang="en-US" sz="1800" dirty="0"/>
              <a:t>신제품을 사용해 고객을 유인하거나 경쟁사로부터 고객을 유인할 수 있으며 충성도 있는 고객에 대한 보상으로 고객과의 관계 구축에 도움이 됨</a:t>
            </a:r>
            <a:endParaRPr lang="en-US" altLang="ko-KR" sz="18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ko-KR" altLang="en-US" sz="1800" dirty="0"/>
              <a:t>광고 효과가 매출에 영향을 미치기 위해서 오랜 시간이 걸린 반면에 판매 촉진은 매출에 단기적이고 즉각적인 영향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R"/>
              <a:defRPr/>
            </a:pPr>
            <a:r>
              <a:rPr lang="ko-KR" altLang="en-US" sz="1800" dirty="0"/>
              <a:t>가격 지향적 판촉 </a:t>
            </a:r>
            <a:r>
              <a:rPr lang="en-US" altLang="ko-KR" sz="1800" dirty="0"/>
              <a:t>:</a:t>
            </a:r>
            <a:r>
              <a:rPr lang="ko-KR" altLang="en-US" sz="1800" dirty="0"/>
              <a:t> 가격 할인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가격할인이 대표적 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할인된 가격이 준거 가격이 되지 않도록 주의하는 것이 필요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25604" name="직사각형 9">
            <a:extLst>
              <a:ext uri="{FF2B5EF4-FFF2-40B4-BE49-F238E27FC236}">
                <a16:creationId xmlns:a16="http://schemas.microsoft.com/office/drawing/2014/main" id="{940A770A-C232-4932-997D-F5A16F493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6A6A65D9-4488-4BE1-BA4F-978E98550D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판매 촉진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A7C20060-BFA3-49C8-BAFC-C636B80BF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228725"/>
            <a:ext cx="10433050" cy="5248275"/>
          </a:xfrm>
        </p:spPr>
        <p:txBody>
          <a:bodyPr/>
          <a:lstStyle/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/>
              <a:t>2)</a:t>
            </a:r>
            <a:r>
              <a:rPr lang="ko-KR" altLang="en-US" sz="1800" dirty="0"/>
              <a:t> 비가격 지향적 판촉</a:t>
            </a:r>
            <a:endParaRPr lang="en-US" altLang="ko-KR" sz="1800" dirty="0"/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①  </a:t>
            </a:r>
            <a:r>
              <a:rPr lang="ko-KR" altLang="en-US" sz="1800" b="1" dirty="0"/>
              <a:t>샘플</a:t>
            </a:r>
            <a:endParaRPr lang="en-US" altLang="ko-KR" sz="1800" b="1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고객에게 무료로 서비스를 경험할 수 있는 기회를 주는 샘플은 신제품을 소개하고 신규 고객을 확보하는 데 가장 효과적이기는 하나 비용이 많이 듦</a:t>
            </a:r>
            <a:endParaRPr lang="en-US" altLang="ko-KR" sz="1800" dirty="0"/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②  </a:t>
            </a:r>
            <a:r>
              <a:rPr lang="ko-KR" altLang="en-US" sz="1800" b="1" dirty="0"/>
              <a:t>쿠폰</a:t>
            </a:r>
            <a:endParaRPr lang="en-US" altLang="ko-KR" sz="1800" b="1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일정 비율이나 일정 액수의 가격 할인</a:t>
            </a:r>
            <a:r>
              <a:rPr lang="en-US" altLang="ko-KR" sz="1800" dirty="0"/>
              <a:t>,</a:t>
            </a:r>
            <a:r>
              <a:rPr lang="ko-KR" altLang="en-US" sz="1800" dirty="0"/>
              <a:t> 무료 음료수 같은 부수적인 서비스의 제공으로 고객을 유인하는 방법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단기간에 매출을 자극할 수 있지만 장기적으로는 기업의 이미지와 브랜드 자산을 훼손할 우려가 있기 때문에 자주 사용하는 것은 좋지 않음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27652" name="직사각형 9">
            <a:extLst>
              <a:ext uri="{FF2B5EF4-FFF2-40B4-BE49-F238E27FC236}">
                <a16:creationId xmlns:a16="http://schemas.microsoft.com/office/drawing/2014/main" id="{01B2FAA6-3879-474F-AD0F-223518BED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5FA829AF-220D-44DD-BCF4-E9F941CD4F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판매 촉진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BEBAB62A-5563-43FF-99E9-CFEA0BDB1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228725"/>
            <a:ext cx="10591800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③  프리미엄</a:t>
            </a:r>
            <a:endParaRPr lang="en-US" altLang="ko-KR" sz="18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서비스를 구매한 고객에게 무료로 특정 서비스나 사은품을 제공하는 것</a:t>
            </a:r>
            <a:endParaRPr lang="en-US" altLang="ko-KR" sz="1800" dirty="0"/>
          </a:p>
          <a:p>
            <a:pPr marL="465138" lvl="1" indent="-28575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충성 고객에 대한 보상으로 충성도를 더 높이기 위한 방법으로 쿠폰과 달리 기업 이미지에 부정적인 영향을 주지 않음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④  경연 대회와 경품</a:t>
            </a:r>
            <a:endParaRPr lang="en-US" altLang="ko-KR" sz="18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고객에게 복권이나 </a:t>
            </a:r>
            <a:r>
              <a:rPr lang="ko-KR" altLang="en-US" sz="1800" dirty="0" err="1"/>
              <a:t>제비뽑기</a:t>
            </a:r>
            <a:r>
              <a:rPr lang="ko-KR" altLang="en-US" sz="1800" dirty="0"/>
              <a:t> 같은 기회를 제공하는 것으로 서비스에 대한 관여도를 높이고 서비스를 즐겁게 이용할 수 있도록 계획 </a:t>
            </a:r>
            <a:r>
              <a:rPr lang="en-US" altLang="ko-KR" sz="1800" dirty="0"/>
              <a:t>(SNS </a:t>
            </a:r>
            <a:r>
              <a:rPr lang="ko-KR" altLang="en-US" sz="1800" dirty="0"/>
              <a:t>댓글 달기</a:t>
            </a:r>
            <a:r>
              <a:rPr lang="en-US" altLang="ko-KR" sz="1800" dirty="0"/>
              <a:t>/</a:t>
            </a:r>
            <a:r>
              <a:rPr lang="ko-KR" altLang="en-US" sz="1800" dirty="0"/>
              <a:t>공유하기 이벤트</a:t>
            </a:r>
            <a:r>
              <a:rPr lang="en-US" altLang="ko-KR" sz="1800" dirty="0"/>
              <a:t>)</a:t>
            </a: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/>
              <a:t>⑤  단골고객 프로그램</a:t>
            </a:r>
            <a:endParaRPr lang="en-US" altLang="ko-KR" sz="1800" dirty="0"/>
          </a:p>
          <a:p>
            <a:pPr marL="522288" lvl="1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/>
              <a:t>일정한 기간 동안 반복적으로 구매하는 고객에게 추가적인 서비스를 제공하여 보상함으로써 </a:t>
            </a:r>
            <a:r>
              <a:rPr lang="ko-KR" altLang="en-US" sz="1800" dirty="0" err="1"/>
              <a:t>재구매율을</a:t>
            </a:r>
            <a:r>
              <a:rPr lang="ko-KR" altLang="en-US" sz="1800" dirty="0"/>
              <a:t> 증가시키고 브랜드 </a:t>
            </a:r>
            <a:r>
              <a:rPr lang="ko-KR" altLang="en-US" sz="1800" dirty="0" err="1"/>
              <a:t>충성도를</a:t>
            </a:r>
            <a:r>
              <a:rPr lang="ko-KR" altLang="en-US" sz="1800" dirty="0"/>
              <a:t> 더 높이는 것</a:t>
            </a:r>
            <a:endParaRPr lang="en-US" altLang="ko-KR" sz="1800" dirty="0"/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29700" name="직사각형 9">
            <a:extLst>
              <a:ext uri="{FF2B5EF4-FFF2-40B4-BE49-F238E27FC236}">
                <a16:creationId xmlns:a16="http://schemas.microsoft.com/office/drawing/2014/main" id="{BE9CBEF8-5737-4A03-907B-BCCC49036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856B3E20-1DAC-4461-9329-2FA8E4024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</a:t>
            </a:r>
            <a:r>
              <a:rPr lang="ko-KR" altLang="en-US"/>
              <a:t> 홍보와 공중 관계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F11A6C7E-A4D5-42A4-96DC-548B1EEFE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228725"/>
            <a:ext cx="10442575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대가를 지불하지 않고 </a:t>
            </a:r>
            <a:r>
              <a:rPr lang="en-US" altLang="ko-KR" sz="1800" dirty="0"/>
              <a:t>TV, </a:t>
            </a:r>
            <a:r>
              <a:rPr lang="ko-KR" altLang="en-US" sz="1800" dirty="0"/>
              <a:t>라디오</a:t>
            </a:r>
            <a:r>
              <a:rPr lang="en-US" altLang="ko-KR" sz="1800" dirty="0"/>
              <a:t>,</a:t>
            </a:r>
            <a:r>
              <a:rPr lang="ko-KR" altLang="en-US" sz="1800" dirty="0"/>
              <a:t> 신문</a:t>
            </a:r>
            <a:r>
              <a:rPr lang="en-US" altLang="ko-KR" sz="1800" dirty="0"/>
              <a:t>,</a:t>
            </a:r>
            <a:r>
              <a:rPr lang="ko-KR" altLang="en-US" sz="1800" dirty="0"/>
              <a:t> 잡지</a:t>
            </a:r>
            <a:r>
              <a:rPr lang="en-US" altLang="ko-KR" sz="1800" dirty="0"/>
              <a:t>,</a:t>
            </a:r>
            <a:r>
              <a:rPr lang="ko-KR" altLang="en-US" sz="1800" dirty="0"/>
              <a:t> 인터넷</a:t>
            </a:r>
            <a:r>
              <a:rPr lang="en-US" altLang="ko-KR" sz="1800" dirty="0"/>
              <a:t>,</a:t>
            </a:r>
            <a:r>
              <a:rPr lang="ko-KR" altLang="en-US" sz="1800" dirty="0"/>
              <a:t> 소셜 미디어 등 비인적 매체를 이용하여 서비스에 관한 소식을 고객에게 전달하는 활동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en-US" altLang="ko-KR" sz="1800" dirty="0"/>
              <a:t>    </a:t>
            </a:r>
            <a:r>
              <a:rPr lang="ko-KR" altLang="en-US" sz="1800" dirty="0"/>
              <a:t>예</a:t>
            </a:r>
            <a:r>
              <a:rPr lang="en-US" altLang="ko-KR" sz="1800" dirty="0"/>
              <a:t>)</a:t>
            </a:r>
            <a:r>
              <a:rPr lang="ko-KR" altLang="en-US" sz="1800" dirty="0"/>
              <a:t> 음식 전문 기자가 쓰는 지역 음식점 신문 기사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신메뉴</a:t>
            </a:r>
            <a:r>
              <a:rPr lang="ko-KR" altLang="en-US" sz="1800" dirty="0"/>
              <a:t> 런칭 행사나 </a:t>
            </a:r>
            <a:r>
              <a:rPr lang="ko-KR" altLang="en-US" sz="1800" dirty="0" err="1"/>
              <a:t>푸드</a:t>
            </a:r>
            <a:r>
              <a:rPr lang="ko-KR" altLang="en-US" sz="1800" dirty="0"/>
              <a:t> 페스티벌 같은 뉴스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고객은 대충 매체를 통해 접한 뉴스를 대체로 객관적이며 정확하다고 인식하며 외식업체에 대해 덜 경계하게 되고 더욱 친밀하게 느끼게 됨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판매 촉진과 달리 큰 비용을 지출하지 않으면서 고객의 신뢰를 얻고 외식업체의 긍정적인 이미지를 구축할 수 있음 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기업이 직접 펼치는 마케팅 활동과 달리 홍보 내용에 대한 통제가 어려워 부정적 홍보 내용인   경우 큰 피해를 볼 수 있음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31748" name="직사각형 9">
            <a:extLst>
              <a:ext uri="{FF2B5EF4-FFF2-40B4-BE49-F238E27FC236}">
                <a16:creationId xmlns:a16="http://schemas.microsoft.com/office/drawing/2014/main" id="{1A304194-2CF1-4A2A-8ADF-16384F24E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20EF750A-8363-4817-AA07-BD33CA9FE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4)</a:t>
            </a:r>
            <a:r>
              <a:rPr lang="ko-KR" altLang="en-US"/>
              <a:t> 인적 판매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A92068B5-285B-4FEC-A6BC-D181751EA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289050"/>
            <a:ext cx="10485437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고객과 일대일로 커뮤니케이션을 하는 대인 커뮤니케이션에 해당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판매원이 기업을 대표하여 고객과 직접 대면하며 자사의 서비스를 구매하도록 설득하는 커뮤니케이션 활동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종사원과 고객 간의 양방향의 커뮤니케이션을 통해 고객의 특정 요구에 유연하게 대응할 수 있고 즉각적인 피드백을 얻을 수 있음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종사원은 고객 만족과 </a:t>
            </a:r>
            <a:r>
              <a:rPr lang="ko-KR" altLang="en-US" sz="1800" dirty="0" err="1"/>
              <a:t>재구매에</a:t>
            </a:r>
            <a:r>
              <a:rPr lang="ko-KR" altLang="en-US" sz="1800" dirty="0"/>
              <a:t> 결정적인 역할을 하고 장기적인 관계 유지에 도움을 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유능한 종사원의 확보 및 교육</a:t>
            </a:r>
            <a:r>
              <a:rPr lang="en-US" altLang="ko-KR" sz="1800" dirty="0"/>
              <a:t>,</a:t>
            </a:r>
            <a:r>
              <a:rPr lang="ko-KR" altLang="en-US" sz="1800" dirty="0"/>
              <a:t> 훈련에 비용이 많이 든다는 단점이 있음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33796" name="직사각형 9">
            <a:extLst>
              <a:ext uri="{FF2B5EF4-FFF2-40B4-BE49-F238E27FC236}">
                <a16:creationId xmlns:a16="http://schemas.microsoft.com/office/drawing/2014/main" id="{B64908C8-1B3B-4901-9E9F-8D4F1AFC0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텍스트 개체 틀 3">
            <a:extLst>
              <a:ext uri="{FF2B5EF4-FFF2-40B4-BE49-F238E27FC236}">
                <a16:creationId xmlns:a16="http://schemas.microsoft.com/office/drawing/2014/main" id="{C61657A9-B731-4F34-9C49-834DE6279F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4.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외식서비스에서 효과적인 마케팅 커뮤니케이션 전략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D0240B7-E00A-4D59-BBB5-43E5DA2E1DCB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9540BA-070D-4A9D-8E59-5F61F4C0A5A7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B4609684-0F23-4D89-A1FC-EAF3A048FC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</a:t>
            </a:r>
            <a:r>
              <a:rPr lang="ko-KR" altLang="en-US"/>
              <a:t> 구전 커뮤니케이션 네트워크를 개발하라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F389F4FB-7540-46DB-AF1A-F703B650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295400"/>
            <a:ext cx="10480675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고객이 위험 부담을 많이 느낄수록 구전 정보에 의존하는 경향이 높음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구전 커뮤니케이션은 사람들의 입에서 입으로 전해지는 비공식적 전달 과정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구전에 의해 전파되는 정보는 광고와 같은 상업 정보와 비교하여 높은 신뢰성을 가지며 소집단 커뮤니케이션 형태를 띠어 수신자에게 미치는 영향력이 큼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고객이 검색을 통해 상품과 서비스를 판단하기 때문에 실제적으로 유의미한 서비스가 제공되어야 구전 커뮤니케이션이 가능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36868" name="직사각형 9">
            <a:extLst>
              <a:ext uri="{FF2B5EF4-FFF2-40B4-BE49-F238E27FC236}">
                <a16:creationId xmlns:a16="http://schemas.microsoft.com/office/drawing/2014/main" id="{2F0FC6CD-1C18-4C90-A564-FC4A2B883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id="{17D219D5-4636-4B50-BB5F-C12B5CE7D6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</a:t>
            </a:r>
            <a:r>
              <a:rPr lang="ko-KR" altLang="en-US"/>
              <a:t> 실행 가능한 것을 약속하라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FDBD690D-33EC-44A4-A1AA-EA02A4847B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8925" y="1228725"/>
            <a:ext cx="10690225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커뮤니케이션은 기존에 가지고 있던 서비스 인식을 강화하거나 변화시켜 새로운 기대를 가지게   할 수 있음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고객은 서비스에 대해 기대한 것과 지각한 것을 비교하여 고객 만족을 결정하기 때문에 외식업체는 약속을 지키도록 해야 함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서비스에 대한 약속은 고객의 기대를 증가시키고 결국에는 약속을 제대로 지키지 못한다면 고객은 불만하게 됨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전달의 실제 가능 수준을 파악하고 고객이 실제로 받게 될 서비스를 정확하게 반영하여    커뮤니케이션을 진행해야 함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38916" name="직사각형 9">
            <a:extLst>
              <a:ext uri="{FF2B5EF4-FFF2-40B4-BE49-F238E27FC236}">
                <a16:creationId xmlns:a16="http://schemas.microsoft.com/office/drawing/2014/main" id="{4C3BB376-9F74-48E5-B010-81B87DAB4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77F53006-F28C-4869-8AD1-ED5E7601C4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3)</a:t>
            </a:r>
            <a:r>
              <a:rPr lang="ko-KR" altLang="en-US"/>
              <a:t> 약속한 서비스를 달성하도록 노력하라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01025F31-8BA9-46FF-8D51-BA9E4A477F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88" y="1347788"/>
            <a:ext cx="10845800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약속을 제대로 관리하지 못할 때 외부 커뮤니케이션을 통해 외식 업체가 약속한 서비스와   실제 서비스 전달 과정 사이에서 차이가 발생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달성 가능한 약속을 하는데 필요한 정보를 갖고 있지 않거나 갖고 있더라도 이를 적절하게 통합하지 못하기 때문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부서간 내부 마케팅 커뮤니케이션이 제대로 이루어지지 않을 경우 탁월한 품질의 서비스를 제공하기 어려워짐 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커뮤니케이션은 고객과의 소통을 제공하는 것뿐만 아니라 서비스 전달 과정에서 참여하는  조사원을 교육하고 동기 부여하는 것도 포함해야 함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40964" name="직사각형 9">
            <a:extLst>
              <a:ext uri="{FF2B5EF4-FFF2-40B4-BE49-F238E27FC236}">
                <a16:creationId xmlns:a16="http://schemas.microsoft.com/office/drawing/2014/main" id="{506CDB0B-738C-4293-91B1-CB78B842D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>
            <a:extLst>
              <a:ext uri="{FF2B5EF4-FFF2-40B4-BE49-F238E27FC236}">
                <a16:creationId xmlns:a16="http://schemas.microsoft.com/office/drawing/2014/main" id="{A691DF8E-0D81-43F4-A795-9A06EDFD54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4)</a:t>
            </a:r>
            <a:r>
              <a:rPr lang="ko-KR" altLang="en-US"/>
              <a:t> 고객 기대를 관리하고 고객을 교육하라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72582818-682E-4C20-8A4C-1D2416075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913" y="1228725"/>
            <a:ext cx="10529887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고객에게 어떻게 서비스가 제공되는지</a:t>
            </a:r>
            <a:r>
              <a:rPr lang="en-US" altLang="ko-KR" sz="1800" dirty="0"/>
              <a:t>,</a:t>
            </a:r>
            <a:r>
              <a:rPr lang="ko-KR" altLang="en-US" sz="1800" dirty="0"/>
              <a:t> 서비스 전달 과정에서 고객의 역할이 무엇인지</a:t>
            </a:r>
            <a:r>
              <a:rPr lang="en-US" altLang="ko-KR" sz="1800" dirty="0"/>
              <a:t>,</a:t>
            </a:r>
            <a:r>
              <a:rPr lang="ko-KR" altLang="en-US" sz="1800" dirty="0"/>
              <a:t> 그리고  서비스를 어떻게 평가할 수 있는지에 대해 명확하게 이해하지 못할 경우 고객은 불만족하게 되고 잘못된 책임을 외식업체 탓으로 돌릴 수 있음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 자신으로 인해 발생한 문제였다 하더라도 고객은 불만족하고 </a:t>
            </a:r>
            <a:br>
              <a:rPr lang="en-US" altLang="ko-KR" sz="1800" dirty="0"/>
            </a:br>
            <a:r>
              <a:rPr lang="ko-KR" altLang="en-US" sz="1800" dirty="0"/>
              <a:t>외식업체 탓을 하게 되므로 서비스 내용</a:t>
            </a:r>
            <a:r>
              <a:rPr lang="en-US" altLang="ko-KR" sz="1800" dirty="0"/>
              <a:t>,</a:t>
            </a:r>
            <a:r>
              <a:rPr lang="ko-KR" altLang="en-US" sz="1800" dirty="0"/>
              <a:t> 서비스 전달 방법</a:t>
            </a:r>
            <a:r>
              <a:rPr lang="en-US" altLang="ko-KR" sz="1800" dirty="0"/>
              <a:t>,</a:t>
            </a:r>
            <a:r>
              <a:rPr lang="ko-KR" altLang="en-US" sz="1800" dirty="0"/>
              <a:t> </a:t>
            </a:r>
            <a:br>
              <a:rPr lang="en-US" altLang="ko-KR" sz="1800" dirty="0"/>
            </a:br>
            <a:r>
              <a:rPr lang="ko-KR" altLang="en-US" sz="1800" dirty="0"/>
              <a:t>서비스 생산 과정에 공동으로 참여하는 방법에 대해 </a:t>
            </a:r>
            <a:br>
              <a:rPr lang="en-US" altLang="ko-KR" sz="1800" dirty="0"/>
            </a:br>
            <a:r>
              <a:rPr lang="ko-KR" altLang="en-US" sz="1800" dirty="0"/>
              <a:t>고객 교육을 실시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endParaRPr lang="en-US" altLang="ko-KR" sz="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전달과 관련된 표준이 어떠한 것인지 분명히 알려 주어 </a:t>
            </a:r>
            <a:br>
              <a:rPr lang="en-US" altLang="ko-KR" sz="1800" dirty="0"/>
            </a:br>
            <a:r>
              <a:rPr lang="ko-KR" altLang="en-US" sz="1800" dirty="0"/>
              <a:t>고객이 서비스 전달이 제대로 이루어졌다는 사실을 인지할 수 있도록 해야 함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43012" name="직사각형 9">
            <a:extLst>
              <a:ext uri="{FF2B5EF4-FFF2-40B4-BE49-F238E27FC236}">
                <a16:creationId xmlns:a16="http://schemas.microsoft.com/office/drawing/2014/main" id="{25B29486-57A4-4A2B-A981-BD37A54DE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43013" name="그림 1">
            <a:extLst>
              <a:ext uri="{FF2B5EF4-FFF2-40B4-BE49-F238E27FC236}">
                <a16:creationId xmlns:a16="http://schemas.microsoft.com/office/drawing/2014/main" id="{608F76AB-6B04-4E56-9DE0-02F0539BC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0738" y="2743200"/>
            <a:ext cx="2312987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제목 1">
            <a:extLst>
              <a:ext uri="{FF2B5EF4-FFF2-40B4-BE49-F238E27FC236}">
                <a16:creationId xmlns:a16="http://schemas.microsoft.com/office/drawing/2014/main" id="{4C21FF8E-6DB9-4A0F-BA2B-90F38FEF3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5)</a:t>
            </a:r>
            <a:r>
              <a:rPr lang="ko-KR" altLang="en-US"/>
              <a:t> 유형적인 근거를 제시하라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F0A81860-EA84-46E9-B4E7-20A280B18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3" y="1273175"/>
            <a:ext cx="10125075" cy="2478088"/>
          </a:xfrm>
        </p:spPr>
        <p:txBody>
          <a:bodyPr/>
          <a:lstStyle/>
          <a:p>
            <a:pPr marL="342900" indent="-342900" eaLnBrk="1" hangingPunct="1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서비스는 무형적인 특성을 가지고 있기 때문에 고객의 기억에 남기 위해서는 물리적인 단서와 유형적인 증거를 통해 커뮤니케이션하는 것이 효과적</a:t>
            </a:r>
            <a:endParaRPr lang="en-US" altLang="ko-KR" sz="1800" dirty="0"/>
          </a:p>
          <a:p>
            <a:pPr marL="342900" indent="-342900" eaLnBrk="1" hangingPunct="1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무형의 서비스를 마치 눈에 보이는 것처럼 설명하면 고객이 서비스 내용을 보다 쉽게 이해할 수 있고 동시에 사용해 보고 싶은 마음이 커지게 됨 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/>
          </a:p>
        </p:txBody>
      </p:sp>
      <p:sp>
        <p:nvSpPr>
          <p:cNvPr id="45060" name="직사각형 9">
            <a:extLst>
              <a:ext uri="{FF2B5EF4-FFF2-40B4-BE49-F238E27FC236}">
                <a16:creationId xmlns:a16="http://schemas.microsoft.com/office/drawing/2014/main" id="{684ED426-6E18-48B5-8A03-F2EF6BF7E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pic>
        <p:nvPicPr>
          <p:cNvPr id="45061" name="그림 1">
            <a:extLst>
              <a:ext uri="{FF2B5EF4-FFF2-40B4-BE49-F238E27FC236}">
                <a16:creationId xmlns:a16="http://schemas.microsoft.com/office/drawing/2014/main" id="{96A015DE-044A-406B-B75B-851C158FD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663" y="3219450"/>
            <a:ext cx="2909887" cy="363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FC74EE13-269C-4863-8D59-BEEE994B7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438" y="1176338"/>
            <a:ext cx="10477500" cy="5248275"/>
          </a:xfrm>
        </p:spPr>
        <p:txBody>
          <a:bodyPr/>
          <a:lstStyle/>
          <a:p>
            <a:pPr marL="342900" indent="-342900" eaLnBrk="1" hangingPunct="1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스토리텔링을 활용하면 서비스를 가장 효과적으로 전달할 수 있음</a:t>
            </a:r>
            <a:endParaRPr lang="en-US" altLang="ko-KR" sz="1800" dirty="0"/>
          </a:p>
          <a:p>
            <a:pPr marL="342900" indent="-342900" eaLnBrk="1" hangingPunct="1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 상품의 특징이나 장점을 나열하는 것보다 서비스를 이용했을 때의 고객의 경험이나 </a:t>
            </a:r>
            <a:r>
              <a:rPr lang="ko-KR" altLang="en-US" sz="1800"/>
              <a:t>현실감 있는 </a:t>
            </a:r>
            <a:r>
              <a:rPr lang="ko-KR" altLang="en-US" sz="1800" dirty="0"/>
              <a:t>스토리를 전하는 커뮤니케이션이 무형의 서비스를 알리는 데 더욱 효과적</a:t>
            </a:r>
            <a:endParaRPr lang="en-US" altLang="ko-KR" sz="1800" dirty="0"/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47107" name="직사각형 9">
            <a:extLst>
              <a:ext uri="{FF2B5EF4-FFF2-40B4-BE49-F238E27FC236}">
                <a16:creationId xmlns:a16="http://schemas.microsoft.com/office/drawing/2014/main" id="{4E817E37-F0FC-478C-B5BE-D4D3A3AED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7108" name="제목 1">
            <a:extLst>
              <a:ext uri="{FF2B5EF4-FFF2-40B4-BE49-F238E27FC236}">
                <a16:creationId xmlns:a16="http://schemas.microsoft.com/office/drawing/2014/main" id="{A40A472E-FF3A-41F3-9433-9511700769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6)</a:t>
            </a:r>
            <a:r>
              <a:rPr kumimoji="1" lang="ko-KR" altLang="en-US"/>
              <a:t> 서비스 경험을 이야기로 전하라</a:t>
            </a:r>
          </a:p>
        </p:txBody>
      </p:sp>
      <p:pic>
        <p:nvPicPr>
          <p:cNvPr id="47109" name="그림 1">
            <a:extLst>
              <a:ext uri="{FF2B5EF4-FFF2-40B4-BE49-F238E27FC236}">
                <a16:creationId xmlns:a16="http://schemas.microsoft.com/office/drawing/2014/main" id="{A0487A2E-5B72-4A48-8110-B64511487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3132138"/>
            <a:ext cx="822325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4D96380D-1A15-4325-B075-BFBF6833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488" y="1281113"/>
            <a:ext cx="10490200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서비스는 고객과 직원이 함께 생산하고 소비하는 것이므로 서비스 직원의 행동 자체가 고객이  구매하는 서비스가 됨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고객에게 서비스를 제공하기 전에 직원이 먼저 서비스에 대해 충분히 이해하고 직원이 업무를 잘 수행하도록 상품과 서비스의 고유성을 알려줘야 함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서비스를 공급하는 직원이 친밀하게 상호작용하면서 서비스에 만족한 고객이 등장하는 모습을  광고에서 보여 준다면 고객은 생생한 서비스 현장을 보다 구체적으로 보게 되어 안심이 될 것</a:t>
            </a:r>
            <a:endParaRPr lang="en-US" altLang="ko-KR" sz="1800" dirty="0"/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열심히 일하는 동료 서비스 직원이 광고에 등장한 모습은 직원들에게 일에  대한 열정이나 회사에 대한 자부심을 느끼게 해줌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49155" name="직사각형 9">
            <a:extLst>
              <a:ext uri="{FF2B5EF4-FFF2-40B4-BE49-F238E27FC236}">
                <a16:creationId xmlns:a16="http://schemas.microsoft.com/office/drawing/2014/main" id="{C79641A9-7EEF-45CC-AB18-5E4EE50F9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9156" name="제목 2">
            <a:extLst>
              <a:ext uri="{FF2B5EF4-FFF2-40B4-BE49-F238E27FC236}">
                <a16:creationId xmlns:a16="http://schemas.microsoft.com/office/drawing/2014/main" id="{450C7DF8-2FE3-44D3-A14B-600082FA33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7)</a:t>
            </a:r>
            <a:r>
              <a:rPr kumimoji="1" lang="ko-KR" altLang="en-US"/>
              <a:t> 광고에 서비스 직원이나 만족한 고객을 등장시켜라</a:t>
            </a:r>
          </a:p>
        </p:txBody>
      </p:sp>
      <p:pic>
        <p:nvPicPr>
          <p:cNvPr id="49157" name="그림 1">
            <a:extLst>
              <a:ext uri="{FF2B5EF4-FFF2-40B4-BE49-F238E27FC236}">
                <a16:creationId xmlns:a16="http://schemas.microsoft.com/office/drawing/2014/main" id="{DD40C190-F7B0-4251-BA1C-2E62DC2D1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63" y="4379913"/>
            <a:ext cx="3159125" cy="239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E12A6D37-6C0E-4618-9FC9-1D44FE29E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401763"/>
            <a:ext cx="10421937" cy="5248275"/>
          </a:xfrm>
        </p:spPr>
        <p:txBody>
          <a:bodyPr/>
          <a:lstStyle/>
          <a:p>
            <a:pPr marL="342900" indent="-342900" eaLnBrk="1" hangingPunct="1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경험 속성을 가진 외식서비스는 고객을 레스토랑으로 유인하고 외식서비스 상품을 체험시키고 판매하기 위한 커뮤니케이션이 중요함</a:t>
            </a:r>
            <a:endParaRPr lang="en-US" altLang="ko-KR" sz="1800" dirty="0"/>
          </a:p>
          <a:p>
            <a:pPr marL="342900" indent="-342900" eaLnBrk="1" hangingPunct="1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직접 경험해 보기 전에는 알 수 없는 서비스의 경험 속성들을 탐색 가능한 속성으로 바꾸어 주는 것은  경험 속성이 많은 외식서비스 선택에서 영향력이 큼</a:t>
            </a:r>
            <a:endParaRPr lang="en-US" altLang="ko-KR" sz="1800" dirty="0"/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1800" b="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51203" name="직사각형 9">
            <a:extLst>
              <a:ext uri="{FF2B5EF4-FFF2-40B4-BE49-F238E27FC236}">
                <a16:creationId xmlns:a16="http://schemas.microsoft.com/office/drawing/2014/main" id="{C80604EC-1111-494A-BACE-DBCB8803BE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1204" name="제목 1">
            <a:extLst>
              <a:ext uri="{FF2B5EF4-FFF2-40B4-BE49-F238E27FC236}">
                <a16:creationId xmlns:a16="http://schemas.microsoft.com/office/drawing/2014/main" id="{E838F9B1-8CFF-4696-B3AC-ADAEBD788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8)</a:t>
            </a:r>
            <a:r>
              <a:rPr kumimoji="1" lang="ko-KR" altLang="en-US"/>
              <a:t> 경험 속성을 탐색 속성으로 만들어라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2F7194A9-46D4-457F-8D7B-6AB0F1748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138" y="1360488"/>
            <a:ext cx="10507662" cy="5248275"/>
          </a:xfrm>
        </p:spPr>
        <p:txBody>
          <a:bodyPr/>
          <a:lstStyle/>
          <a:p>
            <a:pPr marL="342900" indent="-342900" eaLnBrk="1" hangingPunct="1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광고는 고객에게 성수기와 비수기에 대한 정보를 제공해 </a:t>
            </a:r>
            <a:r>
              <a:rPr lang="ko-KR" altLang="en-US" sz="1800" dirty="0" err="1"/>
              <a:t>소멸성을</a:t>
            </a:r>
            <a:r>
              <a:rPr lang="ko-KR" altLang="en-US" sz="1800" dirty="0"/>
              <a:t> 줄일 수 있음</a:t>
            </a:r>
            <a:endParaRPr lang="en-US" altLang="ko-KR" sz="1800" dirty="0"/>
          </a:p>
          <a:p>
            <a:pPr marL="342900" indent="-342900" eaLnBrk="1" hangingPunct="1">
              <a:lnSpc>
                <a:spcPct val="20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/>
              <a:t>성수기 또는 피크 타임에 대한 정보를 제공하면 고객은 피크 타임의 수요를 줄이게 </a:t>
            </a:r>
            <a:r>
              <a:rPr lang="ko-KR" altLang="en-US" sz="1800"/>
              <a:t>되고 외식업체는 비수기의 </a:t>
            </a:r>
            <a:r>
              <a:rPr lang="ko-KR" altLang="en-US" sz="1800" dirty="0"/>
              <a:t>특별 할인 광고를 통해 새로운 수요를 창출할 수 있음</a:t>
            </a:r>
            <a:endParaRPr lang="en-US" altLang="ko-KR" sz="1800" dirty="0"/>
          </a:p>
          <a:p>
            <a:pPr marL="285750" indent="-285750" eaLnBrk="1" hangingPunct="1">
              <a:lnSpc>
                <a:spcPct val="200000"/>
              </a:lnSpc>
              <a:buClr>
                <a:schemeClr val="tx1"/>
              </a:buClr>
              <a:defRPr/>
            </a:pPr>
            <a:endParaRPr lang="en-US" altLang="ko-KR" sz="1800" dirty="0"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marL="285750" indent="-28575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/>
          </a:p>
        </p:txBody>
      </p:sp>
      <p:sp>
        <p:nvSpPr>
          <p:cNvPr id="53251" name="직사각형 9">
            <a:extLst>
              <a:ext uri="{FF2B5EF4-FFF2-40B4-BE49-F238E27FC236}">
                <a16:creationId xmlns:a16="http://schemas.microsoft.com/office/drawing/2014/main" id="{B350A504-B5E7-4376-A801-B3C8B4D19A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3252" name="제목 2">
            <a:extLst>
              <a:ext uri="{FF2B5EF4-FFF2-40B4-BE49-F238E27FC236}">
                <a16:creationId xmlns:a16="http://schemas.microsoft.com/office/drawing/2014/main" id="{B74EE7DF-3E53-439D-9E1C-959BC4EB0F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8)</a:t>
            </a:r>
            <a:r>
              <a:rPr kumimoji="1" lang="ko-KR" altLang="en-US"/>
              <a:t> 수요와 공급을 관리하라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텍스트 개체 틀 3">
            <a:extLst>
              <a:ext uri="{FF2B5EF4-FFF2-40B4-BE49-F238E27FC236}">
                <a16:creationId xmlns:a16="http://schemas.microsoft.com/office/drawing/2014/main" id="{E1A61F99-44C2-44AB-B5A5-9709F992E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>
              <a:buClr>
                <a:schemeClr val="tx1"/>
              </a:buClr>
            </a:pPr>
            <a:r>
              <a:rPr lang="en-US" altLang="ko-KR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5.</a:t>
            </a:r>
            <a:r>
              <a:rPr lang="ko-KR" altLang="en-US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디지털 마케팅 커뮤니케이션</a:t>
            </a:r>
            <a:endParaRPr lang="en-US" altLang="ko-KR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C45C4F-550C-4D7E-97EF-63D3745BE3CB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B8FA965-7E97-477F-9700-EC2E1835231C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내용 개체 틀 2">
            <a:extLst>
              <a:ext uri="{FF2B5EF4-FFF2-40B4-BE49-F238E27FC236}">
                <a16:creationId xmlns:a16="http://schemas.microsoft.com/office/drawing/2014/main" id="{78C35BF0-33FC-4178-9A07-39B7E460DA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4488" y="1076325"/>
            <a:ext cx="10645775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인터넷을 통한 메시지는 웹사이트에 광고를 통해 전하는 커뮤니케이션 방식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외식업체 웹사이트를 통해 메뉴와 서비스에 대한 정보를 상세히 전달할 수 있을 뿐만 아니라 인기 있는 웹사이트와 연결하여 고객을 유인할 수도 있고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방문하는 고객의 검색기록과 고객 정보는    추후 관계 마케팅의 기반이 될 수 있음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AutoNum type="arabicParenBoth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온라인 광고의 특징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일대일 마케팅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: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다수에게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획일화된 정보가 아닌 개별화된 메시지를 수신자 개개인에게 전달할 수 있는 일대일 마케팅 가능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시간과 공간의 자유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: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하루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24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시간 언제라도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어디에서든지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광고를 접할 수 있음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즉각적인 구매 유도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: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상품 검색 이후 구매까지 과정이 비교적 짧아질 수 있음 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데이터베이스 마케팅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: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광고의 수신 여부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제공하는 광고에 대한 반응과 내용 등이 기록되고 측정되어 데이터베이스 마케팅의 기초가 됨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자유로운 스폰서십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: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누구나 매체 개설 가능하고 자신의 홈페이지에 스폰서를 유치할 수 있음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56323" name="직사각형 9">
            <a:extLst>
              <a:ext uri="{FF2B5EF4-FFF2-40B4-BE49-F238E27FC236}">
                <a16:creationId xmlns:a16="http://schemas.microsoft.com/office/drawing/2014/main" id="{7AAAD7A1-9CBC-402E-BEBA-468B9B024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6324" name="제목 2">
            <a:extLst>
              <a:ext uri="{FF2B5EF4-FFF2-40B4-BE49-F238E27FC236}">
                <a16:creationId xmlns:a16="http://schemas.microsoft.com/office/drawing/2014/main" id="{FFCADD34-8AA8-40EF-8208-2B7481196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1)</a:t>
            </a:r>
            <a:r>
              <a:rPr kumimoji="1" lang="ko-KR" altLang="en-US"/>
              <a:t> 온라인 마케팅 커뮤니케이션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내용 개체 틀 2">
            <a:extLst>
              <a:ext uri="{FF2B5EF4-FFF2-40B4-BE49-F238E27FC236}">
                <a16:creationId xmlns:a16="http://schemas.microsoft.com/office/drawing/2014/main" id="{64C55D99-BF18-48AF-940F-EAC9E5B9D1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8138" y="1295400"/>
            <a:ext cx="10474325" cy="5248275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>
                <a:latin typeface="서울남산 장체 L" panose="02020503020101020101" pitchFamily="18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(2)</a:t>
            </a:r>
            <a:r>
              <a:rPr lang="ko-KR" altLang="en-US" sz="1800">
                <a:latin typeface="서울남산 장체 L" panose="02020503020101020101" pitchFamily="18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18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온라인 광고의 형태</a:t>
            </a:r>
            <a:endParaRPr lang="en-US" altLang="ko-KR" sz="180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/>
              <a:t> </a:t>
            </a:r>
            <a:r>
              <a:rPr lang="ko-KR" altLang="en-US" sz="1800" b="1"/>
              <a:t>온라인 광고의 형태는 크게 푸쉬형과 풀형으로 구분 </a:t>
            </a:r>
            <a:endParaRPr lang="en-US" altLang="ko-KR" sz="1800" b="1"/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1"/>
              <a:t> 푸쉬형 </a:t>
            </a:r>
            <a:r>
              <a:rPr lang="en-US" altLang="ko-KR" sz="1800" b="1"/>
              <a:t>:</a:t>
            </a:r>
            <a:r>
              <a:rPr lang="ko-KR" altLang="en-US" sz="1800" b="1"/>
              <a:t> 인터넷 사용자에게 광고를 밀어내기 식으로 전달하는 것으로 배너 광고</a:t>
            </a:r>
            <a:r>
              <a:rPr lang="en-US" altLang="ko-KR" sz="1800" b="1"/>
              <a:t>,</a:t>
            </a:r>
            <a:r>
              <a:rPr lang="ko-KR" altLang="en-US" sz="1800" b="1"/>
              <a:t> 콘텐츠 광고</a:t>
            </a:r>
            <a:r>
              <a:rPr lang="en-US" altLang="ko-KR" sz="1800" b="1"/>
              <a:t>,</a:t>
            </a:r>
            <a:r>
              <a:rPr lang="ko-KR" altLang="en-US" sz="1800" b="1"/>
              <a:t>  </a:t>
            </a:r>
            <a:br>
              <a:rPr lang="en-US" altLang="ko-KR" sz="1800" b="1"/>
            </a:br>
            <a:r>
              <a:rPr lang="en-US" altLang="ko-KR" sz="1800" b="1"/>
              <a:t>              </a:t>
            </a:r>
            <a:r>
              <a:rPr lang="ko-KR" altLang="en-US" sz="1800" b="1"/>
              <a:t>팝업 광고</a:t>
            </a:r>
            <a:r>
              <a:rPr lang="en-US" altLang="ko-KR" sz="1800" b="1"/>
              <a:t>,</a:t>
            </a:r>
            <a:r>
              <a:rPr lang="ko-KR" altLang="en-US" sz="1800" b="1"/>
              <a:t> 이메일을 통한 광고 등</a:t>
            </a:r>
            <a:endParaRPr lang="en-US" altLang="ko-KR" sz="1800" b="1"/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b="1"/>
              <a:t> 풀형 </a:t>
            </a:r>
            <a:r>
              <a:rPr lang="en-US" altLang="ko-KR" sz="1800" b="1"/>
              <a:t>:</a:t>
            </a:r>
            <a:r>
              <a:rPr lang="ko-KR" altLang="en-US" sz="1800" b="1"/>
              <a:t> 광고는 사용자가 광고를 보러 오도록 하는 것으로 주로 만들어 놓은 홈페이지를 방문하는  </a:t>
            </a:r>
            <a:br>
              <a:rPr lang="en-US" altLang="ko-KR" sz="1800" b="1"/>
            </a:br>
            <a:r>
              <a:rPr lang="en-US" altLang="ko-KR" sz="1800" b="1"/>
              <a:t>           </a:t>
            </a:r>
            <a:r>
              <a:rPr lang="ko-KR" altLang="en-US" sz="1800" b="1"/>
              <a:t>사용자에게 광고를 하는 것</a:t>
            </a:r>
            <a:endParaRPr lang="en-US" altLang="ko-KR" sz="1800" b="1"/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>
              <a:latin typeface="서울남산 장체 L" panose="02020503020101020101" pitchFamily="18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1800" b="0">
              <a:latin typeface="서울남산 장체 L" panose="02020503020101020101" pitchFamily="18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58371" name="직사각형 9">
            <a:extLst>
              <a:ext uri="{FF2B5EF4-FFF2-40B4-BE49-F238E27FC236}">
                <a16:creationId xmlns:a16="http://schemas.microsoft.com/office/drawing/2014/main" id="{9A2C10E3-0327-4E57-8866-43BE65903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8372" name="제목 2">
            <a:extLst>
              <a:ext uri="{FF2B5EF4-FFF2-40B4-BE49-F238E27FC236}">
                <a16:creationId xmlns:a16="http://schemas.microsoft.com/office/drawing/2014/main" id="{6A201D7E-15DE-4DB1-9A4C-39F1AA4FBB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1)</a:t>
            </a:r>
            <a:r>
              <a:rPr kumimoji="1" lang="ko-KR" altLang="en-US"/>
              <a:t> 온라인 마케팅 커뮤니케이션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내용 개체 틀 2">
            <a:extLst>
              <a:ext uri="{FF2B5EF4-FFF2-40B4-BE49-F238E27FC236}">
                <a16:creationId xmlns:a16="http://schemas.microsoft.com/office/drawing/2014/main" id="{EDC3908D-5066-4741-B96F-80678FD7A8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4488" y="1076325"/>
            <a:ext cx="10394950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배너 광고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디스플레이 광고의 대표적 유형으로 인터넷 사용자의 스크린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어디에서든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볼 수 있으며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현재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브라우징하고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있는 정보와 연관되어 있는 경우가 많음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콘텐츠 광고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사용자들이 주로 방문해 많은 시간을 보내는 정보나 콘텐츠를 이용하여 광고를 하는 것으로 특정 사이트에 대해 스폰서를 제공하는 협찬 광고와 동일한 개념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팝업 광고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인터넷에서 정보를 얻는 순차적인 과정의 틈새를 이용하여 광고를 내보내는 것 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정보를 얻기 위해 기다리고 있을 때 고객의 관여도가 높은 상태라 이때 보여지는 광고의 효과가 큼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60419" name="직사각형 9">
            <a:extLst>
              <a:ext uri="{FF2B5EF4-FFF2-40B4-BE49-F238E27FC236}">
                <a16:creationId xmlns:a16="http://schemas.microsoft.com/office/drawing/2014/main" id="{7CB12197-295B-4725-B95D-94FF9E752B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0420" name="제목 2">
            <a:extLst>
              <a:ext uri="{FF2B5EF4-FFF2-40B4-BE49-F238E27FC236}">
                <a16:creationId xmlns:a16="http://schemas.microsoft.com/office/drawing/2014/main" id="{EE1D3641-8BAB-425F-A765-E8B7057FE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1)</a:t>
            </a:r>
            <a:r>
              <a:rPr kumimoji="1" lang="ko-KR" altLang="en-US"/>
              <a:t> 온라인 마케팅 커뮤니케이션 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내용 개체 틀 2">
            <a:extLst>
              <a:ext uri="{FF2B5EF4-FFF2-40B4-BE49-F238E27FC236}">
                <a16:creationId xmlns:a16="http://schemas.microsoft.com/office/drawing/2014/main" id="{F797BF33-D4AB-41B3-9086-A1A4068ACA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303338"/>
            <a:ext cx="10467975" cy="425132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이메일 광고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direct mail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과 같이 광고주가 이메일을 통해 광고 메시지를 전달 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표적 고객에게 서비스에 대한 설명이나 구매 정보를 제공하는 것이기는 하나 사용자가 부정적인  감정을 유발할 가능성도 높음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검색 엔진 광고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광고주가 원하는 키워드로 사용자가 검색했을 때에만 광고를 보냄으로써 광고주의 서비스를 이용할 가능성이 높은 잠재 고객을 타깃하기에 효과적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홈페이지 광고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-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기업의 홈페이지를 통해 상품이나 서비스에 대한 정보를 자세하게 전달 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62467" name="직사각형 9">
            <a:extLst>
              <a:ext uri="{FF2B5EF4-FFF2-40B4-BE49-F238E27FC236}">
                <a16:creationId xmlns:a16="http://schemas.microsoft.com/office/drawing/2014/main" id="{B4A40DFC-F2C4-4533-BC94-B0C7AB0EC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2468" name="제목 2">
            <a:extLst>
              <a:ext uri="{FF2B5EF4-FFF2-40B4-BE49-F238E27FC236}">
                <a16:creationId xmlns:a16="http://schemas.microsoft.com/office/drawing/2014/main" id="{A3445C01-42CD-496B-9963-452C7550C9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1)</a:t>
            </a:r>
            <a:r>
              <a:rPr kumimoji="1" lang="ko-KR" altLang="en-US"/>
              <a:t> 온라인 마케팅 커뮤니케이션 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내용 개체 틀 2">
            <a:extLst>
              <a:ext uri="{FF2B5EF4-FFF2-40B4-BE49-F238E27FC236}">
                <a16:creationId xmlns:a16="http://schemas.microsoft.com/office/drawing/2014/main" id="{5345E499-AAE4-41B5-9CDA-6E5581221B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14325" y="1228725"/>
            <a:ext cx="10537825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블로그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일반인이 특정 관심사에 따라 자유롭게 칼럼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에세이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취재 기사 등을 게시하는 온라인 저널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대부분의 마케터들은 파워 블로거와 협업하여 신제품 소식을 알리거나 고객 대상 이벤트를 실시하기도 하고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기업 자체의 블로그를 운영하면서 블로그를 기업 홍보 활동의 주요 플랫폼으로 사용 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모바일 플랫폼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기업은 고객의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모바일폰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스마트폰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태블릿 등 모바일 디바이스를 통해 항상 대기하고 있는 고객에게 마케팅 정보를 제공하고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고객은 모바일 광고를 통해 방문하는 장소에서 쿠폰이나 할인을 제공받을 수 있음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마케터는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모바일앱과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같이 간단하고 사용하기 쉬운 디지털 플랫폼을 통해 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eaLnBrk="1" hangingPunct="1">
              <a:lnSpc>
                <a:spcPct val="150000"/>
              </a:lnSpc>
              <a:buClr>
                <a:schemeClr val="tx1"/>
              </a:buClr>
              <a:defRPr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   상품과 서비스를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마케팅하고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고객과 정보를 공유하면서 고객 경험을 향상시킴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  <a:defRPr/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defRPr/>
            </a:pPr>
            <a:endParaRPr lang="ko-KR" altLang="en-US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64515" name="직사각형 9">
            <a:extLst>
              <a:ext uri="{FF2B5EF4-FFF2-40B4-BE49-F238E27FC236}">
                <a16:creationId xmlns:a16="http://schemas.microsoft.com/office/drawing/2014/main" id="{F3A243FE-1176-4E07-A1C7-AF230F973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4516" name="제목 2">
            <a:extLst>
              <a:ext uri="{FF2B5EF4-FFF2-40B4-BE49-F238E27FC236}">
                <a16:creationId xmlns:a16="http://schemas.microsoft.com/office/drawing/2014/main" id="{EDC86888-B447-4FBF-872D-DB0984BB6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2)</a:t>
            </a:r>
            <a:r>
              <a:rPr kumimoji="1" lang="ko-KR" altLang="en-US"/>
              <a:t> 뉴 미디어 마케팅 커뮤니케이션 </a:t>
            </a:r>
          </a:p>
        </p:txBody>
      </p:sp>
      <p:pic>
        <p:nvPicPr>
          <p:cNvPr id="64517" name="그림 2">
            <a:extLst>
              <a:ext uri="{FF2B5EF4-FFF2-40B4-BE49-F238E27FC236}">
                <a16:creationId xmlns:a16="http://schemas.microsoft.com/office/drawing/2014/main" id="{A44B2932-F3D0-469C-9CA8-733095BBC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5725" y="4699000"/>
            <a:ext cx="1347788" cy="163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직사각형 9">
            <a:extLst>
              <a:ext uri="{FF2B5EF4-FFF2-40B4-BE49-F238E27FC236}">
                <a16:creationId xmlns:a16="http://schemas.microsoft.com/office/drawing/2014/main" id="{236A500B-C414-43D5-903D-23B84622C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6563" name="제목 2">
            <a:extLst>
              <a:ext uri="{FF2B5EF4-FFF2-40B4-BE49-F238E27FC236}">
                <a16:creationId xmlns:a16="http://schemas.microsoft.com/office/drawing/2014/main" id="{1F8B79C6-ED24-4E15-9B75-1E9C4D8C4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2)</a:t>
            </a:r>
            <a:r>
              <a:rPr kumimoji="1" lang="ko-KR" altLang="en-US"/>
              <a:t> 뉴 미디어 마케팅 커뮤니케이션 </a:t>
            </a:r>
          </a:p>
        </p:txBody>
      </p:sp>
      <p:pic>
        <p:nvPicPr>
          <p:cNvPr id="66564" name="내용 개체 틀 3">
            <a:extLst>
              <a:ext uri="{FF2B5EF4-FFF2-40B4-BE49-F238E27FC236}">
                <a16:creationId xmlns:a16="http://schemas.microsoft.com/office/drawing/2014/main" id="{A950C816-C66C-4B05-9B1A-0F4BE75D9B3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3363" y="1346200"/>
            <a:ext cx="7931150" cy="4832350"/>
          </a:xfr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내용 개체 틀 2">
            <a:extLst>
              <a:ext uri="{FF2B5EF4-FFF2-40B4-BE49-F238E27FC236}">
                <a16:creationId xmlns:a16="http://schemas.microsoft.com/office/drawing/2014/main" id="{7CCCEBEE-F51E-448C-9700-28E886CAEA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44488" y="1076325"/>
            <a:ext cx="10469562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유튜브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동영상 시청을 통해 정보를 탐색하는 경향이 두드러지면서 유튜브 활용도가 높아지고 있음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다수의 구독자를 가진 인기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유튜버와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제휴를 맺고 협찬 제품의 후기 영상을 업로드하는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인플루언서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마케팅을 수행하기도 함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68611" name="직사각형 9">
            <a:extLst>
              <a:ext uri="{FF2B5EF4-FFF2-40B4-BE49-F238E27FC236}">
                <a16:creationId xmlns:a16="http://schemas.microsoft.com/office/drawing/2014/main" id="{08BE0D91-CC32-47E3-89FD-4B8F19661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68612" name="제목 2">
            <a:extLst>
              <a:ext uri="{FF2B5EF4-FFF2-40B4-BE49-F238E27FC236}">
                <a16:creationId xmlns:a16="http://schemas.microsoft.com/office/drawing/2014/main" id="{B2DE4AD8-4902-4333-8CF3-32E92F4B4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2)</a:t>
            </a:r>
            <a:r>
              <a:rPr kumimoji="1" lang="ko-KR" altLang="en-US"/>
              <a:t> 뉴 미디어 마케팅 커뮤니케이션 </a:t>
            </a:r>
          </a:p>
        </p:txBody>
      </p:sp>
      <p:pic>
        <p:nvPicPr>
          <p:cNvPr id="68613" name="그림 1">
            <a:extLst>
              <a:ext uri="{FF2B5EF4-FFF2-40B4-BE49-F238E27FC236}">
                <a16:creationId xmlns:a16="http://schemas.microsoft.com/office/drawing/2014/main" id="{715815BE-5B42-4AF9-9F52-72DED28DD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138" y="3048000"/>
            <a:ext cx="501332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내용 개체 틀 2">
            <a:extLst>
              <a:ext uri="{FF2B5EF4-FFF2-40B4-BE49-F238E27FC236}">
                <a16:creationId xmlns:a16="http://schemas.microsoft.com/office/drawing/2014/main" id="{7D92CFE0-A673-488A-BFE8-52C74E6900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38138" y="1228725"/>
            <a:ext cx="10421937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소셜 네트워크 서비스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기업은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SNS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에서 고객과 대화를 시작하고 참여하고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고객 피드백을 듣고 맞춤형 브랜드 콘텐츠를 만들어 언제 어디서나 고객에게 접근할 수 있음 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소셜 미디어의 이용은 무료이거나 저렴한 경우가 많아 비용이 효과적이며 서비스 경험을 형성하고 공유하는 데 다른 어떤 경로보다 고객을 더 잘 참여시킬 수 있음 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0659" name="직사각형 9">
            <a:extLst>
              <a:ext uri="{FF2B5EF4-FFF2-40B4-BE49-F238E27FC236}">
                <a16:creationId xmlns:a16="http://schemas.microsoft.com/office/drawing/2014/main" id="{5E06C485-A4DD-4CF5-BECB-16D6D0AAAF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0660" name="제목 2">
            <a:extLst>
              <a:ext uri="{FF2B5EF4-FFF2-40B4-BE49-F238E27FC236}">
                <a16:creationId xmlns:a16="http://schemas.microsoft.com/office/drawing/2014/main" id="{96467337-7EBD-42F2-B38D-78307E328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2)</a:t>
            </a:r>
            <a:r>
              <a:rPr kumimoji="1" lang="ko-KR" altLang="en-US"/>
              <a:t> 뉴 미디어 마케팅 커뮤니케이션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내용 개체 틀 2">
            <a:extLst>
              <a:ext uri="{FF2B5EF4-FFF2-40B4-BE49-F238E27FC236}">
                <a16:creationId xmlns:a16="http://schemas.microsoft.com/office/drawing/2014/main" id="{30AC1B59-EC45-4A06-939C-0A018EAC18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55600" y="1330325"/>
            <a:ext cx="7683500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메타버스 마케팅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가상을 의미하는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‘meta’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와 현실 세계를 의미하는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‘universe’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를 합성한 용어로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가상현실 기술을 혼합한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3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차원 가상 세계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메타버스 주 이용자인 알파세대와 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Z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세대를 공략한 마케팅을 통해      잠재적인 고객층을 확보하여 평생 고객 가치를 실현하고 있음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2707" name="직사각형 9">
            <a:extLst>
              <a:ext uri="{FF2B5EF4-FFF2-40B4-BE49-F238E27FC236}">
                <a16:creationId xmlns:a16="http://schemas.microsoft.com/office/drawing/2014/main" id="{573E2A51-D1CD-4480-A530-37C9A3621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2708" name="제목 2">
            <a:extLst>
              <a:ext uri="{FF2B5EF4-FFF2-40B4-BE49-F238E27FC236}">
                <a16:creationId xmlns:a16="http://schemas.microsoft.com/office/drawing/2014/main" id="{06094A42-57F5-4E8E-83ED-9877446FD9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3)</a:t>
            </a:r>
            <a:r>
              <a:rPr kumimoji="1" lang="ko-KR" altLang="en-US"/>
              <a:t> 디지털 마케팅의 미래  </a:t>
            </a:r>
          </a:p>
        </p:txBody>
      </p:sp>
      <p:pic>
        <p:nvPicPr>
          <p:cNvPr id="72709" name="그림 8">
            <a:extLst>
              <a:ext uri="{FF2B5EF4-FFF2-40B4-BE49-F238E27FC236}">
                <a16:creationId xmlns:a16="http://schemas.microsoft.com/office/drawing/2014/main" id="{0C84BCAC-A0A9-4180-A617-4155BA68D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725" y="1574800"/>
            <a:ext cx="1352550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직사각형 9">
            <a:extLst>
              <a:ext uri="{FF2B5EF4-FFF2-40B4-BE49-F238E27FC236}">
                <a16:creationId xmlns:a16="http://schemas.microsoft.com/office/drawing/2014/main" id="{9FEB29E1-CE29-4FFD-A009-BA4CDB211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4755" name="제목 2">
            <a:extLst>
              <a:ext uri="{FF2B5EF4-FFF2-40B4-BE49-F238E27FC236}">
                <a16:creationId xmlns:a16="http://schemas.microsoft.com/office/drawing/2014/main" id="{18946334-9AE9-48B1-902D-A045DD77E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3)</a:t>
            </a:r>
            <a:r>
              <a:rPr kumimoji="1" lang="ko-KR" altLang="en-US"/>
              <a:t> 디지털 마케팅의 미래  </a:t>
            </a:r>
          </a:p>
        </p:txBody>
      </p:sp>
      <p:pic>
        <p:nvPicPr>
          <p:cNvPr id="74756" name="그림 7">
            <a:extLst>
              <a:ext uri="{FF2B5EF4-FFF2-40B4-BE49-F238E27FC236}">
                <a16:creationId xmlns:a16="http://schemas.microsoft.com/office/drawing/2014/main" id="{945563D7-118D-41A0-ADA0-02B916281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125" y="1060450"/>
            <a:ext cx="5245100" cy="553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내용 개체 틀 2">
            <a:extLst>
              <a:ext uri="{FF2B5EF4-FFF2-40B4-BE49-F238E27FC236}">
                <a16:creationId xmlns:a16="http://schemas.microsoft.com/office/drawing/2014/main" id="{7E5BB4F5-FE20-4856-B01E-BDB87D2F45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0988" y="1387475"/>
            <a:ext cx="10617200" cy="5248275"/>
          </a:xfrm>
        </p:spPr>
        <p:txBody>
          <a:bodyPr/>
          <a:lstStyle/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옴니채널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마케팅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매장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온라인</a:t>
            </a:r>
            <a:r>
              <a:rPr lang="en-US" altLang="ko-KR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,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모바일 쇼핑을 통합하는 끊임없는 교차 채널에서 구매 경험을 창출하도록 하는 것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고객 경험이 온</a:t>
            </a:r>
            <a:r>
              <a:rPr lang="en-US" altLang="ko-KR" sz="12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•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오프라인 환경에 상관없이 동일한 경험을 느낄 수 있도록 </a:t>
            </a:r>
            <a:r>
              <a:rPr lang="ko-KR" altLang="en-US" sz="1800" dirty="0" err="1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옴니채널</a:t>
            </a:r>
            <a:r>
              <a:rPr lang="ko-KR" altLang="en-US" sz="1800" dirty="0">
                <a:latin typeface="서울남산 장체 L" panose="02020503020101020101" pitchFamily="18" charset="-127"/>
                <a:ea typeface="서울남산 장체 L" panose="02020503020101020101" pitchFamily="18" charset="-127"/>
                <a:cs typeface="함초롬돋움" panose="020B0604000101010101" pitchFamily="50" charset="-127"/>
              </a:rPr>
              <a:t> 서비스를 제공하여 고객의 신뢰감과 충성도를 구축할 수 있음</a:t>
            </a:r>
            <a:endParaRPr lang="en-US" altLang="ko-KR" sz="180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en-US" altLang="ko-KR" sz="20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  <a:buFontTx/>
              <a:buChar char="-"/>
            </a:pPr>
            <a:endParaRPr lang="en-US" altLang="ko-KR" sz="1800" b="0" dirty="0">
              <a:latin typeface="서울남산 장체 L" panose="02020503020101020101" pitchFamily="18" charset="-127"/>
              <a:ea typeface="서울남산 장체 L" panose="02020503020101020101" pitchFamily="18" charset="-127"/>
              <a:cs typeface="함초롬돋움" panose="020B0604000101010101" pitchFamily="50" charset="-127"/>
            </a:endParaRPr>
          </a:p>
          <a:p>
            <a:pPr marL="342900" indent="-342900" eaLnBrk="1" hangingPunct="1">
              <a:lnSpc>
                <a:spcPct val="150000"/>
              </a:lnSpc>
              <a:buClr>
                <a:schemeClr val="tx1"/>
              </a:buClr>
            </a:pPr>
            <a:endParaRPr lang="ko-KR" altLang="en-US" b="0" dirty="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sp>
        <p:nvSpPr>
          <p:cNvPr id="76803" name="직사각형 9">
            <a:extLst>
              <a:ext uri="{FF2B5EF4-FFF2-40B4-BE49-F238E27FC236}">
                <a16:creationId xmlns:a16="http://schemas.microsoft.com/office/drawing/2014/main" id="{8B7FE11A-9BC7-49B2-AAF7-BECDDBC64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9538" y="4235450"/>
            <a:ext cx="4056062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76804" name="제목 2">
            <a:extLst>
              <a:ext uri="{FF2B5EF4-FFF2-40B4-BE49-F238E27FC236}">
                <a16:creationId xmlns:a16="http://schemas.microsoft.com/office/drawing/2014/main" id="{25BF7925-5F39-45AD-9B78-736E75E605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/>
              <a:t>3)</a:t>
            </a:r>
            <a:r>
              <a:rPr kumimoji="1" lang="ko-KR" altLang="en-US"/>
              <a:t> 디지털 마케팅의 미래  </a:t>
            </a:r>
          </a:p>
        </p:txBody>
      </p:sp>
      <p:pic>
        <p:nvPicPr>
          <p:cNvPr id="76805" name="그림 2">
            <a:extLst>
              <a:ext uri="{FF2B5EF4-FFF2-40B4-BE49-F238E27FC236}">
                <a16:creationId xmlns:a16="http://schemas.microsoft.com/office/drawing/2014/main" id="{8F2ED404-58D1-4E93-94BE-E01D00B3A0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425" y="2938463"/>
            <a:ext cx="5040313" cy="3736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1469</TotalTime>
  <Words>2177</Words>
  <Application>Microsoft Office PowerPoint</Application>
  <PresentationFormat>와이드스크린</PresentationFormat>
  <Paragraphs>263</Paragraphs>
  <Slides>41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2" baseType="lpstr">
      <vt:lpstr>함초롬돋움</vt:lpstr>
      <vt:lpstr>굴림</vt:lpstr>
      <vt:lpstr>Arial</vt:lpstr>
      <vt:lpstr>함초롱돋움</vt:lpstr>
      <vt:lpstr>맑은 고딕</vt:lpstr>
      <vt:lpstr>Verdana</vt:lpstr>
      <vt:lpstr>서울남산 장체 EB</vt:lpstr>
      <vt:lpstr>서울남산 장체 L</vt:lpstr>
      <vt:lpstr>Wingdings</vt:lpstr>
      <vt:lpstr>서울한강 장체 L</vt:lpstr>
      <vt:lpstr>sample</vt:lpstr>
      <vt:lpstr>PowerPoint 프레젠테이션</vt:lpstr>
      <vt:lpstr>PowerPoint 프레젠테이션</vt:lpstr>
      <vt:lpstr>외부 마케팅 커뮤니케이션의 이해</vt:lpstr>
      <vt:lpstr>1) 마케팅 커뮤니케이션 환경의 변화</vt:lpstr>
      <vt:lpstr>1) 마케팅 커뮤니케이션 환경의 변화</vt:lpstr>
      <vt:lpstr>1) 마케팅 커뮤니케이션 환경의 변화</vt:lpstr>
      <vt:lpstr>2) 마케팅 커뮤니케이션의 목표와 역할</vt:lpstr>
      <vt:lpstr>2) 마케팅 커뮤니케이션의 목표와 역할</vt:lpstr>
      <vt:lpstr>2) 마케팅 커뮤니케이션의 목표와 역할</vt:lpstr>
      <vt:lpstr>PowerPoint 프레젠테이션</vt:lpstr>
      <vt:lpstr>1) 마케팅 커뮤니케이션 믹스와 특징</vt:lpstr>
      <vt:lpstr>2) 통합 마케팅 커뮤니케이션의 목표</vt:lpstr>
      <vt:lpstr>PowerPoint 프레젠테이션</vt:lpstr>
      <vt:lpstr>1) 광고</vt:lpstr>
      <vt:lpstr>2) 판매 촉진</vt:lpstr>
      <vt:lpstr>2) 판매 촉진</vt:lpstr>
      <vt:lpstr>2) 판매 촉진</vt:lpstr>
      <vt:lpstr>3) 홍보와 공중 관계</vt:lpstr>
      <vt:lpstr>4) 인적 판매</vt:lpstr>
      <vt:lpstr>PowerPoint 프레젠테이션</vt:lpstr>
      <vt:lpstr>1) 구전 커뮤니케이션 네트워크를 개발하라</vt:lpstr>
      <vt:lpstr>2) 실행 가능한 것을 약속하라</vt:lpstr>
      <vt:lpstr>3) 약속한 서비스를 달성하도록 노력하라</vt:lpstr>
      <vt:lpstr>4) 고객 기대를 관리하고 고객을 교육하라</vt:lpstr>
      <vt:lpstr>5) 유형적인 근거를 제시하라</vt:lpstr>
      <vt:lpstr>6) 서비스 경험을 이야기로 전하라</vt:lpstr>
      <vt:lpstr>7) 광고에 서비스 직원이나 만족한 고객을 등장시켜라</vt:lpstr>
      <vt:lpstr>8) 경험 속성을 탐색 속성으로 만들어라</vt:lpstr>
      <vt:lpstr>8) 수요와 공급을 관리하라</vt:lpstr>
      <vt:lpstr>PowerPoint 프레젠테이션</vt:lpstr>
      <vt:lpstr>1) 온라인 마케팅 커뮤니케이션 </vt:lpstr>
      <vt:lpstr>1) 온라인 마케팅 커뮤니케이션 </vt:lpstr>
      <vt:lpstr>1) 온라인 마케팅 커뮤니케이션 </vt:lpstr>
      <vt:lpstr>1) 온라인 마케팅 커뮤니케이션 </vt:lpstr>
      <vt:lpstr>2) 뉴 미디어 마케팅 커뮤니케이션 </vt:lpstr>
      <vt:lpstr>2) 뉴 미디어 마케팅 커뮤니케이션 </vt:lpstr>
      <vt:lpstr>2) 뉴 미디어 마케팅 커뮤니케이션 </vt:lpstr>
      <vt:lpstr>2) 뉴 미디어 마케팅 커뮤니케이션 </vt:lpstr>
      <vt:lpstr>3) 디지털 마케팅의 미래  </vt:lpstr>
      <vt:lpstr>3) 디지털 마케팅의 미래  </vt:lpstr>
      <vt:lpstr>3) 디지털 마케팅의 미래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user</cp:lastModifiedBy>
  <cp:revision>110</cp:revision>
  <dcterms:created xsi:type="dcterms:W3CDTF">2022-02-07T06:24:49Z</dcterms:created>
  <dcterms:modified xsi:type="dcterms:W3CDTF">2022-05-10T13:20:25Z</dcterms:modified>
</cp:coreProperties>
</file>