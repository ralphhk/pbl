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1"/>
  </p:notesMasterIdLst>
  <p:sldIdLst>
    <p:sldId id="278" r:id="rId2"/>
    <p:sldId id="280" r:id="rId3"/>
    <p:sldId id="351" r:id="rId4"/>
    <p:sldId id="424" r:id="rId5"/>
    <p:sldId id="423" r:id="rId6"/>
    <p:sldId id="425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281" r:id="rId15"/>
    <p:sldId id="433" r:id="rId16"/>
    <p:sldId id="391" r:id="rId17"/>
    <p:sldId id="392" r:id="rId18"/>
    <p:sldId id="434" r:id="rId19"/>
    <p:sldId id="393" r:id="rId20"/>
    <p:sldId id="435" r:id="rId21"/>
    <p:sldId id="285" r:id="rId22"/>
    <p:sldId id="287" r:id="rId23"/>
    <p:sldId id="449" r:id="rId24"/>
    <p:sldId id="450" r:id="rId25"/>
    <p:sldId id="451" r:id="rId26"/>
    <p:sldId id="452" r:id="rId27"/>
    <p:sldId id="443" r:id="rId28"/>
    <p:sldId id="445" r:id="rId29"/>
    <p:sldId id="446" r:id="rId30"/>
    <p:sldId id="447" r:id="rId31"/>
    <p:sldId id="448" r:id="rId32"/>
    <p:sldId id="436" r:id="rId33"/>
    <p:sldId id="437" r:id="rId34"/>
    <p:sldId id="438" r:id="rId35"/>
    <p:sldId id="439" r:id="rId36"/>
    <p:sldId id="440" r:id="rId37"/>
    <p:sldId id="441" r:id="rId38"/>
    <p:sldId id="442" r:id="rId39"/>
    <p:sldId id="444" r:id="rId40"/>
  </p:sldIdLst>
  <p:sldSz cx="12192000" cy="6858000"/>
  <p:notesSz cx="6858000" cy="9144000"/>
  <p:embeddedFontLst>
    <p:embeddedFont>
      <p:font typeface="08서울남산체 B" panose="02020603020101020101" pitchFamily="18" charset="-127"/>
      <p:regular r:id="rId42"/>
    </p:embeddedFont>
    <p:embeddedFont>
      <p:font typeface="a펜글씨B" panose="02020600000000000000" pitchFamily="18" charset="-127"/>
      <p:regular r:id="rId43"/>
    </p:embeddedFont>
    <p:embeddedFont>
      <p:font typeface="경기천년바탕 Bold" panose="02020803020101020101" pitchFamily="18" charset="-127"/>
      <p:bold r:id="rId44"/>
    </p:embeddedFont>
    <p:embeddedFont>
      <p:font typeface="맑은 고딕" panose="020B0503020000020004" pitchFamily="50" charset="-127"/>
      <p:regular r:id="rId45"/>
      <p:bold r:id="rId46"/>
    </p:embeddedFont>
    <p:embeddedFont>
      <p:font typeface="서울남산 장체 EB" panose="02020503020101020101" pitchFamily="18" charset="-127"/>
      <p:regular r:id="rId47"/>
    </p:embeddedFont>
    <p:embeddedFont>
      <p:font typeface="서울남산 장체 L" panose="02020503020101020101" pitchFamily="18" charset="-127"/>
      <p:regular r:id="rId48"/>
    </p:embeddedFont>
    <p:embeddedFont>
      <p:font typeface="서울남산 장체 M" panose="02020503020101020101" pitchFamily="18" charset="-127"/>
      <p:regular r:id="rId49"/>
    </p:embeddedFont>
    <p:embeddedFont>
      <p:font typeface="서울한강 장체 L" panose="02020503020101020101" pitchFamily="18" charset="-127"/>
      <p:regular r:id="rId50"/>
    </p:embeddedFont>
    <p:embeddedFont>
      <p:font typeface="함초롬돋움" panose="020B0604000101010101" pitchFamily="50" charset="-127"/>
      <p:regular r:id="rId51"/>
      <p:bold r:id="rId52"/>
    </p:embeddedFont>
    <p:embeddedFont>
      <p:font typeface="Rockwell" panose="02060603020205020403" pitchFamily="18" charset="0"/>
      <p:regular r:id="rId53"/>
      <p:bold r:id="rId54"/>
      <p:italic r:id="rId55"/>
      <p:boldItalic r:id="rId56"/>
    </p:embeddedFont>
    <p:embeddedFont>
      <p:font typeface="Verdana" panose="020B0604030504040204" pitchFamily="34" charset="0"/>
      <p:regular r:id="rId57"/>
      <p:bold r:id="rId58"/>
      <p:italic r:id="rId59"/>
      <p:boldItalic r:id="rId60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60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6" autoAdjust="0"/>
    <p:restoredTop sz="94607" autoAdjust="0"/>
  </p:normalViewPr>
  <p:slideViewPr>
    <p:cSldViewPr snapToGrid="0" showGuides="1">
      <p:cViewPr varScale="1">
        <p:scale>
          <a:sx n="96" d="100"/>
          <a:sy n="96" d="100"/>
        </p:scale>
        <p:origin x="1038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73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2CBB9-4A5B-4165-8B09-8477FE296C11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B3DB4-D385-4485-B184-BAAE808E3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66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40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294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703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392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278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01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064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719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667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249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706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343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DAF59362-AAEC-438D-9E40-FF26D7C124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C4BCAED-39FD-4529-A8D0-C927A2B1FE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A3F10358-8FCB-48D9-844C-654E1FD3A133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92110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0BE9C6-17D0-47CB-A0EF-045D871000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9769EA-A453-40FE-A799-4C4E9A9D24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7D478-249C-47C8-B0AE-AC9ECA1D2C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994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A6CFC8-92DA-41C2-B453-EB4021597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5F5179-55EE-4E7E-B50F-C7660EED23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49D4F-3A8E-4D8E-9F58-49E042BE84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005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04256D-F4FB-4955-B253-70764EDB7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5C741B7-C50E-4E9F-9844-13B7883CD1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40F6A-8F97-41BC-80EE-8A494F2C15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509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26E936-95BF-4B4A-B805-FFC00A959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ED5A9FD-AF5F-4CE9-9EBA-2193EF3CCA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85870-8A47-4BC3-8417-C3B9023B61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03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90EED7E-D655-435A-B542-3ADE24937B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7A5C33-4BE0-463A-9685-3EA65632F3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7ED25-E065-4097-9741-8ADF60B196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858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F58C9D69-E12C-4263-846F-773DC50B354D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2C28487A-F298-475C-A204-79FC43F054C6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D4052D8F-ED52-42CD-858F-7929983A2B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A4849AFE-A46E-4EFA-89A2-7EE328D572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F49D34DD-136D-4EC6-8EC1-0CDE95C34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66E1FE4-1A59-45AD-BBE5-3AF2455B8F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3B4B30-C6E8-48B1-950F-799A5A77C5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800">
                <a:latin typeface="서울한강 장체 L" pitchFamily="18" charset="-127"/>
                <a:ea typeface="서울한강 장체 L" pitchFamily="18" charset="-127"/>
              </a:defRPr>
            </a:lvl1pPr>
          </a:lstStyle>
          <a:p>
            <a:pPr>
              <a:defRPr/>
            </a:pPr>
            <a:fld id="{8C3877AD-CFFB-4271-B326-AA3E8B4CDD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2549C1DD-2084-4511-B637-633F41C867D0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A26CEC47-651E-44F7-BA60-614E9E825FA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6EBAFB4A-C0AC-40A0-A76E-39A39F6D89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60F49F54-34F0-42C7-BAD1-2FF0A3338EA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2071A01C-7DE0-447B-9DEA-A9E5BE078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indent="2778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indent="46672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indent="744538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google.co.kr/url?sa=i&amp;rct=j&amp;q=&amp;esrc=s&amp;source=images&amp;cd=&amp;cad=rja&amp;uact=8&amp;ved=0ahUKEwi5uZ3spaHVAhVGO7wKHbQ_AuYQjRwIBw&amp;url=https://www.iconfinder.com/icons/2198321/angry_man_phone_talking_throwing_icon&amp;psig=AFQjCNHgK60ImzBoyxQwe34gVX-s398-Bg&amp;ust=150096421060033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부제목 3">
            <a:extLst>
              <a:ext uri="{FF2B5EF4-FFF2-40B4-BE49-F238E27FC236}">
                <a16:creationId xmlns:a16="http://schemas.microsoft.com/office/drawing/2014/main" id="{024AFDAE-10E1-4D39-A3BC-F1D6DFEA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Chapter 9.</a:t>
            </a:r>
          </a:p>
          <a:p>
            <a:pPr eaLnBrk="1" latinLnBrk="0" hangingPunct="1"/>
            <a:r>
              <a:rPr lang="ko-KR" altLang="en-US" dirty="0"/>
              <a:t>외식서비스 고객관리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텍스트 개체 틀 3">
            <a:extLst>
              <a:ext uri="{FF2B5EF4-FFF2-40B4-BE49-F238E27FC236}">
                <a16:creationId xmlns:a16="http://schemas.microsoft.com/office/drawing/2014/main" id="{D19AC77A-C39D-4EF9-A975-CC4EB1311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서비스 품질과 고객의 역할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E0F6A-BAF9-4B4B-A640-21244752849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04E37F-209B-4DF1-8F78-144694E42AB3}"/>
              </a:ext>
            </a:extLst>
          </p:cNvPr>
          <p:cNvSpPr/>
          <p:nvPr/>
        </p:nvSpPr>
        <p:spPr bwMode="auto">
          <a:xfrm>
            <a:off x="11205679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356265F2-8A43-470F-A95D-9536653C6B7B}"/>
              </a:ext>
            </a:extLst>
          </p:cNvPr>
          <p:cNvGrpSpPr>
            <a:grpSpLocks/>
          </p:cNvGrpSpPr>
          <p:nvPr/>
        </p:nvGrpSpPr>
        <p:grpSpPr bwMode="auto">
          <a:xfrm>
            <a:off x="6427304" y="4253948"/>
            <a:ext cx="6169015" cy="663286"/>
            <a:chOff x="1296" y="1824"/>
            <a:chExt cx="3886" cy="432"/>
          </a:xfrm>
        </p:grpSpPr>
        <p:sp>
          <p:nvSpPr>
            <p:cNvPr id="9" name="AutoShape 47">
              <a:extLst>
                <a:ext uri="{FF2B5EF4-FFF2-40B4-BE49-F238E27FC236}">
                  <a16:creationId xmlns:a16="http://schemas.microsoft.com/office/drawing/2014/main" id="{E473C666-396D-4324-BE83-224C3E6561E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0" name="AutoShape 48">
              <a:extLst>
                <a:ext uri="{FF2B5EF4-FFF2-40B4-BE49-F238E27FC236}">
                  <a16:creationId xmlns:a16="http://schemas.microsoft.com/office/drawing/2014/main" id="{2B253A0C-722E-4B31-B440-D8E67ADD877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1" name="Text Box 49">
              <a:extLst>
                <a:ext uri="{FF2B5EF4-FFF2-40B4-BE49-F238E27FC236}">
                  <a16:creationId xmlns:a16="http://schemas.microsoft.com/office/drawing/2014/main" id="{194986AE-6EAF-4FE7-9193-7749E2504EA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외식서비스 제공 과정에서 고객 참여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2" name="Text Box 50">
              <a:extLst>
                <a:ext uri="{FF2B5EF4-FFF2-40B4-BE49-F238E27FC236}">
                  <a16:creationId xmlns:a16="http://schemas.microsoft.com/office/drawing/2014/main" id="{13AE7767-CF72-407C-8932-90A141C75AE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13" name="Group 51">
            <a:extLst>
              <a:ext uri="{FF2B5EF4-FFF2-40B4-BE49-F238E27FC236}">
                <a16:creationId xmlns:a16="http://schemas.microsoft.com/office/drawing/2014/main" id="{CDD968AB-CBD2-4ADF-813C-46ED3421B5CE}"/>
              </a:ext>
            </a:extLst>
          </p:cNvPr>
          <p:cNvGrpSpPr>
            <a:grpSpLocks/>
          </p:cNvGrpSpPr>
          <p:nvPr/>
        </p:nvGrpSpPr>
        <p:grpSpPr bwMode="auto">
          <a:xfrm>
            <a:off x="6427304" y="5064625"/>
            <a:ext cx="6169025" cy="663285"/>
            <a:chOff x="1296" y="1824"/>
            <a:chExt cx="3886" cy="432"/>
          </a:xfrm>
        </p:grpSpPr>
        <p:sp>
          <p:nvSpPr>
            <p:cNvPr id="14" name="AutoShape 52">
              <a:extLst>
                <a:ext uri="{FF2B5EF4-FFF2-40B4-BE49-F238E27FC236}">
                  <a16:creationId xmlns:a16="http://schemas.microsoft.com/office/drawing/2014/main" id="{03E9FF54-AD50-4A81-A2C7-C40379E05A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5" name="AutoShape 53">
              <a:extLst>
                <a:ext uri="{FF2B5EF4-FFF2-40B4-BE49-F238E27FC236}">
                  <a16:creationId xmlns:a16="http://schemas.microsoft.com/office/drawing/2014/main" id="{5A328CE1-B113-46C0-9FD1-859AA5A0D0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6" name="Text Box 54">
              <a:extLst>
                <a:ext uri="{FF2B5EF4-FFF2-40B4-BE49-F238E27FC236}">
                  <a16:creationId xmlns:a16="http://schemas.microsoft.com/office/drawing/2014/main" id="{58BE4C1F-4605-4D30-ADF1-F841533880C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외식서비스 제공 과정에서 고객의 역할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7" name="Text Box 55">
              <a:extLst>
                <a:ext uri="{FF2B5EF4-FFF2-40B4-BE49-F238E27FC236}">
                  <a16:creationId xmlns:a16="http://schemas.microsoft.com/office/drawing/2014/main" id="{C65B2437-4BDC-4228-A74E-839C7151C48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2</a:t>
              </a:r>
            </a:p>
          </p:txBody>
        </p:sp>
      </p:grpSp>
      <p:grpSp>
        <p:nvGrpSpPr>
          <p:cNvPr id="18" name="Group 56">
            <a:extLst>
              <a:ext uri="{FF2B5EF4-FFF2-40B4-BE49-F238E27FC236}">
                <a16:creationId xmlns:a16="http://schemas.microsoft.com/office/drawing/2014/main" id="{8C73949F-73B0-4BB7-928F-9887182F6694}"/>
              </a:ext>
            </a:extLst>
          </p:cNvPr>
          <p:cNvGrpSpPr>
            <a:grpSpLocks/>
          </p:cNvGrpSpPr>
          <p:nvPr/>
        </p:nvGrpSpPr>
        <p:grpSpPr bwMode="auto">
          <a:xfrm>
            <a:off x="6427304" y="5843064"/>
            <a:ext cx="6169025" cy="663285"/>
            <a:chOff x="1296" y="1824"/>
            <a:chExt cx="3886" cy="432"/>
          </a:xfrm>
        </p:grpSpPr>
        <p:sp>
          <p:nvSpPr>
            <p:cNvPr id="19" name="AutoShape 57">
              <a:extLst>
                <a:ext uri="{FF2B5EF4-FFF2-40B4-BE49-F238E27FC236}">
                  <a16:creationId xmlns:a16="http://schemas.microsoft.com/office/drawing/2014/main" id="{567116D0-36D4-4221-A530-3678779226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0" name="AutoShape 58">
              <a:extLst>
                <a:ext uri="{FF2B5EF4-FFF2-40B4-BE49-F238E27FC236}">
                  <a16:creationId xmlns:a16="http://schemas.microsoft.com/office/drawing/2014/main" id="{0173FA3A-14E3-49A8-855D-19C45A99FBE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1" name="Text Box 59">
              <a:extLst>
                <a:ext uri="{FF2B5EF4-FFF2-40B4-BE49-F238E27FC236}">
                  <a16:creationId xmlns:a16="http://schemas.microsoft.com/office/drawing/2014/main" id="{288F94D3-D055-465D-86E0-1ADF76AAC21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셀프서비스 기술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2" name="Text Box 60">
              <a:extLst>
                <a:ext uri="{FF2B5EF4-FFF2-40B4-BE49-F238E27FC236}">
                  <a16:creationId xmlns:a16="http://schemas.microsoft.com/office/drawing/2014/main" id="{FE20E326-FD76-48D8-A100-C9FD3A52A54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외식서비스 제공 과정에서 고객 참여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44" y="1185095"/>
            <a:ext cx="11517312" cy="5020235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/>
              <a:t>고객 참여의 중요성</a:t>
            </a:r>
            <a:r>
              <a:rPr lang="en-US" altLang="ko-KR" sz="2000" dirty="0"/>
              <a:t> 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제공 과정에 참여하는 사람들 </a:t>
            </a:r>
            <a:r>
              <a:rPr lang="en-US" altLang="ko-KR" sz="1800" dirty="0"/>
              <a:t>: </a:t>
            </a:r>
            <a:r>
              <a:rPr lang="ko-KR" altLang="en-US" sz="1800" dirty="0"/>
              <a:t>고객</a:t>
            </a:r>
            <a:r>
              <a:rPr lang="en-US" altLang="ko-KR" sz="1800" dirty="0"/>
              <a:t>, </a:t>
            </a:r>
            <a:r>
              <a:rPr lang="ko-KR" altLang="en-US" sz="1800" dirty="0"/>
              <a:t>종사원</a:t>
            </a:r>
            <a:r>
              <a:rPr lang="en-US" altLang="ko-KR" sz="1800" dirty="0"/>
              <a:t>, </a:t>
            </a:r>
            <a:r>
              <a:rPr lang="ko-KR" altLang="en-US" sz="1800" dirty="0"/>
              <a:t>그리고 같은 공간에 있는 다른 테이블 고객들 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제공 과정에서 이들의 </a:t>
            </a:r>
            <a:r>
              <a:rPr lang="ko-KR" altLang="en-US" sz="1800" dirty="0">
                <a:solidFill>
                  <a:srgbClr val="C00000"/>
                </a:solidFill>
              </a:rPr>
              <a:t>상호작용은 고객의 만족</a:t>
            </a:r>
            <a:r>
              <a:rPr lang="en-US" altLang="ko-KR" sz="1800" dirty="0">
                <a:solidFill>
                  <a:srgbClr val="C00000"/>
                </a:solidFill>
              </a:rPr>
              <a:t>/</a:t>
            </a:r>
            <a:r>
              <a:rPr lang="ko-KR" altLang="en-US" sz="1800" dirty="0">
                <a:solidFill>
                  <a:srgbClr val="C00000"/>
                </a:solidFill>
              </a:rPr>
              <a:t>불만족에 영향</a:t>
            </a:r>
            <a:r>
              <a:rPr lang="ko-KR" altLang="en-US" sz="1800" dirty="0"/>
              <a:t>을 미침 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고객의 역할은 서비스를 성공적으로 전달하고</a:t>
            </a:r>
            <a:r>
              <a:rPr lang="en-US" altLang="ko-KR" sz="1800" dirty="0"/>
              <a:t>, </a:t>
            </a:r>
            <a:r>
              <a:rPr lang="ko-KR" altLang="en-US" sz="1800" dirty="0"/>
              <a:t>특히 </a:t>
            </a:r>
            <a:r>
              <a:rPr lang="ko-KR" altLang="en-US" sz="1800" dirty="0">
                <a:solidFill>
                  <a:srgbClr val="C00000"/>
                </a:solidFill>
              </a:rPr>
              <a:t>서비스 경험을 공동 창조</a:t>
            </a:r>
            <a:r>
              <a:rPr lang="en-US" altLang="ko-KR" sz="1800" dirty="0">
                <a:solidFill>
                  <a:srgbClr val="C00000"/>
                </a:solidFill>
              </a:rPr>
              <a:t>(co-production)</a:t>
            </a:r>
            <a:r>
              <a:rPr lang="ko-KR" altLang="en-US" sz="1800" dirty="0">
                <a:solidFill>
                  <a:srgbClr val="C00000"/>
                </a:solidFill>
              </a:rPr>
              <a:t>하는 과정에서 매우 중요</a:t>
            </a:r>
            <a:r>
              <a:rPr lang="ko-KR" altLang="en-US" sz="1800" dirty="0"/>
              <a:t>함 </a:t>
            </a:r>
            <a:endParaRPr lang="en-US" altLang="ko-KR" sz="1800" dirty="0"/>
          </a:p>
          <a:p>
            <a:pPr lvl="1" indent="0">
              <a:lnSpc>
                <a:spcPct val="150000"/>
              </a:lnSpc>
            </a:pPr>
            <a:r>
              <a:rPr lang="ko-KR" altLang="en-US" sz="1800" dirty="0">
                <a:solidFill>
                  <a:srgbClr val="002060"/>
                </a:solidFill>
              </a:rPr>
              <a:t>    예</a:t>
            </a:r>
            <a:r>
              <a:rPr lang="en-US" altLang="ko-KR" sz="1800" dirty="0">
                <a:solidFill>
                  <a:srgbClr val="002060"/>
                </a:solidFill>
              </a:rPr>
              <a:t>) </a:t>
            </a:r>
            <a:r>
              <a:rPr lang="ko-KR" altLang="en-US" sz="1800" dirty="0">
                <a:solidFill>
                  <a:srgbClr val="002060"/>
                </a:solidFill>
              </a:rPr>
              <a:t>패스트푸드점은 고객이 셀프 서비스하면서 햄버거를 저렴하게 구매할 수 있는 가치를 창조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고객 만족도를 높이기 위해서는 고객이 그들의 역할을 효과적으로 수행하도록 도움을 줄 수 있는 전략 개발 필요</a:t>
            </a:r>
            <a:endParaRPr lang="en-US" altLang="ko-KR" sz="1800" dirty="0"/>
          </a:p>
          <a:p>
            <a:pPr lvl="1" indent="0">
              <a:lnSpc>
                <a:spcPct val="150000"/>
              </a:lnSpc>
            </a:pPr>
            <a:r>
              <a:rPr lang="en-US" altLang="ko-KR" sz="1800" dirty="0"/>
              <a:t>    </a:t>
            </a:r>
            <a:r>
              <a:rPr lang="ko-KR" altLang="en-US" sz="1800" dirty="0"/>
              <a:t>예</a:t>
            </a:r>
            <a:r>
              <a:rPr lang="en-US" altLang="ko-KR" sz="1800" dirty="0"/>
              <a:t>)  </a:t>
            </a:r>
            <a:r>
              <a:rPr lang="ko-KR" altLang="en-US" sz="1800" dirty="0"/>
              <a:t>뷔페식당에서 이용방법을 자세히 설명하거나</a:t>
            </a:r>
            <a:r>
              <a:rPr lang="en-US" altLang="ko-KR" sz="1800" dirty="0"/>
              <a:t>, </a:t>
            </a:r>
            <a:r>
              <a:rPr lang="ko-KR" altLang="en-US" sz="1800" dirty="0"/>
              <a:t>다른 나라 문화권의 음식을 먹을 때 적절한 식사 방법 등 안내  </a:t>
            </a:r>
            <a:endParaRPr lang="en-US" altLang="ko-KR" sz="18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4F756DA-E2D1-4B4C-AA27-7CE70D202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31" b="19048"/>
          <a:stretch/>
        </p:blipFill>
        <p:spPr bwMode="auto">
          <a:xfrm>
            <a:off x="2707447" y="4679424"/>
            <a:ext cx="6777106" cy="198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037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외식서비스 제공 과정에서 고객 참여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44" y="1185095"/>
            <a:ext cx="11517312" cy="5020235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(2) </a:t>
            </a:r>
            <a:r>
              <a:rPr lang="ko-KR" altLang="en-US" sz="2000" dirty="0"/>
              <a:t>고객 참여의 유형</a:t>
            </a:r>
            <a:r>
              <a:rPr lang="en-US" altLang="ko-KR" sz="2000" dirty="0"/>
              <a:t> 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레스토랑 콘셉트에 따라 서비스 제공과정에 고객이 참여하는 유형은 다름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서비스에 따른 유형 </a:t>
            </a:r>
            <a:r>
              <a:rPr lang="en-US" altLang="ko-KR" sz="1800" dirty="0"/>
              <a:t>: Self Service vs.</a:t>
            </a:r>
            <a:r>
              <a:rPr lang="ko-KR" altLang="en-US" sz="1800" dirty="0"/>
              <a:t> </a:t>
            </a:r>
            <a:r>
              <a:rPr lang="en-US" altLang="ko-KR" sz="1800" dirty="0"/>
              <a:t>Full</a:t>
            </a:r>
            <a:r>
              <a:rPr lang="ko-KR" altLang="en-US" sz="1800" dirty="0"/>
              <a:t> </a:t>
            </a:r>
            <a:r>
              <a:rPr lang="en-US" altLang="ko-KR" sz="1800" dirty="0"/>
              <a:t>Service</a:t>
            </a:r>
            <a:endParaRPr lang="en-US" altLang="ko-KR" sz="1400" dirty="0"/>
          </a:p>
          <a:p>
            <a:pPr marL="73342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셀프 서비스 </a:t>
            </a:r>
            <a:r>
              <a:rPr lang="en-US" altLang="ko-KR" sz="1600" dirty="0"/>
              <a:t>(</a:t>
            </a:r>
            <a:r>
              <a:rPr lang="ko-KR" altLang="en-US" sz="1600" dirty="0"/>
              <a:t>무인 카페나 패스트푸드점 등</a:t>
            </a:r>
            <a:r>
              <a:rPr lang="en-US" altLang="ko-KR" sz="1600" dirty="0"/>
              <a:t>) : </a:t>
            </a:r>
            <a:r>
              <a:rPr lang="ko-KR" altLang="en-US" sz="1600" dirty="0"/>
              <a:t>고객의 노동력이 많이 들어가지만 서비스 내용은 단순하여 단순 참여가 대부분이며 서비스는 표준화되어 있는 것이 특징</a:t>
            </a:r>
            <a:endParaRPr lang="en-US" altLang="ko-KR" sz="1600" dirty="0"/>
          </a:p>
          <a:p>
            <a:pPr marL="73342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풀 서비스 </a:t>
            </a:r>
            <a:r>
              <a:rPr lang="en-US" altLang="ko-KR" sz="1600" dirty="0"/>
              <a:t>(</a:t>
            </a:r>
            <a:r>
              <a:rPr lang="ko-KR" altLang="en-US" sz="1600" dirty="0"/>
              <a:t>고급 레스토랑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식사과정은 좀 더 복잡하며 높은 고객화 수준을 요구하기 때문에 고객 참여가 높음</a:t>
            </a:r>
            <a:r>
              <a:rPr lang="en-US" altLang="ko-KR" sz="1600" dirty="0"/>
              <a:t>. </a:t>
            </a:r>
            <a:r>
              <a:rPr lang="ko-KR" altLang="en-US" sz="1600" dirty="0"/>
              <a:t>예</a:t>
            </a:r>
            <a:r>
              <a:rPr lang="en-US" altLang="ko-KR" sz="1600" dirty="0"/>
              <a:t>, </a:t>
            </a:r>
            <a:r>
              <a:rPr lang="ko-KR" altLang="en-US" sz="1600" dirty="0"/>
              <a:t>메뉴에 어울리는 소스 선택</a:t>
            </a:r>
            <a:r>
              <a:rPr lang="en-US" altLang="ko-KR" sz="1600" dirty="0"/>
              <a:t>, </a:t>
            </a:r>
            <a:r>
              <a:rPr lang="ko-KR" altLang="en-US" sz="1600" dirty="0"/>
              <a:t>고기 굽는 정도 등을 직접 결정</a:t>
            </a: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4D72D3-CEA9-4B99-84F6-AFB5CAB29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376" y="4657290"/>
            <a:ext cx="7584859" cy="154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8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외식서비스 제공 과정에서 고객의 역할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8" y="1378857"/>
            <a:ext cx="11317627" cy="482647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/>
              <a:t>서비스 프로세스의 효율성과 고객의 상관관계 </a:t>
            </a:r>
            <a:endParaRPr lang="en-US" altLang="ko-KR" sz="20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고객의 서비스 참여는 제공된 서비스와 고객이 정의한 서비스 표준이 일치하도록 하는데 영향을 미침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 서비스 제공과정에서 고객이 스스로의 역할을 이해하지 못하는 경우 문제 발생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 역할을 알아도 역할 수행에 대한 보상이 없는 경우 역할 수행을 하지 않으려고 함 </a:t>
            </a:r>
          </a:p>
          <a:p>
            <a:pPr lvl="1" indent="0">
              <a:lnSpc>
                <a:spcPct val="150000"/>
              </a:lnSpc>
            </a:pPr>
            <a:r>
              <a:rPr lang="ko-KR" altLang="en-US" sz="1800" dirty="0"/>
              <a:t>     예</a:t>
            </a:r>
            <a:r>
              <a:rPr lang="en-US" altLang="ko-KR" sz="1800" dirty="0"/>
              <a:t>) </a:t>
            </a:r>
            <a:r>
              <a:rPr lang="ko-KR" altLang="en-US" sz="1800" dirty="0" err="1"/>
              <a:t>셀프계산대</a:t>
            </a:r>
            <a:r>
              <a:rPr lang="en-US" altLang="ko-KR" sz="1800" dirty="0"/>
              <a:t>, </a:t>
            </a:r>
            <a:r>
              <a:rPr lang="ko-KR" altLang="en-US" sz="1800" dirty="0"/>
              <a:t>홈쇼핑의 모바일 앱 주문 등 </a:t>
            </a:r>
            <a:r>
              <a:rPr lang="en-US" altLang="ko-KR" sz="1800" dirty="0"/>
              <a:t>(</a:t>
            </a:r>
            <a:r>
              <a:rPr lang="ko-KR" altLang="en-US" sz="1800" dirty="0"/>
              <a:t>가격 인하</a:t>
            </a:r>
            <a:r>
              <a:rPr lang="en-US" altLang="ko-KR" sz="1800" dirty="0"/>
              <a:t>, </a:t>
            </a:r>
            <a:r>
              <a:rPr lang="ko-KR" altLang="en-US" sz="1800" dirty="0"/>
              <a:t>편리성 향상 등 혜택으로 보상받을 때 고객 참여 증가</a:t>
            </a:r>
            <a:r>
              <a:rPr lang="en-US" altLang="ko-KR" sz="1800" dirty="0"/>
              <a:t>)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/>
              <a:t>고객의 행동 및 역할에 따라 효과적인 서비스 제공 여부에 영향을 미침</a:t>
            </a:r>
          </a:p>
        </p:txBody>
      </p:sp>
    </p:spTree>
    <p:extLst>
      <p:ext uri="{BB962C8B-B14F-4D97-AF65-F5344CB8AC3E}">
        <p14:creationId xmlns:p14="http://schemas.microsoft.com/office/powerpoint/2010/main" val="389082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외식서비스 제공 과정에서 고객의 역할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8" y="1378857"/>
            <a:ext cx="11317627" cy="482647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/>
              <a:t>서비스 프로세스의 효율성과 고객의 상관관계 </a:t>
            </a:r>
            <a:endParaRPr lang="en-US" altLang="ko-KR" sz="20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제공과정에서 고객이 스스로의 역할을 이해하지 못하는 경우 서비스 프로세스의 효율성 및 고품질 서비스 달성이 어려움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 </a:t>
            </a:r>
            <a:r>
              <a:rPr lang="ko-KR" altLang="en-US" sz="1800" dirty="0" err="1"/>
              <a:t>셀프계산대나</a:t>
            </a:r>
            <a:r>
              <a:rPr lang="ko-KR" altLang="en-US" sz="1800" dirty="0"/>
              <a:t> 모바일 앱 주문 등을 도입해도 고객이 실제 이용을 하지 않는 경우는 성과를 창출 할 수 없음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기업은 서비스 프로세스의 효율성을 높이기 위해 서비스에 적합한 고객을 선별하고</a:t>
            </a:r>
            <a:r>
              <a:rPr lang="en-US" altLang="ko-KR" sz="1800" dirty="0"/>
              <a:t>, </a:t>
            </a:r>
            <a:r>
              <a:rPr lang="ko-KR" altLang="en-US" sz="1800" dirty="0"/>
              <a:t>고객의 역할을 잘 인지 시키고</a:t>
            </a:r>
            <a:r>
              <a:rPr lang="en-US" altLang="ko-KR" sz="1800" dirty="0"/>
              <a:t>, </a:t>
            </a:r>
            <a:r>
              <a:rPr lang="ko-KR" altLang="en-US" sz="1800" dirty="0"/>
              <a:t>보상이나 혜택을 통해 적극적으로 서비스에 참여하도록 해야 함 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, </a:t>
            </a:r>
            <a:r>
              <a:rPr lang="ko-KR" altLang="en-US" sz="1800" dirty="0"/>
              <a:t>모바일 주문 고객에게 추가 할인 혜택을 주면</a:t>
            </a:r>
            <a:r>
              <a:rPr lang="en-US" altLang="ko-KR" sz="1800" dirty="0"/>
              <a:t>, </a:t>
            </a:r>
            <a:r>
              <a:rPr lang="ko-KR" altLang="en-US" sz="1800" dirty="0"/>
              <a:t>전화 구매가 줄고 현장 인력 운영의 효율성이 높아짐</a:t>
            </a:r>
            <a:r>
              <a:rPr lang="en-US" altLang="ko-KR" sz="1800" dirty="0"/>
              <a:t>)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코로나 </a:t>
            </a:r>
            <a:r>
              <a:rPr lang="en-US" altLang="ko-KR" sz="1800" dirty="0"/>
              <a:t>19</a:t>
            </a:r>
            <a:r>
              <a:rPr lang="ko-KR" altLang="en-US" sz="1800" dirty="0"/>
              <a:t>로 무인 서비스 또는 셀프 서비스가 보편화되고 있는 추세여서 과거보다는 셀프서비스에 대한 인식이 덜 부정적 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셀프서비스 일수록 고객이 자신의 역할을 잘 이해하고 서비스를 수행하는 것이 서비스 품질 평가에 직접적으로 영향을 미치기 때문에 고객 역할 관리를 철저히 해야 함</a:t>
            </a:r>
          </a:p>
        </p:txBody>
      </p:sp>
    </p:spTree>
    <p:extLst>
      <p:ext uri="{BB962C8B-B14F-4D97-AF65-F5344CB8AC3E}">
        <p14:creationId xmlns:p14="http://schemas.microsoft.com/office/powerpoint/2010/main" val="143168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외식서비스 제공 과정에서 고객의 역할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71" y="1248228"/>
            <a:ext cx="11317627" cy="509814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(2) </a:t>
            </a:r>
            <a:r>
              <a:rPr lang="ko-KR" altLang="en-US" sz="2000" dirty="0"/>
              <a:t>고객의 역할 </a:t>
            </a:r>
            <a:endParaRPr lang="en-US" altLang="ko-KR" sz="2000" dirty="0"/>
          </a:p>
          <a:p>
            <a:pPr lvl="1" indent="0"/>
            <a:r>
              <a:rPr lang="ko-KR" altLang="en-US" sz="1800" dirty="0"/>
              <a:t>① 서비스 생산자</a:t>
            </a:r>
            <a:r>
              <a:rPr lang="en-US" altLang="ko-KR" sz="1800" dirty="0"/>
              <a:t>: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생산과정에 고객의 노력</a:t>
            </a:r>
            <a:r>
              <a:rPr lang="en-US" altLang="ko-KR" sz="1800" dirty="0"/>
              <a:t>, </a:t>
            </a:r>
            <a:r>
              <a:rPr lang="ko-KR" altLang="en-US" sz="1800" dirty="0"/>
              <a:t>시간</a:t>
            </a:r>
            <a:r>
              <a:rPr lang="en-US" altLang="ko-KR" sz="1800" dirty="0"/>
              <a:t>, </a:t>
            </a:r>
            <a:r>
              <a:rPr lang="ko-KR" altLang="en-US" sz="1800" dirty="0"/>
              <a:t>기타 자원을 제공하여 조직 생산성 향상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셀프서비스의 경우 고객을 임시종업원으로 간주 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고객은 종사원처럼 직접적인 교육과 관리가 불가능하므로 서비스 결과의 불확실성이 큼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endParaRPr lang="ko-KR" altLang="en-US" sz="1800" dirty="0"/>
          </a:p>
          <a:p>
            <a:pPr lvl="1" indent="0"/>
            <a:r>
              <a:rPr lang="ko-KR" altLang="en-US" sz="1800" dirty="0"/>
              <a:t>② 서비스 품질 </a:t>
            </a:r>
            <a:r>
              <a:rPr lang="ko-KR" altLang="en-US" sz="1800" dirty="0" err="1"/>
              <a:t>공헌자</a:t>
            </a:r>
            <a:r>
              <a:rPr lang="en-US" altLang="ko-KR" sz="1800" dirty="0"/>
              <a:t>: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개인화된 상호작용을 통하여 자신의 소비 경험을 설계하여 가치 창출함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자신이 서비스 만족에 직접 공헌을 할 수 있을 때 공헌자의 역할을 함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예</a:t>
            </a:r>
            <a:r>
              <a:rPr lang="en-US" altLang="ko-KR" sz="1800" dirty="0"/>
              <a:t>, IKEA</a:t>
            </a:r>
            <a:r>
              <a:rPr lang="ko-KR" altLang="en-US" sz="1800" dirty="0"/>
              <a:t>의 </a:t>
            </a:r>
            <a:r>
              <a:rPr lang="en-US" altLang="ko-KR" sz="1800" dirty="0"/>
              <a:t>DIY </a:t>
            </a:r>
            <a:r>
              <a:rPr lang="ko-KR" altLang="en-US" sz="1800" dirty="0"/>
              <a:t>가구는 </a:t>
            </a:r>
            <a:r>
              <a:rPr lang="ko-KR" altLang="en-US" sz="1800" dirty="0" err="1"/>
              <a:t>아버지로서의</a:t>
            </a:r>
            <a:r>
              <a:rPr lang="ko-KR" altLang="en-US" sz="1800" dirty="0"/>
              <a:t> 존재감과 자녀를 향한 사랑을 표현하는 가치 수단 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endParaRPr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49EDBE-7A08-40DD-9715-143F9A33E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052" y="5043351"/>
            <a:ext cx="2772547" cy="1559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0A2EC9-042F-4E6F-A454-717D49F98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585" y="5043351"/>
            <a:ext cx="3208405" cy="1556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8056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외식서비스 제공 과정에서 고객의 역할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8" y="1242736"/>
            <a:ext cx="11317627" cy="509814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(2) </a:t>
            </a:r>
            <a:r>
              <a:rPr lang="ko-KR" altLang="en-US" sz="2000" dirty="0"/>
              <a:t>고객의 역할 </a:t>
            </a:r>
            <a:endParaRPr lang="en-US" altLang="ko-KR" sz="2000" dirty="0"/>
          </a:p>
          <a:p>
            <a:pPr lvl="1" indent="0"/>
            <a:r>
              <a:rPr lang="ko-KR" altLang="en-US" sz="1800" dirty="0"/>
              <a:t>③ 서비스 </a:t>
            </a:r>
            <a:r>
              <a:rPr lang="ko-KR" altLang="en-US" sz="1800" dirty="0" err="1"/>
              <a:t>혁신자</a:t>
            </a:r>
            <a:r>
              <a:rPr lang="en-US" altLang="ko-KR" sz="1800" dirty="0"/>
              <a:t>: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새로운 상품과 서비스 개발에 직접 참여함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문제점을 발견하고 해결방안을 제시함으로써 다른 고객에게도 혜택을 줌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예</a:t>
            </a:r>
            <a:r>
              <a:rPr lang="en-US" altLang="ko-KR" sz="1800" dirty="0"/>
              <a:t>, Mystarbucksidea.com</a:t>
            </a:r>
            <a:endParaRPr lang="ko-KR" altLang="en-US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CB30D44-65CA-4141-9969-C93ABC86A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694" y="2975059"/>
            <a:ext cx="5747030" cy="37212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E2C5236-7BB3-444C-9B0E-672B19585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963" y="3525973"/>
            <a:ext cx="2590800" cy="26193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3934EDA-E71C-406D-A64D-299C5EDDF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45" y="3791808"/>
            <a:ext cx="2256567" cy="22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0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외식서비스 제공 과정에서 고객의 역할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8" y="1378857"/>
            <a:ext cx="11408229" cy="509814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(3) </a:t>
            </a:r>
            <a:r>
              <a:rPr lang="ko-KR" altLang="en-US" sz="2000" dirty="0"/>
              <a:t>다른 고객의 역할 </a:t>
            </a:r>
            <a:endParaRPr lang="en-US" altLang="ko-KR" sz="20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공간에 있는 모든 사람들은 서로의 서비스 경험에 영향을 줄 수 있기 때문에 서비스에 직접 관여하는 고객 외에도 </a:t>
            </a:r>
            <a:r>
              <a:rPr lang="en-US" altLang="ko-KR" sz="1800" dirty="0"/>
              <a:t>‘</a:t>
            </a:r>
            <a:r>
              <a:rPr lang="ko-KR" altLang="en-US" sz="1800" dirty="0"/>
              <a:t>다른 </a:t>
            </a:r>
            <a:r>
              <a:rPr lang="ko-KR" altLang="en-US" sz="1800" dirty="0" err="1"/>
              <a:t>고객＇들도</a:t>
            </a:r>
            <a:r>
              <a:rPr lang="ko-KR" altLang="en-US" sz="1800" dirty="0"/>
              <a:t> 서비스 품질이나 서비스 경험에 영향을 줌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고객 만족이나 타 고객이 체감하는 서비스 품질을 향상</a:t>
            </a:r>
            <a:r>
              <a:rPr lang="en-US" altLang="ko-KR" sz="1800" dirty="0"/>
              <a:t>/</a:t>
            </a:r>
            <a:r>
              <a:rPr lang="ko-KR" altLang="en-US" sz="1800" dirty="0"/>
              <a:t>저하 시킬 수 있음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en-US" altLang="ko-KR" sz="1800" dirty="0"/>
              <a:t>(</a:t>
            </a:r>
            <a:r>
              <a:rPr lang="ko-KR" altLang="en-US" sz="1800" dirty="0"/>
              <a:t>부정적 영향 사례</a:t>
            </a:r>
            <a:r>
              <a:rPr lang="en-US" altLang="ko-KR" sz="1800" dirty="0"/>
              <a:t>) </a:t>
            </a:r>
            <a:r>
              <a:rPr lang="ko-KR" altLang="en-US" sz="1800" dirty="0"/>
              <a:t>어린이 고객의 시끄러운 행동</a:t>
            </a:r>
            <a:r>
              <a:rPr lang="en-US" altLang="ko-KR" sz="1800" dirty="0"/>
              <a:t>, </a:t>
            </a:r>
            <a:r>
              <a:rPr lang="ko-KR" altLang="en-US" sz="1800" dirty="0"/>
              <a:t>담배를 피우는 다른 테이블의 고객으로 인한 호흡 곤란</a:t>
            </a:r>
            <a:r>
              <a:rPr lang="en-US" altLang="ko-KR" sz="1800" dirty="0"/>
              <a:t>, </a:t>
            </a:r>
            <a:r>
              <a:rPr lang="ko-KR" altLang="en-US" sz="1800" dirty="0"/>
              <a:t>큰 목소리로 대화하는 다른 고객</a:t>
            </a:r>
            <a:r>
              <a:rPr lang="en-US" altLang="ko-KR" sz="1800" dirty="0"/>
              <a:t>, </a:t>
            </a:r>
            <a:r>
              <a:rPr lang="ko-KR" altLang="en-US" sz="1800" dirty="0"/>
              <a:t>화를 내는 고객</a:t>
            </a:r>
            <a:r>
              <a:rPr lang="en-US" altLang="ko-KR" sz="1800" dirty="0"/>
              <a:t>, </a:t>
            </a:r>
            <a:r>
              <a:rPr lang="ko-KR" altLang="en-US" sz="1800" dirty="0"/>
              <a:t>종사원에게 시비를 거는 고객</a:t>
            </a:r>
            <a:r>
              <a:rPr lang="en-US" altLang="ko-KR" sz="1800" dirty="0"/>
              <a:t>, </a:t>
            </a:r>
            <a:r>
              <a:rPr lang="ko-KR" altLang="en-US" sz="1800" dirty="0"/>
              <a:t>서비스 시설을 파손하는 고객 등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en-US" altLang="ko-KR" sz="1800" dirty="0"/>
              <a:t>(</a:t>
            </a:r>
            <a:r>
              <a:rPr lang="ko-KR" altLang="en-US" sz="1800" dirty="0"/>
              <a:t>긍정적 영향 사례</a:t>
            </a:r>
            <a:r>
              <a:rPr lang="en-US" altLang="ko-KR" sz="1800" dirty="0"/>
              <a:t>) </a:t>
            </a:r>
            <a:r>
              <a:rPr lang="ko-KR" altLang="en-US" sz="1800" dirty="0"/>
              <a:t>다른 고객들의 세련된 매너와 조용한 식사 분위기</a:t>
            </a:r>
            <a:r>
              <a:rPr lang="en-US" altLang="ko-KR" sz="1800" dirty="0"/>
              <a:t>, </a:t>
            </a:r>
            <a:r>
              <a:rPr lang="ko-KR" altLang="en-US" sz="1800" dirty="0"/>
              <a:t>다른 고객들의 매력적인 비주얼 등 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서비스에 대한 서로 다른 니즈를 가진 고객이 동시에 같은 공간에 존재 한다면 서로에게 부정적 영향 미치므로 세분시장 관리 필요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3BBBA9-02EC-494D-8661-DA162D809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136" y="4355760"/>
            <a:ext cx="3844276" cy="22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34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셀프서비스 기술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8" y="1378857"/>
            <a:ext cx="11408229" cy="509814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 err="1"/>
              <a:t>무인서비스</a:t>
            </a:r>
            <a:r>
              <a:rPr lang="ko-KR" altLang="en-US" sz="2000" dirty="0"/>
              <a:t> 확장 </a:t>
            </a:r>
            <a:endParaRPr lang="en-US" altLang="ko-KR" sz="20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레스토랑 입장에서 서비스 프로세스에 고객이 참여하는 최적의 모델은 셀프서비스 기술</a:t>
            </a:r>
            <a:r>
              <a:rPr lang="en-US" altLang="ko-KR" sz="1800" dirty="0"/>
              <a:t>(SST, Self-Service Technology)</a:t>
            </a:r>
            <a:r>
              <a:rPr lang="ko-KR" altLang="en-US" sz="1800" dirty="0"/>
              <a:t>을 활용하여 스스로 특정 서비스 활동을 수행하는 것 </a:t>
            </a:r>
            <a:r>
              <a:rPr lang="en-US" altLang="ko-KR" sz="1800" dirty="0"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sym typeface="Wingdings" panose="05000000000000000000" pitchFamily="2" charset="2"/>
              </a:rPr>
              <a:t>고객 참여도가 가장 높은 형태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1" indent="0"/>
            <a:r>
              <a:rPr lang="en-US" altLang="ko-KR" sz="1800" dirty="0">
                <a:sym typeface="Wingdings" panose="05000000000000000000" pitchFamily="2" charset="2"/>
              </a:rPr>
              <a:t>     </a:t>
            </a:r>
            <a:r>
              <a:rPr lang="ko-KR" altLang="en-US" sz="1800" dirty="0">
                <a:sym typeface="Wingdings" panose="05000000000000000000" pitchFamily="2" charset="2"/>
              </a:rPr>
              <a:t>예</a:t>
            </a:r>
            <a:r>
              <a:rPr lang="en-US" altLang="ko-KR" sz="1800" dirty="0"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ym typeface="Wingdings" panose="05000000000000000000" pitchFamily="2" charset="2"/>
              </a:rPr>
              <a:t>인터넷</a:t>
            </a:r>
            <a:r>
              <a:rPr lang="en-US" altLang="ko-KR" sz="1800" dirty="0">
                <a:sym typeface="Wingdings" panose="05000000000000000000" pitchFamily="2" charset="2"/>
              </a:rPr>
              <a:t>, </a:t>
            </a:r>
            <a:r>
              <a:rPr lang="ko-KR" altLang="en-US" sz="1800" dirty="0" err="1">
                <a:sym typeface="Wingdings" panose="05000000000000000000" pitchFamily="2" charset="2"/>
              </a:rPr>
              <a:t>배달앱</a:t>
            </a:r>
            <a:r>
              <a:rPr lang="en-US" altLang="ko-KR" sz="1800" dirty="0"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ym typeface="Wingdings" panose="05000000000000000000" pitchFamily="2" charset="2"/>
              </a:rPr>
              <a:t>키오스크 등으로 주문과 결제를 하게 되면 레스토랑은 인건비 절감 혜택 얻게 됨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외식업의 가장 큰 고민 거리 중 하나가 높은 인건비임을 고려 할 때 셀프서비스 확대와 적극적인 활용은 매우 중요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스타벅스의 </a:t>
            </a:r>
            <a:r>
              <a:rPr lang="ko-KR" altLang="en-US" sz="1800" dirty="0" err="1"/>
              <a:t>사이렌오더는</a:t>
            </a:r>
            <a:r>
              <a:rPr lang="ko-KR" altLang="en-US" sz="1800" dirty="0"/>
              <a:t> 기업에게는 인건비 절감 혜택을</a:t>
            </a:r>
            <a:r>
              <a:rPr lang="en-US" altLang="ko-KR" sz="1800" dirty="0"/>
              <a:t>, </a:t>
            </a:r>
            <a:r>
              <a:rPr lang="ko-KR" altLang="en-US" sz="1800" dirty="0"/>
              <a:t>고객에게는 주문 후 대기시간을 </a:t>
            </a:r>
            <a:r>
              <a:rPr lang="ko-KR" altLang="en-US" sz="1800" dirty="0" err="1"/>
              <a:t>줄여줌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endParaRPr lang="ko-KR" altLang="en-US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45DB42-86D7-4827-816E-F498E2516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3822299"/>
            <a:ext cx="4494141" cy="2527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C8CFFC-D5C5-4628-9D1B-001E8491E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255" y="3844193"/>
            <a:ext cx="3873224" cy="2527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6639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셀프서비스 기술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8" y="1378857"/>
            <a:ext cx="11408229" cy="509814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 err="1"/>
              <a:t>무인서비스</a:t>
            </a:r>
            <a:r>
              <a:rPr lang="ko-KR" altLang="en-US" sz="2000" dirty="0"/>
              <a:t> 확장 </a:t>
            </a:r>
            <a:endParaRPr lang="en-US" altLang="ko-KR" sz="20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고객의 입장에서는 종사원들이 수행해야 할 프로세스를 떠안아야 하는 불합리성 보다는 고객이 얻는 혜택이 더 커야 함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최근 </a:t>
            </a:r>
            <a:r>
              <a:rPr lang="en-US" altLang="ko-KR" sz="1800" dirty="0"/>
              <a:t>24</a:t>
            </a:r>
            <a:r>
              <a:rPr lang="ko-KR" altLang="en-US" sz="1800" dirty="0"/>
              <a:t>시간 운영하는 무인 카페나 무인 점포가 급속도로 확산되는 추세 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en-US" altLang="ko-KR" sz="1800" dirty="0"/>
              <a:t>‘</a:t>
            </a:r>
            <a:r>
              <a:rPr lang="ko-KR" altLang="en-US" sz="1800" dirty="0"/>
              <a:t>커피에 반하다</a:t>
            </a:r>
            <a:r>
              <a:rPr lang="en-US" altLang="ko-KR" sz="1800" dirty="0"/>
              <a:t>’</a:t>
            </a:r>
            <a:r>
              <a:rPr lang="ko-KR" altLang="en-US" sz="1800" dirty="0"/>
              <a:t>라는 커피 프랜차이즈 브랜드는 원두의 품질과 무인기기의 기술력으로 </a:t>
            </a:r>
            <a:r>
              <a:rPr lang="ko-KR" altLang="en-US" sz="1800" dirty="0" err="1"/>
              <a:t>무인가맹점을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확장시켜</a:t>
            </a:r>
            <a:r>
              <a:rPr lang="ko-KR" altLang="en-US" sz="1800" dirty="0"/>
              <a:t> 나가고 있음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endParaRPr lang="ko-KR" altLang="en-US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B7AB215-3528-4492-812A-53CA7D134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579" y="2832178"/>
            <a:ext cx="6664841" cy="402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34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셀프서비스 기술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8" y="1378857"/>
            <a:ext cx="11408229" cy="509814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 err="1"/>
              <a:t>무인서비스</a:t>
            </a:r>
            <a:r>
              <a:rPr lang="ko-KR" altLang="en-US" sz="2000" dirty="0"/>
              <a:t> 확장 </a:t>
            </a:r>
            <a:endParaRPr lang="en-US" altLang="ko-KR" sz="20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주방 공간이나 조리사 없이 배달 음식으로 와인을 즐기는 와인바와 같은 혁신적인 사업 모델들이 계속 등장하고 있음</a:t>
            </a:r>
            <a:endParaRPr lang="en-US" altLang="ko-KR" sz="18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en-US" altLang="ko-KR" sz="1800" dirty="0"/>
              <a:t>‘</a:t>
            </a:r>
            <a:r>
              <a:rPr lang="ko-KR" altLang="en-US" sz="1800" dirty="0" err="1"/>
              <a:t>마이시크릿덴’이라는</a:t>
            </a:r>
            <a:r>
              <a:rPr lang="ko-KR" altLang="en-US" sz="1800" dirty="0"/>
              <a:t> 작은 와인 바</a:t>
            </a:r>
            <a:endParaRPr lang="en-US" altLang="ko-KR" sz="1800" dirty="0"/>
          </a:p>
          <a:p>
            <a:pPr marL="733425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낮에는 조용히 책을 읽은 무인 서재공간으로</a:t>
            </a:r>
            <a:r>
              <a:rPr lang="en-US" altLang="ko-KR" sz="1600" dirty="0"/>
              <a:t>, </a:t>
            </a:r>
            <a:r>
              <a:rPr lang="ko-KR" altLang="en-US" sz="1600" dirty="0"/>
              <a:t>저녁에는 직원 한명으로 와인을 서비스하는 와인바로 운영되며</a:t>
            </a:r>
            <a:r>
              <a:rPr lang="en-US" altLang="ko-KR" sz="1600" dirty="0"/>
              <a:t>, </a:t>
            </a:r>
            <a:r>
              <a:rPr lang="ko-KR" altLang="en-US" sz="1600" dirty="0"/>
              <a:t>좌석 시간을 예약제로 판매</a:t>
            </a:r>
            <a:endParaRPr lang="en-US" altLang="ko-KR" sz="1600" dirty="0"/>
          </a:p>
          <a:p>
            <a:pPr marL="733425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대면 서비스는 최소화하는 대신 고객이 원하는 안주를 직접 가져오거나 배달 시켜 합리적인 가격에 와인을 즐길 수 있음</a:t>
            </a:r>
            <a:endParaRPr lang="en-US" altLang="ko-KR" sz="1600" dirty="0"/>
          </a:p>
          <a:p>
            <a:pPr marL="733425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와인바와 </a:t>
            </a:r>
            <a:r>
              <a:rPr lang="ko-KR" altLang="en-US" sz="1600" dirty="0" err="1"/>
              <a:t>비대면서비스가</a:t>
            </a:r>
            <a:r>
              <a:rPr lang="ko-KR" altLang="en-US" sz="1600" dirty="0"/>
              <a:t> 어울리지 않을 것 같지만 코로나</a:t>
            </a:r>
            <a:r>
              <a:rPr lang="en-US" altLang="ko-KR" sz="1600" dirty="0"/>
              <a:t>19</a:t>
            </a:r>
            <a:r>
              <a:rPr lang="ko-KR" altLang="en-US" sz="1600" dirty="0"/>
              <a:t>로 익숙해진 </a:t>
            </a:r>
            <a:r>
              <a:rPr lang="ko-KR" altLang="en-US" sz="1600" dirty="0" err="1"/>
              <a:t>비대면서비스와</a:t>
            </a:r>
            <a:r>
              <a:rPr lang="ko-KR" altLang="en-US" sz="1600" dirty="0"/>
              <a:t> 혼잡하지 않는 공간을 선호하는 고객들에게는 혁신적인 서비스 공간으로 받아들여지고 있음</a:t>
            </a:r>
            <a:endParaRPr lang="en-US" altLang="ko-KR" sz="1600" dirty="0"/>
          </a:p>
          <a:p>
            <a:pPr marL="465138" lvl="1" indent="-285750">
              <a:buFont typeface="Arial" panose="020B0604020202020204" pitchFamily="34" charset="0"/>
              <a:buChar char="•"/>
            </a:pPr>
            <a:endParaRPr lang="ko-KR" altLang="en-US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2A9BFF-1A99-44EF-A7DC-9003605FC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770" y="3783092"/>
            <a:ext cx="6717393" cy="283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00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셀프서비스 기술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8" y="1378857"/>
            <a:ext cx="11408229" cy="509814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ko-KR" sz="2000" dirty="0"/>
              <a:t>(2) </a:t>
            </a:r>
            <a:r>
              <a:rPr lang="ko-KR" altLang="en-US" sz="2000" dirty="0"/>
              <a:t>고객의 수용도 </a:t>
            </a:r>
            <a:endParaRPr lang="en-US" altLang="ko-KR" sz="20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기술 사용이 익숙하지 않은 고객이라면 셀프서비스 자체가 어렵고 불편할 수 있음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다양하고 고도화되는 셀프서비스 기술은 고객들이 편리함과 가격 할인이라는 혜택보다 서비스 사용의 어려움과 기술에 대한 두려움 등으로 거부감을 가지게 된다면 서비스 품질 평가가 낮아질 수 있음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따라서 셀프서비스 기술 도입 시 목표고객의 기술 수용도를 고려해야 함</a:t>
            </a: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922304-8398-4FE7-8B29-0F7B8FA80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086" y="4127863"/>
            <a:ext cx="4492885" cy="234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93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텍스트 개체 틀 3">
            <a:extLst>
              <a:ext uri="{FF2B5EF4-FFF2-40B4-BE49-F238E27FC236}">
                <a16:creationId xmlns:a16="http://schemas.microsoft.com/office/drawing/2014/main" id="{55E0D41E-B433-48C0-8EF4-B71E6063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충성고객 관리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83A278-AE7F-4EE7-A955-038237BDDAE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7BB001-53F6-42C3-B73D-465A883C494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95D10310-1ADA-4B35-A676-3731DF5AE990}"/>
              </a:ext>
            </a:extLst>
          </p:cNvPr>
          <p:cNvGrpSpPr>
            <a:grpSpLocks/>
          </p:cNvGrpSpPr>
          <p:nvPr/>
        </p:nvGrpSpPr>
        <p:grpSpPr bwMode="auto">
          <a:xfrm>
            <a:off x="6443889" y="3429000"/>
            <a:ext cx="6169015" cy="663286"/>
            <a:chOff x="1296" y="1824"/>
            <a:chExt cx="3886" cy="432"/>
          </a:xfrm>
        </p:grpSpPr>
        <p:sp>
          <p:nvSpPr>
            <p:cNvPr id="9" name="AutoShape 47">
              <a:extLst>
                <a:ext uri="{FF2B5EF4-FFF2-40B4-BE49-F238E27FC236}">
                  <a16:creationId xmlns:a16="http://schemas.microsoft.com/office/drawing/2014/main" id="{9187AF23-22FB-4688-806F-FF6D5F8FD8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0" name="AutoShape 48">
              <a:extLst>
                <a:ext uri="{FF2B5EF4-FFF2-40B4-BE49-F238E27FC236}">
                  <a16:creationId xmlns:a16="http://schemas.microsoft.com/office/drawing/2014/main" id="{E1A79BBB-66B9-49EA-A5CC-6FBB02CA767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1" name="Text Box 49">
              <a:extLst>
                <a:ext uri="{FF2B5EF4-FFF2-40B4-BE49-F238E27FC236}">
                  <a16:creationId xmlns:a16="http://schemas.microsoft.com/office/drawing/2014/main" id="{EB6DCF54-C979-4E07-BD1E-ECDE8CD6CDE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충성고객이 주는 혜택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2" name="Text Box 50">
              <a:extLst>
                <a:ext uri="{FF2B5EF4-FFF2-40B4-BE49-F238E27FC236}">
                  <a16:creationId xmlns:a16="http://schemas.microsoft.com/office/drawing/2014/main" id="{DAB7CF8B-82E7-45F6-B15C-EA0F322E12B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13" name="Group 51">
            <a:extLst>
              <a:ext uri="{FF2B5EF4-FFF2-40B4-BE49-F238E27FC236}">
                <a16:creationId xmlns:a16="http://schemas.microsoft.com/office/drawing/2014/main" id="{F937521F-95C2-4176-AE1F-F6CA61C9C922}"/>
              </a:ext>
            </a:extLst>
          </p:cNvPr>
          <p:cNvGrpSpPr>
            <a:grpSpLocks/>
          </p:cNvGrpSpPr>
          <p:nvPr/>
        </p:nvGrpSpPr>
        <p:grpSpPr bwMode="auto">
          <a:xfrm>
            <a:off x="6443889" y="4239677"/>
            <a:ext cx="6169025" cy="663285"/>
            <a:chOff x="1296" y="1824"/>
            <a:chExt cx="3886" cy="432"/>
          </a:xfrm>
        </p:grpSpPr>
        <p:sp>
          <p:nvSpPr>
            <p:cNvPr id="14" name="AutoShape 52">
              <a:extLst>
                <a:ext uri="{FF2B5EF4-FFF2-40B4-BE49-F238E27FC236}">
                  <a16:creationId xmlns:a16="http://schemas.microsoft.com/office/drawing/2014/main" id="{279D3A94-4873-4B56-A642-567275733D9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5" name="AutoShape 53">
              <a:extLst>
                <a:ext uri="{FF2B5EF4-FFF2-40B4-BE49-F238E27FC236}">
                  <a16:creationId xmlns:a16="http://schemas.microsoft.com/office/drawing/2014/main" id="{1A32507A-58C0-45A8-8B25-3B105389707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6" name="Text Box 54">
              <a:extLst>
                <a:ext uri="{FF2B5EF4-FFF2-40B4-BE49-F238E27FC236}">
                  <a16:creationId xmlns:a16="http://schemas.microsoft.com/office/drawing/2014/main" id="{D5FD8919-AFF7-451E-82D5-6DF46B91C40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수익성 기반의 충성고객 분류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7" name="Text Box 55">
              <a:extLst>
                <a:ext uri="{FF2B5EF4-FFF2-40B4-BE49-F238E27FC236}">
                  <a16:creationId xmlns:a16="http://schemas.microsoft.com/office/drawing/2014/main" id="{7013B37B-27AB-4CEC-A09E-E2481B8991A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2</a:t>
              </a:r>
            </a:p>
          </p:txBody>
        </p:sp>
      </p:grpSp>
      <p:grpSp>
        <p:nvGrpSpPr>
          <p:cNvPr id="18" name="Group 56">
            <a:extLst>
              <a:ext uri="{FF2B5EF4-FFF2-40B4-BE49-F238E27FC236}">
                <a16:creationId xmlns:a16="http://schemas.microsoft.com/office/drawing/2014/main" id="{F6C3D7D5-87F9-45C5-93D1-1A5AC04979AB}"/>
              </a:ext>
            </a:extLst>
          </p:cNvPr>
          <p:cNvGrpSpPr>
            <a:grpSpLocks/>
          </p:cNvGrpSpPr>
          <p:nvPr/>
        </p:nvGrpSpPr>
        <p:grpSpPr bwMode="auto">
          <a:xfrm>
            <a:off x="6440708" y="5083044"/>
            <a:ext cx="6169025" cy="663285"/>
            <a:chOff x="1296" y="1824"/>
            <a:chExt cx="3886" cy="432"/>
          </a:xfrm>
        </p:grpSpPr>
        <p:sp>
          <p:nvSpPr>
            <p:cNvPr id="19" name="AutoShape 57">
              <a:extLst>
                <a:ext uri="{FF2B5EF4-FFF2-40B4-BE49-F238E27FC236}">
                  <a16:creationId xmlns:a16="http://schemas.microsoft.com/office/drawing/2014/main" id="{B49A9F29-733C-4CB4-BD64-BCCDD0B099E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0" name="AutoShape 58">
              <a:extLst>
                <a:ext uri="{FF2B5EF4-FFF2-40B4-BE49-F238E27FC236}">
                  <a16:creationId xmlns:a16="http://schemas.microsoft.com/office/drawing/2014/main" id="{FC3FC07B-057F-45B5-A1A5-6739D772D40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1" name="Text Box 59">
              <a:extLst>
                <a:ext uri="{FF2B5EF4-FFF2-40B4-BE49-F238E27FC236}">
                  <a16:creationId xmlns:a16="http://schemas.microsoft.com/office/drawing/2014/main" id="{695F0DEA-7586-4EC5-A2DB-296405B8FFB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태도와 행동을 고려한 충성고객 분류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2" name="Text Box 60">
              <a:extLst>
                <a:ext uri="{FF2B5EF4-FFF2-40B4-BE49-F238E27FC236}">
                  <a16:creationId xmlns:a16="http://schemas.microsoft.com/office/drawing/2014/main" id="{936262B6-5B9C-47F3-BAF7-029B3AEF50F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3</a:t>
              </a:r>
            </a:p>
          </p:txBody>
        </p:sp>
      </p:grpSp>
      <p:grpSp>
        <p:nvGrpSpPr>
          <p:cNvPr id="23" name="Group 61">
            <a:extLst>
              <a:ext uri="{FF2B5EF4-FFF2-40B4-BE49-F238E27FC236}">
                <a16:creationId xmlns:a16="http://schemas.microsoft.com/office/drawing/2014/main" id="{766B9358-F5DE-4CF3-9D5C-C7B2BD34803F}"/>
              </a:ext>
            </a:extLst>
          </p:cNvPr>
          <p:cNvGrpSpPr>
            <a:grpSpLocks/>
          </p:cNvGrpSpPr>
          <p:nvPr/>
        </p:nvGrpSpPr>
        <p:grpSpPr bwMode="auto">
          <a:xfrm>
            <a:off x="6443889" y="5934739"/>
            <a:ext cx="6169025" cy="663285"/>
            <a:chOff x="1296" y="1824"/>
            <a:chExt cx="3886" cy="432"/>
          </a:xfrm>
        </p:grpSpPr>
        <p:sp>
          <p:nvSpPr>
            <p:cNvPr id="24" name="AutoShape 62">
              <a:extLst>
                <a:ext uri="{FF2B5EF4-FFF2-40B4-BE49-F238E27FC236}">
                  <a16:creationId xmlns:a16="http://schemas.microsoft.com/office/drawing/2014/main" id="{A209F39E-F850-46A3-88C3-FF38470CAC3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5" name="AutoShape 63">
              <a:extLst>
                <a:ext uri="{FF2B5EF4-FFF2-40B4-BE49-F238E27FC236}">
                  <a16:creationId xmlns:a16="http://schemas.microsoft.com/office/drawing/2014/main" id="{AD06D03E-080E-4C06-95B9-CC9E2FD965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6" name="Text Box 64">
              <a:extLst>
                <a:ext uri="{FF2B5EF4-FFF2-40B4-BE49-F238E27FC236}">
                  <a16:creationId xmlns:a16="http://schemas.microsoft.com/office/drawing/2014/main" id="{BC0E31AC-C207-4CBD-A343-29B34A28C77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일반고객을 충성고객으로 만드는 전략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7" name="Text Box 65">
              <a:extLst>
                <a:ext uri="{FF2B5EF4-FFF2-40B4-BE49-F238E27FC236}">
                  <a16:creationId xmlns:a16="http://schemas.microsoft.com/office/drawing/2014/main" id="{9BDA0C92-9BCE-4B69-8EC6-F8F1E4FC830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 dirty="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 </a:t>
            </a:r>
            <a:r>
              <a:rPr lang="ko-KR" altLang="en-US" dirty="0"/>
              <a:t>충성고객이 주는 혜택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1344706"/>
            <a:ext cx="10930964" cy="497989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3366"/>
                </a:solidFill>
              </a:rPr>
              <a:t>신규고객 확보 보다 기존 고객과의 거래를 유지하고 장기적인 관계를 맺는 것이 중요</a:t>
            </a:r>
            <a:endParaRPr lang="en-US" altLang="ko-KR" sz="20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비용이 훨씬 저렴하고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장기적인 거래를 맺는 충성고객들이 가져다 주는 혜택이 크기 때문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신규고객은 획득 비용이 많이 드는 반면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기존 고객은 관계관리만 잘 하면 고객 요구사항 파악이 용이하므로 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indent="0" eaLnBrk="1" latinLnBrk="0" hangingPunct="1">
              <a:lnSpc>
                <a:spcPct val="150000"/>
              </a:lnSpc>
              <a:buClr>
                <a:srgbClr val="DE8848"/>
              </a:buClr>
            </a:pPr>
            <a:r>
              <a:rPr lang="en-US" altLang="ko-KR" sz="1800" dirty="0">
                <a:solidFill>
                  <a:srgbClr val="003366"/>
                </a:solidFill>
              </a:rPr>
              <a:t>    </a:t>
            </a:r>
            <a:r>
              <a:rPr lang="ko-KR" altLang="en-US" sz="1800" dirty="0">
                <a:solidFill>
                  <a:srgbClr val="003366"/>
                </a:solidFill>
              </a:rPr>
              <a:t>고객만족도를 쉽게 높일 수 있음</a:t>
            </a:r>
            <a:endParaRPr lang="ko-KR" altLang="en-US" sz="1600" dirty="0">
              <a:solidFill>
                <a:srgbClr val="003366"/>
              </a:solidFill>
            </a:endParaRPr>
          </a:p>
          <a:p>
            <a:pPr lvl="1" indent="0" eaLnBrk="1" latinLnBrk="0" hangingPunct="1">
              <a:lnSpc>
                <a:spcPct val="150000"/>
              </a:lnSpc>
              <a:buClr>
                <a:srgbClr val="DE8848"/>
              </a:buClr>
            </a:pPr>
            <a:endParaRPr lang="ko-KR" altLang="en-US" sz="180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그러나 충성고객은 하루 아침에 만들어지는 것이 아님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여러 번의 반복적인 거래를 바탕으로 강력한 관계를 형성해야 함</a:t>
            </a: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만족스러운 첫 거래를 통해 재방문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재구매를 유도할 수 있음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다시 방문할 때마다 고객을 만족시키고 감동시킨다면 단골고객으로 발전 가능 </a:t>
            </a:r>
            <a:r>
              <a:rPr lang="en-US" altLang="ko-KR" sz="1800" dirty="0">
                <a:solidFill>
                  <a:srgbClr val="003366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solidFill>
                  <a:srgbClr val="003366"/>
                </a:solidFill>
                <a:sym typeface="Wingdings" panose="05000000000000000000" pitchFamily="2" charset="2"/>
              </a:rPr>
              <a:t>고객관계마케팅의 목표</a:t>
            </a:r>
            <a:endParaRPr lang="en-US" altLang="ko-KR" sz="180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56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 </a:t>
            </a:r>
            <a:r>
              <a:rPr lang="ko-KR" altLang="en-US" dirty="0"/>
              <a:t>충성고객이 주는 혜택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1344706"/>
            <a:ext cx="10930964" cy="497989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3366"/>
                </a:solidFill>
              </a:rPr>
              <a:t>행동적 관점</a:t>
            </a:r>
            <a:endParaRPr lang="en-US" altLang="ko-KR" sz="20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재방문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재구매 의향이 높음</a:t>
            </a: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특정 기업에서만 구매하고 더 자주 구매하는 경향</a:t>
            </a: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긍정적 입소문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endParaRPr lang="ko-KR" altLang="en-US" sz="180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심리적 관점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특정 기업과 관계를 지속하고 싶어하는 마음</a:t>
            </a: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특정 기업에 대한 호의적인 태도</a:t>
            </a: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감정적 애착 관계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4A8546-49A6-4020-84C6-D577925090CD}"/>
              </a:ext>
            </a:extLst>
          </p:cNvPr>
          <p:cNvSpPr/>
          <p:nvPr/>
        </p:nvSpPr>
        <p:spPr>
          <a:xfrm>
            <a:off x="6774620" y="3330084"/>
            <a:ext cx="4528458" cy="75300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ko-KR" altLang="en-US" sz="24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  <a:cs typeface="함초롬돋움" pitchFamily="50" charset="-127"/>
              </a:rPr>
              <a:t>마케팅 비용 감소 </a:t>
            </a:r>
            <a:endParaRPr lang="en-US" altLang="ko-KR" sz="2400" dirty="0">
              <a:solidFill>
                <a:srgbClr val="0070C0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itchFamily="50" charset="-127"/>
            </a:endParaRPr>
          </a:p>
          <a:p>
            <a:pPr lvl="1" algn="ctr"/>
            <a:r>
              <a:rPr lang="ko-KR" altLang="en-US" sz="24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  <a:cs typeface="함초롬돋움" pitchFamily="50" charset="-127"/>
              </a:rPr>
              <a:t>수익증가</a:t>
            </a:r>
            <a:endParaRPr lang="en-US" altLang="ko-KR" sz="2400" dirty="0">
              <a:solidFill>
                <a:srgbClr val="0070C0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itchFamily="50" charset="-127"/>
            </a:endParaRPr>
          </a:p>
          <a:p>
            <a:pPr lvl="1" algn="ctr"/>
            <a:r>
              <a:rPr lang="ko-KR" altLang="en-US" sz="24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  <a:cs typeface="함초롬돋움" pitchFamily="50" charset="-127"/>
              </a:rPr>
              <a:t>직원들의 직무 만족도 증가</a:t>
            </a:r>
            <a:endParaRPr lang="en-US" altLang="ko-KR" sz="2400" dirty="0">
              <a:solidFill>
                <a:srgbClr val="0070C0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itchFamily="50" charset="-127"/>
            </a:endParaRPr>
          </a:p>
          <a:p>
            <a:pPr lvl="1" algn="ctr"/>
            <a:r>
              <a:rPr lang="ko-KR" altLang="en-US" sz="24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  <a:cs typeface="함초롬돋움" pitchFamily="50" charset="-127"/>
              </a:rPr>
              <a:t>이직률 감소 </a:t>
            </a:r>
            <a:endParaRPr lang="en-US" altLang="ko-KR" sz="2400" dirty="0">
              <a:solidFill>
                <a:srgbClr val="0070C0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itchFamily="50" charset="-127"/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DAC3E4FA-EE88-4D97-9CCA-8D8DBC5DE276}"/>
              </a:ext>
            </a:extLst>
          </p:cNvPr>
          <p:cNvSpPr/>
          <p:nvPr/>
        </p:nvSpPr>
        <p:spPr bwMode="auto">
          <a:xfrm rot="5400000">
            <a:off x="5305011" y="3548706"/>
            <a:ext cx="2623454" cy="31576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635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 </a:t>
            </a:r>
            <a:r>
              <a:rPr lang="ko-KR" altLang="en-US" dirty="0"/>
              <a:t>수익성 기반의 충성고객 분류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7" y="1344706"/>
            <a:ext cx="11704077" cy="497989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모든 고객이 기업에게 혜택을 주는 것은 아님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solidFill>
                  <a:srgbClr val="003366"/>
                </a:solidFill>
              </a:rPr>
              <a:t>80:20 </a:t>
            </a:r>
            <a:r>
              <a:rPr lang="ko-KR" altLang="en-US" sz="1800" dirty="0">
                <a:solidFill>
                  <a:srgbClr val="003366"/>
                </a:solidFill>
              </a:rPr>
              <a:t>법칙 적용하면 전체 고객의 </a:t>
            </a:r>
            <a:r>
              <a:rPr lang="en-US" altLang="ko-KR" sz="1800" dirty="0">
                <a:solidFill>
                  <a:srgbClr val="003366"/>
                </a:solidFill>
              </a:rPr>
              <a:t>20%</a:t>
            </a:r>
            <a:r>
              <a:rPr lang="ko-KR" altLang="en-US" sz="1800" dirty="0">
                <a:solidFill>
                  <a:srgbClr val="003366"/>
                </a:solidFill>
              </a:rPr>
              <a:t>가 전체 매출의 </a:t>
            </a:r>
            <a:r>
              <a:rPr lang="en-US" altLang="ko-KR" sz="1800" dirty="0">
                <a:solidFill>
                  <a:srgbClr val="003366"/>
                </a:solidFill>
              </a:rPr>
              <a:t>80% </a:t>
            </a:r>
            <a:r>
              <a:rPr lang="ko-KR" altLang="en-US" sz="1800" dirty="0">
                <a:solidFill>
                  <a:srgbClr val="003366"/>
                </a:solidFill>
              </a:rPr>
              <a:t>차지 하므로 </a:t>
            </a:r>
            <a:r>
              <a:rPr lang="en-US" altLang="ko-KR" sz="1800" dirty="0">
                <a:solidFill>
                  <a:srgbClr val="003366"/>
                </a:solidFill>
              </a:rPr>
              <a:t>20% </a:t>
            </a:r>
            <a:r>
              <a:rPr lang="ko-KR" altLang="en-US" sz="1800" dirty="0">
                <a:solidFill>
                  <a:srgbClr val="003366"/>
                </a:solidFill>
              </a:rPr>
              <a:t>고객에게 특별 혜택을 주는 것이 기업 수익성에는 더 도움이 될 수 있음 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고객 거래 실적을 토대로 고객을 등급화 하여 관리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과거에는 고객의</a:t>
            </a:r>
            <a:r>
              <a:rPr lang="en-US" altLang="ko-KR" sz="1800" dirty="0">
                <a:solidFill>
                  <a:srgbClr val="003366"/>
                </a:solidFill>
              </a:rPr>
              <a:t> </a:t>
            </a:r>
            <a:r>
              <a:rPr lang="ko-KR" altLang="en-US" sz="1800" dirty="0">
                <a:solidFill>
                  <a:srgbClr val="003366"/>
                </a:solidFill>
              </a:rPr>
              <a:t>방문 빈도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최근 거래 실적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지출 금액 기준을 활용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지금은 고객 개인이 기업에 가져다 주는 현재 수익과 미래 수익성을 고려하는 것이 매우 중요 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C00000"/>
                </a:solidFill>
              </a:rPr>
              <a:t>수익성이 높은 고객</a:t>
            </a:r>
            <a:r>
              <a:rPr lang="ko-KR" altLang="en-US" sz="2000" dirty="0"/>
              <a:t>층의 만족도를 높이고 </a:t>
            </a:r>
            <a:r>
              <a:rPr lang="ko-KR" altLang="en-US" sz="2000" dirty="0">
                <a:solidFill>
                  <a:srgbClr val="C00000"/>
                </a:solidFill>
              </a:rPr>
              <a:t>장기적인 신뢰 관계를 구축</a:t>
            </a:r>
            <a:r>
              <a:rPr lang="ko-KR" altLang="en-US" sz="2000" dirty="0"/>
              <a:t>한다면</a:t>
            </a:r>
            <a:endParaRPr lang="en-US" altLang="ko-KR" sz="20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/>
              <a:t>    </a:t>
            </a:r>
            <a:r>
              <a:rPr lang="ko-KR" altLang="en-US" sz="2000" dirty="0"/>
              <a:t>기업의 </a:t>
            </a:r>
            <a:r>
              <a:rPr lang="ko-KR" altLang="en-US" sz="2000" dirty="0">
                <a:solidFill>
                  <a:srgbClr val="C00000"/>
                </a:solidFill>
              </a:rPr>
              <a:t>재무적 성과는 더 높아질 것임 </a:t>
            </a:r>
            <a:endParaRPr lang="en-US" altLang="ko-KR" sz="2000" dirty="0">
              <a:solidFill>
                <a:srgbClr val="C00000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수익성이 높은 충성고객의 유지율을 </a:t>
            </a:r>
            <a:r>
              <a:rPr lang="en-US" altLang="ko-KR" sz="1800" dirty="0">
                <a:solidFill>
                  <a:srgbClr val="003366"/>
                </a:solidFill>
              </a:rPr>
              <a:t>5% </a:t>
            </a:r>
            <a:r>
              <a:rPr lang="ko-KR" altLang="en-US" sz="1800" dirty="0">
                <a:solidFill>
                  <a:srgbClr val="003366"/>
                </a:solidFill>
              </a:rPr>
              <a:t>증대할 때 기업의 이익은 </a:t>
            </a:r>
            <a:r>
              <a:rPr lang="en-US" altLang="ko-KR" sz="1800" dirty="0">
                <a:solidFill>
                  <a:srgbClr val="003366"/>
                </a:solidFill>
              </a:rPr>
              <a:t>60% </a:t>
            </a:r>
            <a:r>
              <a:rPr lang="ko-KR" altLang="en-US" sz="1800" dirty="0">
                <a:solidFill>
                  <a:srgbClr val="003366"/>
                </a:solidFill>
              </a:rPr>
              <a:t>이상 증가 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endParaRPr lang="en-US" altLang="ko-KR" sz="1800" dirty="0">
              <a:solidFill>
                <a:srgbClr val="003366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D8C6A5-C502-495B-8AC8-96693FAB6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198" y="4282188"/>
            <a:ext cx="3624262" cy="24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67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 </a:t>
            </a:r>
            <a:r>
              <a:rPr lang="ko-KR" altLang="en-US" dirty="0"/>
              <a:t>태도와 행동을 고려한 충성고객 분류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7" y="1344706"/>
            <a:ext cx="11704077" cy="497989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방문 빈도가 높으면서</a:t>
            </a:r>
            <a:r>
              <a:rPr lang="en-US" altLang="ko-KR" sz="2000" dirty="0"/>
              <a:t>, </a:t>
            </a:r>
            <a:r>
              <a:rPr lang="ko-KR" altLang="en-US" sz="2000" dirty="0"/>
              <a:t>높은 태도적 충성도를 함께 가진 그룹이 진짜 충성 고객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진짜 충성고객을 확보하기 위한 그룹별 구체적인 전략이 필요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가식적 충성심을 가진 고객에게는 브랜드에 대한 긍정적 감정을 유발할 수 있는 마케팅 필요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잠재적 충성고객에게는 방문 빈도를 높일 수 있는 프로모션 필요</a:t>
            </a:r>
            <a:endParaRPr lang="en-US" altLang="ko-KR" sz="1800" dirty="0">
              <a:solidFill>
                <a:srgbClr val="00336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F95355-D855-4B98-ADD8-F3D794F01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41" y="3429000"/>
            <a:ext cx="3876675" cy="309100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1DABF06-985C-40D4-8577-AFBDBC448EF6}"/>
              </a:ext>
            </a:extLst>
          </p:cNvPr>
          <p:cNvSpPr/>
          <p:nvPr/>
        </p:nvSpPr>
        <p:spPr>
          <a:xfrm>
            <a:off x="5135216" y="3970254"/>
            <a:ext cx="7056784" cy="163469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0070C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진실된 충성도 </a:t>
            </a:r>
            <a:r>
              <a:rPr lang="en-US" altLang="ko-KR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외식업체에 대한 강한 친밀한 태도</a:t>
            </a:r>
            <a:r>
              <a:rPr lang="en-US" altLang="ko-KR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재방문 빈도 높음</a:t>
            </a:r>
            <a:endParaRPr lang="en-US" altLang="ko-KR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0070C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잠재적 충성도</a:t>
            </a:r>
            <a:r>
              <a:rPr lang="ko-KR" altLang="en-US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외식업체에 대한 태도는 높음</a:t>
            </a:r>
            <a:r>
              <a:rPr lang="en-US" altLang="ko-KR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재방문 빈도 낮음</a:t>
            </a:r>
            <a:endParaRPr lang="en-US" altLang="ko-KR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0070C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가식적 충성도 </a:t>
            </a:r>
            <a:r>
              <a:rPr lang="en-US" altLang="ko-KR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자주 방문하지만 브랜드 태도는 높지 않음</a:t>
            </a:r>
            <a:endParaRPr lang="en-US" altLang="ko-KR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0070C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낮은 충성도 </a:t>
            </a:r>
            <a:r>
              <a:rPr lang="en-US" altLang="ko-KR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브랜드 태도</a:t>
            </a:r>
            <a:r>
              <a:rPr lang="en-US" altLang="ko-KR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재방문 빈도 모두 낮음 </a:t>
            </a:r>
            <a:endParaRPr lang="en-US" altLang="ko-KR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2648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 </a:t>
            </a:r>
            <a:r>
              <a:rPr lang="ko-KR" altLang="en-US" dirty="0"/>
              <a:t>일반 고객을 충성고객으로 만드는 전략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49F37AA-A430-41DC-B647-E88F1BA3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71" y="1527629"/>
            <a:ext cx="11704077" cy="939820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/>
              <a:t>기본기에 충실하라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핵심상품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서비스 품질관리 철저히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고객이 방문 할 때 마다 가치 있는 서비스 제공 → 재방문 가능성 신뢰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호감 증가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D4FAF6E-8203-4A4A-AE55-BFD21C5CB023}"/>
              </a:ext>
            </a:extLst>
          </p:cNvPr>
          <p:cNvSpPr txBox="1">
            <a:spLocks/>
          </p:cNvSpPr>
          <p:nvPr/>
        </p:nvSpPr>
        <p:spPr bwMode="auto">
          <a:xfrm>
            <a:off x="837971" y="3429000"/>
            <a:ext cx="11704077" cy="93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indent="2778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indent="466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indent="7445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/>
              <a:t>(2) </a:t>
            </a:r>
            <a:r>
              <a:rPr lang="ko-KR" altLang="en-US" sz="2000" dirty="0"/>
              <a:t>전환장벽을 만들어라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전환비용 </a:t>
            </a:r>
            <a:r>
              <a:rPr lang="en-US" altLang="ko-KR" sz="1800" dirty="0">
                <a:solidFill>
                  <a:srgbClr val="003366"/>
                </a:solidFill>
              </a:rPr>
              <a:t>: </a:t>
            </a:r>
            <a:r>
              <a:rPr lang="ko-KR" altLang="en-US" sz="1800" dirty="0">
                <a:solidFill>
                  <a:srgbClr val="003366"/>
                </a:solidFill>
              </a:rPr>
              <a:t>고객들이 기존 서비스 기업을 떠나 새로운 기업으로 이동하려고 할 때 드는 비용</a:t>
            </a:r>
          </a:p>
          <a:p>
            <a:pPr marL="733425" lvl="2" indent="-28575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3366"/>
                </a:solidFill>
              </a:rPr>
              <a:t>전환비용이 높을수록</a:t>
            </a:r>
            <a:r>
              <a:rPr lang="en-US" altLang="ko-KR" sz="1600" dirty="0">
                <a:solidFill>
                  <a:srgbClr val="003366"/>
                </a:solidFill>
              </a:rPr>
              <a:t>, </a:t>
            </a:r>
            <a:r>
              <a:rPr lang="ko-KR" altLang="en-US" sz="1600" dirty="0">
                <a:solidFill>
                  <a:srgbClr val="003366"/>
                </a:solidFill>
              </a:rPr>
              <a:t>고객 만족도가 낮아도 고객 유지에 도움</a:t>
            </a:r>
          </a:p>
          <a:p>
            <a:pPr marL="733425" lvl="2" indent="-28575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3366"/>
                </a:solidFill>
              </a:rPr>
              <a:t>전환비용이 낮을수록</a:t>
            </a:r>
            <a:r>
              <a:rPr lang="en-US" altLang="ko-KR" sz="1600" dirty="0">
                <a:solidFill>
                  <a:srgbClr val="003366"/>
                </a:solidFill>
              </a:rPr>
              <a:t>, </a:t>
            </a:r>
            <a:r>
              <a:rPr lang="ko-KR" altLang="en-US" sz="1600" dirty="0">
                <a:solidFill>
                  <a:srgbClr val="003366"/>
                </a:solidFill>
              </a:rPr>
              <a:t>고객 만족도가 높아도 고객 유지가 어려움 </a:t>
            </a:r>
            <a:endParaRPr lang="ko-KR" altLang="en-US" sz="1400" dirty="0">
              <a:solidFill>
                <a:srgbClr val="003366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7BF130-F666-42C9-9A10-D5F27D6A5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711" y="3797310"/>
            <a:ext cx="2967489" cy="25780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5693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 </a:t>
            </a:r>
            <a:r>
              <a:rPr lang="ko-KR" altLang="en-US" dirty="0"/>
              <a:t>일반 고객을 충성고객으로 만드는 전략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49F37AA-A430-41DC-B647-E88F1BA3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363" y="1527629"/>
            <a:ext cx="11704077" cy="939820"/>
          </a:xfrm>
        </p:spPr>
        <p:txBody>
          <a:bodyPr/>
          <a:lstStyle/>
          <a:p>
            <a:pPr marL="0" indent="0" eaLnBrk="1" latinLnBrk="0" hangingPunct="1"/>
            <a:r>
              <a:rPr lang="en-US" altLang="ko-KR" sz="2000" dirty="0"/>
              <a:t>(3) </a:t>
            </a:r>
            <a:r>
              <a:rPr lang="ko-KR" altLang="en-US" sz="2000" dirty="0"/>
              <a:t>고객과의 유대관계를 만들어라</a:t>
            </a:r>
            <a:endParaRPr lang="en-US" altLang="ko-KR" sz="2000" dirty="0"/>
          </a:p>
          <a:p>
            <a:pPr marL="0" indent="0" eaLnBrk="1" latinLnBrk="0" hangingPunct="1"/>
            <a:endParaRPr lang="ko-KR" altLang="en-US" sz="2000" dirty="0"/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재무적 유대 관계</a:t>
            </a:r>
          </a:p>
          <a:p>
            <a:pPr marL="733425" lvl="2" indent="-285750" eaLnBrk="1" latinLnBrk="0" hangingPunct="1"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3366"/>
                </a:solidFill>
              </a:rPr>
              <a:t>가장 약한 수준의 관계</a:t>
            </a:r>
            <a:r>
              <a:rPr lang="en-US" altLang="ko-KR" sz="1600" dirty="0">
                <a:solidFill>
                  <a:srgbClr val="003366"/>
                </a:solidFill>
              </a:rPr>
              <a:t>, </a:t>
            </a:r>
            <a:r>
              <a:rPr lang="ko-KR" altLang="en-US" sz="1600" dirty="0">
                <a:solidFill>
                  <a:srgbClr val="003366"/>
                </a:solidFill>
              </a:rPr>
              <a:t>금전적 인센티브 활용</a:t>
            </a:r>
          </a:p>
          <a:p>
            <a:pPr marL="733425" lvl="2" indent="-285750" eaLnBrk="1" latinLnBrk="0" hangingPunct="1"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3366"/>
                </a:solidFill>
              </a:rPr>
              <a:t>상호고객우대제도</a:t>
            </a:r>
            <a:r>
              <a:rPr lang="en-US" altLang="ko-KR" sz="1600" dirty="0">
                <a:solidFill>
                  <a:srgbClr val="003366"/>
                </a:solidFill>
              </a:rPr>
              <a:t>, </a:t>
            </a:r>
            <a:r>
              <a:rPr lang="ko-KR" altLang="en-US" sz="1600" dirty="0">
                <a:solidFill>
                  <a:srgbClr val="003366"/>
                </a:solidFill>
              </a:rPr>
              <a:t>가격할인 혜택 등</a:t>
            </a:r>
            <a:endParaRPr lang="en-US" altLang="ko-KR" sz="1600" dirty="0">
              <a:solidFill>
                <a:srgbClr val="003366"/>
              </a:solidFill>
            </a:endParaRPr>
          </a:p>
          <a:p>
            <a:pPr marL="733425" lvl="2" indent="-285750" eaLnBrk="1" latinLnBrk="0" hangingPunct="1">
              <a:buFont typeface="Wingdings" panose="05000000000000000000" pitchFamily="2" charset="2"/>
              <a:buChar char="ü"/>
            </a:pPr>
            <a:endParaRPr lang="ko-KR" altLang="en-US" sz="1800" dirty="0">
              <a:solidFill>
                <a:srgbClr val="003366"/>
              </a:solidFill>
            </a:endParaRP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사회적 유대 및 대인관계</a:t>
            </a:r>
          </a:p>
          <a:p>
            <a:pPr marL="733425" lvl="2" indent="-285750" eaLnBrk="1" latinLnBrk="0" hangingPunct="1"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3366"/>
                </a:solidFill>
              </a:rPr>
              <a:t>보다 강력한 관계로 재무적 인센티브 포함</a:t>
            </a:r>
          </a:p>
          <a:p>
            <a:pPr marL="733425" lvl="2" indent="-285750" eaLnBrk="1" latinLnBrk="0" hangingPunct="1"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3366"/>
                </a:solidFill>
              </a:rPr>
              <a:t>친분</a:t>
            </a:r>
            <a:r>
              <a:rPr lang="en-US" altLang="ko-KR" sz="1600" dirty="0">
                <a:solidFill>
                  <a:srgbClr val="003366"/>
                </a:solidFill>
              </a:rPr>
              <a:t>, </a:t>
            </a:r>
            <a:r>
              <a:rPr lang="ko-KR" altLang="en-US" sz="1600" dirty="0">
                <a:solidFill>
                  <a:srgbClr val="003366"/>
                </a:solidFill>
              </a:rPr>
              <a:t>친밀감</a:t>
            </a:r>
            <a:r>
              <a:rPr lang="en-US" altLang="ko-KR" sz="1600" dirty="0">
                <a:solidFill>
                  <a:srgbClr val="003366"/>
                </a:solidFill>
              </a:rPr>
              <a:t>, </a:t>
            </a:r>
            <a:r>
              <a:rPr lang="ko-KR" altLang="en-US" sz="1600" dirty="0">
                <a:solidFill>
                  <a:srgbClr val="003366"/>
                </a:solidFill>
              </a:rPr>
              <a:t>개인적 인간관계 형성으로 장기간 거래 관계 유지 가능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endParaRPr lang="ko-KR" altLang="en-US" sz="1800" dirty="0">
              <a:solidFill>
                <a:srgbClr val="003366"/>
              </a:solidFill>
            </a:endParaRP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고객화 유대 관계</a:t>
            </a:r>
          </a:p>
          <a:p>
            <a:pPr marL="733425" lvl="2" indent="-285750" eaLnBrk="1" latinLnBrk="0" hangingPunct="1"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3366"/>
                </a:solidFill>
              </a:rPr>
              <a:t>재무적</a:t>
            </a:r>
            <a:r>
              <a:rPr lang="en-US" altLang="ko-KR" sz="1600" dirty="0">
                <a:solidFill>
                  <a:srgbClr val="003366"/>
                </a:solidFill>
              </a:rPr>
              <a:t>, </a:t>
            </a:r>
            <a:r>
              <a:rPr lang="ko-KR" altLang="en-US" sz="1600" dirty="0">
                <a:solidFill>
                  <a:srgbClr val="003366"/>
                </a:solidFill>
              </a:rPr>
              <a:t>사회적 유대관계 포함</a:t>
            </a:r>
          </a:p>
          <a:p>
            <a:pPr marL="733425" lvl="2" indent="-285750" eaLnBrk="1" latinLnBrk="0" hangingPunct="1"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3366"/>
                </a:solidFill>
              </a:rPr>
              <a:t>개별화 된 고객 니즈</a:t>
            </a:r>
            <a:r>
              <a:rPr lang="en-US" altLang="ko-KR" sz="1600" dirty="0">
                <a:solidFill>
                  <a:srgbClr val="003366"/>
                </a:solidFill>
              </a:rPr>
              <a:t>, </a:t>
            </a:r>
            <a:r>
              <a:rPr lang="ko-KR" altLang="en-US" sz="1600" dirty="0">
                <a:solidFill>
                  <a:srgbClr val="003366"/>
                </a:solidFill>
              </a:rPr>
              <a:t>취향을 고려한 서비스 제공</a:t>
            </a:r>
          </a:p>
          <a:p>
            <a:pPr lvl="2" indent="0" eaLnBrk="1" latinLnBrk="0" hangingPunct="1"/>
            <a:r>
              <a:rPr lang="ko-KR" altLang="en-US" sz="1600" dirty="0">
                <a:solidFill>
                  <a:srgbClr val="003366"/>
                </a:solidFill>
              </a:rPr>
              <a:t>     → 강력한 유대 관계 형성</a:t>
            </a:r>
            <a:endParaRPr lang="ko-KR" altLang="en-US" sz="1400" dirty="0">
              <a:solidFill>
                <a:srgbClr val="003366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662723A-DEC8-4D52-86DC-4778A97A0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481" y="4549635"/>
            <a:ext cx="3489321" cy="156147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9FFE795-18A2-4408-B58B-61DBCDE7A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14" y="1753651"/>
            <a:ext cx="3892457" cy="21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6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텍스트 개체 틀 3">
            <a:extLst>
              <a:ext uri="{FF2B5EF4-FFF2-40B4-BE49-F238E27FC236}">
                <a16:creationId xmlns:a16="http://schemas.microsoft.com/office/drawing/2014/main" id="{FF324CC6-386C-47B4-962C-1A73013DD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불평고객 관리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7BAE7D-4448-4DED-AA41-A453AEFF4AF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EE0101-D47B-4C84-8321-38EF136351D0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BB3919A3-CB73-451A-A024-DB8C0CB3E4BC}"/>
              </a:ext>
            </a:extLst>
          </p:cNvPr>
          <p:cNvGrpSpPr>
            <a:grpSpLocks/>
          </p:cNvGrpSpPr>
          <p:nvPr/>
        </p:nvGrpSpPr>
        <p:grpSpPr bwMode="auto">
          <a:xfrm>
            <a:off x="6385832" y="3178629"/>
            <a:ext cx="6169015" cy="663286"/>
            <a:chOff x="1296" y="1824"/>
            <a:chExt cx="3886" cy="432"/>
          </a:xfrm>
        </p:grpSpPr>
        <p:sp>
          <p:nvSpPr>
            <p:cNvPr id="24" name="AutoShape 47">
              <a:extLst>
                <a:ext uri="{FF2B5EF4-FFF2-40B4-BE49-F238E27FC236}">
                  <a16:creationId xmlns:a16="http://schemas.microsoft.com/office/drawing/2014/main" id="{DC2CFFCE-8DE3-4A99-96E8-0EBFE7FE01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5" name="AutoShape 48">
              <a:extLst>
                <a:ext uri="{FF2B5EF4-FFF2-40B4-BE49-F238E27FC236}">
                  <a16:creationId xmlns:a16="http://schemas.microsoft.com/office/drawing/2014/main" id="{DE62540D-CCBE-4E3D-BFBB-4BC36EF321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6" name="Text Box 49">
              <a:extLst>
                <a:ext uri="{FF2B5EF4-FFF2-40B4-BE49-F238E27FC236}">
                  <a16:creationId xmlns:a16="http://schemas.microsoft.com/office/drawing/2014/main" id="{575A783F-4397-4C0F-90EA-B3EE286A138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효과적인 불평 고객 관리의 중요성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7" name="Text Box 50">
              <a:extLst>
                <a:ext uri="{FF2B5EF4-FFF2-40B4-BE49-F238E27FC236}">
                  <a16:creationId xmlns:a16="http://schemas.microsoft.com/office/drawing/2014/main" id="{B4A69FCD-EEB3-4B11-BB1F-C5B12FA3ABD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9" name="Group 51">
            <a:extLst>
              <a:ext uri="{FF2B5EF4-FFF2-40B4-BE49-F238E27FC236}">
                <a16:creationId xmlns:a16="http://schemas.microsoft.com/office/drawing/2014/main" id="{0F9D4181-929C-406E-9392-16D87307ADBC}"/>
              </a:ext>
            </a:extLst>
          </p:cNvPr>
          <p:cNvGrpSpPr>
            <a:grpSpLocks/>
          </p:cNvGrpSpPr>
          <p:nvPr/>
        </p:nvGrpSpPr>
        <p:grpSpPr bwMode="auto">
          <a:xfrm>
            <a:off x="6382651" y="3954140"/>
            <a:ext cx="6169025" cy="663285"/>
            <a:chOff x="1296" y="1824"/>
            <a:chExt cx="3886" cy="432"/>
          </a:xfrm>
        </p:grpSpPr>
        <p:sp>
          <p:nvSpPr>
            <p:cNvPr id="20" name="AutoShape 52">
              <a:extLst>
                <a:ext uri="{FF2B5EF4-FFF2-40B4-BE49-F238E27FC236}">
                  <a16:creationId xmlns:a16="http://schemas.microsoft.com/office/drawing/2014/main" id="{947D1FDE-168B-4A80-881E-BDD60D594BA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1" name="AutoShape 53">
              <a:extLst>
                <a:ext uri="{FF2B5EF4-FFF2-40B4-BE49-F238E27FC236}">
                  <a16:creationId xmlns:a16="http://schemas.microsoft.com/office/drawing/2014/main" id="{9C8A8E25-C5E1-4CB6-948C-A93C46C129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2" name="Text Box 54">
              <a:extLst>
                <a:ext uri="{FF2B5EF4-FFF2-40B4-BE49-F238E27FC236}">
                  <a16:creationId xmlns:a16="http://schemas.microsoft.com/office/drawing/2014/main" id="{791CBC6D-335B-4F66-916C-153504CFF17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고객 불평의 목적과 불평고객 유형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3" name="Text Box 55">
              <a:extLst>
                <a:ext uri="{FF2B5EF4-FFF2-40B4-BE49-F238E27FC236}">
                  <a16:creationId xmlns:a16="http://schemas.microsoft.com/office/drawing/2014/main" id="{D830330B-A1B5-444B-A5BD-FAB32AAAD00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2</a:t>
              </a:r>
            </a:p>
          </p:txBody>
        </p:sp>
      </p:grpSp>
      <p:grpSp>
        <p:nvGrpSpPr>
          <p:cNvPr id="10" name="Group 56">
            <a:extLst>
              <a:ext uri="{FF2B5EF4-FFF2-40B4-BE49-F238E27FC236}">
                <a16:creationId xmlns:a16="http://schemas.microsoft.com/office/drawing/2014/main" id="{30CBD548-BA9A-41B7-A2B8-E25BB7EA06F3}"/>
              </a:ext>
            </a:extLst>
          </p:cNvPr>
          <p:cNvGrpSpPr>
            <a:grpSpLocks/>
          </p:cNvGrpSpPr>
          <p:nvPr/>
        </p:nvGrpSpPr>
        <p:grpSpPr bwMode="auto">
          <a:xfrm>
            <a:off x="6385832" y="4799988"/>
            <a:ext cx="6169025" cy="663285"/>
            <a:chOff x="1296" y="1824"/>
            <a:chExt cx="3886" cy="432"/>
          </a:xfrm>
        </p:grpSpPr>
        <p:sp>
          <p:nvSpPr>
            <p:cNvPr id="16" name="AutoShape 57">
              <a:extLst>
                <a:ext uri="{FF2B5EF4-FFF2-40B4-BE49-F238E27FC236}">
                  <a16:creationId xmlns:a16="http://schemas.microsoft.com/office/drawing/2014/main" id="{6BD2DFD3-21EB-4455-BB53-C35800A3783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7" name="AutoShape 58">
              <a:extLst>
                <a:ext uri="{FF2B5EF4-FFF2-40B4-BE49-F238E27FC236}">
                  <a16:creationId xmlns:a16="http://schemas.microsoft.com/office/drawing/2014/main" id="{4F798B8C-524E-4BDA-93E5-668B3AE0C53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8" name="Text Box 59">
              <a:extLst>
                <a:ext uri="{FF2B5EF4-FFF2-40B4-BE49-F238E27FC236}">
                  <a16:creationId xmlns:a16="http://schemas.microsoft.com/office/drawing/2014/main" id="{03AC59C4-19F2-4C0D-8E04-C724E045092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서비스 회복 전략 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9" name="Text Box 60">
              <a:extLst>
                <a:ext uri="{FF2B5EF4-FFF2-40B4-BE49-F238E27FC236}">
                  <a16:creationId xmlns:a16="http://schemas.microsoft.com/office/drawing/2014/main" id="{507B9245-C4F3-4143-BAAC-0FA06D0341E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3</a:t>
              </a:r>
            </a:p>
          </p:txBody>
        </p:sp>
      </p:grpSp>
      <p:grpSp>
        <p:nvGrpSpPr>
          <p:cNvPr id="11" name="Group 61">
            <a:extLst>
              <a:ext uri="{FF2B5EF4-FFF2-40B4-BE49-F238E27FC236}">
                <a16:creationId xmlns:a16="http://schemas.microsoft.com/office/drawing/2014/main" id="{5FE21941-6C82-46CE-B81E-F3779D5E06D2}"/>
              </a:ext>
            </a:extLst>
          </p:cNvPr>
          <p:cNvGrpSpPr>
            <a:grpSpLocks/>
          </p:cNvGrpSpPr>
          <p:nvPr/>
        </p:nvGrpSpPr>
        <p:grpSpPr bwMode="auto">
          <a:xfrm>
            <a:off x="6385832" y="5684368"/>
            <a:ext cx="6169025" cy="663285"/>
            <a:chOff x="1296" y="1824"/>
            <a:chExt cx="3886" cy="432"/>
          </a:xfrm>
        </p:grpSpPr>
        <p:sp>
          <p:nvSpPr>
            <p:cNvPr id="12" name="AutoShape 62">
              <a:extLst>
                <a:ext uri="{FF2B5EF4-FFF2-40B4-BE49-F238E27FC236}">
                  <a16:creationId xmlns:a16="http://schemas.microsoft.com/office/drawing/2014/main" id="{868C2FAB-20E0-4667-9989-91323766F3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3" name="AutoShape 63">
              <a:extLst>
                <a:ext uri="{FF2B5EF4-FFF2-40B4-BE49-F238E27FC236}">
                  <a16:creationId xmlns:a16="http://schemas.microsoft.com/office/drawing/2014/main" id="{0405E100-5012-4127-B92A-61D7C62F42F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4" name="Text Box 64">
              <a:extLst>
                <a:ext uri="{FF2B5EF4-FFF2-40B4-BE49-F238E27FC236}">
                  <a16:creationId xmlns:a16="http://schemas.microsoft.com/office/drawing/2014/main" id="{D98786D3-DCAE-48D7-9B2A-6267FCCD50C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서비스 회복 시스템 구축을 통한 고객 만족 관리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5" name="Text Box 65">
              <a:extLst>
                <a:ext uri="{FF2B5EF4-FFF2-40B4-BE49-F238E27FC236}">
                  <a16:creationId xmlns:a16="http://schemas.microsoft.com/office/drawing/2014/main" id="{32B1CD1D-3CEC-4C44-BE63-4E8F914E64D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 dirty="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효과적인 불평고객 관리의 중요성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0288173" cy="4858871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고객이 서비스에 대해 불만족해도 불평을 하지 않는다면</a:t>
            </a:r>
            <a:r>
              <a:rPr lang="en-US" altLang="ko-KR" sz="2000" b="0" dirty="0"/>
              <a:t>?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회복 기회 상실로 고객 이탈 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문제가 있음에도 그것을 모르는 채 계속 영업 </a:t>
            </a:r>
            <a:r>
              <a:rPr lang="en-US" altLang="ko-KR" sz="1800" dirty="0">
                <a:sym typeface="Wingdings" panose="05000000000000000000" pitchFamily="2" charset="2"/>
              </a:rPr>
              <a:t></a:t>
            </a:r>
            <a:r>
              <a:rPr lang="en-US" altLang="ko-KR" sz="1800" dirty="0"/>
              <a:t> </a:t>
            </a:r>
            <a:r>
              <a:rPr lang="ko-KR" altLang="en-US" sz="1800" dirty="0"/>
              <a:t>레스토랑에 대한 불만 쌓임 </a:t>
            </a:r>
            <a:r>
              <a:rPr lang="en-US" altLang="ko-KR" sz="1800" dirty="0">
                <a:sym typeface="Wingdings" panose="05000000000000000000" pitchFamily="2" charset="2"/>
              </a:rPr>
              <a:t></a:t>
            </a:r>
            <a:r>
              <a:rPr lang="en-US" altLang="ko-KR" sz="1800" dirty="0"/>
              <a:t> </a:t>
            </a:r>
            <a:r>
              <a:rPr lang="ko-KR" altLang="en-US" sz="1800" dirty="0"/>
              <a:t>고객 이탈 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따라서 불평하는 고객보다 침묵하는 고객이 더 큰 위험 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실패 회복 </a:t>
            </a:r>
            <a:r>
              <a:rPr lang="en-US" altLang="ko-KR" sz="1800" dirty="0"/>
              <a:t>: </a:t>
            </a:r>
            <a:r>
              <a:rPr lang="ko-KR" altLang="en-US" sz="1800" dirty="0"/>
              <a:t>레스토랑이 실패를 파악</a:t>
            </a:r>
            <a:r>
              <a:rPr lang="en-US" altLang="ko-KR" sz="1800" dirty="0"/>
              <a:t>, </a:t>
            </a:r>
            <a:r>
              <a:rPr lang="ko-KR" altLang="en-US" sz="1800" dirty="0"/>
              <a:t>회복 할 수 있을 때만 가능 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000" b="0" dirty="0"/>
              <a:t>'</a:t>
            </a:r>
            <a:r>
              <a:rPr lang="ko-KR" altLang="en-US" sz="2000" b="0" dirty="0"/>
              <a:t>고객 불평은 우리에게 주는 선물이다</a:t>
            </a:r>
            <a:r>
              <a:rPr lang="en-US" altLang="ko-KR" sz="2000" b="0" dirty="0"/>
              <a:t>’ </a:t>
            </a:r>
          </a:p>
          <a:p>
            <a:pPr marL="536575" lvl="1" indent="-179388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solidFill>
                  <a:srgbClr val="003366"/>
                </a:solidFill>
              </a:rPr>
              <a:t>고객 불평을 통해 서비스 개선 기회를 알려주어 고품질 서비스를 달성하도록 해주기 때문 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marL="536575" lvl="1" indent="-179388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고객의 불평을 격려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추적하는 전략 필요 </a:t>
            </a:r>
            <a:r>
              <a:rPr lang="en-US" altLang="ko-KR" sz="1800" dirty="0">
                <a:sym typeface="Wingdings" panose="05000000000000000000" pitchFamily="2" charset="2"/>
              </a:rPr>
              <a:t></a:t>
            </a:r>
            <a:r>
              <a:rPr lang="en-US" altLang="ko-KR" sz="1800" b="0" dirty="0"/>
              <a:t> </a:t>
            </a:r>
            <a:r>
              <a:rPr lang="ko-KR" altLang="en-US" sz="1800" b="0" dirty="0"/>
              <a:t>다양한 조사 방법을 통해 고객 불만 모니터링</a:t>
            </a:r>
            <a:r>
              <a:rPr lang="en-US" altLang="ko-KR" sz="1800" b="0" dirty="0"/>
              <a:t>  </a:t>
            </a:r>
          </a:p>
          <a:p>
            <a:pPr lvl="0" eaLnBrk="1" latinLnBrk="0" hangingPunct="1">
              <a:lnSpc>
                <a:spcPct val="150000"/>
              </a:lnSpc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000" b="0" dirty="0">
                <a:solidFill>
                  <a:srgbClr val="003366"/>
                </a:solidFill>
              </a:rPr>
              <a:t>SNS</a:t>
            </a:r>
            <a:r>
              <a:rPr lang="ko-KR" altLang="en-US" sz="2000" b="0" dirty="0">
                <a:solidFill>
                  <a:srgbClr val="003366"/>
                </a:solidFill>
              </a:rPr>
              <a:t>의 발달로 레스토랑 방문 경험과 후기를 상세히 남기는 경우가 많아지고 있어</a:t>
            </a:r>
            <a:r>
              <a:rPr lang="en-US" altLang="ko-KR" sz="2000" b="0" dirty="0">
                <a:solidFill>
                  <a:srgbClr val="003366"/>
                </a:solidFill>
              </a:rPr>
              <a:t>,</a:t>
            </a:r>
            <a:r>
              <a:rPr lang="ko-KR" altLang="en-US" sz="2000" b="0" dirty="0">
                <a:solidFill>
                  <a:srgbClr val="003366"/>
                </a:solidFill>
              </a:rPr>
              <a:t> 온라인상의 고객 의견을 적극적으로 수집하고 분석하는 것이 중요해짐</a:t>
            </a:r>
            <a:r>
              <a:rPr lang="en-US" altLang="ko-KR" sz="2000" b="0" dirty="0">
                <a:solidFill>
                  <a:srgbClr val="003366"/>
                </a:solidFill>
              </a:rPr>
              <a:t> </a:t>
            </a:r>
          </a:p>
          <a:p>
            <a:pPr marL="536575" lvl="1" indent="-179388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고객 불평의 목적과 불평고객 유형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고객 불평의 목적</a:t>
            </a:r>
            <a:endParaRPr lang="en-US" altLang="ko-KR" sz="2000" b="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0EC6F5-C900-4707-9D36-32EC187106FB}"/>
              </a:ext>
            </a:extLst>
          </p:cNvPr>
          <p:cNvSpPr/>
          <p:nvPr/>
        </p:nvSpPr>
        <p:spPr>
          <a:xfrm>
            <a:off x="4043261" y="2299600"/>
            <a:ext cx="6480720" cy="601325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환불</a:t>
            </a:r>
            <a:r>
              <a:rPr lang="en-US" altLang="ko-KR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보상</a:t>
            </a:r>
            <a:r>
              <a:rPr lang="en-US" altLang="ko-KR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서비스 재이용과 같은 경제적 손실 만회</a:t>
            </a: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5B9F7A67-ED02-4986-9209-D2113971DCA2}"/>
              </a:ext>
            </a:extLst>
          </p:cNvPr>
          <p:cNvSpPr/>
          <p:nvPr/>
        </p:nvSpPr>
        <p:spPr>
          <a:xfrm>
            <a:off x="1386833" y="2207495"/>
            <a:ext cx="2140144" cy="7920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경제적 보상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79ACE0-6D96-4480-B4A1-49AC2064E445}"/>
              </a:ext>
            </a:extLst>
          </p:cNvPr>
          <p:cNvSpPr/>
          <p:nvPr/>
        </p:nvSpPr>
        <p:spPr>
          <a:xfrm>
            <a:off x="4043261" y="3235704"/>
            <a:ext cx="6480720" cy="601325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서비스 실패로 인한 자존심 손상 및 화난 감정 조절</a:t>
            </a: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FCC358AC-BFB1-4316-9B37-4D74B3FF8F95}"/>
              </a:ext>
            </a:extLst>
          </p:cNvPr>
          <p:cNvSpPr/>
          <p:nvPr/>
        </p:nvSpPr>
        <p:spPr>
          <a:xfrm>
            <a:off x="1386833" y="3143599"/>
            <a:ext cx="2140144" cy="7920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감정 조절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AFAAC9-B481-4D99-BA1D-48F52F493E12}"/>
              </a:ext>
            </a:extLst>
          </p:cNvPr>
          <p:cNvSpPr/>
          <p:nvPr/>
        </p:nvSpPr>
        <p:spPr>
          <a:xfrm>
            <a:off x="4044933" y="4181856"/>
            <a:ext cx="6480720" cy="601325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서비스 실패가 </a:t>
            </a:r>
            <a:r>
              <a:rPr lang="ko-KR" altLang="en-US" sz="2000" dirty="0" err="1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재발생하지</a:t>
            </a:r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 않고</a:t>
            </a:r>
            <a:r>
              <a:rPr lang="en-US" altLang="ko-KR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개선되기는 바라는 마음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DC88DEF7-3408-440B-B0F7-D1CB4CB08613}"/>
              </a:ext>
            </a:extLst>
          </p:cNvPr>
          <p:cNvSpPr/>
          <p:nvPr/>
        </p:nvSpPr>
        <p:spPr>
          <a:xfrm>
            <a:off x="1388505" y="4089751"/>
            <a:ext cx="2140144" cy="7920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서비스 개선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57FFBD-DAB1-4609-9737-6CBE6E7870B1}"/>
              </a:ext>
            </a:extLst>
          </p:cNvPr>
          <p:cNvSpPr/>
          <p:nvPr/>
        </p:nvSpPr>
        <p:spPr>
          <a:xfrm>
            <a:off x="4043261" y="5139728"/>
            <a:ext cx="6480720" cy="601325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자신이 겪은 문제를 타인이 겪지 않도록 하기 위함</a:t>
            </a:r>
          </a:p>
        </p:txBody>
      </p:sp>
      <p:sp>
        <p:nvSpPr>
          <p:cNvPr id="11" name="모서리가 둥근 직사각형 20">
            <a:extLst>
              <a:ext uri="{FF2B5EF4-FFF2-40B4-BE49-F238E27FC236}">
                <a16:creationId xmlns:a16="http://schemas.microsoft.com/office/drawing/2014/main" id="{17BB2ED7-01D3-4AE3-A985-65E3EF6B8322}"/>
              </a:ext>
            </a:extLst>
          </p:cNvPr>
          <p:cNvSpPr/>
          <p:nvPr/>
        </p:nvSpPr>
        <p:spPr>
          <a:xfrm>
            <a:off x="1386833" y="5047623"/>
            <a:ext cx="2140144" cy="7920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itchFamily="50" charset="-127"/>
              </a:rPr>
              <a:t>이타주의</a:t>
            </a:r>
          </a:p>
        </p:txBody>
      </p:sp>
    </p:spTree>
    <p:extLst>
      <p:ext uri="{BB962C8B-B14F-4D97-AF65-F5344CB8AC3E}">
        <p14:creationId xmlns:p14="http://schemas.microsoft.com/office/powerpoint/2010/main" val="563157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고객 불평의 목적과 불평고객 유형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159758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고객 불평의 목적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최근 들어서는 서비스에 특별한 문제가 없음에도 악의적인 목적으로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컴플레인하고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터무니없는 보상을 요구하는 고객이 늘고 있음 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이러한 고객들은 일반적인 불평고객들과는 다르므로 불평하는 내용이 악성인지를 잘 판단하여 적절하게 대응하는 것이 바람직함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스타벅스의 경우 파트너</a:t>
            </a:r>
            <a:r>
              <a:rPr lang="en-US" altLang="ko-KR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(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종사원</a:t>
            </a:r>
            <a:r>
              <a:rPr lang="en-US" altLang="ko-KR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)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를 보호하기 위해 악성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컴플레인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응대 가이드를 마련하여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상황별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어떻게 대응해야 하는지 교육하고 있음 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8713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고객 불평의 목적과 불평고객 유형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159758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불평고객의 유형 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pic>
        <p:nvPicPr>
          <p:cNvPr id="4" name="Picture 6" descr="angry man icon에 대한 이미지 검색결과">
            <a:hlinkClick r:id="rId2"/>
            <a:extLst>
              <a:ext uri="{FF2B5EF4-FFF2-40B4-BE49-F238E27FC236}">
                <a16:creationId xmlns:a16="http://schemas.microsoft.com/office/drawing/2014/main" id="{A51984C0-5D80-4AC0-B319-D39457623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674" y="2428901"/>
            <a:ext cx="1911271" cy="16324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269D77-4736-4FBD-ADAE-1F9174272608}"/>
              </a:ext>
            </a:extLst>
          </p:cNvPr>
          <p:cNvSpPr txBox="1"/>
          <p:nvPr/>
        </p:nvSpPr>
        <p:spPr>
          <a:xfrm>
            <a:off x="857532" y="4879719"/>
            <a:ext cx="2348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수동적 </a:t>
            </a:r>
            <a:r>
              <a:rPr lang="ko-KR" altLang="en-US" dirty="0" err="1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불평자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서비스실패 상황에서</a:t>
            </a:r>
            <a:endParaRPr lang="en-US" altLang="ko-KR" dirty="0">
              <a:solidFill>
                <a:prstClr val="black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어떤 행동을 할 가능성 낮음</a:t>
            </a:r>
            <a:endParaRPr lang="en-US" altLang="ko-KR" dirty="0">
              <a:solidFill>
                <a:prstClr val="black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74B52-71A9-47EA-9551-93E076F01104}"/>
              </a:ext>
            </a:extLst>
          </p:cNvPr>
          <p:cNvSpPr txBox="1"/>
          <p:nvPr/>
        </p:nvSpPr>
        <p:spPr>
          <a:xfrm>
            <a:off x="3604578" y="4879719"/>
            <a:ext cx="2457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표현 </a:t>
            </a:r>
            <a:r>
              <a:rPr lang="ko-KR" altLang="en-US" dirty="0" err="1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불평자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서비스 실패에 대해 서비스 제공자에게  솔직하게 불평</a:t>
            </a:r>
            <a:endParaRPr lang="en-US" altLang="ko-KR" dirty="0">
              <a:solidFill>
                <a:prstClr val="black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친구나 주변에</a:t>
            </a:r>
            <a:endParaRPr lang="en-US" altLang="ko-KR" dirty="0">
              <a:solidFill>
                <a:prstClr val="black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부정적 구전</a:t>
            </a:r>
            <a:endParaRPr lang="en-US" altLang="ko-KR" dirty="0">
              <a:solidFill>
                <a:prstClr val="black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5E9D7-BB6D-4984-96CD-56EF46D563AF}"/>
              </a:ext>
            </a:extLst>
          </p:cNvPr>
          <p:cNvSpPr txBox="1"/>
          <p:nvPr/>
        </p:nvSpPr>
        <p:spPr>
          <a:xfrm>
            <a:off x="6807483" y="4879719"/>
            <a:ext cx="2175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화내는 </a:t>
            </a:r>
            <a:r>
              <a:rPr lang="ko-KR" altLang="en-US" dirty="0" err="1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불평자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서비스제공자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친구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주변인에게 부정적 구전</a:t>
            </a:r>
            <a:endParaRPr lang="en-US" altLang="ko-KR" dirty="0">
              <a:solidFill>
                <a:prstClr val="black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다른 브랜드로의 전환 의도 높음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031A2F0-5F29-49D2-8B38-8CFA11C69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608" y="2332712"/>
            <a:ext cx="2095500" cy="19716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FF55F8-FAA5-4FBB-8608-6FE6B020B6AB}"/>
              </a:ext>
            </a:extLst>
          </p:cNvPr>
          <p:cNvSpPr txBox="1"/>
          <p:nvPr/>
        </p:nvSpPr>
        <p:spPr>
          <a:xfrm>
            <a:off x="9531839" y="4879719"/>
            <a:ext cx="20939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행동 선호자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불평성향이 높은 편</a:t>
            </a:r>
            <a:endParaRPr lang="en-US" altLang="ko-KR" dirty="0">
              <a:solidFill>
                <a:prstClr val="black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algn="ctr" defTabSz="457200" latinLnBrk="0"/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서비스제공자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친구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주변인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그리고 제</a:t>
            </a:r>
            <a:r>
              <a:rPr lang="en-US" altLang="ko-KR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3</a:t>
            </a:r>
            <a:r>
              <a:rPr lang="ko-KR" altLang="en-US" dirty="0">
                <a:solidFill>
                  <a:prstClr val="black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자에게 불평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C47B57-D472-4E6D-9288-BCEFDE03DF93}"/>
              </a:ext>
            </a:extLst>
          </p:cNvPr>
          <p:cNvSpPr/>
          <p:nvPr/>
        </p:nvSpPr>
        <p:spPr>
          <a:xfrm>
            <a:off x="3472665" y="2332712"/>
            <a:ext cx="2669124" cy="4024335"/>
          </a:xfrm>
          <a:prstGeom prst="rect">
            <a:avLst/>
          </a:prstGeom>
          <a:noFill/>
          <a:ln w="19050" cap="flat" cmpd="sng" algn="ctr">
            <a:solidFill>
              <a:srgbClr val="D34817">
                <a:shade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12" name="타원형 설명선 29">
            <a:extLst>
              <a:ext uri="{FF2B5EF4-FFF2-40B4-BE49-F238E27FC236}">
                <a16:creationId xmlns:a16="http://schemas.microsoft.com/office/drawing/2014/main" id="{439DF9F7-2036-496F-BE5E-4FDAB4C930AB}"/>
              </a:ext>
            </a:extLst>
          </p:cNvPr>
          <p:cNvSpPr/>
          <p:nvPr/>
        </p:nvSpPr>
        <p:spPr>
          <a:xfrm rot="544519">
            <a:off x="5172954" y="1366508"/>
            <a:ext cx="2188833" cy="1325366"/>
          </a:xfrm>
          <a:prstGeom prst="wedgeEllipseCallout">
            <a:avLst/>
          </a:prstGeom>
          <a:solidFill>
            <a:srgbClr val="855D5D">
              <a:lumMod val="20000"/>
              <a:lumOff val="80000"/>
            </a:srgbClr>
          </a:solidFill>
          <a:ln w="12700" cap="flat" cmpd="sng" algn="ctr">
            <a:solidFill>
              <a:srgbClr val="D3481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서비스기업에 가장 좋은 친구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EFDDCA1-30CD-48AB-A33F-0E29AE5A4A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760" y="2506995"/>
            <a:ext cx="1891813" cy="14494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id="{8B111C93-709C-45D8-99E6-BF340AC17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34" y="2332712"/>
            <a:ext cx="3439603" cy="193262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168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고객 불평의 목적과 불평고객 유형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159758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불평고객의 유형</a:t>
            </a:r>
            <a:endParaRPr lang="en-US" altLang="ko-KR" sz="2000" b="0" dirty="0"/>
          </a:p>
          <a:p>
            <a:pPr lvl="0" eaLnBrk="1" latinLnBrk="0" hangingPunct="1">
              <a:lnSpc>
                <a:spcPct val="150000"/>
              </a:lnSpc>
              <a:buClr>
                <a:srgbClr val="4C59D2"/>
              </a:buClr>
              <a:buFont typeface="Wingdings" panose="05000000000000000000" pitchFamily="2" charset="2"/>
              <a:buChar char="§"/>
            </a:pPr>
            <a:r>
              <a:rPr lang="en-US" altLang="ko-KR" sz="2000" b="0" dirty="0">
                <a:solidFill>
                  <a:srgbClr val="003366"/>
                </a:solidFill>
              </a:rPr>
              <a:t>SNS </a:t>
            </a:r>
            <a:r>
              <a:rPr lang="ko-KR" altLang="en-US" sz="2000" b="0" dirty="0">
                <a:solidFill>
                  <a:srgbClr val="003366"/>
                </a:solidFill>
              </a:rPr>
              <a:t>이용이 급속도로 늘어나면서 불평 고객 입소문의 영향력이 매우 커졌음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lvl="0" eaLnBrk="1" latinLnBrk="0" hangingPunct="1">
              <a:lnSpc>
                <a:spcPct val="150000"/>
              </a:lnSpc>
              <a:buClr>
                <a:srgbClr val="4C59D2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/>
              <a:t>반면 고품질서비스 제공을 통해 긍정적인 입소문이 퍼진다면 마케팅 효과를 기대할 수도 있음 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8A50B5-E69C-477A-AD15-7B70D1334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436" y="3346939"/>
            <a:ext cx="8072261" cy="31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67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서비스 회복 전략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287447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서비스 회복</a:t>
            </a:r>
            <a:r>
              <a:rPr lang="en-US" altLang="ko-KR" sz="2000" b="0" dirty="0"/>
              <a:t>(service recovery) </a:t>
            </a:r>
            <a:r>
              <a:rPr lang="ko-KR" altLang="en-US" sz="2000" b="0" dirty="0"/>
              <a:t>의 정의 </a:t>
            </a:r>
            <a:endParaRPr lang="en-US" altLang="ko-KR" sz="2000" b="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불평고객의 부정적 감정을 긍정적 감정으로 돌려놓기 위해 레스토랑이 취하는 행동을 의미</a:t>
            </a:r>
            <a:endParaRPr lang="en-US" altLang="ko-KR" sz="2000" b="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서비스 실수나 실패가 발생했다면 </a:t>
            </a:r>
            <a:r>
              <a:rPr lang="en-US" altLang="ko-KR" sz="2000" b="0" dirty="0"/>
              <a:t>‘</a:t>
            </a:r>
            <a:r>
              <a:rPr lang="ko-KR" altLang="en-US" sz="2000" b="0" dirty="0"/>
              <a:t>감동적인 서비스 회복</a:t>
            </a:r>
            <a:r>
              <a:rPr lang="en-US" altLang="ko-KR" sz="2000" b="0" dirty="0"/>
              <a:t>’</a:t>
            </a:r>
            <a:r>
              <a:rPr lang="ko-KR" altLang="en-US" sz="2000" b="0" dirty="0"/>
              <a:t>을 통해 불만고객을 오히려 충성고객으로 만드는 기회로 활용</a:t>
            </a:r>
            <a:endParaRPr lang="en-US" altLang="ko-KR" sz="2000" b="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서비스 회복을 경험한 고객의 만족도와 재방문율이 실제로 서비스상의 어떠한 문제도 경험하지 못했던 고객의 만족도와 재방문율보다 더 높음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회복의 역설</a:t>
            </a:r>
            <a:r>
              <a:rPr lang="en-US" altLang="ko-KR" sz="1800" dirty="0"/>
              <a:t>(service recovery paradox) : </a:t>
            </a:r>
            <a:r>
              <a:rPr lang="ko-KR" altLang="en-US" sz="1800" dirty="0"/>
              <a:t>서비스 실패 발생 전보다 고객에게 더 큰 만족을 줄 수 있는 것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9829DAE-4BAE-43D7-9AA6-E33502370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176" y="4541334"/>
            <a:ext cx="6101648" cy="205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43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서비스 회복 전략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서비스 회복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전략  </a:t>
            </a:r>
            <a:endParaRPr lang="en-US" altLang="ko-KR" sz="2000" b="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ko-KR" altLang="en-US" sz="2000" b="0" dirty="0"/>
              <a:t>① 재빨리 조치 하라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고객은 레스토랑이 책임 있는 자세로 빠른 문제 해결을 기대</a:t>
            </a:r>
          </a:p>
          <a:p>
            <a:pPr marL="911224" lvl="2" indent="-28575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600" dirty="0"/>
              <a:t>즉시 또는 </a:t>
            </a:r>
            <a:r>
              <a:rPr lang="en-US" altLang="ko-KR" sz="1600" dirty="0"/>
              <a:t>24</a:t>
            </a:r>
            <a:r>
              <a:rPr lang="ko-KR" altLang="en-US" sz="1600" dirty="0"/>
              <a:t>시간 이내 서비스 회복을 경험한 고객 반 이상이 매우 만족함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레스토랑은 서비스 실패</a:t>
            </a:r>
            <a:r>
              <a:rPr lang="en-US" altLang="ko-KR" sz="1800" dirty="0"/>
              <a:t>, </a:t>
            </a:r>
            <a:r>
              <a:rPr lang="ko-KR" altLang="en-US" sz="1800" dirty="0"/>
              <a:t>고객 불평 처리를 위한 시스템</a:t>
            </a:r>
            <a:r>
              <a:rPr lang="en-US" altLang="ko-KR" sz="1800" dirty="0"/>
              <a:t>, </a:t>
            </a:r>
            <a:r>
              <a:rPr lang="ko-KR" altLang="en-US" sz="1800" dirty="0"/>
              <a:t>절차</a:t>
            </a:r>
            <a:r>
              <a:rPr lang="en-US" altLang="ko-KR" sz="1800" dirty="0"/>
              <a:t>, </a:t>
            </a:r>
            <a:r>
              <a:rPr lang="ko-KR" altLang="en-US" sz="1800" dirty="0"/>
              <a:t>직원 권한 위임을 갖추어야 함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고객이 직접 문제를 해결 할 수 있는 시스템 구축 및 스스로 문제 해결 유도</a:t>
            </a:r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ko-KR" altLang="en-US" sz="2000" b="0" dirty="0"/>
              <a:t>② 충분한 설명을 제공하라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고객은 서비스 실패 상황에서 발생한 일에 대한 이해 및 레스토랑의 책임 기대</a:t>
            </a:r>
          </a:p>
          <a:p>
            <a:pPr marL="911224" lvl="2" indent="-28575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600" dirty="0"/>
              <a:t>레스토랑은 서비스 실패 상황 및 이유 설명을 통해 신뢰성 제공 </a:t>
            </a:r>
          </a:p>
          <a:p>
            <a:pPr marL="911224" lvl="2" indent="-28575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600" dirty="0"/>
              <a:t>실패에 대한 상황설명은 부정적 행동 확산 방지</a:t>
            </a:r>
            <a:r>
              <a:rPr lang="en-US" altLang="ko-KR" sz="1600" dirty="0"/>
              <a:t>, </a:t>
            </a:r>
            <a:r>
              <a:rPr lang="ko-KR" altLang="en-US" sz="1600" dirty="0"/>
              <a:t>불만족 감소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102144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서비스 회복 전략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서비스 회복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전략  </a:t>
            </a:r>
            <a:endParaRPr lang="en-US" altLang="ko-KR" sz="2000" b="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ko-KR" altLang="en-US" sz="2000" b="0" dirty="0"/>
              <a:t>③ 고객을 공정하게 대하라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고객은 서비스 회복과정에서 공평하고 공정한 대우받기를 기대함 </a:t>
            </a:r>
          </a:p>
          <a:p>
            <a:pPr marL="911224" lvl="2" indent="-28575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600" dirty="0"/>
              <a:t>결과 공정성 </a:t>
            </a:r>
            <a:r>
              <a:rPr lang="en-US" altLang="ko-KR" sz="1600" dirty="0"/>
              <a:t>: </a:t>
            </a:r>
            <a:r>
              <a:rPr lang="ko-KR" altLang="en-US" sz="1600" dirty="0"/>
              <a:t>고객이 불평을 처리한 뒤 얻는 결과와 관련</a:t>
            </a:r>
          </a:p>
          <a:p>
            <a:pPr marL="911224" lvl="2" indent="-28575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600" dirty="0"/>
              <a:t>절차 공정성 </a:t>
            </a:r>
            <a:r>
              <a:rPr lang="en-US" altLang="ko-KR" sz="1600" dirty="0"/>
              <a:t>: </a:t>
            </a:r>
            <a:r>
              <a:rPr lang="ko-KR" altLang="en-US" sz="1600" dirty="0"/>
              <a:t>불평 처리의 정책</a:t>
            </a:r>
            <a:r>
              <a:rPr lang="en-US" altLang="ko-KR" sz="1600" dirty="0"/>
              <a:t>, </a:t>
            </a:r>
            <a:r>
              <a:rPr lang="ko-KR" altLang="en-US" sz="1600" dirty="0"/>
              <a:t>규칙 및 적시성과 관련</a:t>
            </a:r>
          </a:p>
          <a:p>
            <a:pPr marL="911224" lvl="2" indent="-28575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600" dirty="0"/>
              <a:t>상호작용 공정성 </a:t>
            </a:r>
            <a:r>
              <a:rPr lang="en-US" altLang="ko-KR" sz="1600" dirty="0"/>
              <a:t>: </a:t>
            </a:r>
            <a:r>
              <a:rPr lang="ko-KR" altLang="en-US" sz="1600" dirty="0"/>
              <a:t>불편처리과정에서 나타나는 레스토랑과 고객 사이 관련</a:t>
            </a:r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ko-KR" altLang="en-US" sz="2000" b="0" dirty="0"/>
              <a:t>④ 문제를 해결하라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결과물 수정</a:t>
            </a:r>
            <a:r>
              <a:rPr lang="en-US" altLang="ko-KR" sz="1800" dirty="0"/>
              <a:t>, </a:t>
            </a:r>
            <a:r>
              <a:rPr lang="ko-KR" altLang="en-US" sz="1800" dirty="0"/>
              <a:t>제공 절차 수정 등 문제 해결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문제 해결을 위한 적절한 보상은 표준화된 보상 기준을 가지고 처리할 경우 공정성 확보 및 비용 절감 가능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74422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서비스 회복 전략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243202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서비스 회복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전략  </a:t>
            </a:r>
            <a:endParaRPr lang="en-US" altLang="ko-KR" sz="2000" b="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ko-KR" altLang="en-US" sz="2000" b="0" dirty="0"/>
              <a:t>⑤ 서비스 실패 원인을 파악하라</a:t>
            </a:r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 불평 추적</a:t>
            </a:r>
            <a:r>
              <a:rPr lang="en-US" altLang="ko-KR" sz="1800" dirty="0"/>
              <a:t>, </a:t>
            </a:r>
            <a:r>
              <a:rPr lang="ko-KR" altLang="en-US" sz="1800" dirty="0"/>
              <a:t>서비스 회복과 상실한 고객 조사</a:t>
            </a:r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실패의 근본 원인 분석</a:t>
            </a:r>
            <a:r>
              <a:rPr lang="en-US" altLang="ko-KR" sz="1800" dirty="0"/>
              <a:t>(</a:t>
            </a:r>
            <a:r>
              <a:rPr lang="ko-KR" altLang="en-US" sz="1800" dirty="0" err="1"/>
              <a:t>인과관계도표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근본 원인 제거로 동일 문제 재발 방지</a:t>
            </a:r>
            <a:r>
              <a:rPr lang="en-US" altLang="ko-KR" sz="1800" dirty="0"/>
              <a:t> </a:t>
            </a:r>
            <a:r>
              <a:rPr lang="ko-KR" altLang="en-US" sz="1800" dirty="0"/>
              <a:t>및 서비스품질 개선 </a:t>
            </a:r>
            <a:endParaRPr lang="en-US" altLang="ko-KR" sz="18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en-US" altLang="ko-KR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F2EF838-A0B4-485D-89BE-6E571D989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11563"/>
            <a:ext cx="5943031" cy="419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97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서비스 회복 전략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243202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서비스 회복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전략  </a:t>
            </a:r>
            <a:endParaRPr lang="en-US" altLang="ko-KR" sz="2000" b="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ko-KR" altLang="en-US" sz="2000" b="0" dirty="0"/>
              <a:t>⑥ 고객관계를 구축하라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고객과의 강력한 관계 형성은 고객 불평을 줄여주고 서비스 회복이 용이해짐 </a:t>
            </a:r>
          </a:p>
          <a:p>
            <a:pPr marL="911224" lvl="2" indent="-285750" eaLnBrk="1" latinLnBrk="0" hangingPunct="1">
              <a:buFont typeface="Wingdings" panose="05000000000000000000" pitchFamily="2" charset="2"/>
              <a:buChar char="ü"/>
              <a:defRPr/>
            </a:pPr>
            <a:r>
              <a:rPr lang="ko-KR" altLang="en-US" sz="1600" dirty="0"/>
              <a:t>서비스 실패 상황에서 일종의 완충 역할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초일류 서비스 기업인 스타벅스는 불평고객의 서비스 회복을 위해  </a:t>
            </a:r>
            <a:r>
              <a:rPr lang="en-US" altLang="ko-KR" sz="1800" dirty="0"/>
              <a:t>LATTE </a:t>
            </a:r>
            <a:r>
              <a:rPr lang="ko-KR" altLang="en-US" sz="1800" dirty="0"/>
              <a:t>법칙을 이용해 현장 종사원들의 불평고객 응대 스킬을 향상시키고 긍정적인 서비스 회복 경험을 강화하고 있음</a:t>
            </a:r>
            <a:endParaRPr lang="en-US" altLang="ko-KR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56E7D43-3EEF-41F0-9E76-7C8354917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381" y="3672637"/>
            <a:ext cx="5638493" cy="305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57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서비스 회복 시스템 구축을 통한 고객만족 관리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517312" cy="4858871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b="0" dirty="0"/>
              <a:t>서비스 회복 방법</a:t>
            </a:r>
            <a:endParaRPr lang="en-US" altLang="ko-KR" b="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사례별 접근법 </a:t>
            </a:r>
            <a:endParaRPr lang="en-US" altLang="ko-KR" sz="2000" b="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불평고객 각각의 사례를 개별적으로 처리해주는 방법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담당자마다 다른 기준으로 보상 → 불공평하다는 인식 높아짐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사례마다 다르게 보상을 하는 경우 →  비효율적인 회복처리 비용</a:t>
            </a:r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>
                <a:solidFill>
                  <a:srgbClr val="C00000"/>
                </a:solidFill>
              </a:rPr>
              <a:t>(2) </a:t>
            </a:r>
            <a:r>
              <a:rPr lang="ko-KR" altLang="en-US" sz="2000" b="0" dirty="0">
                <a:solidFill>
                  <a:srgbClr val="C00000"/>
                </a:solidFill>
              </a:rPr>
              <a:t>체계적인 접근법 </a:t>
            </a:r>
            <a:endParaRPr lang="en-US" altLang="ko-KR" sz="2000" b="0" dirty="0">
              <a:solidFill>
                <a:srgbClr val="C00000"/>
              </a:solidFill>
            </a:endParaRP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회복 기준을 명확히 설정</a:t>
            </a:r>
            <a:r>
              <a:rPr lang="en-US" altLang="ko-KR" sz="1800" dirty="0"/>
              <a:t>, </a:t>
            </a:r>
            <a:r>
              <a:rPr lang="ko-KR" altLang="en-US" sz="1800" dirty="0"/>
              <a:t>기준에 따라 고객 불평 처리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일관된 기준 적용 → </a:t>
            </a:r>
            <a:r>
              <a:rPr lang="ko-KR" altLang="en-US" sz="1800" dirty="0" err="1"/>
              <a:t>공평성</a:t>
            </a:r>
            <a:r>
              <a:rPr lang="en-US" altLang="ko-KR" sz="1800" dirty="0"/>
              <a:t>, </a:t>
            </a:r>
            <a:r>
              <a:rPr lang="ko-KR" altLang="en-US" sz="1800" dirty="0"/>
              <a:t>회복비용 절감</a:t>
            </a:r>
          </a:p>
        </p:txBody>
      </p:sp>
    </p:spTree>
    <p:extLst>
      <p:ext uri="{BB962C8B-B14F-4D97-AF65-F5344CB8AC3E}">
        <p14:creationId xmlns:p14="http://schemas.microsoft.com/office/powerpoint/2010/main" val="1105233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서비스 회복 시스템 구축을 통한 고객만족 관리</a:t>
            </a: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921083C-48DD-43F9-9B33-90D6331FA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40" y="1560380"/>
            <a:ext cx="9206681" cy="435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062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서비스 회복 시스템 구축을 통한 고객만족 관리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85" y="1137432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b="0" dirty="0"/>
              <a:t>[</a:t>
            </a:r>
            <a:r>
              <a:rPr lang="ko-KR" altLang="en-US" b="0" dirty="0"/>
              <a:t>그룹활동</a:t>
            </a:r>
            <a:r>
              <a:rPr lang="en-US" altLang="ko-KR" b="0" dirty="0"/>
              <a:t>] 1</a:t>
            </a:r>
            <a:r>
              <a:rPr lang="ko-KR" altLang="en-US" b="0" dirty="0"/>
              <a:t>단계</a:t>
            </a:r>
            <a:endParaRPr lang="en-US" altLang="ko-KR" b="0" dirty="0"/>
          </a:p>
          <a:p>
            <a:pPr lvl="0" eaLnBrk="1" latinLnBrk="0" hangingPunct="1">
              <a:lnSpc>
                <a:spcPct val="150000"/>
              </a:lnSpc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>
                <a:solidFill>
                  <a:srgbClr val="003366"/>
                </a:solidFill>
              </a:rPr>
              <a:t>여러분 점포에서 발생했던 고객불평과 서비스 실패 사례를 모두 나열해본다</a:t>
            </a:r>
            <a:r>
              <a:rPr lang="en-US" altLang="ko-KR" sz="2000" b="0" dirty="0">
                <a:solidFill>
                  <a:srgbClr val="003366"/>
                </a:solidFill>
              </a:rPr>
              <a:t>. </a:t>
            </a:r>
            <a:r>
              <a:rPr lang="ko-KR" altLang="en-US" sz="2000" b="0" dirty="0">
                <a:solidFill>
                  <a:srgbClr val="003366"/>
                </a:solidFill>
              </a:rPr>
              <a:t>접수 된 고객 불만 내용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고객 소리함 자료 분석을 통해 서비스 제공과정에서 발생한 모든 서비스 실패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실수를 파악한다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0069B8-3679-4D31-972D-F57F8D72E7CB}"/>
              </a:ext>
            </a:extLst>
          </p:cNvPr>
          <p:cNvSpPr/>
          <p:nvPr/>
        </p:nvSpPr>
        <p:spPr>
          <a:xfrm>
            <a:off x="2136362" y="3135245"/>
            <a:ext cx="7817584" cy="31740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110944-485C-46A4-901E-9CEB11B61C27}"/>
              </a:ext>
            </a:extLst>
          </p:cNvPr>
          <p:cNvSpPr/>
          <p:nvPr/>
        </p:nvSpPr>
        <p:spPr>
          <a:xfrm>
            <a:off x="2136362" y="341098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/>
            <a:r>
              <a:rPr lang="en-US" altLang="ko-KR" b="1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[</a:t>
            </a:r>
            <a:r>
              <a:rPr lang="ko-KR" altLang="en-US" b="1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발생 가능한 실수 예시</a:t>
            </a:r>
            <a:r>
              <a:rPr lang="en-US" altLang="ko-KR" b="1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]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불합리하게 느린 서비스</a:t>
            </a:r>
            <a:endParaRPr lang="en-US" altLang="ko-KR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서비스 종사원들의 실수</a:t>
            </a:r>
            <a:endParaRPr lang="en-US" altLang="ko-KR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주방 종사원들의 실수</a:t>
            </a:r>
            <a:endParaRPr lang="en-US" altLang="ko-KR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관리시스템 실수</a:t>
            </a:r>
            <a:endParaRPr lang="en-US" altLang="ko-KR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고객의 특별한 요구에 대한 대응 불만</a:t>
            </a:r>
            <a:endParaRPr lang="en-US" altLang="ko-KR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종사원들의 불친절한 태도</a:t>
            </a:r>
            <a:endParaRPr lang="en-US" altLang="ko-KR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다른 고객으로 인한 불만</a:t>
            </a:r>
            <a:endParaRPr lang="en-US" altLang="ko-KR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고객의 실수</a:t>
            </a:r>
            <a:endParaRPr lang="en-US" altLang="ko-KR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363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서비스 회복 시스템 구축을 통한 고객만족 관리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85" y="1137432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b="0" dirty="0"/>
              <a:t>[</a:t>
            </a:r>
            <a:r>
              <a:rPr lang="ko-KR" altLang="en-US" b="0" dirty="0"/>
              <a:t>그룹활동</a:t>
            </a:r>
            <a:r>
              <a:rPr lang="en-US" altLang="ko-KR" b="0" dirty="0"/>
              <a:t>] 2</a:t>
            </a:r>
            <a:r>
              <a:rPr lang="ko-KR" altLang="en-US" b="0" dirty="0"/>
              <a:t>단계</a:t>
            </a:r>
            <a:endParaRPr lang="en-US" altLang="ko-KR" b="0" dirty="0"/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>
                <a:solidFill>
                  <a:srgbClr val="003366"/>
                </a:solidFill>
              </a:rPr>
              <a:t>파악된 서비스 실패를 문제의 심각성 정도와 서비스 과실 정도에 따라 그룹화 한다</a:t>
            </a:r>
            <a:r>
              <a:rPr lang="en-US" altLang="ko-KR" sz="2000" b="0" dirty="0">
                <a:solidFill>
                  <a:srgbClr val="003366"/>
                </a:solidFill>
              </a:rPr>
              <a:t>. 1</a:t>
            </a:r>
            <a:r>
              <a:rPr lang="ko-KR" altLang="en-US" sz="2000" b="0" dirty="0">
                <a:solidFill>
                  <a:srgbClr val="003366"/>
                </a:solidFill>
              </a:rPr>
              <a:t>단계에서 파악된 서비스 실패 종류를 해당 되는 위치에 적어본다</a:t>
            </a:r>
            <a:r>
              <a:rPr lang="en-US" altLang="ko-KR" sz="2000" b="0" dirty="0">
                <a:solidFill>
                  <a:srgbClr val="003366"/>
                </a:solidFill>
              </a:rPr>
              <a:t>. </a:t>
            </a:r>
            <a:r>
              <a:rPr lang="ko-KR" altLang="en-US" sz="2000" b="0" dirty="0">
                <a:solidFill>
                  <a:srgbClr val="003366"/>
                </a:solidFill>
              </a:rPr>
              <a:t>서비스 실패를 분류하는 과정에서는 점포 책임자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종사원들 간에 서로의 생각이 다를 수 있으므로 충분한 토의과정을 거친다</a:t>
            </a:r>
            <a:r>
              <a:rPr lang="en-US" altLang="ko-KR" sz="2000" b="0" dirty="0">
                <a:solidFill>
                  <a:srgbClr val="003366"/>
                </a:solidFill>
              </a:rPr>
              <a:t>. </a:t>
            </a:r>
            <a:endParaRPr lang="ko-KR" altLang="en-US" sz="2000" b="0" dirty="0">
              <a:solidFill>
                <a:srgbClr val="003366"/>
              </a:solidFill>
            </a:endParaRPr>
          </a:p>
          <a:p>
            <a:pPr lvl="0" eaLnBrk="1" latinLnBrk="0" hangingPunct="1">
              <a:lnSpc>
                <a:spcPct val="150000"/>
              </a:lnSpc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ko-KR" altLang="en-US" sz="2000" b="0" dirty="0">
              <a:solidFill>
                <a:srgbClr val="003366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9FAC69C-EBBF-4286-A8D4-6140CE72355A}"/>
              </a:ext>
            </a:extLst>
          </p:cNvPr>
          <p:cNvGrpSpPr/>
          <p:nvPr/>
        </p:nvGrpSpPr>
        <p:grpSpPr>
          <a:xfrm>
            <a:off x="5641538" y="2886969"/>
            <a:ext cx="5558664" cy="3659874"/>
            <a:chOff x="3921712" y="2125266"/>
            <a:chExt cx="6765017" cy="429224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A53F931-16AC-4790-B910-2144937C8E01}"/>
                </a:ext>
              </a:extLst>
            </p:cNvPr>
            <p:cNvSpPr/>
            <p:nvPr/>
          </p:nvSpPr>
          <p:spPr>
            <a:xfrm>
              <a:off x="4464212" y="2127632"/>
              <a:ext cx="3032394" cy="17529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50BE613-74D9-40EA-A6BE-E30F0C08FEF5}"/>
                </a:ext>
              </a:extLst>
            </p:cNvPr>
            <p:cNvSpPr/>
            <p:nvPr/>
          </p:nvSpPr>
          <p:spPr>
            <a:xfrm>
              <a:off x="7608168" y="2125266"/>
              <a:ext cx="3032394" cy="17552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7D7443E-795B-4F2A-98A8-8CEEC54759DA}"/>
                </a:ext>
              </a:extLst>
            </p:cNvPr>
            <p:cNvSpPr/>
            <p:nvPr/>
          </p:nvSpPr>
          <p:spPr>
            <a:xfrm>
              <a:off x="4464212" y="4003848"/>
              <a:ext cx="3032394" cy="19902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29D2D48-16BF-47CE-85CC-7BB9112B56C1}"/>
                </a:ext>
              </a:extLst>
            </p:cNvPr>
            <p:cNvSpPr/>
            <p:nvPr/>
          </p:nvSpPr>
          <p:spPr>
            <a:xfrm>
              <a:off x="7608168" y="4003848"/>
              <a:ext cx="3032394" cy="19902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8C6C48-A1AD-459B-9B5F-AD06E58D9F83}"/>
                </a:ext>
              </a:extLst>
            </p:cNvPr>
            <p:cNvSpPr txBox="1"/>
            <p:nvPr/>
          </p:nvSpPr>
          <p:spPr>
            <a:xfrm>
              <a:off x="3921712" y="2952119"/>
              <a:ext cx="392415" cy="215058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ko-KR" altLang="en-US" sz="1350" dirty="0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서비스 실패의 심각성 정도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EDD4CD-60DB-4FFD-A5CA-D422D3398419}"/>
                </a:ext>
              </a:extLst>
            </p:cNvPr>
            <p:cNvSpPr txBox="1"/>
            <p:nvPr/>
          </p:nvSpPr>
          <p:spPr>
            <a:xfrm>
              <a:off x="4175484" y="2555192"/>
              <a:ext cx="357790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b="1" dirty="0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C6E02C-34F4-41C7-9EE4-FB574D64B95F}"/>
                </a:ext>
              </a:extLst>
            </p:cNvPr>
            <p:cNvSpPr txBox="1"/>
            <p:nvPr/>
          </p:nvSpPr>
          <p:spPr>
            <a:xfrm>
              <a:off x="4152588" y="5720507"/>
              <a:ext cx="340158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b="1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저</a:t>
              </a:r>
              <a:endParaRPr lang="ko-KR" altLang="en-US" sz="1350" b="1" dirty="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F11CD7-642A-471C-A4A6-82CF03B449AF}"/>
                </a:ext>
              </a:extLst>
            </p:cNvPr>
            <p:cNvSpPr txBox="1"/>
            <p:nvPr/>
          </p:nvSpPr>
          <p:spPr>
            <a:xfrm>
              <a:off x="4460606" y="6001847"/>
              <a:ext cx="340158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b="1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저</a:t>
              </a:r>
              <a:endParaRPr lang="ko-KR" altLang="en-US" sz="1350" b="1" dirty="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855E27-0063-4A2F-A3AA-130DFDF7B72E}"/>
                </a:ext>
              </a:extLst>
            </p:cNvPr>
            <p:cNvSpPr txBox="1"/>
            <p:nvPr/>
          </p:nvSpPr>
          <p:spPr>
            <a:xfrm>
              <a:off x="10328939" y="5994143"/>
              <a:ext cx="357790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b="1" dirty="0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고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F21423-E1E6-4876-AF71-BFB554272FFD}"/>
                </a:ext>
              </a:extLst>
            </p:cNvPr>
            <p:cNvSpPr txBox="1"/>
            <p:nvPr/>
          </p:nvSpPr>
          <p:spPr>
            <a:xfrm>
              <a:off x="6813156" y="6117432"/>
              <a:ext cx="140134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서비스 과실 정도</a:t>
              </a:r>
              <a:endParaRPr lang="ko-KR" altLang="en-US" sz="1350" dirty="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0F36422F-A7E5-4E38-9A2B-E300CE181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752" y="3094827"/>
            <a:ext cx="3656146" cy="3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76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서비스 회복 시스템 구축을 통한 고객만족 관리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85" y="1137432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b="0" dirty="0"/>
              <a:t>[</a:t>
            </a:r>
            <a:r>
              <a:rPr lang="ko-KR" altLang="en-US" b="0" dirty="0"/>
              <a:t>그룹활동</a:t>
            </a:r>
            <a:r>
              <a:rPr lang="en-US" altLang="ko-KR" b="0" dirty="0"/>
              <a:t>] 3</a:t>
            </a:r>
            <a:r>
              <a:rPr lang="ko-KR" altLang="en-US" b="0" dirty="0"/>
              <a:t>단계</a:t>
            </a:r>
            <a:endParaRPr lang="en-US" altLang="ko-KR" b="0" dirty="0"/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>
                <a:solidFill>
                  <a:srgbClr val="003366"/>
                </a:solidFill>
              </a:rPr>
              <a:t>여러분 점포에서 불평고객에게 제공 가능한 모든 보상을 나열해본다</a:t>
            </a:r>
            <a:r>
              <a:rPr lang="en-US" altLang="ko-KR" sz="2000" b="0" dirty="0">
                <a:solidFill>
                  <a:srgbClr val="003366"/>
                </a:solidFill>
              </a:rPr>
              <a:t>. </a:t>
            </a:r>
            <a:r>
              <a:rPr lang="ko-KR" altLang="en-US" sz="2000" b="0" dirty="0">
                <a:solidFill>
                  <a:srgbClr val="003366"/>
                </a:solidFill>
              </a:rPr>
              <a:t>서비스 회복 차원에서 현장에서 제공 가능한 모든 보상 서비스를 도출한다</a:t>
            </a:r>
            <a:r>
              <a:rPr lang="en-US" altLang="ko-KR" sz="2000" b="0" dirty="0">
                <a:solidFill>
                  <a:srgbClr val="003366"/>
                </a:solidFill>
              </a:rPr>
              <a:t>.</a:t>
            </a:r>
            <a:endParaRPr lang="ko-KR" altLang="en-US" sz="2000" b="0" dirty="0">
              <a:solidFill>
                <a:srgbClr val="003366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2E3FB29-A372-43D2-A2B9-294DCB4C4E5B}"/>
              </a:ext>
            </a:extLst>
          </p:cNvPr>
          <p:cNvGrpSpPr/>
          <p:nvPr/>
        </p:nvGrpSpPr>
        <p:grpSpPr>
          <a:xfrm>
            <a:off x="3283969" y="2732584"/>
            <a:ext cx="5869834" cy="3744416"/>
            <a:chOff x="2746446" y="2161088"/>
            <a:chExt cx="6765017" cy="429224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9F2447-ED78-4B2C-A14E-580411E37E00}"/>
                </a:ext>
              </a:extLst>
            </p:cNvPr>
            <p:cNvSpPr/>
            <p:nvPr/>
          </p:nvSpPr>
          <p:spPr>
            <a:xfrm>
              <a:off x="3288946" y="2163454"/>
              <a:ext cx="3032394" cy="17529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D152B3-FB9C-47B8-A21F-20588190A8CC}"/>
                </a:ext>
              </a:extLst>
            </p:cNvPr>
            <p:cNvSpPr/>
            <p:nvPr/>
          </p:nvSpPr>
          <p:spPr>
            <a:xfrm>
              <a:off x="6432902" y="2161088"/>
              <a:ext cx="3032394" cy="17552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B8F3148-5517-4CD9-9A22-2EE87DEE0805}"/>
                </a:ext>
              </a:extLst>
            </p:cNvPr>
            <p:cNvSpPr/>
            <p:nvPr/>
          </p:nvSpPr>
          <p:spPr>
            <a:xfrm>
              <a:off x="3288946" y="4039670"/>
              <a:ext cx="3032394" cy="19902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E6C8534-6F5E-4979-8E12-226FEFC7B61D}"/>
                </a:ext>
              </a:extLst>
            </p:cNvPr>
            <p:cNvSpPr/>
            <p:nvPr/>
          </p:nvSpPr>
          <p:spPr>
            <a:xfrm>
              <a:off x="6432902" y="4039670"/>
              <a:ext cx="3032394" cy="19902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F03F48-F70A-4572-8D17-548ECF148944}"/>
                </a:ext>
              </a:extLst>
            </p:cNvPr>
            <p:cNvSpPr txBox="1"/>
            <p:nvPr/>
          </p:nvSpPr>
          <p:spPr>
            <a:xfrm>
              <a:off x="2746446" y="2987941"/>
              <a:ext cx="392415" cy="215058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ko-KR" altLang="en-US" sz="1350" dirty="0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서비스 실패의 심각성 정도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B58268-728E-4C6B-9F66-797F956A8A6A}"/>
                </a:ext>
              </a:extLst>
            </p:cNvPr>
            <p:cNvSpPr txBox="1"/>
            <p:nvPr/>
          </p:nvSpPr>
          <p:spPr>
            <a:xfrm>
              <a:off x="3000218" y="2591014"/>
              <a:ext cx="357790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b="1" dirty="0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37736E-BA55-4EE4-8BB4-69C80A1C5E5B}"/>
                </a:ext>
              </a:extLst>
            </p:cNvPr>
            <p:cNvSpPr txBox="1"/>
            <p:nvPr/>
          </p:nvSpPr>
          <p:spPr>
            <a:xfrm>
              <a:off x="2977322" y="5756329"/>
              <a:ext cx="340158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b="1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저</a:t>
              </a:r>
              <a:endParaRPr lang="ko-KR" altLang="en-US" sz="1350" b="1" dirty="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8F3029E-DD0D-467A-BFDD-632C9C51CE01}"/>
                </a:ext>
              </a:extLst>
            </p:cNvPr>
            <p:cNvSpPr txBox="1"/>
            <p:nvPr/>
          </p:nvSpPr>
          <p:spPr>
            <a:xfrm>
              <a:off x="3285340" y="6037669"/>
              <a:ext cx="340158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b="1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저</a:t>
              </a:r>
              <a:endParaRPr lang="ko-KR" altLang="en-US" sz="1350" b="1" dirty="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9DA26F-901E-4FFD-BCB9-218F8A45C1C8}"/>
                </a:ext>
              </a:extLst>
            </p:cNvPr>
            <p:cNvSpPr txBox="1"/>
            <p:nvPr/>
          </p:nvSpPr>
          <p:spPr>
            <a:xfrm>
              <a:off x="9153673" y="6029965"/>
              <a:ext cx="357790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b="1" dirty="0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93BF70-4C47-4E96-8D1D-F9A6D07847CC}"/>
                </a:ext>
              </a:extLst>
            </p:cNvPr>
            <p:cNvSpPr txBox="1"/>
            <p:nvPr/>
          </p:nvSpPr>
          <p:spPr>
            <a:xfrm>
              <a:off x="5637890" y="6153254"/>
              <a:ext cx="140134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>
                  <a:latin typeface="경기천년바탕 Bold" panose="02020803020101020101" pitchFamily="18" charset="-127"/>
                  <a:ea typeface="경기천년바탕 Bold" panose="02020803020101020101" pitchFamily="18" charset="-127"/>
                </a:rPr>
                <a:t>서비스 과실 정도</a:t>
              </a:r>
              <a:endParaRPr lang="ko-KR" altLang="en-US" sz="1350" dirty="0">
                <a:latin typeface="경기천년바탕 Bold" panose="02020803020101020101" pitchFamily="18" charset="-127"/>
                <a:ea typeface="경기천년바탕 Bold" panose="020208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1487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서비스 회복 시스템 구축을 통한 고객만족 관리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85" y="1137432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b="0" dirty="0"/>
              <a:t>[</a:t>
            </a:r>
            <a:r>
              <a:rPr lang="ko-KR" altLang="en-US" b="0" dirty="0"/>
              <a:t>그룹활동</a:t>
            </a:r>
            <a:r>
              <a:rPr lang="en-US" altLang="ko-KR" b="0" dirty="0"/>
              <a:t>] 4</a:t>
            </a:r>
            <a:r>
              <a:rPr lang="ko-KR" altLang="en-US" b="0" dirty="0"/>
              <a:t>단계</a:t>
            </a:r>
            <a:endParaRPr lang="en-US" altLang="ko-KR" b="0" dirty="0"/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>
                <a:solidFill>
                  <a:srgbClr val="003366"/>
                </a:solidFill>
              </a:rPr>
              <a:t>서비스 실패 유형에 따른 적절한 보상서비스 수준을 결정한다</a:t>
            </a:r>
            <a:r>
              <a:rPr lang="en-US" altLang="ko-KR" sz="2000" b="0" dirty="0">
                <a:solidFill>
                  <a:srgbClr val="003366"/>
                </a:solidFill>
              </a:rPr>
              <a:t>. 3</a:t>
            </a:r>
            <a:r>
              <a:rPr lang="ko-KR" altLang="en-US" sz="2000" b="0" dirty="0">
                <a:solidFill>
                  <a:srgbClr val="003366"/>
                </a:solidFill>
              </a:rPr>
              <a:t>단계에서 파악된 다양한 보상을 해당 되는 위치에 적어본다</a:t>
            </a:r>
            <a:r>
              <a:rPr lang="en-US" altLang="ko-KR" sz="2000" b="0" dirty="0">
                <a:solidFill>
                  <a:srgbClr val="003366"/>
                </a:solidFill>
              </a:rPr>
              <a:t>. </a:t>
            </a:r>
            <a:r>
              <a:rPr lang="ko-KR" altLang="en-US" sz="2000" b="0" dirty="0">
                <a:solidFill>
                  <a:srgbClr val="003366"/>
                </a:solidFill>
              </a:rPr>
              <a:t>서비스 실패 유형에 따라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고객 입장에서 가장 합리적인 서비스 회복 솔루션을 토의하여 결정한다</a:t>
            </a:r>
            <a:r>
              <a:rPr lang="en-US" altLang="ko-KR" sz="2000" b="0" dirty="0">
                <a:solidFill>
                  <a:srgbClr val="003366"/>
                </a:solidFill>
              </a:rPr>
              <a:t>. </a:t>
            </a:r>
            <a:endParaRPr lang="ko-KR" altLang="en-US" sz="2000" b="0" dirty="0">
              <a:solidFill>
                <a:srgbClr val="003366"/>
              </a:solidFill>
            </a:endParaRP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>
                <a:solidFill>
                  <a:srgbClr val="003366"/>
                </a:solidFill>
              </a:rPr>
              <a:t>감동적 수준의 서비스 회복을 해야 충성고객 증가</a:t>
            </a:r>
            <a:r>
              <a:rPr lang="en-US" altLang="ko-KR" sz="2000" b="0" dirty="0">
                <a:solidFill>
                  <a:srgbClr val="003366"/>
                </a:solidFill>
              </a:rPr>
              <a:t>(</a:t>
            </a:r>
            <a:r>
              <a:rPr lang="ko-KR" altLang="en-US" sz="2000" b="0" dirty="0">
                <a:solidFill>
                  <a:srgbClr val="003366"/>
                </a:solidFill>
              </a:rPr>
              <a:t>서비스 회복의 역설</a:t>
            </a:r>
            <a:r>
              <a:rPr lang="en-US" altLang="ko-KR" sz="2000" b="0" dirty="0">
                <a:solidFill>
                  <a:srgbClr val="003366"/>
                </a:solidFill>
              </a:rPr>
              <a:t>)</a:t>
            </a: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ko-KR" altLang="en-US" sz="2000" b="0" dirty="0">
              <a:solidFill>
                <a:srgbClr val="003366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8DA9E6-E2B3-4708-AC22-8F65FCF79278}"/>
              </a:ext>
            </a:extLst>
          </p:cNvPr>
          <p:cNvSpPr/>
          <p:nvPr/>
        </p:nvSpPr>
        <p:spPr>
          <a:xfrm>
            <a:off x="2351584" y="3036133"/>
            <a:ext cx="7817584" cy="34408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F57DD7-AE89-44A3-8B66-6ACD731EECFD}"/>
              </a:ext>
            </a:extLst>
          </p:cNvPr>
          <p:cNvSpPr/>
          <p:nvPr/>
        </p:nvSpPr>
        <p:spPr>
          <a:xfrm>
            <a:off x="2220992" y="3479293"/>
            <a:ext cx="748883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en-US" altLang="ko-KR" sz="2000" b="1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[</a:t>
            </a:r>
            <a:r>
              <a:rPr lang="ko-KR" altLang="en-US" sz="2000" b="1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보상 서비스</a:t>
            </a:r>
            <a:r>
              <a:rPr lang="en-US" altLang="ko-KR" sz="2000" b="1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]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잘못 나온 음식 교환</a:t>
            </a:r>
            <a:endParaRPr lang="en-US" altLang="ko-KR" sz="2000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음식 교환 및 무료 음료 서비스</a:t>
            </a:r>
            <a:endParaRPr lang="en-US" altLang="ko-KR" sz="2000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잘못 나온 음식 무료 서비스</a:t>
            </a:r>
            <a:endParaRPr lang="en-US" altLang="ko-KR" sz="2000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테이블 식사비 할인</a:t>
            </a:r>
            <a:endParaRPr lang="en-US" altLang="ko-KR" sz="2000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테이블 전체 식사비 무료</a:t>
            </a:r>
            <a:endParaRPr lang="en-US" altLang="ko-KR" sz="2000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sz="2000" dirty="0" err="1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점장의</a:t>
            </a:r>
            <a:r>
              <a:rPr lang="ko-KR" altLang="en-US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 정중한 사과와 재발 방지 약속</a:t>
            </a:r>
            <a:endParaRPr lang="en-US" altLang="ko-KR" sz="2000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ko-KR" altLang="en-US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다음 방문 시 사용할 수 있는 무료</a:t>
            </a:r>
            <a:r>
              <a:rPr lang="en-US" altLang="ko-KR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, </a:t>
            </a:r>
            <a:r>
              <a:rPr lang="ko-KR" altLang="en-US" sz="2000" dirty="0">
                <a:solidFill>
                  <a:srgbClr val="030609"/>
                </a:solidFill>
                <a:latin typeface="a펜글씨B" panose="02020600000000000000" pitchFamily="18" charset="-127"/>
                <a:ea typeface="a펜글씨B" panose="02020600000000000000" pitchFamily="18" charset="-127"/>
                <a:cs typeface="함초롬돋움" pitchFamily="50" charset="-127"/>
              </a:rPr>
              <a:t>할인 쿠폰 제공 등</a:t>
            </a:r>
            <a:endParaRPr lang="en-US" altLang="ko-KR" sz="2000" dirty="0">
              <a:solidFill>
                <a:srgbClr val="030609"/>
              </a:solidFill>
              <a:latin typeface="a펜글씨B" panose="02020600000000000000" pitchFamily="18" charset="-127"/>
              <a:ea typeface="a펜글씨B" panose="02020600000000000000" pitchFamily="18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2613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서비스 회복 시스템 구축을 통한 고객만족 관리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999564"/>
            <a:ext cx="11517312" cy="4858871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b="0" dirty="0"/>
              <a:t>[</a:t>
            </a:r>
            <a:r>
              <a:rPr lang="ko-KR" altLang="en-US" b="0" dirty="0"/>
              <a:t>그룹활동</a:t>
            </a:r>
            <a:r>
              <a:rPr lang="en-US" altLang="ko-KR" b="0" dirty="0"/>
              <a:t>] 5</a:t>
            </a:r>
            <a:r>
              <a:rPr lang="ko-KR" altLang="en-US" b="0" dirty="0"/>
              <a:t>단계</a:t>
            </a:r>
            <a:endParaRPr lang="en-US" altLang="ko-KR" b="0" dirty="0"/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>
                <a:solidFill>
                  <a:srgbClr val="C00000"/>
                </a:solidFill>
              </a:rPr>
              <a:t>서비스 회복 프로그램 제도를 설계</a:t>
            </a:r>
            <a:r>
              <a:rPr lang="ko-KR" altLang="en-US" sz="2000" b="0" dirty="0">
                <a:solidFill>
                  <a:srgbClr val="003366"/>
                </a:solidFill>
              </a:rPr>
              <a:t>한다</a:t>
            </a:r>
            <a:r>
              <a:rPr lang="en-US" altLang="ko-KR" sz="2000" b="0" dirty="0">
                <a:solidFill>
                  <a:srgbClr val="003366"/>
                </a:solidFill>
              </a:rPr>
              <a:t>. </a:t>
            </a:r>
            <a:r>
              <a:rPr lang="ko-KR" altLang="en-US" sz="2000" b="0" dirty="0">
                <a:solidFill>
                  <a:srgbClr val="003366"/>
                </a:solidFill>
              </a:rPr>
              <a:t> 개발된 매트릭스를 바탕으로 현장에서 고객 클레임이 발생했을 때 서비스 회복을 시키는 업무 절차를 제도화한다</a:t>
            </a:r>
            <a:r>
              <a:rPr lang="en-US" altLang="ko-KR" sz="2000" b="0" dirty="0">
                <a:solidFill>
                  <a:srgbClr val="003366"/>
                </a:solidFill>
              </a:rPr>
              <a:t>.</a:t>
            </a:r>
            <a:endParaRPr lang="ko-KR" altLang="en-US" sz="2000" b="0" dirty="0">
              <a:solidFill>
                <a:srgbClr val="003366"/>
              </a:solidFill>
            </a:endParaRP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marL="0" lvl="0" indent="0" eaLnBrk="1" latinLnBrk="0" hangingPunct="1">
              <a:buClr>
                <a:srgbClr val="4C59D2"/>
              </a:buClr>
              <a:defRPr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marL="0" lvl="0" indent="0" eaLnBrk="1" latinLnBrk="0" hangingPunct="1">
              <a:lnSpc>
                <a:spcPct val="150000"/>
              </a:lnSpc>
              <a:buClr>
                <a:srgbClr val="4C59D2"/>
              </a:buClr>
              <a:defRPr/>
            </a:pPr>
            <a:r>
              <a:rPr lang="en-US" altLang="ko-KR" b="0" dirty="0">
                <a:solidFill>
                  <a:srgbClr val="003366"/>
                </a:solidFill>
              </a:rPr>
              <a:t>[</a:t>
            </a:r>
            <a:r>
              <a:rPr lang="ko-KR" altLang="en-US" b="0" dirty="0">
                <a:solidFill>
                  <a:srgbClr val="003366"/>
                </a:solidFill>
              </a:rPr>
              <a:t>그룹활동</a:t>
            </a:r>
            <a:r>
              <a:rPr lang="en-US" altLang="ko-KR" b="0" dirty="0">
                <a:solidFill>
                  <a:srgbClr val="003366"/>
                </a:solidFill>
              </a:rPr>
              <a:t>] 6</a:t>
            </a:r>
            <a:r>
              <a:rPr lang="ko-KR" altLang="en-US" b="0" dirty="0">
                <a:solidFill>
                  <a:srgbClr val="003366"/>
                </a:solidFill>
              </a:rPr>
              <a:t>단계</a:t>
            </a:r>
            <a:endParaRPr lang="en-US" altLang="ko-KR" b="0" dirty="0">
              <a:solidFill>
                <a:srgbClr val="003366"/>
              </a:solidFill>
            </a:endParaRP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>
                <a:solidFill>
                  <a:srgbClr val="003366"/>
                </a:solidFill>
              </a:rPr>
              <a:t>서비스 회복 </a:t>
            </a:r>
            <a:r>
              <a:rPr lang="ko-KR" altLang="en-US" sz="2000" b="0" dirty="0">
                <a:solidFill>
                  <a:srgbClr val="C00000"/>
                </a:solidFill>
              </a:rPr>
              <a:t>교육 프로그램을 설계하고 운영</a:t>
            </a:r>
            <a:r>
              <a:rPr lang="ko-KR" altLang="en-US" sz="2000" b="0" dirty="0">
                <a:solidFill>
                  <a:srgbClr val="003366"/>
                </a:solidFill>
              </a:rPr>
              <a:t>한다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marL="522288" lvl="1" indent="-342900" eaLnBrk="1" latinLnBrk="0" hangingPunct="1">
              <a:buClr>
                <a:srgbClr val="4C59D2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800" b="0" dirty="0">
                <a:solidFill>
                  <a:srgbClr val="003366"/>
                </a:solidFill>
              </a:rPr>
              <a:t>매장 종사원들을 대상으로 서비스회복 교육 프로그램 운영</a:t>
            </a:r>
          </a:p>
          <a:p>
            <a:pPr marL="522288" lvl="1" indent="-342900" eaLnBrk="1" latinLnBrk="0" hangingPunct="1">
              <a:buClr>
                <a:srgbClr val="4C59D2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800" b="0" dirty="0">
                <a:solidFill>
                  <a:srgbClr val="003366"/>
                </a:solidFill>
              </a:rPr>
              <a:t>효과적인 서비스 회복 전략 구축을 통해 불평고객의 부정적 영향력 감소 </a:t>
            </a:r>
          </a:p>
          <a:p>
            <a:pPr marL="522288" lvl="1" indent="-342900" eaLnBrk="1" latinLnBrk="0" hangingPunct="1">
              <a:buClr>
                <a:srgbClr val="4C59D2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800" b="0" dirty="0">
                <a:solidFill>
                  <a:srgbClr val="003366"/>
                </a:solidFill>
              </a:rPr>
              <a:t>체계적인 서비스 회복 접근 → 점포의 서비스 품질 향상 </a:t>
            </a:r>
          </a:p>
          <a:p>
            <a:pPr lvl="0" eaLnBrk="1" latinLnBrk="0" hangingPunct="1">
              <a:buClr>
                <a:srgbClr val="4C59D2"/>
              </a:buClr>
              <a:buFont typeface="Wingdings" panose="05000000000000000000" pitchFamily="2" charset="2"/>
              <a:buChar char="§"/>
              <a:defRPr/>
            </a:pPr>
            <a:endParaRPr lang="ko-KR" altLang="en-US" sz="2000" b="0" dirty="0">
              <a:solidFill>
                <a:srgbClr val="003366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374296-8D12-4917-B5DC-BBA51EC1BCE2}"/>
              </a:ext>
            </a:extLst>
          </p:cNvPr>
          <p:cNvSpPr/>
          <p:nvPr/>
        </p:nvSpPr>
        <p:spPr>
          <a:xfrm>
            <a:off x="2187208" y="2373174"/>
            <a:ext cx="7817584" cy="23534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D4E96-7A8A-4249-B8F3-A71A7B8E0496}"/>
              </a:ext>
            </a:extLst>
          </p:cNvPr>
          <p:cNvSpPr txBox="1"/>
          <p:nvPr/>
        </p:nvSpPr>
        <p:spPr>
          <a:xfrm>
            <a:off x="6858800" y="2443190"/>
            <a:ext cx="290335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[</a:t>
            </a: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서비스 회복 시 자료 수집 내용</a:t>
            </a:r>
            <a:r>
              <a:rPr lang="en-US" altLang="ko-KR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]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매장 이름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날짜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고객이름과 연락처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종사원 이름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서비스 회복 처리 내용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처리금액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상황 설명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종사원 서명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ko-KR" altLang="en-US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184A6-9409-4DEE-BA16-C1D9F0A85C9D}"/>
              </a:ext>
            </a:extLst>
          </p:cNvPr>
          <p:cNvSpPr txBox="1"/>
          <p:nvPr/>
        </p:nvSpPr>
        <p:spPr>
          <a:xfrm>
            <a:off x="2402687" y="2418310"/>
            <a:ext cx="37965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서비스 회복 프로그램 이름 짓기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     </a:t>
            </a: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예</a:t>
            </a:r>
            <a:r>
              <a:rPr lang="en-US" altLang="ko-KR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) </a:t>
            </a: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디즈니의 </a:t>
            </a:r>
            <a:r>
              <a:rPr lang="en-US" altLang="ko-KR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S.T.A.R.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서비스 회복 절차 표준화 및 도식화 하기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서비스 회복 처리에 필요한 서류 만들기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      </a:t>
            </a: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예</a:t>
            </a:r>
            <a:r>
              <a:rPr lang="en-US" altLang="ko-KR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) </a:t>
            </a: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디즈니의 </a:t>
            </a:r>
            <a:r>
              <a:rPr lang="en-US" altLang="ko-KR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S.T.A.R. Form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30609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자료분석 및 결과 피드백 절차 정하기</a:t>
            </a:r>
            <a:endParaRPr lang="en-US" altLang="ko-KR" sz="1600" dirty="0">
              <a:solidFill>
                <a:srgbClr val="030609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4727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서비스 회복 시스템 구축을 통한 고객만족 관리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2300749"/>
            <a:ext cx="10548835" cy="2875936"/>
          </a:xfrm>
        </p:spPr>
        <p:txBody>
          <a:bodyPr/>
          <a:lstStyle/>
          <a:p>
            <a:pPr marL="0" indent="0" algn="ctr" eaLnBrk="1" latinLnBrk="0" hangingPunct="1">
              <a:lnSpc>
                <a:spcPct val="150000"/>
              </a:lnSpc>
              <a:defRPr/>
            </a:pPr>
            <a:r>
              <a:rPr lang="ko-KR" altLang="en-US" b="0" dirty="0"/>
              <a:t>서비스는 처음부터 완벽하게 제공하려고 노력해야 하지만</a:t>
            </a:r>
            <a:endParaRPr lang="en-US" altLang="ko-KR" b="0" dirty="0"/>
          </a:p>
          <a:p>
            <a:pPr marL="0" indent="0" algn="ctr" eaLnBrk="1" latinLnBrk="0" hangingPunct="1">
              <a:lnSpc>
                <a:spcPct val="150000"/>
              </a:lnSpc>
              <a:defRPr/>
            </a:pPr>
            <a:r>
              <a:rPr lang="ko-KR" altLang="en-US" b="0" dirty="0"/>
              <a:t>불가피하게 발생하는 서비스 실패는 </a:t>
            </a:r>
            <a:r>
              <a:rPr lang="ko-KR" altLang="en-US" b="0" dirty="0">
                <a:solidFill>
                  <a:srgbClr val="C00000"/>
                </a:solidFill>
              </a:rPr>
              <a:t>효과적인 서비스 회복 전략을 구축</a:t>
            </a:r>
            <a:r>
              <a:rPr lang="ko-KR" altLang="en-US" b="0" dirty="0"/>
              <a:t>하여</a:t>
            </a:r>
            <a:endParaRPr lang="en-US" altLang="ko-KR" b="0" dirty="0"/>
          </a:p>
          <a:p>
            <a:pPr marL="0" indent="0" algn="ctr" eaLnBrk="1" latinLnBrk="0" hangingPunct="1">
              <a:lnSpc>
                <a:spcPct val="150000"/>
              </a:lnSpc>
              <a:defRPr/>
            </a:pPr>
            <a:r>
              <a:rPr lang="ko-KR" altLang="en-US" b="0" dirty="0">
                <a:solidFill>
                  <a:srgbClr val="C00000"/>
                </a:solidFill>
              </a:rPr>
              <a:t>불평고객의 부정적 영향력을 줄여야 </a:t>
            </a:r>
            <a:r>
              <a:rPr lang="ko-KR" altLang="en-US" b="0" dirty="0"/>
              <a:t>한다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73708094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9566</TotalTime>
  <Words>2769</Words>
  <Application>Microsoft Office PowerPoint</Application>
  <PresentationFormat>와이드스크린</PresentationFormat>
  <Paragraphs>349</Paragraphs>
  <Slides>39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55" baseType="lpstr">
      <vt:lpstr>Verdana</vt:lpstr>
      <vt:lpstr>맑은 고딕</vt:lpstr>
      <vt:lpstr>08서울남산체 B</vt:lpstr>
      <vt:lpstr>경기천년바탕 Bold</vt:lpstr>
      <vt:lpstr>서울남산 장체 EB</vt:lpstr>
      <vt:lpstr>서울남산 장체 L</vt:lpstr>
      <vt:lpstr>바탕</vt:lpstr>
      <vt:lpstr>a펜글씨B</vt:lpstr>
      <vt:lpstr>굴림</vt:lpstr>
      <vt:lpstr>Wingdings</vt:lpstr>
      <vt:lpstr>Arial</vt:lpstr>
      <vt:lpstr>서울한강 장체 L</vt:lpstr>
      <vt:lpstr>함초롬돋움</vt:lpstr>
      <vt:lpstr>Rockwell</vt:lpstr>
      <vt:lpstr>서울남산 장체 M</vt:lpstr>
      <vt:lpstr>sample</vt:lpstr>
      <vt:lpstr>PowerPoint 프레젠테이션</vt:lpstr>
      <vt:lpstr>PowerPoint 프레젠테이션</vt:lpstr>
      <vt:lpstr>1. 외식서비스 제공 과정에서 고객 참여</vt:lpstr>
      <vt:lpstr>1. 외식서비스 제공 과정에서 고객 참여</vt:lpstr>
      <vt:lpstr>2. 외식서비스 제공 과정에서 고객의 역할</vt:lpstr>
      <vt:lpstr>2. 외식서비스 제공 과정에서 고객의 역할</vt:lpstr>
      <vt:lpstr>2. 외식서비스 제공 과정에서 고객의 역할</vt:lpstr>
      <vt:lpstr>2. 외식서비스 제공 과정에서 고객의 역할</vt:lpstr>
      <vt:lpstr>2. 외식서비스 제공 과정에서 고객의 역할</vt:lpstr>
      <vt:lpstr>3. 셀프서비스 기술</vt:lpstr>
      <vt:lpstr>3. 셀프서비스 기술</vt:lpstr>
      <vt:lpstr>3. 셀프서비스 기술</vt:lpstr>
      <vt:lpstr>3. 셀프서비스 기술</vt:lpstr>
      <vt:lpstr>PowerPoint 프레젠테이션</vt:lpstr>
      <vt:lpstr>1.  충성고객이 주는 혜택</vt:lpstr>
      <vt:lpstr>1.  충성고객이 주는 혜택</vt:lpstr>
      <vt:lpstr>2.  수익성 기반의 충성고객 분류</vt:lpstr>
      <vt:lpstr>3.  태도와 행동을 고려한 충성고객 분류</vt:lpstr>
      <vt:lpstr>4.  일반 고객을 충성고객으로 만드는 전략</vt:lpstr>
      <vt:lpstr>4.  일반 고객을 충성고객으로 만드는 전략</vt:lpstr>
      <vt:lpstr>PowerPoint 프레젠테이션</vt:lpstr>
      <vt:lpstr>1. 효과적인 불평고객 관리의 중요성</vt:lpstr>
      <vt:lpstr>2. 고객 불평의 목적과 불평고객 유형</vt:lpstr>
      <vt:lpstr>2. 고객 불평의 목적과 불평고객 유형</vt:lpstr>
      <vt:lpstr>2. 고객 불평의 목적과 불평고객 유형</vt:lpstr>
      <vt:lpstr>2. 고객 불평의 목적과 불평고객 유형</vt:lpstr>
      <vt:lpstr>3. 서비스 회복 전략</vt:lpstr>
      <vt:lpstr>3. 서비스 회복 전략</vt:lpstr>
      <vt:lpstr>3. 서비스 회복 전략</vt:lpstr>
      <vt:lpstr>3. 서비스 회복 전략</vt:lpstr>
      <vt:lpstr>3. 서비스 회복 전략</vt:lpstr>
      <vt:lpstr>4. 서비스 회복 시스템 구축을 통한 고객만족 관리</vt:lpstr>
      <vt:lpstr>4. 서비스 회복 시스템 구축을 통한 고객만족 관리</vt:lpstr>
      <vt:lpstr>4. 서비스 회복 시스템 구축을 통한 고객만족 관리</vt:lpstr>
      <vt:lpstr>4. 서비스 회복 시스템 구축을 통한 고객만족 관리</vt:lpstr>
      <vt:lpstr>4. 서비스 회복 시스템 구축을 통한 고객만족 관리</vt:lpstr>
      <vt:lpstr>4. 서비스 회복 시스템 구축을 통한 고객만족 관리</vt:lpstr>
      <vt:lpstr>4. 서비스 회복 시스템 구축을 통한 고객만족 관리</vt:lpstr>
      <vt:lpstr>4. 서비스 회복 시스템 구축을 통한 고객만족 관리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176</cp:revision>
  <dcterms:created xsi:type="dcterms:W3CDTF">2022-02-07T06:24:49Z</dcterms:created>
  <dcterms:modified xsi:type="dcterms:W3CDTF">2022-05-10T10:40:18Z</dcterms:modified>
</cp:coreProperties>
</file>