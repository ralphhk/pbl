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7"/>
  </p:notesMasterIdLst>
  <p:sldIdLst>
    <p:sldId id="278" r:id="rId2"/>
    <p:sldId id="280" r:id="rId3"/>
    <p:sldId id="279" r:id="rId4"/>
    <p:sldId id="292" r:id="rId5"/>
    <p:sldId id="281" r:id="rId6"/>
    <p:sldId id="291" r:id="rId7"/>
    <p:sldId id="293" r:id="rId8"/>
    <p:sldId id="314" r:id="rId9"/>
    <p:sldId id="315" r:id="rId10"/>
    <p:sldId id="294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295" r:id="rId20"/>
    <p:sldId id="324" r:id="rId21"/>
    <p:sldId id="325" r:id="rId22"/>
    <p:sldId id="326" r:id="rId23"/>
    <p:sldId id="282" r:id="rId24"/>
    <p:sldId id="284" r:id="rId25"/>
    <p:sldId id="296" r:id="rId26"/>
    <p:sldId id="327" r:id="rId27"/>
    <p:sldId id="328" r:id="rId28"/>
    <p:sldId id="329" r:id="rId29"/>
    <p:sldId id="330" r:id="rId30"/>
    <p:sldId id="331" r:id="rId31"/>
    <p:sldId id="332" r:id="rId32"/>
    <p:sldId id="333" r:id="rId33"/>
    <p:sldId id="334" r:id="rId34"/>
    <p:sldId id="335" r:id="rId35"/>
    <p:sldId id="336" r:id="rId36"/>
  </p:sldIdLst>
  <p:sldSz cx="12192000" cy="6858000"/>
  <p:notesSz cx="6858000" cy="9144000"/>
  <p:embeddedFontLst>
    <p:embeddedFont>
      <p:font typeface="Verdana" panose="020B0604030504040204" pitchFamily="34" charset="0"/>
      <p:regular r:id="rId38"/>
      <p:bold r:id="rId39"/>
      <p:italic r:id="rId40"/>
      <p:boldItalic r:id="rId41"/>
    </p:embeddedFont>
    <p:embeddedFont>
      <p:font typeface="맑은 고딕" panose="020B0503020000020004" pitchFamily="50" charset="-127"/>
      <p:regular r:id="rId42"/>
      <p:bold r:id="rId43"/>
    </p:embeddedFont>
    <p:embeddedFont>
      <p:font typeface="서울남산 장체 EB" panose="02020503020101020101" pitchFamily="18" charset="-127"/>
      <p:regular r:id="rId44"/>
    </p:embeddedFont>
    <p:embeddedFont>
      <p:font typeface="서울남산 장체 L" panose="02020503020101020101" pitchFamily="18" charset="-127"/>
      <p:regular r:id="rId45"/>
    </p:embeddedFont>
    <p:embeddedFont>
      <p:font typeface="서울남산 장체 M" panose="02020503020101020101" pitchFamily="18" charset="-127"/>
      <p:regular r:id="rId46"/>
    </p:embeddedFont>
    <p:embeddedFont>
      <p:font typeface="서울한강 장체 L" panose="02020503020101020101" pitchFamily="18" charset="-127"/>
      <p:regular r:id="rId47"/>
    </p:embeddedFont>
    <p:embeddedFont>
      <p:font typeface="함초롬돋움" panose="020B0604000101010101" pitchFamily="50" charset="-127"/>
      <p:regular r:id="rId48"/>
      <p:bold r:id="rId49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E4F23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59949" autoAdjust="0"/>
  </p:normalViewPr>
  <p:slideViewPr>
    <p:cSldViewPr snapToGrid="0">
      <p:cViewPr varScale="1">
        <p:scale>
          <a:sx n="59" d="100"/>
          <a:sy n="59" d="100"/>
        </p:scale>
        <p:origin x="250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F4AB01-DF28-40BD-A0D9-53B53FDFDF63}" type="doc">
      <dgm:prSet loTypeId="urn:microsoft.com/office/officeart/2005/8/layout/cycle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E0DC82C-4F2C-4ED8-AAA1-2CE7987B374E}">
      <dgm:prSet phldrT="[텍스트]" custT="1"/>
      <dgm:spPr>
        <a:solidFill>
          <a:schemeClr val="accent1">
            <a:hueOff val="0"/>
            <a:satOff val="0"/>
            <a:lumOff val="0"/>
            <a:alpha val="49000"/>
          </a:schemeClr>
        </a:solidFill>
      </dgm:spPr>
      <dgm:t>
        <a:bodyPr/>
        <a:lstStyle/>
        <a:p>
          <a:pPr latinLnBrk="1"/>
          <a:r>
            <a:rPr lang="ko-KR" altLang="en-US" sz="2000" b="1" dirty="0" err="1">
              <a:solidFill>
                <a:schemeClr val="accent4">
                  <a:lumMod val="50000"/>
                </a:schemeClr>
              </a:solidFill>
              <a:latin typeface="서울남산 장체M" panose="02020603020101020101" pitchFamily="18" charset="-127"/>
              <a:ea typeface="서울남산 장체M" panose="02020603020101020101" pitchFamily="18" charset="-127"/>
              <a:cs typeface="함초롬돋움" panose="02030504000101010101" pitchFamily="18" charset="-127"/>
            </a:rPr>
            <a:t>유형성</a:t>
          </a:r>
          <a:endParaRPr lang="ko-KR" altLang="en-US" sz="2000" b="1" dirty="0">
            <a:solidFill>
              <a:schemeClr val="accent4">
                <a:lumMod val="50000"/>
              </a:schemeClr>
            </a:solidFill>
            <a:latin typeface="서울남산 장체M" panose="02020603020101020101" pitchFamily="18" charset="-127"/>
            <a:ea typeface="서울남산 장체M" panose="02020603020101020101" pitchFamily="18" charset="-127"/>
            <a:cs typeface="함초롬돋움" panose="02030504000101010101" pitchFamily="18" charset="-127"/>
          </a:endParaRPr>
        </a:p>
      </dgm:t>
    </dgm:pt>
    <dgm:pt modelId="{3D762D59-7FFE-46D9-AFBA-AA95FC811896}" type="parTrans" cxnId="{A6F022D2-7331-49F9-8658-C69BDDD81F20}">
      <dgm:prSet/>
      <dgm:spPr/>
      <dgm:t>
        <a:bodyPr/>
        <a:lstStyle/>
        <a:p>
          <a:pPr latinLnBrk="1"/>
          <a:endParaRPr lang="ko-KR" altLang="en-US">
            <a:latin typeface="서울남산 장체M" panose="02020603020101020101" pitchFamily="18" charset="-127"/>
            <a:ea typeface="서울남산 장체M" panose="02020603020101020101" pitchFamily="18" charset="-127"/>
          </a:endParaRPr>
        </a:p>
      </dgm:t>
    </dgm:pt>
    <dgm:pt modelId="{BC4793B9-521F-47CD-B025-5A61EBFCF902}" type="sibTrans" cxnId="{A6F022D2-7331-49F9-8658-C69BDDD81F20}">
      <dgm:prSet/>
      <dgm:spPr/>
      <dgm:t>
        <a:bodyPr/>
        <a:lstStyle/>
        <a:p>
          <a:pPr latinLnBrk="1"/>
          <a:endParaRPr lang="ko-KR" altLang="en-US">
            <a:latin typeface="서울남산 장체M" panose="02020603020101020101" pitchFamily="18" charset="-127"/>
            <a:ea typeface="서울남산 장체M" panose="02020603020101020101" pitchFamily="18" charset="-127"/>
          </a:endParaRPr>
        </a:p>
      </dgm:t>
    </dgm:pt>
    <dgm:pt modelId="{0EEE43B8-AC4A-464D-932C-8FBC661A50AC}">
      <dgm:prSet phldrT="[텍스트]" custT="1"/>
      <dgm:spPr>
        <a:solidFill>
          <a:schemeClr val="accent1">
            <a:hueOff val="0"/>
            <a:satOff val="0"/>
            <a:lumOff val="0"/>
            <a:alpha val="49000"/>
          </a:schemeClr>
        </a:solidFill>
      </dgm:spPr>
      <dgm:t>
        <a:bodyPr/>
        <a:lstStyle/>
        <a:p>
          <a:pPr latinLnBrk="1"/>
          <a:r>
            <a:rPr lang="ko-KR" altLang="en-US" sz="2000" b="1" dirty="0" err="1">
              <a:solidFill>
                <a:schemeClr val="accent4">
                  <a:lumMod val="50000"/>
                </a:schemeClr>
              </a:solidFill>
              <a:latin typeface="서울남산 장체M" panose="02020603020101020101" pitchFamily="18" charset="-127"/>
              <a:ea typeface="서울남산 장체M" panose="02020603020101020101" pitchFamily="18" charset="-127"/>
              <a:cs typeface="함초롬돋움" panose="02030504000101010101" pitchFamily="18" charset="-127"/>
            </a:rPr>
            <a:t>공감성</a:t>
          </a:r>
          <a:endParaRPr lang="ko-KR" altLang="en-US" sz="2000" b="1" dirty="0">
            <a:solidFill>
              <a:schemeClr val="accent4">
                <a:lumMod val="50000"/>
              </a:schemeClr>
            </a:solidFill>
            <a:latin typeface="서울남산 장체M" panose="02020603020101020101" pitchFamily="18" charset="-127"/>
            <a:ea typeface="서울남산 장체M" panose="02020603020101020101" pitchFamily="18" charset="-127"/>
            <a:cs typeface="함초롬돋움" panose="02030504000101010101" pitchFamily="18" charset="-127"/>
          </a:endParaRPr>
        </a:p>
      </dgm:t>
    </dgm:pt>
    <dgm:pt modelId="{37482A3F-E670-4243-95C1-881BAB01C974}" type="parTrans" cxnId="{8D30CC40-20E4-4032-9C09-4ED6BF816384}">
      <dgm:prSet/>
      <dgm:spPr/>
      <dgm:t>
        <a:bodyPr/>
        <a:lstStyle/>
        <a:p>
          <a:pPr latinLnBrk="1"/>
          <a:endParaRPr lang="ko-KR" altLang="en-US">
            <a:latin typeface="서울남산 장체M" panose="02020603020101020101" pitchFamily="18" charset="-127"/>
            <a:ea typeface="서울남산 장체M" panose="02020603020101020101" pitchFamily="18" charset="-127"/>
          </a:endParaRPr>
        </a:p>
      </dgm:t>
    </dgm:pt>
    <dgm:pt modelId="{0E6BFBF1-42C4-4050-8560-1C48181D2DBD}" type="sibTrans" cxnId="{8D30CC40-20E4-4032-9C09-4ED6BF816384}">
      <dgm:prSet/>
      <dgm:spPr/>
      <dgm:t>
        <a:bodyPr/>
        <a:lstStyle/>
        <a:p>
          <a:pPr latinLnBrk="1"/>
          <a:endParaRPr lang="ko-KR" altLang="en-US">
            <a:latin typeface="서울남산 장체M" panose="02020603020101020101" pitchFamily="18" charset="-127"/>
            <a:ea typeface="서울남산 장체M" panose="02020603020101020101" pitchFamily="18" charset="-127"/>
          </a:endParaRPr>
        </a:p>
      </dgm:t>
    </dgm:pt>
    <dgm:pt modelId="{451D2AF1-8940-46FF-AD88-160586C4BEF4}">
      <dgm:prSet phldrT="[텍스트]" custT="1"/>
      <dgm:spPr>
        <a:solidFill>
          <a:schemeClr val="accent1">
            <a:hueOff val="0"/>
            <a:satOff val="0"/>
            <a:lumOff val="0"/>
            <a:alpha val="49000"/>
          </a:schemeClr>
        </a:solidFill>
      </dgm:spPr>
      <dgm:t>
        <a:bodyPr/>
        <a:lstStyle/>
        <a:p>
          <a:pPr latinLnBrk="1"/>
          <a:r>
            <a:rPr lang="ko-KR" altLang="en-US" sz="2000" b="1" dirty="0">
              <a:solidFill>
                <a:schemeClr val="accent4">
                  <a:lumMod val="50000"/>
                </a:schemeClr>
              </a:solidFill>
              <a:latin typeface="서울남산 장체M" panose="02020603020101020101" pitchFamily="18" charset="-127"/>
              <a:ea typeface="서울남산 장체M" panose="02020603020101020101" pitchFamily="18" charset="-127"/>
              <a:cs typeface="함초롬돋움" panose="02030504000101010101" pitchFamily="18" charset="-127"/>
            </a:rPr>
            <a:t>확신성</a:t>
          </a:r>
        </a:p>
      </dgm:t>
    </dgm:pt>
    <dgm:pt modelId="{A83F95F7-1023-48B6-A9B1-35DE674954A9}" type="parTrans" cxnId="{5358E02C-015A-4BDC-8D71-8AAFA71FFF7E}">
      <dgm:prSet/>
      <dgm:spPr/>
      <dgm:t>
        <a:bodyPr/>
        <a:lstStyle/>
        <a:p>
          <a:pPr latinLnBrk="1"/>
          <a:endParaRPr lang="ko-KR" altLang="en-US">
            <a:latin typeface="서울남산 장체M" panose="02020603020101020101" pitchFamily="18" charset="-127"/>
            <a:ea typeface="서울남산 장체M" panose="02020603020101020101" pitchFamily="18" charset="-127"/>
          </a:endParaRPr>
        </a:p>
      </dgm:t>
    </dgm:pt>
    <dgm:pt modelId="{E8CC8CEB-CC72-4F67-B66B-26D880AD994A}" type="sibTrans" cxnId="{5358E02C-015A-4BDC-8D71-8AAFA71FFF7E}">
      <dgm:prSet/>
      <dgm:spPr/>
      <dgm:t>
        <a:bodyPr/>
        <a:lstStyle/>
        <a:p>
          <a:pPr latinLnBrk="1"/>
          <a:endParaRPr lang="ko-KR" altLang="en-US">
            <a:latin typeface="서울남산 장체M" panose="02020603020101020101" pitchFamily="18" charset="-127"/>
            <a:ea typeface="서울남산 장체M" panose="02020603020101020101" pitchFamily="18" charset="-127"/>
          </a:endParaRPr>
        </a:p>
      </dgm:t>
    </dgm:pt>
    <dgm:pt modelId="{4C7375ED-E4B7-4F96-8ED7-BBE808B95C7C}">
      <dgm:prSet phldrT="[텍스트]" custT="1"/>
      <dgm:spPr>
        <a:solidFill>
          <a:schemeClr val="accent1">
            <a:hueOff val="0"/>
            <a:satOff val="0"/>
            <a:lumOff val="0"/>
            <a:alpha val="49000"/>
          </a:schemeClr>
        </a:solidFill>
      </dgm:spPr>
      <dgm:t>
        <a:bodyPr/>
        <a:lstStyle/>
        <a:p>
          <a:pPr latinLnBrk="1"/>
          <a:r>
            <a:rPr lang="ko-KR" altLang="en-US" sz="2000" b="1" dirty="0" err="1">
              <a:solidFill>
                <a:schemeClr val="accent4">
                  <a:lumMod val="50000"/>
                </a:schemeClr>
              </a:solidFill>
              <a:latin typeface="서울남산 장체M" panose="02020603020101020101" pitchFamily="18" charset="-127"/>
              <a:ea typeface="서울남산 장체M" panose="02020603020101020101" pitchFamily="18" charset="-127"/>
              <a:cs typeface="함초롬돋움" panose="02030504000101010101" pitchFamily="18" charset="-127"/>
            </a:rPr>
            <a:t>응답성</a:t>
          </a:r>
          <a:endParaRPr lang="ko-KR" altLang="en-US" sz="2000" b="1" dirty="0">
            <a:solidFill>
              <a:schemeClr val="accent4">
                <a:lumMod val="50000"/>
              </a:schemeClr>
            </a:solidFill>
            <a:latin typeface="서울남산 장체M" panose="02020603020101020101" pitchFamily="18" charset="-127"/>
            <a:ea typeface="서울남산 장체M" panose="02020603020101020101" pitchFamily="18" charset="-127"/>
            <a:cs typeface="함초롬돋움" panose="02030504000101010101" pitchFamily="18" charset="-127"/>
          </a:endParaRPr>
        </a:p>
      </dgm:t>
    </dgm:pt>
    <dgm:pt modelId="{044C6D2B-8D81-410D-8481-28A5A5B5C835}" type="parTrans" cxnId="{C5303705-1C29-491C-91CD-F415E7C954C4}">
      <dgm:prSet/>
      <dgm:spPr/>
      <dgm:t>
        <a:bodyPr/>
        <a:lstStyle/>
        <a:p>
          <a:pPr latinLnBrk="1"/>
          <a:endParaRPr lang="ko-KR" altLang="en-US">
            <a:latin typeface="서울남산 장체M" panose="02020603020101020101" pitchFamily="18" charset="-127"/>
            <a:ea typeface="서울남산 장체M" panose="02020603020101020101" pitchFamily="18" charset="-127"/>
          </a:endParaRPr>
        </a:p>
      </dgm:t>
    </dgm:pt>
    <dgm:pt modelId="{48ADF8E2-C0E2-4F70-9181-314D78E3851A}" type="sibTrans" cxnId="{C5303705-1C29-491C-91CD-F415E7C954C4}">
      <dgm:prSet/>
      <dgm:spPr/>
      <dgm:t>
        <a:bodyPr/>
        <a:lstStyle/>
        <a:p>
          <a:pPr latinLnBrk="1"/>
          <a:endParaRPr lang="ko-KR" altLang="en-US">
            <a:latin typeface="서울남산 장체M" panose="02020603020101020101" pitchFamily="18" charset="-127"/>
            <a:ea typeface="서울남산 장체M" panose="02020603020101020101" pitchFamily="18" charset="-127"/>
          </a:endParaRPr>
        </a:p>
      </dgm:t>
    </dgm:pt>
    <dgm:pt modelId="{073B8840-5483-46B2-B5D3-866F74EBFC3D}">
      <dgm:prSet phldrT="[텍스트]" custT="1"/>
      <dgm:spPr>
        <a:solidFill>
          <a:schemeClr val="accent1">
            <a:hueOff val="0"/>
            <a:satOff val="0"/>
            <a:lumOff val="0"/>
            <a:alpha val="50000"/>
          </a:schemeClr>
        </a:solidFill>
      </dgm:spPr>
      <dgm:t>
        <a:bodyPr/>
        <a:lstStyle/>
        <a:p>
          <a:pPr latinLnBrk="1"/>
          <a:r>
            <a:rPr lang="ko-KR" altLang="en-US" sz="2000" b="1" dirty="0">
              <a:solidFill>
                <a:schemeClr val="accent4">
                  <a:lumMod val="50000"/>
                </a:schemeClr>
              </a:solidFill>
              <a:latin typeface="서울남산 장체M" panose="02020603020101020101" pitchFamily="18" charset="-127"/>
              <a:ea typeface="서울남산 장체M" panose="02020603020101020101" pitchFamily="18" charset="-127"/>
              <a:cs typeface="함초롬돋움" panose="02030504000101010101" pitchFamily="18" charset="-127"/>
            </a:rPr>
            <a:t>신뢰성</a:t>
          </a:r>
        </a:p>
      </dgm:t>
    </dgm:pt>
    <dgm:pt modelId="{139AD226-8EC7-4A4F-A1BA-DDE3068F2430}" type="parTrans" cxnId="{9F694282-53F7-47DF-BE7E-D94DF120ED56}">
      <dgm:prSet/>
      <dgm:spPr/>
      <dgm:t>
        <a:bodyPr/>
        <a:lstStyle/>
        <a:p>
          <a:pPr latinLnBrk="1"/>
          <a:endParaRPr lang="ko-KR" altLang="en-US">
            <a:latin typeface="서울남산 장체M" panose="02020603020101020101" pitchFamily="18" charset="-127"/>
            <a:ea typeface="서울남산 장체M" panose="02020603020101020101" pitchFamily="18" charset="-127"/>
          </a:endParaRPr>
        </a:p>
      </dgm:t>
    </dgm:pt>
    <dgm:pt modelId="{48C7588F-6853-4148-B41C-CD480993B9EB}" type="sibTrans" cxnId="{9F694282-53F7-47DF-BE7E-D94DF120ED56}">
      <dgm:prSet/>
      <dgm:spPr/>
      <dgm:t>
        <a:bodyPr/>
        <a:lstStyle/>
        <a:p>
          <a:pPr latinLnBrk="1"/>
          <a:endParaRPr lang="ko-KR" altLang="en-US">
            <a:latin typeface="서울남산 장체M" panose="02020603020101020101" pitchFamily="18" charset="-127"/>
            <a:ea typeface="서울남산 장체M" panose="02020603020101020101" pitchFamily="18" charset="-127"/>
          </a:endParaRPr>
        </a:p>
      </dgm:t>
    </dgm:pt>
    <dgm:pt modelId="{56F0B098-8A8F-4CEE-80D2-44650DE8F9FB}" type="pres">
      <dgm:prSet presAssocID="{C9F4AB01-DF28-40BD-A0D9-53B53FDFDF63}" presName="cycle" presStyleCnt="0">
        <dgm:presLayoutVars>
          <dgm:dir/>
          <dgm:resizeHandles val="exact"/>
        </dgm:presLayoutVars>
      </dgm:prSet>
      <dgm:spPr/>
    </dgm:pt>
    <dgm:pt modelId="{5B172FF6-E4CB-496D-A218-93AE07B38E10}" type="pres">
      <dgm:prSet presAssocID="{DE0DC82C-4F2C-4ED8-AAA1-2CE7987B374E}" presName="node" presStyleLbl="node1" presStyleIdx="0" presStyleCnt="5">
        <dgm:presLayoutVars>
          <dgm:bulletEnabled val="1"/>
        </dgm:presLayoutVars>
      </dgm:prSet>
      <dgm:spPr/>
    </dgm:pt>
    <dgm:pt modelId="{CDF406F9-F699-45B9-92DE-CBF093A86A44}" type="pres">
      <dgm:prSet presAssocID="{DE0DC82C-4F2C-4ED8-AAA1-2CE7987B374E}" presName="spNode" presStyleCnt="0"/>
      <dgm:spPr/>
    </dgm:pt>
    <dgm:pt modelId="{BF4973A4-E996-4FC7-AF62-0A35E122EC86}" type="pres">
      <dgm:prSet presAssocID="{BC4793B9-521F-47CD-B025-5A61EBFCF902}" presName="sibTrans" presStyleLbl="sibTrans1D1" presStyleIdx="0" presStyleCnt="5"/>
      <dgm:spPr/>
    </dgm:pt>
    <dgm:pt modelId="{E0077600-1F26-4200-9837-261E2B207964}" type="pres">
      <dgm:prSet presAssocID="{0EEE43B8-AC4A-464D-932C-8FBC661A50AC}" presName="node" presStyleLbl="node1" presStyleIdx="1" presStyleCnt="5">
        <dgm:presLayoutVars>
          <dgm:bulletEnabled val="1"/>
        </dgm:presLayoutVars>
      </dgm:prSet>
      <dgm:spPr/>
    </dgm:pt>
    <dgm:pt modelId="{4FA4A1CC-E889-4D4A-853C-EEEDCF6DCD2B}" type="pres">
      <dgm:prSet presAssocID="{0EEE43B8-AC4A-464D-932C-8FBC661A50AC}" presName="spNode" presStyleCnt="0"/>
      <dgm:spPr/>
    </dgm:pt>
    <dgm:pt modelId="{33966DF5-2CD2-4F52-B964-AD047B7D1A4E}" type="pres">
      <dgm:prSet presAssocID="{0E6BFBF1-42C4-4050-8560-1C48181D2DBD}" presName="sibTrans" presStyleLbl="sibTrans1D1" presStyleIdx="1" presStyleCnt="5"/>
      <dgm:spPr/>
    </dgm:pt>
    <dgm:pt modelId="{1EBCE4BD-8CED-48D0-B26B-20462FD7B3F7}" type="pres">
      <dgm:prSet presAssocID="{451D2AF1-8940-46FF-AD88-160586C4BEF4}" presName="node" presStyleLbl="node1" presStyleIdx="2" presStyleCnt="5">
        <dgm:presLayoutVars>
          <dgm:bulletEnabled val="1"/>
        </dgm:presLayoutVars>
      </dgm:prSet>
      <dgm:spPr/>
    </dgm:pt>
    <dgm:pt modelId="{BDA2C9D3-736E-4CE4-B68B-FE81828CA17D}" type="pres">
      <dgm:prSet presAssocID="{451D2AF1-8940-46FF-AD88-160586C4BEF4}" presName="spNode" presStyleCnt="0"/>
      <dgm:spPr/>
    </dgm:pt>
    <dgm:pt modelId="{8AA5D907-EBDD-49F6-83CE-D2ADB20C4919}" type="pres">
      <dgm:prSet presAssocID="{E8CC8CEB-CC72-4F67-B66B-26D880AD994A}" presName="sibTrans" presStyleLbl="sibTrans1D1" presStyleIdx="2" presStyleCnt="5"/>
      <dgm:spPr/>
    </dgm:pt>
    <dgm:pt modelId="{CAF76E37-0CDB-4182-BC25-68BB6F2F49D1}" type="pres">
      <dgm:prSet presAssocID="{4C7375ED-E4B7-4F96-8ED7-BBE808B95C7C}" presName="node" presStyleLbl="node1" presStyleIdx="3" presStyleCnt="5">
        <dgm:presLayoutVars>
          <dgm:bulletEnabled val="1"/>
        </dgm:presLayoutVars>
      </dgm:prSet>
      <dgm:spPr/>
    </dgm:pt>
    <dgm:pt modelId="{5E951FDB-D36D-4B8D-A3D0-B12A0A039968}" type="pres">
      <dgm:prSet presAssocID="{4C7375ED-E4B7-4F96-8ED7-BBE808B95C7C}" presName="spNode" presStyleCnt="0"/>
      <dgm:spPr/>
    </dgm:pt>
    <dgm:pt modelId="{E4D42765-F084-4F9E-AAA2-993F5B84EE8D}" type="pres">
      <dgm:prSet presAssocID="{48ADF8E2-C0E2-4F70-9181-314D78E3851A}" presName="sibTrans" presStyleLbl="sibTrans1D1" presStyleIdx="3" presStyleCnt="5"/>
      <dgm:spPr/>
    </dgm:pt>
    <dgm:pt modelId="{C591EA43-B96B-469A-B5B9-3E358BF81F60}" type="pres">
      <dgm:prSet presAssocID="{073B8840-5483-46B2-B5D3-866F74EBFC3D}" presName="node" presStyleLbl="node1" presStyleIdx="4" presStyleCnt="5">
        <dgm:presLayoutVars>
          <dgm:bulletEnabled val="1"/>
        </dgm:presLayoutVars>
      </dgm:prSet>
      <dgm:spPr/>
    </dgm:pt>
    <dgm:pt modelId="{C6C2B41F-0C68-4354-B072-B397FACEC6D6}" type="pres">
      <dgm:prSet presAssocID="{073B8840-5483-46B2-B5D3-866F74EBFC3D}" presName="spNode" presStyleCnt="0"/>
      <dgm:spPr/>
    </dgm:pt>
    <dgm:pt modelId="{216AE5A2-C9FB-41F6-B6EF-E8B03949092D}" type="pres">
      <dgm:prSet presAssocID="{48C7588F-6853-4148-B41C-CD480993B9EB}" presName="sibTrans" presStyleLbl="sibTrans1D1" presStyleIdx="4" presStyleCnt="5"/>
      <dgm:spPr/>
    </dgm:pt>
  </dgm:ptLst>
  <dgm:cxnLst>
    <dgm:cxn modelId="{C5303705-1C29-491C-91CD-F415E7C954C4}" srcId="{C9F4AB01-DF28-40BD-A0D9-53B53FDFDF63}" destId="{4C7375ED-E4B7-4F96-8ED7-BBE808B95C7C}" srcOrd="3" destOrd="0" parTransId="{044C6D2B-8D81-410D-8481-28A5A5B5C835}" sibTransId="{48ADF8E2-C0E2-4F70-9181-314D78E3851A}"/>
    <dgm:cxn modelId="{D894EC19-503D-4436-B62F-5AF98BC9E305}" type="presOf" srcId="{073B8840-5483-46B2-B5D3-866F74EBFC3D}" destId="{C591EA43-B96B-469A-B5B9-3E358BF81F60}" srcOrd="0" destOrd="0" presId="urn:microsoft.com/office/officeart/2005/8/layout/cycle6"/>
    <dgm:cxn modelId="{D2B5651A-94B2-4D28-A76A-EF6D4007A82F}" type="presOf" srcId="{BC4793B9-521F-47CD-B025-5A61EBFCF902}" destId="{BF4973A4-E996-4FC7-AF62-0A35E122EC86}" srcOrd="0" destOrd="0" presId="urn:microsoft.com/office/officeart/2005/8/layout/cycle6"/>
    <dgm:cxn modelId="{49868B1B-2F48-4BA0-A03F-EE1B77B56849}" type="presOf" srcId="{C9F4AB01-DF28-40BD-A0D9-53B53FDFDF63}" destId="{56F0B098-8A8F-4CEE-80D2-44650DE8F9FB}" srcOrd="0" destOrd="0" presId="urn:microsoft.com/office/officeart/2005/8/layout/cycle6"/>
    <dgm:cxn modelId="{ADF35423-27FD-4D29-A5C8-328E621524F9}" type="presOf" srcId="{0E6BFBF1-42C4-4050-8560-1C48181D2DBD}" destId="{33966DF5-2CD2-4F52-B964-AD047B7D1A4E}" srcOrd="0" destOrd="0" presId="urn:microsoft.com/office/officeart/2005/8/layout/cycle6"/>
    <dgm:cxn modelId="{9A38E423-1509-41E4-A73F-1664F149C84D}" type="presOf" srcId="{E8CC8CEB-CC72-4F67-B66B-26D880AD994A}" destId="{8AA5D907-EBDD-49F6-83CE-D2ADB20C4919}" srcOrd="0" destOrd="0" presId="urn:microsoft.com/office/officeart/2005/8/layout/cycle6"/>
    <dgm:cxn modelId="{5358E02C-015A-4BDC-8D71-8AAFA71FFF7E}" srcId="{C9F4AB01-DF28-40BD-A0D9-53B53FDFDF63}" destId="{451D2AF1-8940-46FF-AD88-160586C4BEF4}" srcOrd="2" destOrd="0" parTransId="{A83F95F7-1023-48B6-A9B1-35DE674954A9}" sibTransId="{E8CC8CEB-CC72-4F67-B66B-26D880AD994A}"/>
    <dgm:cxn modelId="{8D30CC40-20E4-4032-9C09-4ED6BF816384}" srcId="{C9F4AB01-DF28-40BD-A0D9-53B53FDFDF63}" destId="{0EEE43B8-AC4A-464D-932C-8FBC661A50AC}" srcOrd="1" destOrd="0" parTransId="{37482A3F-E670-4243-95C1-881BAB01C974}" sibTransId="{0E6BFBF1-42C4-4050-8560-1C48181D2DBD}"/>
    <dgm:cxn modelId="{5DB00A65-A2DE-491F-8BFB-0418C251F26B}" type="presOf" srcId="{DE0DC82C-4F2C-4ED8-AAA1-2CE7987B374E}" destId="{5B172FF6-E4CB-496D-A218-93AE07B38E10}" srcOrd="0" destOrd="0" presId="urn:microsoft.com/office/officeart/2005/8/layout/cycle6"/>
    <dgm:cxn modelId="{5BB3624A-9D97-4A79-937F-61C0B0745A81}" type="presOf" srcId="{0EEE43B8-AC4A-464D-932C-8FBC661A50AC}" destId="{E0077600-1F26-4200-9837-261E2B207964}" srcOrd="0" destOrd="0" presId="urn:microsoft.com/office/officeart/2005/8/layout/cycle6"/>
    <dgm:cxn modelId="{AD4CF34E-4440-4D30-B437-74756DEB1AF9}" type="presOf" srcId="{451D2AF1-8940-46FF-AD88-160586C4BEF4}" destId="{1EBCE4BD-8CED-48D0-B26B-20462FD7B3F7}" srcOrd="0" destOrd="0" presId="urn:microsoft.com/office/officeart/2005/8/layout/cycle6"/>
    <dgm:cxn modelId="{525DE57F-915C-4C83-88E1-D66C013F5E8F}" type="presOf" srcId="{48ADF8E2-C0E2-4F70-9181-314D78E3851A}" destId="{E4D42765-F084-4F9E-AAA2-993F5B84EE8D}" srcOrd="0" destOrd="0" presId="urn:microsoft.com/office/officeart/2005/8/layout/cycle6"/>
    <dgm:cxn modelId="{9F694282-53F7-47DF-BE7E-D94DF120ED56}" srcId="{C9F4AB01-DF28-40BD-A0D9-53B53FDFDF63}" destId="{073B8840-5483-46B2-B5D3-866F74EBFC3D}" srcOrd="4" destOrd="0" parTransId="{139AD226-8EC7-4A4F-A1BA-DDE3068F2430}" sibTransId="{48C7588F-6853-4148-B41C-CD480993B9EB}"/>
    <dgm:cxn modelId="{677AA1C2-D631-4321-B6F5-98C25E87F137}" type="presOf" srcId="{4C7375ED-E4B7-4F96-8ED7-BBE808B95C7C}" destId="{CAF76E37-0CDB-4182-BC25-68BB6F2F49D1}" srcOrd="0" destOrd="0" presId="urn:microsoft.com/office/officeart/2005/8/layout/cycle6"/>
    <dgm:cxn modelId="{A6F022D2-7331-49F9-8658-C69BDDD81F20}" srcId="{C9F4AB01-DF28-40BD-A0D9-53B53FDFDF63}" destId="{DE0DC82C-4F2C-4ED8-AAA1-2CE7987B374E}" srcOrd="0" destOrd="0" parTransId="{3D762D59-7FFE-46D9-AFBA-AA95FC811896}" sibTransId="{BC4793B9-521F-47CD-B025-5A61EBFCF902}"/>
    <dgm:cxn modelId="{2E5E1FEA-2714-4909-A9C9-7EB5C4D848BE}" type="presOf" srcId="{48C7588F-6853-4148-B41C-CD480993B9EB}" destId="{216AE5A2-C9FB-41F6-B6EF-E8B03949092D}" srcOrd="0" destOrd="0" presId="urn:microsoft.com/office/officeart/2005/8/layout/cycle6"/>
    <dgm:cxn modelId="{6CA9AFB2-F32F-4C0E-8C90-1F52A2E30DDD}" type="presParOf" srcId="{56F0B098-8A8F-4CEE-80D2-44650DE8F9FB}" destId="{5B172FF6-E4CB-496D-A218-93AE07B38E10}" srcOrd="0" destOrd="0" presId="urn:microsoft.com/office/officeart/2005/8/layout/cycle6"/>
    <dgm:cxn modelId="{A7A03776-E0DC-4756-BBD5-C41C644E3181}" type="presParOf" srcId="{56F0B098-8A8F-4CEE-80D2-44650DE8F9FB}" destId="{CDF406F9-F699-45B9-92DE-CBF093A86A44}" srcOrd="1" destOrd="0" presId="urn:microsoft.com/office/officeart/2005/8/layout/cycle6"/>
    <dgm:cxn modelId="{B828FBD1-3A60-47EF-8799-4B9B055F0EAB}" type="presParOf" srcId="{56F0B098-8A8F-4CEE-80D2-44650DE8F9FB}" destId="{BF4973A4-E996-4FC7-AF62-0A35E122EC86}" srcOrd="2" destOrd="0" presId="urn:microsoft.com/office/officeart/2005/8/layout/cycle6"/>
    <dgm:cxn modelId="{719BBDBC-5A76-4BAD-BD1B-9603AB5F417F}" type="presParOf" srcId="{56F0B098-8A8F-4CEE-80D2-44650DE8F9FB}" destId="{E0077600-1F26-4200-9837-261E2B207964}" srcOrd="3" destOrd="0" presId="urn:microsoft.com/office/officeart/2005/8/layout/cycle6"/>
    <dgm:cxn modelId="{CBC8FF9A-D862-4EB7-917B-88F0E69849EE}" type="presParOf" srcId="{56F0B098-8A8F-4CEE-80D2-44650DE8F9FB}" destId="{4FA4A1CC-E889-4D4A-853C-EEEDCF6DCD2B}" srcOrd="4" destOrd="0" presId="urn:microsoft.com/office/officeart/2005/8/layout/cycle6"/>
    <dgm:cxn modelId="{29A5C542-CD80-4234-889A-5FACD69688EA}" type="presParOf" srcId="{56F0B098-8A8F-4CEE-80D2-44650DE8F9FB}" destId="{33966DF5-2CD2-4F52-B964-AD047B7D1A4E}" srcOrd="5" destOrd="0" presId="urn:microsoft.com/office/officeart/2005/8/layout/cycle6"/>
    <dgm:cxn modelId="{73CD3385-5139-4730-857C-F729076308F7}" type="presParOf" srcId="{56F0B098-8A8F-4CEE-80D2-44650DE8F9FB}" destId="{1EBCE4BD-8CED-48D0-B26B-20462FD7B3F7}" srcOrd="6" destOrd="0" presId="urn:microsoft.com/office/officeart/2005/8/layout/cycle6"/>
    <dgm:cxn modelId="{2C2F40B2-6FDB-431F-954D-CF3BF1D5298E}" type="presParOf" srcId="{56F0B098-8A8F-4CEE-80D2-44650DE8F9FB}" destId="{BDA2C9D3-736E-4CE4-B68B-FE81828CA17D}" srcOrd="7" destOrd="0" presId="urn:microsoft.com/office/officeart/2005/8/layout/cycle6"/>
    <dgm:cxn modelId="{32DF405C-935A-49D1-AD2A-42E3B6826AC1}" type="presParOf" srcId="{56F0B098-8A8F-4CEE-80D2-44650DE8F9FB}" destId="{8AA5D907-EBDD-49F6-83CE-D2ADB20C4919}" srcOrd="8" destOrd="0" presId="urn:microsoft.com/office/officeart/2005/8/layout/cycle6"/>
    <dgm:cxn modelId="{960528B4-417E-4434-9563-D225361A949D}" type="presParOf" srcId="{56F0B098-8A8F-4CEE-80D2-44650DE8F9FB}" destId="{CAF76E37-0CDB-4182-BC25-68BB6F2F49D1}" srcOrd="9" destOrd="0" presId="urn:microsoft.com/office/officeart/2005/8/layout/cycle6"/>
    <dgm:cxn modelId="{B9EEAE80-2BD8-41DA-8C66-ECFCF97AD45B}" type="presParOf" srcId="{56F0B098-8A8F-4CEE-80D2-44650DE8F9FB}" destId="{5E951FDB-D36D-4B8D-A3D0-B12A0A039968}" srcOrd="10" destOrd="0" presId="urn:microsoft.com/office/officeart/2005/8/layout/cycle6"/>
    <dgm:cxn modelId="{C3816701-7C37-45B5-864A-6B2DC6D243DA}" type="presParOf" srcId="{56F0B098-8A8F-4CEE-80D2-44650DE8F9FB}" destId="{E4D42765-F084-4F9E-AAA2-993F5B84EE8D}" srcOrd="11" destOrd="0" presId="urn:microsoft.com/office/officeart/2005/8/layout/cycle6"/>
    <dgm:cxn modelId="{3534A4D2-F38F-493B-A0BD-CE30BBE448AB}" type="presParOf" srcId="{56F0B098-8A8F-4CEE-80D2-44650DE8F9FB}" destId="{C591EA43-B96B-469A-B5B9-3E358BF81F60}" srcOrd="12" destOrd="0" presId="urn:microsoft.com/office/officeart/2005/8/layout/cycle6"/>
    <dgm:cxn modelId="{BBB953D1-0F63-412D-ABA2-670E4AAB934E}" type="presParOf" srcId="{56F0B098-8A8F-4CEE-80D2-44650DE8F9FB}" destId="{C6C2B41F-0C68-4354-B072-B397FACEC6D6}" srcOrd="13" destOrd="0" presId="urn:microsoft.com/office/officeart/2005/8/layout/cycle6"/>
    <dgm:cxn modelId="{0C8200F1-62B7-45FC-AACC-05903D2DC0BC}" type="presParOf" srcId="{56F0B098-8A8F-4CEE-80D2-44650DE8F9FB}" destId="{216AE5A2-C9FB-41F6-B6EF-E8B03949092D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172FF6-E4CB-496D-A218-93AE07B38E10}">
      <dsp:nvSpPr>
        <dsp:cNvPr id="0" name=""/>
        <dsp:cNvSpPr/>
      </dsp:nvSpPr>
      <dsp:spPr>
        <a:xfrm>
          <a:off x="2380505" y="2370"/>
          <a:ext cx="1334988" cy="8677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 val="49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kern="1200" dirty="0" err="1">
              <a:solidFill>
                <a:schemeClr val="accent4">
                  <a:lumMod val="50000"/>
                </a:schemeClr>
              </a:solidFill>
              <a:latin typeface="서울남산 장체M" panose="02020603020101020101" pitchFamily="18" charset="-127"/>
              <a:ea typeface="서울남산 장체M" panose="02020603020101020101" pitchFamily="18" charset="-127"/>
              <a:cs typeface="함초롬돋움" panose="02030504000101010101" pitchFamily="18" charset="-127"/>
            </a:rPr>
            <a:t>유형성</a:t>
          </a:r>
          <a:endParaRPr lang="ko-KR" altLang="en-US" sz="2000" b="1" kern="1200" dirty="0">
            <a:solidFill>
              <a:schemeClr val="accent4">
                <a:lumMod val="50000"/>
              </a:schemeClr>
            </a:solidFill>
            <a:latin typeface="서울남산 장체M" panose="02020603020101020101" pitchFamily="18" charset="-127"/>
            <a:ea typeface="서울남산 장체M" panose="02020603020101020101" pitchFamily="18" charset="-127"/>
            <a:cs typeface="함초롬돋움" panose="02030504000101010101" pitchFamily="18" charset="-127"/>
          </a:endParaRPr>
        </a:p>
      </dsp:txBody>
      <dsp:txXfrm>
        <a:off x="2422865" y="44730"/>
        <a:ext cx="1250268" cy="783022"/>
      </dsp:txXfrm>
    </dsp:sp>
    <dsp:sp modelId="{BF4973A4-E996-4FC7-AF62-0A35E122EC86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2409246" y="137594"/>
              </a:moveTo>
              <a:arcTo wR="1732594" hR="1732594" stAng="17579295" swAng="195999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077600-1F26-4200-9837-261E2B207964}">
      <dsp:nvSpPr>
        <dsp:cNvPr id="0" name=""/>
        <dsp:cNvSpPr/>
      </dsp:nvSpPr>
      <dsp:spPr>
        <a:xfrm>
          <a:off x="4028301" y="1199563"/>
          <a:ext cx="1334988" cy="8677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 val="49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kern="1200" dirty="0" err="1">
              <a:solidFill>
                <a:schemeClr val="accent4">
                  <a:lumMod val="50000"/>
                </a:schemeClr>
              </a:solidFill>
              <a:latin typeface="서울남산 장체M" panose="02020603020101020101" pitchFamily="18" charset="-127"/>
              <a:ea typeface="서울남산 장체M" panose="02020603020101020101" pitchFamily="18" charset="-127"/>
              <a:cs typeface="함초롬돋움" panose="02030504000101010101" pitchFamily="18" charset="-127"/>
            </a:rPr>
            <a:t>공감성</a:t>
          </a:r>
          <a:endParaRPr lang="ko-KR" altLang="en-US" sz="2000" b="1" kern="1200" dirty="0">
            <a:solidFill>
              <a:schemeClr val="accent4">
                <a:lumMod val="50000"/>
              </a:schemeClr>
            </a:solidFill>
            <a:latin typeface="서울남산 장체M" panose="02020603020101020101" pitchFamily="18" charset="-127"/>
            <a:ea typeface="서울남산 장체M" panose="02020603020101020101" pitchFamily="18" charset="-127"/>
            <a:cs typeface="함초롬돋움" panose="02030504000101010101" pitchFamily="18" charset="-127"/>
          </a:endParaRPr>
        </a:p>
      </dsp:txBody>
      <dsp:txXfrm>
        <a:off x="4070661" y="1241923"/>
        <a:ext cx="1250268" cy="783022"/>
      </dsp:txXfrm>
    </dsp:sp>
    <dsp:sp modelId="{33966DF5-2CD2-4F52-B964-AD047B7D1A4E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3462825" y="1642133"/>
              </a:moveTo>
              <a:arcTo wR="1732594" hR="1732594" stAng="21420430" swAng="219511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BCE4BD-8CED-48D0-B26B-20462FD7B3F7}">
      <dsp:nvSpPr>
        <dsp:cNvPr id="0" name=""/>
        <dsp:cNvSpPr/>
      </dsp:nvSpPr>
      <dsp:spPr>
        <a:xfrm>
          <a:off x="3398899" y="3136663"/>
          <a:ext cx="1334988" cy="8677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 val="49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kern="1200" dirty="0">
              <a:solidFill>
                <a:schemeClr val="accent4">
                  <a:lumMod val="50000"/>
                </a:schemeClr>
              </a:solidFill>
              <a:latin typeface="서울남산 장체M" panose="02020603020101020101" pitchFamily="18" charset="-127"/>
              <a:ea typeface="서울남산 장체M" panose="02020603020101020101" pitchFamily="18" charset="-127"/>
              <a:cs typeface="함초롬돋움" panose="02030504000101010101" pitchFamily="18" charset="-127"/>
            </a:rPr>
            <a:t>확신성</a:t>
          </a:r>
        </a:p>
      </dsp:txBody>
      <dsp:txXfrm>
        <a:off x="3441259" y="3179023"/>
        <a:ext cx="1250268" cy="783022"/>
      </dsp:txXfrm>
    </dsp:sp>
    <dsp:sp modelId="{8AA5D907-EBDD-49F6-83CE-D2ADB20C4919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2076618" y="3430690"/>
              </a:moveTo>
              <a:arcTo wR="1732594" hR="1732594" stAng="4712834" swAng="137433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F76E37-0CDB-4182-BC25-68BB6F2F49D1}">
      <dsp:nvSpPr>
        <dsp:cNvPr id="0" name=""/>
        <dsp:cNvSpPr/>
      </dsp:nvSpPr>
      <dsp:spPr>
        <a:xfrm>
          <a:off x="1362112" y="3136663"/>
          <a:ext cx="1334988" cy="8677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 val="49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kern="1200" dirty="0" err="1">
              <a:solidFill>
                <a:schemeClr val="accent4">
                  <a:lumMod val="50000"/>
                </a:schemeClr>
              </a:solidFill>
              <a:latin typeface="서울남산 장체M" panose="02020603020101020101" pitchFamily="18" charset="-127"/>
              <a:ea typeface="서울남산 장체M" panose="02020603020101020101" pitchFamily="18" charset="-127"/>
              <a:cs typeface="함초롬돋움" panose="02030504000101010101" pitchFamily="18" charset="-127"/>
            </a:rPr>
            <a:t>응답성</a:t>
          </a:r>
          <a:endParaRPr lang="ko-KR" altLang="en-US" sz="2000" b="1" kern="1200" dirty="0">
            <a:solidFill>
              <a:schemeClr val="accent4">
                <a:lumMod val="50000"/>
              </a:schemeClr>
            </a:solidFill>
            <a:latin typeface="서울남산 장체M" panose="02020603020101020101" pitchFamily="18" charset="-127"/>
            <a:ea typeface="서울남산 장체M" panose="02020603020101020101" pitchFamily="18" charset="-127"/>
            <a:cs typeface="함초롬돋움" panose="02030504000101010101" pitchFamily="18" charset="-127"/>
          </a:endParaRPr>
        </a:p>
      </dsp:txBody>
      <dsp:txXfrm>
        <a:off x="1404472" y="3179023"/>
        <a:ext cx="1250268" cy="783022"/>
      </dsp:txXfrm>
    </dsp:sp>
    <dsp:sp modelId="{E4D42765-F084-4F9E-AAA2-993F5B84EE8D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289352" y="2691206"/>
              </a:moveTo>
              <a:arcTo wR="1732594" hR="1732594" stAng="8784456" swAng="219511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91EA43-B96B-469A-B5B9-3E358BF81F60}">
      <dsp:nvSpPr>
        <dsp:cNvPr id="0" name=""/>
        <dsp:cNvSpPr/>
      </dsp:nvSpPr>
      <dsp:spPr>
        <a:xfrm>
          <a:off x="732710" y="1199563"/>
          <a:ext cx="1334988" cy="8677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000" b="1" kern="1200" dirty="0">
              <a:solidFill>
                <a:schemeClr val="accent4">
                  <a:lumMod val="50000"/>
                </a:schemeClr>
              </a:solidFill>
              <a:latin typeface="서울남산 장체M" panose="02020603020101020101" pitchFamily="18" charset="-127"/>
              <a:ea typeface="서울남산 장체M" panose="02020603020101020101" pitchFamily="18" charset="-127"/>
              <a:cs typeface="함초롬돋움" panose="02030504000101010101" pitchFamily="18" charset="-127"/>
            </a:rPr>
            <a:t>신뢰성</a:t>
          </a:r>
        </a:p>
      </dsp:txBody>
      <dsp:txXfrm>
        <a:off x="775070" y="1241923"/>
        <a:ext cx="1250268" cy="783022"/>
      </dsp:txXfrm>
    </dsp:sp>
    <dsp:sp modelId="{216AE5A2-C9FB-41F6-B6EF-E8B03949092D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302072" y="755102"/>
              </a:moveTo>
              <a:arcTo wR="1732594" hR="1732594" stAng="12860714" swAng="195999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E4E5C10-5E25-4E46-8BC9-B83D9F5175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2BABE0-5B33-4043-A2DA-5A442811846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5F11D3E-6366-485A-9361-A9B7593DE5FD}" type="datetimeFigureOut">
              <a:rPr lang="ko-KR" altLang="en-US"/>
              <a:pPr>
                <a:defRPr/>
              </a:pPr>
              <a:t>2022-05-10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DDD59BE7-FC8E-4430-8381-7FD4FD6D82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B3E77A77-7FA4-4993-9474-AE782C8724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78B15C-0F31-4751-A78F-9779859C66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75473D-4FC7-43EE-9B77-2FDF43BE4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FCB781F-60A7-4D00-BA41-95CD8DFD827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971FBEAB-98BC-4DA1-96BA-6AAEB9F633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A4D08442-D2B7-49E8-9BF7-A353512244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87A4D3DD-4D45-40C6-BA96-28AF945B5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F29FB0F-89F6-4AE2-A63E-DA8FEB0655B3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>
            <a:extLst>
              <a:ext uri="{FF2B5EF4-FFF2-40B4-BE49-F238E27FC236}">
                <a16:creationId xmlns:a16="http://schemas.microsoft.com/office/drawing/2014/main" id="{0E8AEED7-E73A-4DB8-A8CD-A6615E9F6E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슬라이드 노트 개체 틀 2">
            <a:extLst>
              <a:ext uri="{FF2B5EF4-FFF2-40B4-BE49-F238E27FC236}">
                <a16:creationId xmlns:a16="http://schemas.microsoft.com/office/drawing/2014/main" id="{684C18B6-2DD3-494F-9265-813434F7863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1268" name="슬라이드 번호 개체 틀 3">
            <a:extLst>
              <a:ext uri="{FF2B5EF4-FFF2-40B4-BE49-F238E27FC236}">
                <a16:creationId xmlns:a16="http://schemas.microsoft.com/office/drawing/2014/main" id="{244DBD90-99F1-45A2-A460-2BB45BFCA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59EDE3F-13E8-4765-98E6-85DFC237E5D1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A14D5CDA-0BC2-4B24-AD06-2B13056ABF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6E02CDDA-DFD2-44D0-8F6D-B5A79BCE54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41A51BAC-6E5F-48F6-8224-8B09113B9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DB94928-03A1-40AA-84DE-C914B6556A88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282F759F-6499-4D69-847D-CAC77821EA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151B4189-9F03-4C06-AF8E-7ED1AB2751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680A6C29-C1F0-432D-B1ED-666A401AA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577D2FE-A9D8-4F3A-9163-AC14ED80D1A9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470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282F759F-6499-4D69-847D-CAC77821EA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151B4189-9F03-4C06-AF8E-7ED1AB2751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680A6C29-C1F0-432D-B1ED-666A401AA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577D2FE-A9D8-4F3A-9163-AC14ED80D1A9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282F759F-6499-4D69-847D-CAC77821EA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151B4189-9F03-4C06-AF8E-7ED1AB2751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680A6C29-C1F0-432D-B1ED-666A401AA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577D2FE-A9D8-4F3A-9163-AC14ED80D1A9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594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282F759F-6499-4D69-847D-CAC77821EA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151B4189-9F03-4C06-AF8E-7ED1AB2751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680A6C29-C1F0-432D-B1ED-666A401AA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577D2FE-A9D8-4F3A-9163-AC14ED80D1A9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96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282F759F-6499-4D69-847D-CAC77821EA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151B4189-9F03-4C06-AF8E-7ED1AB2751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680A6C29-C1F0-432D-B1ED-666A401AA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577D2FE-A9D8-4F3A-9163-AC14ED80D1A9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551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282F759F-6499-4D69-847D-CAC77821EA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151B4189-9F03-4C06-AF8E-7ED1AB2751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680A6C29-C1F0-432D-B1ED-666A401AA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577D2FE-A9D8-4F3A-9163-AC14ED80D1A9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331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282F759F-6499-4D69-847D-CAC77821EA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151B4189-9F03-4C06-AF8E-7ED1AB2751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680A6C29-C1F0-432D-B1ED-666A401AA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577D2FE-A9D8-4F3A-9163-AC14ED80D1A9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446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282F759F-6499-4D69-847D-CAC77821EA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151B4189-9F03-4C06-AF8E-7ED1AB2751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680A6C29-C1F0-432D-B1ED-666A401AA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577D2FE-A9D8-4F3A-9163-AC14ED80D1A9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402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282F759F-6499-4D69-847D-CAC77821EA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151B4189-9F03-4C06-AF8E-7ED1AB2751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680A6C29-C1F0-432D-B1ED-666A401AA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577D2FE-A9D8-4F3A-9163-AC14ED80D1A9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587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>
            <a:extLst>
              <a:ext uri="{FF2B5EF4-FFF2-40B4-BE49-F238E27FC236}">
                <a16:creationId xmlns:a16="http://schemas.microsoft.com/office/drawing/2014/main" id="{282F759F-6499-4D69-847D-CAC77821EA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>
            <a:extLst>
              <a:ext uri="{FF2B5EF4-FFF2-40B4-BE49-F238E27FC236}">
                <a16:creationId xmlns:a16="http://schemas.microsoft.com/office/drawing/2014/main" id="{151B4189-9F03-4C06-AF8E-7ED1AB2751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5364" name="슬라이드 번호 개체 틀 3">
            <a:extLst>
              <a:ext uri="{FF2B5EF4-FFF2-40B4-BE49-F238E27FC236}">
                <a16:creationId xmlns:a16="http://schemas.microsoft.com/office/drawing/2014/main" id="{680A6C29-C1F0-432D-B1ED-666A401AA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577D2FE-A9D8-4F3A-9163-AC14ED80D1A9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7637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9D2695-D840-4759-B21B-DA39D41B8B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8F26F6A9-CD63-45A7-B6EC-F365EE3A449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86B357F-B6A5-4B41-825F-8BBF46AC6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1B1484B-6894-4044-AA8F-E2532EA5745C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9D2695-D840-4759-B21B-DA39D41B8B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8F26F6A9-CD63-45A7-B6EC-F365EE3A449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86B357F-B6A5-4B41-825F-8BBF46AC6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1B1484B-6894-4044-AA8F-E2532EA5745C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827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9D2695-D840-4759-B21B-DA39D41B8B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8F26F6A9-CD63-45A7-B6EC-F365EE3A449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86B357F-B6A5-4B41-825F-8BBF46AC6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1B1484B-6894-4044-AA8F-E2532EA5745C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953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9D2695-D840-4759-B21B-DA39D41B8B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8F26F6A9-CD63-45A7-B6EC-F365EE3A449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86B357F-B6A5-4B41-825F-8BBF46AC6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1B1484B-6894-4044-AA8F-E2532EA5745C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195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CB781F-60A7-4D00-BA41-95CD8DFD8274}" type="slidenum">
              <a:rPr lang="ko-KR" altLang="en-US" smtClean="0"/>
              <a:pPr>
                <a:defRPr/>
              </a:pPr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312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F6BC2186-3A78-4EE6-B3C6-FAB277D4E0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672763" y="0"/>
            <a:ext cx="1519237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9CA26D18-CDB3-486A-B9D7-3C29D3E1883E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149475"/>
            <a:ext cx="12192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73FC0895-4AE1-41E7-A61A-BCF4956891EB}"/>
              </a:ext>
            </a:extLst>
          </p:cNvPr>
          <p:cNvSpPr>
            <a:spLocks/>
          </p:cNvSpPr>
          <p:nvPr/>
        </p:nvSpPr>
        <p:spPr bwMode="gray">
          <a:xfrm>
            <a:off x="-12700" y="2138363"/>
            <a:ext cx="10687050" cy="22717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724727" y="2539998"/>
            <a:ext cx="7740073" cy="1782618"/>
          </a:xfrm>
        </p:spPr>
        <p:txBody>
          <a:bodyPr anchor="ctr"/>
          <a:lstStyle>
            <a:lvl1pPr marL="0" indent="0" algn="r"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650018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74CBA9-225C-471B-89A2-89B3024361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93D0AC0-D18C-471A-9151-47C39BAE703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212012-BD4B-4BFB-8A8F-F5C9E00C8105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8260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2853028"/>
            <a:ext cx="10515600" cy="1500187"/>
          </a:xfrm>
        </p:spPr>
        <p:txBody>
          <a:bodyPr anchor="b"/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838B7E-EE4C-4E75-803C-1E8EE9309A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5CE4D37-1949-4C3B-8D93-5148D679128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03CE9-964D-4EA1-8AC1-31F514270585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59299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2717" y="383056"/>
            <a:ext cx="10515600" cy="54927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0365" y="1210797"/>
            <a:ext cx="5827374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20365" y="2029946"/>
            <a:ext cx="5827374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652247" y="1206034"/>
            <a:ext cx="5856070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652247" y="2029946"/>
            <a:ext cx="5856070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94A5295-28CE-4B2F-88B4-0E2AD16616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A8FC626-956F-4582-AA29-4D19356C857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557401-5179-4519-B6CB-DAFBD3D937C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8684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3693" y="381000"/>
            <a:ext cx="8940800" cy="563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D3BA3D6-90D8-4792-A86E-F2952BC6AD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35D61C8-B0D4-43D9-AB52-DB2C2E01F90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5C2622-9685-4370-9302-E86614ACFCD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02070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0C10373-7EC8-4544-ACDF-BCEB83D8E8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C320627-1304-4A6E-9D30-B6D4740F019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5CD29-BEEC-40CC-AD68-44BCAB2908E1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0722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5">
            <a:extLst>
              <a:ext uri="{FF2B5EF4-FFF2-40B4-BE49-F238E27FC236}">
                <a16:creationId xmlns:a16="http://schemas.microsoft.com/office/drawing/2014/main" id="{4496B653-743F-4040-BD20-AD5E2D647975}"/>
              </a:ext>
            </a:extLst>
          </p:cNvPr>
          <p:cNvSpPr>
            <a:spLocks/>
          </p:cNvSpPr>
          <p:nvPr/>
        </p:nvSpPr>
        <p:spPr bwMode="gray">
          <a:xfrm>
            <a:off x="-12700" y="344488"/>
            <a:ext cx="10926763" cy="6334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7" name="Group 16">
            <a:extLst>
              <a:ext uri="{FF2B5EF4-FFF2-40B4-BE49-F238E27FC236}">
                <a16:creationId xmlns:a16="http://schemas.microsoft.com/office/drawing/2014/main" id="{3CA3E682-1F4F-46EE-9DF9-3B5663251A5D}"/>
              </a:ext>
            </a:extLst>
          </p:cNvPr>
          <p:cNvGrpSpPr>
            <a:grpSpLocks/>
          </p:cNvGrpSpPr>
          <p:nvPr/>
        </p:nvGrpSpPr>
        <p:grpSpPr bwMode="auto">
          <a:xfrm>
            <a:off x="10871200" y="0"/>
            <a:ext cx="1320800" cy="6858000"/>
            <a:chOff x="5040" y="0"/>
            <a:chExt cx="720" cy="4320"/>
          </a:xfrm>
        </p:grpSpPr>
        <p:sp>
          <p:nvSpPr>
            <p:cNvPr id="1036" name="Rectangle 17">
              <a:extLst>
                <a:ext uri="{FF2B5EF4-FFF2-40B4-BE49-F238E27FC236}">
                  <a16:creationId xmlns:a16="http://schemas.microsoft.com/office/drawing/2014/main" id="{689EE3CB-807F-4FF6-B6FD-FAF354E8E84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7" name="Rectangle 18">
              <a:extLst>
                <a:ext uri="{FF2B5EF4-FFF2-40B4-BE49-F238E27FC236}">
                  <a16:creationId xmlns:a16="http://schemas.microsoft.com/office/drawing/2014/main" id="{E94BF50D-DB93-424A-A380-78CE0FA5AC3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28" name="Rectangle 3">
            <a:extLst>
              <a:ext uri="{FF2B5EF4-FFF2-40B4-BE49-F238E27FC236}">
                <a16:creationId xmlns:a16="http://schemas.microsoft.com/office/drawing/2014/main" id="{4AD569CC-7397-405C-9242-42DA8799F6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076325"/>
            <a:ext cx="1151731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C1727CE-5077-46D5-A7A1-A274C2311D7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8450" y="6510338"/>
            <a:ext cx="2844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FB0F8D1-78BD-437E-84EE-DC078CB78A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53800" y="6526213"/>
            <a:ext cx="609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fld id="{0A5E0327-B701-4ECD-AB4C-C2C549A6E57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grpSp>
        <p:nvGrpSpPr>
          <p:cNvPr id="1031" name="Group 22">
            <a:extLst>
              <a:ext uri="{FF2B5EF4-FFF2-40B4-BE49-F238E27FC236}">
                <a16:creationId xmlns:a16="http://schemas.microsoft.com/office/drawing/2014/main" id="{1132BA78-282B-4221-A75F-E795FF8E3CC3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300038"/>
            <a:ext cx="684212" cy="661987"/>
            <a:chOff x="18" y="144"/>
            <a:chExt cx="510" cy="480"/>
          </a:xfrm>
        </p:grpSpPr>
        <p:sp>
          <p:nvSpPr>
            <p:cNvPr id="1033" name="AutoShape 23">
              <a:extLst>
                <a:ext uri="{FF2B5EF4-FFF2-40B4-BE49-F238E27FC236}">
                  <a16:creationId xmlns:a16="http://schemas.microsoft.com/office/drawing/2014/main" id="{F5671F4F-2780-489A-BF04-F5A0EC2B758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4" name="AutoShape 24">
              <a:extLst>
                <a:ext uri="{FF2B5EF4-FFF2-40B4-BE49-F238E27FC236}">
                  <a16:creationId xmlns:a16="http://schemas.microsoft.com/office/drawing/2014/main" id="{B27A3882-F933-4667-AB10-6DC04D70C9C7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5" name="AutoShape 25">
              <a:extLst>
                <a:ext uri="{FF2B5EF4-FFF2-40B4-BE49-F238E27FC236}">
                  <a16:creationId xmlns:a16="http://schemas.microsoft.com/office/drawing/2014/main" id="{8D589CAF-8548-44A5-87C0-CD5C9569100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385"/>
              <a:ext cx="288" cy="239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32" name="Rectangle 2">
            <a:extLst>
              <a:ext uri="{FF2B5EF4-FFF2-40B4-BE49-F238E27FC236}">
                <a16:creationId xmlns:a16="http://schemas.microsoft.com/office/drawing/2014/main" id="{BA9F2644-CD20-4DFB-8102-56747BDEE1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057275" y="381000"/>
            <a:ext cx="89408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2" r:id="rId2"/>
    <p:sldLayoutId id="2147483733" r:id="rId3"/>
    <p:sldLayoutId id="2147483734" r:id="rId4"/>
    <p:sldLayoutId id="2147483735" r:id="rId5"/>
    <p:sldLayoutId id="2147483736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서울남산 장체 M" panose="02020503020101020101" pitchFamily="18" charset="-127"/>
          <a:ea typeface="서울남산 장체 M" panose="02020503020101020101" pitchFamily="18" charset="-127"/>
          <a:cs typeface="+mn-cs"/>
        </a:defRPr>
      </a:lvl1pPr>
      <a:lvl2pPr marL="1793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defRPr sz="24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2pPr>
      <a:lvl3pPr marL="447675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defRPr sz="20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3pPr>
      <a:lvl4pPr marL="627063" algn="l" rtl="0" eaLnBrk="0" fontAlgn="base" latinLnBrk="1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부제목 3">
            <a:extLst>
              <a:ext uri="{FF2B5EF4-FFF2-40B4-BE49-F238E27FC236}">
                <a16:creationId xmlns:a16="http://schemas.microsoft.com/office/drawing/2014/main" id="{D24A86B9-66F7-45FD-A0E1-BE7758713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150" y="2540000"/>
            <a:ext cx="7740650" cy="1782763"/>
          </a:xfrm>
        </p:spPr>
        <p:txBody>
          <a:bodyPr/>
          <a:lstStyle/>
          <a:p>
            <a:pPr eaLnBrk="1" hangingPunct="1"/>
            <a:r>
              <a:rPr lang="en-US" altLang="ko-KR" dirty="0"/>
              <a:t>Chapter 3. </a:t>
            </a:r>
            <a:r>
              <a:rPr lang="ko-KR" altLang="en-US" dirty="0"/>
              <a:t>서비스품질과 고객만족의 이해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텍스트 개체 틀 3">
            <a:extLst>
              <a:ext uri="{FF2B5EF4-FFF2-40B4-BE49-F238E27FC236}">
                <a16:creationId xmlns:a16="http://schemas.microsoft.com/office/drawing/2014/main" id="{5403ACE6-3166-4B9F-854F-378CC06CE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marL="514350" indent="-514350" eaLnBrk="1" hangingPunct="1">
              <a:buClr>
                <a:schemeClr val="tx1"/>
              </a:buClr>
              <a:buFont typeface="Verdana" panose="020B0604030504040204" pitchFamily="34" charset="0"/>
              <a:buAutoNum type="arabicPeriod"/>
            </a:pPr>
            <a:r>
              <a:rPr lang="ko-KR" altLang="en-US" dirty="0"/>
              <a:t>고객 기대의 이해</a:t>
            </a: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3C589B-7961-4EBA-96AC-34566F1631B2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3F4BB5-1A5F-4C6A-974B-C1FC3BBBB652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BDAE4547-47F6-444A-AE1A-0B8982115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고객의 기대수준을 이해하는 것이 왜 중요할까</a:t>
            </a: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?</a:t>
            </a:r>
            <a:endParaRPr lang="ko-KR" altLang="en-US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6148" name="직사각형 9">
            <a:extLst>
              <a:ext uri="{FF2B5EF4-FFF2-40B4-BE49-F238E27FC236}">
                <a16:creationId xmlns:a16="http://schemas.microsoft.com/office/drawing/2014/main" id="{57190D57-C0F2-4C9B-9DC5-853299EE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951672-2981-4D16-82D9-69351F0047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426"/>
          <a:stretch/>
        </p:blipFill>
        <p:spPr>
          <a:xfrm>
            <a:off x="1602056" y="3336964"/>
            <a:ext cx="5841933" cy="2582597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6113761A-9375-4176-9208-C2C2E213BFF3}"/>
              </a:ext>
            </a:extLst>
          </p:cNvPr>
          <p:cNvGrpSpPr/>
          <p:nvPr/>
        </p:nvGrpSpPr>
        <p:grpSpPr>
          <a:xfrm>
            <a:off x="1382606" y="1453417"/>
            <a:ext cx="6061383" cy="1975583"/>
            <a:chOff x="1382606" y="1453417"/>
            <a:chExt cx="6705326" cy="226859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D079D26-C778-41F5-AA9C-2FEE7749A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6360" y="1453417"/>
              <a:ext cx="4781572" cy="226859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3310B62-FF8E-4B9C-893C-3F4E93C6C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82606" y="1673614"/>
              <a:ext cx="1321120" cy="1321120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FF891D3-3014-42AD-B6E2-3B9E8D128D41}"/>
              </a:ext>
            </a:extLst>
          </p:cNvPr>
          <p:cNvGrpSpPr/>
          <p:nvPr/>
        </p:nvGrpSpPr>
        <p:grpSpPr>
          <a:xfrm>
            <a:off x="8723506" y="3509207"/>
            <a:ext cx="1048464" cy="1943002"/>
            <a:chOff x="8762444" y="3797581"/>
            <a:chExt cx="1173719" cy="208073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4EFF0DB-C0FC-4F02-8485-D7800FCFA6FC}"/>
                </a:ext>
              </a:extLst>
            </p:cNvPr>
            <p:cNvSpPr txBox="1"/>
            <p:nvPr/>
          </p:nvSpPr>
          <p:spPr>
            <a:xfrm>
              <a:off x="8762444" y="3797581"/>
              <a:ext cx="11737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u="sng" dirty="0"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고객의 평가</a:t>
              </a: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2EB6B9E-67F5-4193-BCA3-4D8B308730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0919" t="9899" r="17994" b="10737"/>
            <a:stretch/>
          </p:blipFill>
          <p:spPr>
            <a:xfrm>
              <a:off x="8887240" y="4295136"/>
              <a:ext cx="924125" cy="1583183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E67C8B5-96A3-4DB0-8622-94966C5B5C7A}"/>
              </a:ext>
            </a:extLst>
          </p:cNvPr>
          <p:cNvGrpSpPr/>
          <p:nvPr/>
        </p:nvGrpSpPr>
        <p:grpSpPr>
          <a:xfrm>
            <a:off x="8598250" y="1584394"/>
            <a:ext cx="1213115" cy="1432717"/>
            <a:chOff x="8645719" y="1354438"/>
            <a:chExt cx="1213115" cy="143271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E0A213C-D02D-46DE-A838-9F9BEB4A2E44}"/>
                </a:ext>
              </a:extLst>
            </p:cNvPr>
            <p:cNvSpPr txBox="1"/>
            <p:nvPr/>
          </p:nvSpPr>
          <p:spPr>
            <a:xfrm>
              <a:off x="8685115" y="1354438"/>
              <a:ext cx="11737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u="sng" dirty="0"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고객의 평가</a:t>
              </a:r>
            </a:p>
          </p:txBody>
        </p: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83F7C2A-86A6-4F4E-A8EF-0551E543E1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6851" t="63913" r="20605" b="10737"/>
            <a:stretch/>
          </p:blipFill>
          <p:spPr>
            <a:xfrm>
              <a:off x="8645719" y="1954989"/>
              <a:ext cx="1173719" cy="832166"/>
            </a:xfrm>
            <a:prstGeom prst="rect">
              <a:avLst/>
            </a:prstGeom>
          </p:spPr>
        </p:pic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08F3B62-366B-4484-89A2-5A2A61EE445A}"/>
              </a:ext>
            </a:extLst>
          </p:cNvPr>
          <p:cNvGrpSpPr/>
          <p:nvPr/>
        </p:nvGrpSpPr>
        <p:grpSpPr>
          <a:xfrm>
            <a:off x="6403612" y="3950948"/>
            <a:ext cx="5316163" cy="1453636"/>
            <a:chOff x="6877318" y="4295137"/>
            <a:chExt cx="5316163" cy="145363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4B5A67-4C4A-4689-9E4F-594BB5EFBC59}"/>
                </a:ext>
              </a:extLst>
            </p:cNvPr>
            <p:cNvSpPr txBox="1"/>
            <p:nvPr/>
          </p:nvSpPr>
          <p:spPr>
            <a:xfrm>
              <a:off x="10409869" y="4501951"/>
              <a:ext cx="178361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i="1" dirty="0">
                  <a:solidFill>
                    <a:srgbClr val="0070C0"/>
                  </a:solidFill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실제 대기시간은 모두 </a:t>
              </a:r>
              <a:r>
                <a:rPr lang="en-US" altLang="ko-KR" sz="1400" i="1" dirty="0">
                  <a:solidFill>
                    <a:srgbClr val="0070C0"/>
                  </a:solidFill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10</a:t>
              </a:r>
              <a:r>
                <a:rPr lang="ko-KR" altLang="en-US" sz="1400" i="1" dirty="0">
                  <a:solidFill>
                    <a:srgbClr val="0070C0"/>
                  </a:solidFill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분으로 동일하나 고객의 평가가 서로 다른 이유는 고객 기대수준이 달랐기 때문</a:t>
              </a:r>
              <a:r>
                <a:rPr lang="en-US" altLang="ko-KR" sz="1400" i="1" dirty="0">
                  <a:solidFill>
                    <a:srgbClr val="0070C0"/>
                  </a:solidFill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!</a:t>
              </a:r>
              <a:endParaRPr lang="ko-KR" altLang="en-US" sz="1400" i="1" dirty="0">
                <a:solidFill>
                  <a:srgbClr val="0070C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9A28F0F-E8AB-4747-8FF8-B64AE6670150}"/>
                </a:ext>
              </a:extLst>
            </p:cNvPr>
            <p:cNvSpPr/>
            <p:nvPr/>
          </p:nvSpPr>
          <p:spPr bwMode="auto">
            <a:xfrm>
              <a:off x="6877318" y="4295137"/>
              <a:ext cx="3368357" cy="1453636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서울남산 장체 M" panose="02020503020101020101" pitchFamily="18" charset="-127"/>
                <a:ea typeface="서울남산 장체 M" panose="02020503020101020101" pitchFamily="18" charset="-127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6C37125-6016-4D3D-837A-D895A59CAA00}"/>
              </a:ext>
            </a:extLst>
          </p:cNvPr>
          <p:cNvSpPr txBox="1"/>
          <p:nvPr/>
        </p:nvSpPr>
        <p:spPr>
          <a:xfrm>
            <a:off x="1133844" y="6147878"/>
            <a:ext cx="9924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우리는 고객이 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‘</a:t>
            </a:r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기대하는 서비스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’</a:t>
            </a:r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가 무엇인지 정확히 알아야 고객만족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고객감동 서비스를 제공할 수 있음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0D53213A-A380-4426-8F93-515F347E5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 기대 개념과 기대 유형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832414CA-B74B-4E22-9A11-4C1D44D9A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○"/>
              <a:defRPr/>
            </a:pPr>
            <a:r>
              <a:rPr lang="en-US" altLang="ko-KR" sz="2000" b="0" dirty="0"/>
              <a:t> </a:t>
            </a:r>
            <a:r>
              <a:rPr lang="ko-KR" altLang="en-US" sz="2000" b="0" dirty="0"/>
              <a:t>기대의 개념 </a:t>
            </a:r>
            <a:endParaRPr lang="en-US" altLang="ko-KR" sz="2000" b="0" dirty="0"/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서비스 제공에 대해 고객이 사전에 가지는 신념으로 고객이 서비스를 평가할 때 비교 기준이 되는 표준 또는 준거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고객이 활용하는 기대의 유형은 다양하고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상황에 따라 사용하는 기대 유형이 다를 수 있음 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742950" lvl="1" indent="-28575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하지만 실제 고객들은 ＇일정 구간 형태의 </a:t>
            </a:r>
            <a:r>
              <a:rPr lang="ko-KR" altLang="en-US" sz="1800" b="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기대＇를</a:t>
            </a:r>
            <a:r>
              <a:rPr lang="ko-KR" altLang="en-US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사용한다고 보는 것이 일반적 </a:t>
            </a:r>
            <a:endParaRPr lang="en-US" altLang="ko-KR" sz="1800" b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7172" name="직사각형 9">
            <a:extLst>
              <a:ext uri="{FF2B5EF4-FFF2-40B4-BE49-F238E27FC236}">
                <a16:creationId xmlns:a16="http://schemas.microsoft.com/office/drawing/2014/main" id="{614003D6-3B9E-4401-B46B-0017FC09F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15D8C0A-D98C-4475-AB87-DE596140F5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972"/>
          <a:stretch/>
        </p:blipFill>
        <p:spPr>
          <a:xfrm>
            <a:off x="3835607" y="3008671"/>
            <a:ext cx="5858643" cy="384932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1A6122-D252-40B4-8F08-6D4F99711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750" y="5571817"/>
            <a:ext cx="1277384" cy="10053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5DD2EA-EFEB-4670-B6CC-80089DFFDCC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6270" b="19489"/>
          <a:stretch/>
        </p:blipFill>
        <p:spPr>
          <a:xfrm>
            <a:off x="2573453" y="3127680"/>
            <a:ext cx="1125979" cy="602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60637B3B-32E1-46B2-97F5-5A4928FCB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 기대 개념과 기대 유형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D9ECA1-5304-4758-A525-E0F326F78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52" y="1519412"/>
            <a:ext cx="4702777" cy="3710448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7DCEFE2-3AED-458C-A051-5313AC529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7405" y="1573776"/>
            <a:ext cx="6065684" cy="1632462"/>
          </a:xfrm>
        </p:spPr>
        <p:txBody>
          <a:bodyPr/>
          <a:lstStyle/>
          <a:p>
            <a:pPr eaLnBrk="1" hangingPunct="1">
              <a:buClr>
                <a:schemeClr val="tx1"/>
              </a:buClr>
              <a:defRPr/>
            </a:pPr>
            <a:r>
              <a:rPr lang="en-US" altLang="ko-KR" sz="2000" b="0" dirty="0"/>
              <a:t>(1) </a:t>
            </a:r>
            <a:r>
              <a:rPr lang="ko-KR" altLang="en-US" sz="2000" b="0" dirty="0"/>
              <a:t>희망 서비스 </a:t>
            </a:r>
            <a:endParaRPr lang="en-US" altLang="ko-KR" sz="2000" b="0" dirty="0"/>
          </a:p>
          <a:p>
            <a:pPr marL="742950" lvl="1" indent="-285750" latinLnBrk="0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제공받을 서비스에 대한 희망 수준을 뜻함</a:t>
            </a:r>
          </a:p>
          <a:p>
            <a:pPr marL="457200" lvl="1" latinLnBrk="0">
              <a:buClr>
                <a:schemeClr val="tx1"/>
              </a:buClr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☞ 고객이 받을 수 있고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받아야만 한다고 믿는 수준의 서비스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55F2B2B-9169-4613-B881-16996BEB11B5}"/>
              </a:ext>
            </a:extLst>
          </p:cNvPr>
          <p:cNvSpPr txBox="1">
            <a:spLocks/>
          </p:cNvSpPr>
          <p:nvPr/>
        </p:nvSpPr>
        <p:spPr bwMode="auto">
          <a:xfrm>
            <a:off x="5427405" y="2842692"/>
            <a:ext cx="6764595" cy="163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chemeClr val="tx1"/>
              </a:buClr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/>
              <a:t>적정 서비스 </a:t>
            </a:r>
            <a:endParaRPr lang="en-US" altLang="ko-KR" sz="2000" b="0" dirty="0"/>
          </a:p>
          <a:p>
            <a:pPr marL="742950" lvl="1" indent="-285750" latinLnBrk="0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적정 서비스는 고객이 불만 없이 받아들일 만한 서비스 수준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</a:p>
          <a:p>
            <a:pPr marL="457200" lvl="1" latinLnBrk="0">
              <a:buClr>
                <a:schemeClr val="tx1"/>
              </a:buClr>
              <a:defRPr/>
            </a:pP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☞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최소한의 허용 가능 기대수준 또는 수용할 수 있는 성과의 최소 수준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C97F1E6-D3D2-47B9-AC57-D95D18AB3D0D}"/>
              </a:ext>
            </a:extLst>
          </p:cNvPr>
          <p:cNvSpPr txBox="1">
            <a:spLocks/>
          </p:cNvSpPr>
          <p:nvPr/>
        </p:nvSpPr>
        <p:spPr bwMode="auto">
          <a:xfrm>
            <a:off x="5465763" y="4196292"/>
            <a:ext cx="6065684" cy="163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chemeClr val="tx1"/>
              </a:buClr>
              <a:defRPr/>
            </a:pPr>
            <a:r>
              <a:rPr lang="en-US" altLang="ko-KR" sz="2000" b="0" dirty="0"/>
              <a:t>(3) </a:t>
            </a:r>
            <a:r>
              <a:rPr lang="ko-KR" altLang="en-US" sz="2000" b="0" dirty="0"/>
              <a:t>허용 구간 </a:t>
            </a:r>
            <a:endParaRPr lang="en-US" altLang="ko-KR" sz="2000" b="0" dirty="0"/>
          </a:p>
          <a:p>
            <a:pPr marL="742950" lvl="1" indent="-285750" latinLnBrk="0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희망 서비스와 적정 서비스의 사이</a:t>
            </a:r>
          </a:p>
          <a:p>
            <a:pPr marL="457200" lvl="1" latinLnBrk="0">
              <a:buClr>
                <a:schemeClr val="tx1"/>
              </a:buClr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☞ 서비스 실패가 잘 드러나지 않는 구간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4BD663-F65C-4134-A7E2-288D1468E819}"/>
              </a:ext>
            </a:extLst>
          </p:cNvPr>
          <p:cNvSpPr txBox="1"/>
          <p:nvPr/>
        </p:nvSpPr>
        <p:spPr>
          <a:xfrm>
            <a:off x="1526283" y="5738951"/>
            <a:ext cx="91394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허용구간의 희망서비스 기대를 넘어서는 탁월한 서비스를 제공하면 고객은 만족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/</a:t>
            </a:r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감동</a:t>
            </a:r>
            <a:endParaRPr lang="en-US" altLang="ko-KR" sz="2000" dirty="0">
              <a:solidFill>
                <a:srgbClr val="C0000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algn="ctr"/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허용구간의 적정서비스 수준에도 못 미치는 서비스를 제공하면 고객은 불만족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F9B9C68D-5181-4AED-9040-4640703B5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 기대 개념과 기대 유형</a:t>
            </a:r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73D82181-CFC8-4550-94E3-94397C599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en-US" altLang="ko-KR" sz="2000" b="0" dirty="0"/>
              <a:t> </a:t>
            </a:r>
            <a:r>
              <a:rPr lang="ko-KR" altLang="en-US" sz="2000" b="0" dirty="0"/>
              <a:t>고객의 </a:t>
            </a:r>
            <a:r>
              <a:rPr lang="ko-KR" altLang="en-US" sz="2000" b="0" dirty="0">
                <a:cs typeface="함초롬돋움" panose="020B0604000101010101" pitchFamily="50" charset="-127"/>
              </a:rPr>
              <a:t>허용 구간은 여러 요인들에 의해 달라질 수 있음</a:t>
            </a:r>
            <a:endParaRPr lang="en-US" altLang="ko-KR" sz="2000" b="0" dirty="0"/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희망서비스는 잘 변화하지 않는 편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적정서비스 기대수준은 고객에 따라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상황에 따라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경쟁수준에 따라 쉽게 변화하는 편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넓은 허용구간을 가지게 되면 쉽게 불만족하지 않음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허용구간이 좁은 경우는 기대수준 충족이 더 어렵기 때문에 작은 실수라도 고객 불만을 쉽게 야기할 수 있음 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457200" lvl="1" latinLnBrk="0">
              <a:lnSpc>
                <a:spcPct val="150000"/>
              </a:lnSpc>
              <a:buClr>
                <a:schemeClr val="tx1"/>
              </a:buClr>
            </a:pP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285750" lvl="0" indent="-285750" eaLnBrk="1" hangingPunct="1">
              <a:lnSpc>
                <a:spcPct val="150000"/>
              </a:lnSpc>
              <a:buClr>
                <a:srgbClr val="003366"/>
              </a:buClr>
              <a:buFont typeface="서울남산 장체 M" pitchFamily="18" charset="-127"/>
              <a:buChar char="○"/>
            </a:pPr>
            <a:r>
              <a:rPr lang="en-US" altLang="ko-KR" sz="2000" b="0" dirty="0">
                <a:solidFill>
                  <a:srgbClr val="003366"/>
                </a:solidFill>
              </a:rPr>
              <a:t> </a:t>
            </a:r>
            <a:r>
              <a:rPr lang="ko-KR" altLang="en-US" sz="2000" b="0" dirty="0">
                <a:solidFill>
                  <a:srgbClr val="003366"/>
                </a:solidFill>
              </a:rPr>
              <a:t>고객의 </a:t>
            </a:r>
            <a:r>
              <a:rPr lang="ko-KR" altLang="en-US" sz="2000" b="0" dirty="0">
                <a:solidFill>
                  <a:srgbClr val="003366"/>
                </a:solidFill>
                <a:cs typeface="함초롬돋움" panose="020B0604000101010101" pitchFamily="50" charset="-127"/>
              </a:rPr>
              <a:t>허용 구간은 서비스 속성 또는 차원에 따라 달라짐</a:t>
            </a:r>
            <a:endParaRPr lang="en-US" altLang="ko-KR" sz="2000" b="0" dirty="0">
              <a:solidFill>
                <a:srgbClr val="003366"/>
              </a:solidFill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중요한 서비스 속성일 수록 기대수준이 더 높아 허용구간의 위치가 높아짐</a:t>
            </a:r>
            <a:endParaRPr lang="en-US" altLang="ko-KR" sz="1800" b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허용구간의 넓이는 더 좁아져 작은 실수도 고객 불만을 쉽게 야기할 수 있음 </a:t>
            </a:r>
            <a:endParaRPr lang="en-US" altLang="ko-KR" sz="1800" b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800" b="0" dirty="0"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 dirty="0"/>
          </a:p>
        </p:txBody>
      </p:sp>
      <p:sp>
        <p:nvSpPr>
          <p:cNvPr id="10244" name="직사각형 9">
            <a:extLst>
              <a:ext uri="{FF2B5EF4-FFF2-40B4-BE49-F238E27FC236}">
                <a16:creationId xmlns:a16="http://schemas.microsoft.com/office/drawing/2014/main" id="{9797D368-0D81-4E9E-BCBE-B5A627F97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10C34F-4429-463F-B22D-CCC7A0DC7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821" y="3700462"/>
            <a:ext cx="3456684" cy="27272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980FE697-BF8A-465E-8D81-563E8A718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2)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 기대에 영향을 미치는 요인</a:t>
            </a:r>
          </a:p>
        </p:txBody>
      </p:sp>
      <p:sp>
        <p:nvSpPr>
          <p:cNvPr id="12292" name="직사각형 9">
            <a:extLst>
              <a:ext uri="{FF2B5EF4-FFF2-40B4-BE49-F238E27FC236}">
                <a16:creationId xmlns:a16="http://schemas.microsoft.com/office/drawing/2014/main" id="{D00B699E-48DB-4637-8CE8-FD361C0BF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5B187A61-F01F-43C1-B7BC-888DC249A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6673" y="1393474"/>
            <a:ext cx="11129714" cy="1456035"/>
          </a:xfrm>
        </p:spPr>
        <p:txBody>
          <a:bodyPr/>
          <a:lstStyle/>
          <a:p>
            <a:pPr eaLnBrk="1" hangingPunct="1">
              <a:buClr>
                <a:schemeClr val="tx1"/>
              </a:buClr>
              <a:defRPr/>
            </a:pPr>
            <a:r>
              <a:rPr lang="en-US" altLang="ko-KR" sz="2000" b="0" dirty="0"/>
              <a:t>(1) </a:t>
            </a:r>
            <a:r>
              <a:rPr lang="ko-KR" altLang="en-US" sz="2000" b="0" dirty="0"/>
              <a:t>내적 요인</a:t>
            </a:r>
            <a:endParaRPr lang="en-US" altLang="ko-KR" sz="2000" b="0" dirty="0"/>
          </a:p>
          <a:p>
            <a:pPr marL="742950" lvl="1" indent="-285750" latinLnBrk="0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개인적인 욕구 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–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하위 차원의 욕구가 충족될 경우 상위 차원의 더 높은 욕구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/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기대 가짐 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742950" lvl="1" indent="-285750" latinLnBrk="0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관여도가 높은 서비스일수록 허용구간은 </a:t>
            </a:r>
            <a:r>
              <a:rPr lang="ko-KR" altLang="en-US" sz="18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좁아짐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742950" lvl="1" indent="-285750" latinLnBrk="0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과거 경험이 많을 수록 기대수준은 높아지는 경향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F428C79-BE0A-43BD-8D8C-D8DA4BE00677}"/>
              </a:ext>
            </a:extLst>
          </p:cNvPr>
          <p:cNvSpPr txBox="1">
            <a:spLocks/>
          </p:cNvSpPr>
          <p:nvPr/>
        </p:nvSpPr>
        <p:spPr bwMode="auto">
          <a:xfrm>
            <a:off x="1256674" y="2907948"/>
            <a:ext cx="11129714" cy="1456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chemeClr val="tx1"/>
              </a:buClr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/>
              <a:t>외적 요인</a:t>
            </a:r>
            <a:endParaRPr lang="en-US" altLang="ko-KR" sz="2000" b="0" dirty="0"/>
          </a:p>
          <a:p>
            <a:pPr marL="742950" lvl="1" indent="-285750" latinLnBrk="0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경쟁적 대안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사회적 상황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구전 효과 등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742950" lvl="1" indent="-285750" latinLnBrk="0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경쟁자가 많은 경우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다른 사람들과 함께 서비스를 이용하는 경우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다른 사람들이 기대까지 반영하여 허용구간은 </a:t>
            </a:r>
            <a:r>
              <a:rPr lang="ko-KR" altLang="en-US" sz="180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좁아짐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742950" lvl="1" indent="-285750" latinLnBrk="0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구전은 서비스 기대에 가장 강하게 영향 미침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2C7E5D4-4919-45A4-8B04-7520EEA1BF29}"/>
              </a:ext>
            </a:extLst>
          </p:cNvPr>
          <p:cNvSpPr txBox="1">
            <a:spLocks/>
          </p:cNvSpPr>
          <p:nvPr/>
        </p:nvSpPr>
        <p:spPr bwMode="auto">
          <a:xfrm>
            <a:off x="1259264" y="4439503"/>
            <a:ext cx="10726779" cy="163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chemeClr val="tx1"/>
              </a:buClr>
              <a:defRPr/>
            </a:pPr>
            <a:r>
              <a:rPr lang="en-US" altLang="ko-KR" sz="2000" b="0" dirty="0">
                <a:solidFill>
                  <a:srgbClr val="FF0000"/>
                </a:solidFill>
              </a:rPr>
              <a:t>(3) </a:t>
            </a:r>
            <a:r>
              <a:rPr lang="ko-KR" altLang="en-US" sz="2000" b="0" dirty="0">
                <a:solidFill>
                  <a:srgbClr val="FF0000"/>
                </a:solidFill>
              </a:rPr>
              <a:t>상황적 요인</a:t>
            </a:r>
            <a:endParaRPr lang="en-US" altLang="ko-KR" sz="2000" b="0" dirty="0">
              <a:solidFill>
                <a:srgbClr val="FF0000"/>
              </a:solidFill>
            </a:endParaRPr>
          </a:p>
          <a:p>
            <a:pPr marL="742950" lvl="1" indent="-285750" latinLnBrk="0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solidFill>
                  <a:srgbClr val="FF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구매동기</a:t>
            </a:r>
            <a:r>
              <a:rPr lang="en-US" altLang="ko-KR" sz="1800" dirty="0">
                <a:solidFill>
                  <a:srgbClr val="FF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solidFill>
                  <a:srgbClr val="FF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소비자의 기분</a:t>
            </a:r>
            <a:r>
              <a:rPr lang="en-US" altLang="ko-KR" sz="1800" dirty="0">
                <a:solidFill>
                  <a:srgbClr val="FF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  <a:endParaRPr lang="ko-KR" altLang="en-US" sz="1800" dirty="0">
              <a:solidFill>
                <a:srgbClr val="FF000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457200" lvl="1" latinLnBrk="0">
              <a:buClr>
                <a:schemeClr val="tx1"/>
              </a:buClr>
              <a:defRPr/>
            </a:pPr>
            <a:r>
              <a:rPr lang="ko-KR" altLang="en-US" sz="1800" dirty="0">
                <a:solidFill>
                  <a:srgbClr val="FF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☞ 서비스 실패가 잘 드러나지 않는 구간</a:t>
            </a:r>
            <a:endParaRPr lang="en-US" altLang="ko-KR" sz="1800" dirty="0">
              <a:solidFill>
                <a:srgbClr val="FF000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134032F-1E06-43D6-B84A-0447834C079D}"/>
              </a:ext>
            </a:extLst>
          </p:cNvPr>
          <p:cNvSpPr txBox="1">
            <a:spLocks/>
          </p:cNvSpPr>
          <p:nvPr/>
        </p:nvSpPr>
        <p:spPr bwMode="auto">
          <a:xfrm>
            <a:off x="1256673" y="5737575"/>
            <a:ext cx="11015536" cy="112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Clr>
                <a:schemeClr val="tx1"/>
              </a:buClr>
              <a:defRPr/>
            </a:pPr>
            <a:r>
              <a:rPr lang="en-US" altLang="ko-KR" sz="2000" b="0" dirty="0">
                <a:solidFill>
                  <a:srgbClr val="FF0000"/>
                </a:solidFill>
              </a:rPr>
              <a:t>(4) </a:t>
            </a:r>
            <a:r>
              <a:rPr lang="ko-KR" altLang="en-US" sz="2000" b="0" dirty="0">
                <a:solidFill>
                  <a:srgbClr val="FF0000"/>
                </a:solidFill>
              </a:rPr>
              <a:t>기업 요인</a:t>
            </a:r>
            <a:endParaRPr lang="ko-KR" altLang="en-US" sz="1800" b="0" dirty="0">
              <a:solidFill>
                <a:srgbClr val="FF0000"/>
              </a:solidFill>
              <a:cs typeface="함초롬돋움" panose="020B0604000101010101" pitchFamily="50" charset="-127"/>
            </a:endParaRPr>
          </a:p>
          <a:p>
            <a:pPr marL="742950" lvl="1" indent="-285750" latinLnBrk="0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solidFill>
                  <a:srgbClr val="FF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서비스 실패가 잘 드러나지 않는 구간</a:t>
            </a:r>
            <a:endParaRPr lang="en-US" altLang="ko-KR" sz="1800" dirty="0">
              <a:solidFill>
                <a:srgbClr val="FF000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텍스트 개체 틀 3">
            <a:extLst>
              <a:ext uri="{FF2B5EF4-FFF2-40B4-BE49-F238E27FC236}">
                <a16:creationId xmlns:a16="http://schemas.microsoft.com/office/drawing/2014/main" id="{5403ACE6-3166-4B9F-854F-378CC06CE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ko-KR" dirty="0"/>
              <a:t>2. </a:t>
            </a:r>
            <a:r>
              <a:rPr lang="ko-KR" altLang="en-US" dirty="0"/>
              <a:t>서비스 품질과 고객 만족의 이해 </a:t>
            </a: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3C589B-7961-4EBA-96AC-34566F1631B2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3F4BB5-1A5F-4C6A-974B-C1FC3BBBB652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6932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5F798448-71B6-402C-A5F8-45D6ADC6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 품질은 왜 중요할까</a:t>
            </a: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?</a:t>
            </a:r>
            <a:endParaRPr lang="ko-KR" altLang="en-US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3A93ADE6-6B93-4750-960F-369C0EB2B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856" y="1438191"/>
            <a:ext cx="11517312" cy="4816642"/>
          </a:xfrm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en-US" altLang="ko-KR" sz="2000" b="0" dirty="0"/>
              <a:t> </a:t>
            </a:r>
            <a:r>
              <a:rPr lang="ko-KR" altLang="en-US" sz="2000" b="0" dirty="0">
                <a:cs typeface="함초롬돋움" panose="020B0604000101010101" pitchFamily="50" charset="-127"/>
              </a:rPr>
              <a:t>고객이 서비스 품질에 대해 긍정적으로 인식할수록 고객만족도는 증가 </a:t>
            </a:r>
            <a:endParaRPr lang="en-US" altLang="ko-KR" sz="2000" b="0" dirty="0"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2000" b="0" dirty="0"/>
              <a:t> 서비스 품질이 좋으면 기업의 이익은 증대되므로 탁월한 서비스는 수익성의 원천</a:t>
            </a:r>
            <a:endParaRPr lang="en-US" altLang="ko-KR" sz="2000" b="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en-US" altLang="ko-KR" sz="2000" b="0" dirty="0"/>
              <a:t> </a:t>
            </a:r>
            <a:r>
              <a:rPr lang="ko-KR" altLang="en-US" sz="2000" b="0" dirty="0"/>
              <a:t>그럼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서비스 품질은 무엇인가</a:t>
            </a:r>
            <a:r>
              <a:rPr lang="en-US" altLang="ko-KR" sz="2000" b="0" dirty="0"/>
              <a:t>? </a:t>
            </a: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눈에 보이지 않는 매우 추상적인 개념 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관리하려면 서비스 품질 개념을 현장의 언어로 구체화 해야 함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고객들이 서비스 품질을 표현하는 단어는 여러 가지여서 서비스 품질을 한 단어로 표현하기 어려움 </a:t>
            </a:r>
            <a:r>
              <a:rPr lang="en-US" altLang="ko-KR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  <a:sym typeface="Wingdings" panose="05000000000000000000" pitchFamily="2" charset="2"/>
              </a:rPr>
              <a:t>다면적 특성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  <a:sym typeface="Wingdings" panose="05000000000000000000" pitchFamily="2" charset="2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고객에 따라 중요하게 생각하는 품질 요소 또한 다름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서비스 업종과 업태에 따라 서비스품질 요소도 다름 </a:t>
            </a: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800100" lvl="1" indent="-342900" latinLnBrk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altLang="ko-KR" sz="180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 dirty="0"/>
          </a:p>
        </p:txBody>
      </p:sp>
      <p:sp>
        <p:nvSpPr>
          <p:cNvPr id="14340" name="직사각형 9">
            <a:extLst>
              <a:ext uri="{FF2B5EF4-FFF2-40B4-BE49-F238E27FC236}">
                <a16:creationId xmlns:a16="http://schemas.microsoft.com/office/drawing/2014/main" id="{7D14795D-965B-4913-A9DF-BEF5D5E0B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B0D6A2-CA06-4203-862F-03402EDEA20F}"/>
              </a:ext>
            </a:extLst>
          </p:cNvPr>
          <p:cNvSpPr txBox="1"/>
          <p:nvPr/>
        </p:nvSpPr>
        <p:spPr>
          <a:xfrm>
            <a:off x="1396416" y="5422357"/>
            <a:ext cx="91394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우리 고객들이 중요하게 생각하는 서비스품질 요소를 </a:t>
            </a:r>
          </a:p>
          <a:p>
            <a:pPr algn="ctr"/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정확히 찾아낼 수 있다면 서비스 품질을 제대로 관리할 수 있음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9890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5F798448-71B6-402C-A5F8-45D6ADC6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 품질 개념과 구성요소</a:t>
            </a:r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3A93ADE6-6B93-4750-960F-369C0EB2B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1" y="1228725"/>
            <a:ext cx="5173996" cy="5248275"/>
          </a:xfrm>
        </p:spPr>
        <p:txBody>
          <a:bodyPr/>
          <a:lstStyle/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AutoNum type="arabicParenBoth"/>
            </a:pPr>
            <a:r>
              <a:rPr lang="ko-KR" altLang="en-US" sz="2000" b="0" dirty="0">
                <a:cs typeface="함초롬돋움" panose="020B0604000101010101" pitchFamily="50" charset="-127"/>
              </a:rPr>
              <a:t>서비스 품질 개념</a:t>
            </a:r>
            <a:endParaRPr lang="en-US" altLang="ko-KR" sz="2000" b="0" dirty="0">
              <a:cs typeface="함초롬돋움" panose="020B0604000101010101" pitchFamily="50" charset="-127"/>
            </a:endParaRPr>
          </a:p>
          <a:p>
            <a:pPr algn="ctr" eaLnBrk="1" hangingPunct="1">
              <a:lnSpc>
                <a:spcPct val="150000"/>
              </a:lnSpc>
              <a:buClr>
                <a:schemeClr val="tx1"/>
              </a:buClr>
            </a:pPr>
            <a:r>
              <a:rPr lang="ko-KR" altLang="en-US" sz="2000" b="0" u="sng" dirty="0">
                <a:cs typeface="함초롬돋움" panose="020B0604000101010101" pitchFamily="50" charset="-127"/>
              </a:rPr>
              <a:t>품질</a:t>
            </a:r>
            <a:r>
              <a:rPr lang="en-US" altLang="ko-KR" sz="2000" b="0" u="sng" dirty="0">
                <a:cs typeface="함초롬돋움" panose="020B0604000101010101" pitchFamily="50" charset="-127"/>
              </a:rPr>
              <a:t>(Quality)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000" b="0" dirty="0">
                <a:cs typeface="함초롬돋움" panose="020B0604000101010101" pitchFamily="50" charset="-127"/>
              </a:rPr>
              <a:t>Quality = Excellence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000" b="0" dirty="0">
                <a:cs typeface="함초롬돋움" panose="020B0604000101010101" pitchFamily="50" charset="-127"/>
              </a:rPr>
              <a:t>(</a:t>
            </a:r>
            <a:r>
              <a:rPr lang="ko-KR" altLang="en-US" sz="2000" b="0" dirty="0">
                <a:cs typeface="함초롬돋움" panose="020B0604000101010101" pitchFamily="50" charset="-127"/>
              </a:rPr>
              <a:t>제조업 중심</a:t>
            </a:r>
            <a:r>
              <a:rPr lang="en-US" altLang="ko-KR" sz="2000" b="0" dirty="0">
                <a:cs typeface="함초롬돋움" panose="020B0604000101010101" pitchFamily="50" charset="-127"/>
              </a:rPr>
              <a:t>) ‘</a:t>
            </a:r>
            <a:r>
              <a:rPr lang="ko-KR" altLang="en-US" sz="2000" b="0" dirty="0">
                <a:cs typeface="함초롬돋움" panose="020B0604000101010101" pitchFamily="50" charset="-127"/>
              </a:rPr>
              <a:t>우수한</a:t>
            </a:r>
            <a:r>
              <a:rPr lang="en-US" altLang="ko-KR" sz="2000" b="0" dirty="0">
                <a:cs typeface="함초롬돋움" panose="020B0604000101010101" pitchFamily="50" charset="-127"/>
              </a:rPr>
              <a:t>/</a:t>
            </a:r>
            <a:r>
              <a:rPr lang="ko-KR" altLang="en-US" sz="2000" b="0" dirty="0">
                <a:cs typeface="함초롬돋움" panose="020B0604000101010101" pitchFamily="50" charset="-127"/>
              </a:rPr>
              <a:t>탁월한 </a:t>
            </a:r>
            <a:r>
              <a:rPr lang="ko-KR" altLang="en-US" sz="2000" b="0" dirty="0" err="1">
                <a:cs typeface="함초롬돋움" panose="020B0604000101010101" pitchFamily="50" charset="-127"/>
              </a:rPr>
              <a:t>제품’이란</a:t>
            </a:r>
            <a:r>
              <a:rPr lang="ko-KR" altLang="en-US" sz="2000" b="0" dirty="0">
                <a:cs typeface="함초롬돋움" panose="020B0604000101010101" pitchFamily="50" charset="-127"/>
              </a:rPr>
              <a:t> 기업이 정한 규격에 적합한 특성이나 디자인을 가진 제품</a:t>
            </a:r>
            <a:endParaRPr lang="en-US" altLang="ko-KR" sz="2000" b="0" dirty="0"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000" b="0" dirty="0">
                <a:cs typeface="함초롬돋움" panose="020B0604000101010101" pitchFamily="50" charset="-127"/>
              </a:rPr>
              <a:t>(</a:t>
            </a:r>
            <a:r>
              <a:rPr lang="ko-KR" altLang="en-US" sz="2000" b="0" dirty="0">
                <a:cs typeface="함초롬돋움" panose="020B0604000101010101" pitchFamily="50" charset="-127"/>
              </a:rPr>
              <a:t>사용자 중심</a:t>
            </a:r>
            <a:r>
              <a:rPr lang="en-US" altLang="ko-KR" sz="2000" b="0" dirty="0">
                <a:cs typeface="함초롬돋움" panose="020B0604000101010101" pitchFamily="50" charset="-127"/>
              </a:rPr>
              <a:t>) </a:t>
            </a:r>
            <a:r>
              <a:rPr lang="ko-KR" altLang="en-US" sz="2000" b="0" dirty="0">
                <a:cs typeface="함초롬돋움" panose="020B0604000101010101" pitchFamily="50" charset="-127"/>
              </a:rPr>
              <a:t>고객 기대수준을 충족시키거나 넘어서는 제품과 서비스의 우수성 </a:t>
            </a:r>
            <a:endParaRPr lang="en-US" altLang="ko-KR" sz="2000" b="0" dirty="0">
              <a:cs typeface="함초롬돋움" panose="020B0604000101010101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0A79542-78DB-49AE-AD3A-59E590A34095}"/>
              </a:ext>
            </a:extLst>
          </p:cNvPr>
          <p:cNvSpPr txBox="1">
            <a:spLocks/>
          </p:cNvSpPr>
          <p:nvPr/>
        </p:nvSpPr>
        <p:spPr bwMode="auto">
          <a:xfrm>
            <a:off x="6497054" y="1796716"/>
            <a:ext cx="5374103" cy="4676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50000"/>
              </a:lnSpc>
              <a:buClr>
                <a:schemeClr val="tx1"/>
              </a:buClr>
            </a:pPr>
            <a:r>
              <a:rPr lang="ko-KR" altLang="en-US" sz="2000" b="0" u="sng" dirty="0">
                <a:cs typeface="함초롬돋움" panose="020B0604000101010101" pitchFamily="50" charset="-127"/>
              </a:rPr>
              <a:t>서비스 품질</a:t>
            </a:r>
            <a:r>
              <a:rPr lang="en-US" altLang="ko-KR" sz="2000" b="0" u="sng" dirty="0">
                <a:cs typeface="함초롬돋움" panose="020B0604000101010101" pitchFamily="50" charset="-127"/>
              </a:rPr>
              <a:t>(Service Quality)</a:t>
            </a:r>
          </a:p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000" b="0" dirty="0">
                <a:cs typeface="함초롬돋움" panose="020B0604000101010101" pitchFamily="50" charset="-127"/>
              </a:rPr>
              <a:t>Service Quality = Service Excellence</a:t>
            </a:r>
          </a:p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000" b="0" dirty="0">
                <a:cs typeface="함초롬돋움" panose="020B0604000101010101" pitchFamily="50" charset="-127"/>
              </a:rPr>
              <a:t>고객의 </a:t>
            </a:r>
            <a:r>
              <a:rPr lang="ko-KR" altLang="en-US" sz="2000" dirty="0">
                <a:solidFill>
                  <a:srgbClr val="C00000"/>
                </a:solidFill>
                <a:cs typeface="함초롬돋움" panose="020B0604000101010101" pitchFamily="50" charset="-127"/>
              </a:rPr>
              <a:t>주관적 평가</a:t>
            </a:r>
            <a:r>
              <a:rPr lang="ko-KR" altLang="en-US" sz="2000" b="0" dirty="0">
                <a:cs typeface="함초롬돋움" panose="020B0604000101010101" pitchFamily="50" charset="-127"/>
              </a:rPr>
              <a:t>에 근거한 판단</a:t>
            </a:r>
          </a:p>
          <a:p>
            <a:pPr marL="636588" lvl="1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ko-KR" altLang="en-US" sz="2000" b="0" dirty="0">
                <a:solidFill>
                  <a:srgbClr val="7030A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지각된 서비스품질 </a:t>
            </a:r>
            <a:r>
              <a:rPr lang="en-US" altLang="ko-KR" sz="2000" b="0" dirty="0">
                <a:solidFill>
                  <a:srgbClr val="7030A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(perceived service quality)</a:t>
            </a:r>
          </a:p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000" b="0" dirty="0">
                <a:cs typeface="함초롬돋움" panose="020B0604000101010101" pitchFamily="50" charset="-127"/>
              </a:rPr>
              <a:t>지각된 서비스품질 수준은 고객 기대대비 실제 받은 서비스 성과의 비교</a:t>
            </a:r>
            <a:r>
              <a:rPr lang="en-US" altLang="ko-KR" sz="2000" b="0" dirty="0">
                <a:cs typeface="함초롬돋움" panose="020B0604000101010101" pitchFamily="50" charset="-127"/>
              </a:rPr>
              <a:t>(</a:t>
            </a:r>
            <a:r>
              <a:rPr lang="ko-KR" altLang="en-US" sz="2000" dirty="0">
                <a:solidFill>
                  <a:srgbClr val="C00000"/>
                </a:solidFill>
                <a:cs typeface="함초롬돋움" panose="020B0604000101010101" pitchFamily="50" charset="-127"/>
              </a:rPr>
              <a:t>상대적 평가</a:t>
            </a:r>
            <a:r>
              <a:rPr lang="en-US" altLang="ko-KR" sz="2000" b="0" dirty="0">
                <a:cs typeface="함초롬돋움" panose="020B0604000101010101" pitchFamily="50" charset="-127"/>
              </a:rPr>
              <a:t>)</a:t>
            </a:r>
            <a:r>
              <a:rPr lang="ko-KR" altLang="en-US" sz="2000" b="0" dirty="0">
                <a:cs typeface="함초롬돋움" panose="020B0604000101010101" pitchFamily="50" charset="-127"/>
              </a:rPr>
              <a:t>에 의해 결정</a:t>
            </a:r>
            <a:endParaRPr lang="en-US" altLang="ko-KR" sz="2000" b="0" dirty="0">
              <a:cs typeface="함초롬돋움" panose="020B0604000101010101" pitchFamily="50" charset="-127"/>
            </a:endParaRPr>
          </a:p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000" b="0" dirty="0">
                <a:cs typeface="함초롬돋움" panose="020B0604000101010101" pitchFamily="50" charset="-127"/>
              </a:rPr>
              <a:t>서비스품질을 구성하는 다양한 요소에 의해 평가되어 </a:t>
            </a:r>
            <a:r>
              <a:rPr lang="ko-KR" altLang="en-US" sz="2000" dirty="0" err="1">
                <a:solidFill>
                  <a:srgbClr val="C00000"/>
                </a:solidFill>
                <a:cs typeface="함초롬돋움" panose="020B0604000101010101" pitchFamily="50" charset="-127"/>
              </a:rPr>
              <a:t>다차원적인</a:t>
            </a:r>
            <a:r>
              <a:rPr lang="ko-KR" altLang="en-US" sz="2000" dirty="0">
                <a:solidFill>
                  <a:srgbClr val="C00000"/>
                </a:solidFill>
                <a:cs typeface="함초롬돋움" panose="020B0604000101010101" pitchFamily="50" charset="-127"/>
              </a:rPr>
              <a:t> 속성</a:t>
            </a:r>
            <a:r>
              <a:rPr lang="ko-KR" altLang="en-US" sz="2000" b="0" dirty="0">
                <a:cs typeface="함초롬돋움" panose="020B0604000101010101" pitchFamily="50" charset="-127"/>
              </a:rPr>
              <a:t>을 가진 개념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5F798448-71B6-402C-A5F8-45D6ADC6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 품질 개념과 구성요소</a:t>
            </a:r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3A93ADE6-6B93-4750-960F-369C0EB2B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993" y="2181727"/>
            <a:ext cx="5173996" cy="4395537"/>
          </a:xfrm>
        </p:spPr>
        <p:txBody>
          <a:bodyPr/>
          <a:lstStyle/>
          <a:p>
            <a:pPr algn="ctr" eaLnBrk="1" hangingPunct="1">
              <a:lnSpc>
                <a:spcPct val="150000"/>
              </a:lnSpc>
              <a:buClr>
                <a:schemeClr val="tx1"/>
              </a:buClr>
            </a:pPr>
            <a:r>
              <a:rPr lang="ko-KR" altLang="en-US" sz="2000" b="0" u="sng" dirty="0">
                <a:cs typeface="함초롬돋움" panose="020B0604000101010101" pitchFamily="50" charset="-127"/>
              </a:rPr>
              <a:t>고객의 기대</a:t>
            </a:r>
            <a:endParaRPr lang="en-US" altLang="ko-KR" sz="2000" b="0" u="sng" dirty="0"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000" b="0" dirty="0">
                <a:cs typeface="함초롬돋움" panose="020B0604000101010101" pitchFamily="50" charset="-127"/>
              </a:rPr>
              <a:t>고객이 원하는</a:t>
            </a:r>
            <a:r>
              <a:rPr lang="en-US" altLang="ko-KR" sz="2000" b="0" dirty="0">
                <a:cs typeface="함초롬돋움" panose="020B0604000101010101" pitchFamily="50" charset="-127"/>
              </a:rPr>
              <a:t>/</a:t>
            </a:r>
            <a:r>
              <a:rPr lang="ko-KR" altLang="en-US" sz="2000" b="0" dirty="0">
                <a:cs typeface="함초롬돋움" panose="020B0604000101010101" pitchFamily="50" charset="-127"/>
              </a:rPr>
              <a:t>희망하는 서비스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000" b="0" dirty="0">
                <a:cs typeface="함초롬돋움" panose="020B0604000101010101" pitchFamily="50" charset="-127"/>
              </a:rPr>
              <a:t>서비스품질 성과</a:t>
            </a:r>
            <a:r>
              <a:rPr lang="en-US" altLang="ko-KR" sz="2000" b="0" dirty="0">
                <a:cs typeface="함초롬돋움" panose="020B0604000101010101" pitchFamily="50" charset="-127"/>
              </a:rPr>
              <a:t>(performance)</a:t>
            </a:r>
            <a:r>
              <a:rPr lang="ko-KR" altLang="en-US" sz="2000" b="0" dirty="0">
                <a:cs typeface="함초롬돋움" panose="020B0604000101010101" pitchFamily="50" charset="-127"/>
              </a:rPr>
              <a:t>를 평가할 때 기준점으로 활용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000" b="0" dirty="0">
                <a:cs typeface="함초롬돋움" panose="020B0604000101010101" pitchFamily="50" charset="-127"/>
              </a:rPr>
              <a:t>기대는 평가 기간에 따라</a:t>
            </a:r>
            <a:r>
              <a:rPr lang="en-US" altLang="ko-KR" sz="2000" b="0" dirty="0">
                <a:cs typeface="함초롬돋움" panose="020B0604000101010101" pitchFamily="50" charset="-127"/>
              </a:rPr>
              <a:t>, </a:t>
            </a:r>
            <a:r>
              <a:rPr lang="ko-KR" altLang="en-US" sz="2000" b="0" dirty="0">
                <a:cs typeface="함초롬돋움" panose="020B0604000101010101" pitchFamily="50" charset="-127"/>
              </a:rPr>
              <a:t>사람에 따라</a:t>
            </a:r>
            <a:r>
              <a:rPr lang="en-US" altLang="ko-KR" sz="2000" b="0" dirty="0">
                <a:cs typeface="함초롬돋움" panose="020B0604000101010101" pitchFamily="50" charset="-127"/>
              </a:rPr>
              <a:t>, </a:t>
            </a:r>
            <a:r>
              <a:rPr lang="ko-KR" altLang="en-US" sz="2000" b="0" dirty="0">
                <a:cs typeface="함초롬돋움" panose="020B0604000101010101" pitchFamily="50" charset="-127"/>
              </a:rPr>
              <a:t>문화에 따라</a:t>
            </a:r>
            <a:r>
              <a:rPr lang="en-US" altLang="ko-KR" sz="2000" b="0" dirty="0">
                <a:cs typeface="함초롬돋움" panose="020B0604000101010101" pitchFamily="50" charset="-127"/>
              </a:rPr>
              <a:t>, </a:t>
            </a:r>
            <a:r>
              <a:rPr lang="ko-KR" altLang="en-US" sz="2000" b="0" dirty="0">
                <a:cs typeface="함초롬돋움" panose="020B0604000101010101" pitchFamily="50" charset="-127"/>
              </a:rPr>
              <a:t>상황에 따라 달라짐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000" b="0" dirty="0">
                <a:cs typeface="함초롬돋움" panose="020B0604000101010101" pitchFamily="50" charset="-127"/>
              </a:rPr>
              <a:t>서비스 성과를 높이기 위해 고객 기대를 정확히 파악하는 것이 중요 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0A79542-78DB-49AE-AD3A-59E590A34095}"/>
              </a:ext>
            </a:extLst>
          </p:cNvPr>
          <p:cNvSpPr txBox="1">
            <a:spLocks/>
          </p:cNvSpPr>
          <p:nvPr/>
        </p:nvSpPr>
        <p:spPr bwMode="auto">
          <a:xfrm>
            <a:off x="6513096" y="2181727"/>
            <a:ext cx="5374103" cy="4676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50000"/>
              </a:lnSpc>
              <a:buClr>
                <a:schemeClr val="tx1"/>
              </a:buClr>
            </a:pPr>
            <a:r>
              <a:rPr lang="ko-KR" altLang="en-US" sz="2000" b="0" u="sng" dirty="0">
                <a:cs typeface="함초롬돋움" panose="020B0604000101010101" pitchFamily="50" charset="-127"/>
              </a:rPr>
              <a:t>고객의 인식</a:t>
            </a:r>
            <a:endParaRPr lang="en-US" altLang="ko-KR" sz="2000" b="0" u="sng" dirty="0">
              <a:cs typeface="함초롬돋움" panose="020B0604000101010101" pitchFamily="50" charset="-127"/>
            </a:endParaRPr>
          </a:p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000" b="0" dirty="0">
                <a:cs typeface="함초롬돋움" panose="020B0604000101010101" pitchFamily="50" charset="-127"/>
              </a:rPr>
              <a:t>고객이 느끼는 서비스에 대한 생각  </a:t>
            </a:r>
          </a:p>
          <a:p>
            <a:pPr marL="636588" lvl="1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ko-KR" altLang="en-US" sz="20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실제 경험한 서비스에  대한 고객의 주관적 평가</a:t>
            </a:r>
            <a:endParaRPr lang="en-US" altLang="ko-KR" sz="2000" b="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636588" lvl="1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ko-KR" altLang="en-US" sz="20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거래 지각 </a:t>
            </a:r>
            <a:r>
              <a:rPr lang="en-US" altLang="ko-KR" sz="20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(transaction perceptions)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20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       -. </a:t>
            </a:r>
            <a:r>
              <a:rPr lang="ko-KR" altLang="en-US" sz="20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구체적인 거래 접점에 대한 고객 평가</a:t>
            </a:r>
            <a:endParaRPr lang="en-US" altLang="ko-KR" sz="2000" b="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ko-KR" altLang="en-US" sz="20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누적 지각 </a:t>
            </a:r>
            <a:r>
              <a:rPr lang="en-US" altLang="ko-KR" sz="20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(cumulative perceptions)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2000" b="0" dirty="0">
                <a:cs typeface="함초롬돋움" panose="020B0604000101010101" pitchFamily="50" charset="-127"/>
              </a:rPr>
              <a:t>           -. </a:t>
            </a:r>
            <a:r>
              <a:rPr lang="ko-KR" altLang="en-US" sz="2000" b="0" dirty="0">
                <a:cs typeface="함초롬돋움" panose="020B0604000101010101" pitchFamily="50" charset="-127"/>
              </a:rPr>
              <a:t>누적된 경험에 의한 평가 </a:t>
            </a:r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4B4AB9EF-1EE0-4600-A34F-372F71E53774}"/>
              </a:ext>
            </a:extLst>
          </p:cNvPr>
          <p:cNvSpPr txBox="1">
            <a:spLocks/>
          </p:cNvSpPr>
          <p:nvPr/>
        </p:nvSpPr>
        <p:spPr>
          <a:xfrm>
            <a:off x="1608854" y="1420978"/>
            <a:ext cx="8460941" cy="64135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400" dirty="0">
                <a:solidFill>
                  <a:srgbClr val="7030A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지각된 서비스품질 </a:t>
            </a:r>
            <a:r>
              <a:rPr lang="en-US" altLang="ko-KR" sz="2400" dirty="0">
                <a:solidFill>
                  <a:srgbClr val="7030A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(Perceived Service Quality)</a:t>
            </a:r>
            <a:r>
              <a:rPr lang="ko-KR" altLang="en-US" sz="2400" dirty="0">
                <a:solidFill>
                  <a:srgbClr val="7030A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이란</a:t>
            </a:r>
            <a:r>
              <a:rPr lang="en-US" altLang="ko-KR" sz="2400" dirty="0">
                <a:solidFill>
                  <a:srgbClr val="7030A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? </a:t>
            </a:r>
            <a:endParaRPr lang="ko-KR" altLang="en-US" sz="2400" dirty="0">
              <a:solidFill>
                <a:srgbClr val="7030A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13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5F798448-71B6-402C-A5F8-45D6ADC6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 품질 개념과 구성요소</a:t>
            </a:r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3A93ADE6-6B93-4750-960F-369C0EB2B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1" y="1228725"/>
            <a:ext cx="5173996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2000" b="0" dirty="0">
                <a:cs typeface="함초롬돋움" panose="020B0604000101010101" pitchFamily="50" charset="-127"/>
              </a:rPr>
              <a:t>(2) </a:t>
            </a:r>
            <a:r>
              <a:rPr lang="ko-KR" altLang="en-US" sz="2000" b="0" dirty="0">
                <a:cs typeface="함초롬돋움" panose="020B0604000101010101" pitchFamily="50" charset="-127"/>
              </a:rPr>
              <a:t>외식서비스 품질 측정 모형</a:t>
            </a:r>
            <a:endParaRPr lang="en-US" altLang="ko-KR" sz="2000" b="0" dirty="0">
              <a:cs typeface="함초롬돋움" panose="020B0604000101010101" pitchFamily="50" charset="-127"/>
            </a:endParaRPr>
          </a:p>
        </p:txBody>
      </p:sp>
      <p:graphicFrame>
        <p:nvGraphicFramePr>
          <p:cNvPr id="6" name="다이어그램 5">
            <a:extLst>
              <a:ext uri="{FF2B5EF4-FFF2-40B4-BE49-F238E27FC236}">
                <a16:creationId xmlns:a16="http://schemas.microsoft.com/office/drawing/2014/main" id="{D0F9D290-E8D4-447F-B6F2-71B2AAE8AF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2548012"/>
              </p:ext>
            </p:extLst>
          </p:nvPr>
        </p:nvGraphicFramePr>
        <p:xfrm>
          <a:off x="6233031" y="1560847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0302933-6393-4251-816E-51EB9C5570B4}"/>
              </a:ext>
            </a:extLst>
          </p:cNvPr>
          <p:cNvSpPr txBox="1"/>
          <p:nvPr/>
        </p:nvSpPr>
        <p:spPr>
          <a:xfrm>
            <a:off x="6043207" y="5762177"/>
            <a:ext cx="655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SERVQUAL :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서비스 품질 요소의 </a:t>
            </a: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5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가지 기준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8657BE8-02DF-4603-A594-4FD64F7FAB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951" y="2746370"/>
            <a:ext cx="6096000" cy="22079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FE3D51-23F9-42C4-9B64-7AE757463DF4}"/>
              </a:ext>
            </a:extLst>
          </p:cNvPr>
          <p:cNvSpPr txBox="1"/>
          <p:nvPr/>
        </p:nvSpPr>
        <p:spPr>
          <a:xfrm>
            <a:off x="1674722" y="2092876"/>
            <a:ext cx="3373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u="sng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PZB(1998)</a:t>
            </a:r>
            <a:r>
              <a:rPr lang="ko-KR" altLang="en-US" u="sng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의 </a:t>
            </a:r>
            <a:r>
              <a:rPr lang="en-US" altLang="ko-KR" u="sng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SERVQUAL 5</a:t>
            </a:r>
            <a:r>
              <a:rPr lang="ko-KR" altLang="en-US" u="sng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차원 모형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B55ADB-CDD8-40EB-BF9F-AF7327594A97}"/>
              </a:ext>
            </a:extLst>
          </p:cNvPr>
          <p:cNvSpPr txBox="1"/>
          <p:nvPr/>
        </p:nvSpPr>
        <p:spPr>
          <a:xfrm>
            <a:off x="172691" y="5277436"/>
            <a:ext cx="6709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22</a:t>
            </a:r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개 문항으로 구성된 표준화된 설문지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(SERVQUAL)</a:t>
            </a:r>
          </a:p>
          <a:p>
            <a:pPr algn="ctr"/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일반 서비스업 대상의 연구결과여서 외식서비스의 핵심상품인 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‘</a:t>
            </a:r>
            <a:r>
              <a:rPr lang="ko-KR" altLang="en-US" sz="2000" dirty="0" err="1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음식＇품질</a:t>
            </a:r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평가 항목이 빠져 있는 것이 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5</a:t>
            </a:r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차원 모형의 한계</a:t>
            </a:r>
            <a:endParaRPr lang="en-US" altLang="ko-KR" sz="2000" dirty="0">
              <a:solidFill>
                <a:srgbClr val="C0000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2617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5F798448-71B6-402C-A5F8-45D6ADC6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 품질 개념과 구성요소</a:t>
            </a:r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3A93ADE6-6B93-4750-960F-369C0EB2B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1" y="1228725"/>
            <a:ext cx="5173996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2000" b="0" dirty="0">
                <a:cs typeface="함초롬돋움" panose="020B0604000101010101" pitchFamily="50" charset="-127"/>
              </a:rPr>
              <a:t>(2) </a:t>
            </a:r>
            <a:r>
              <a:rPr lang="ko-KR" altLang="en-US" sz="2000" b="0" dirty="0">
                <a:cs typeface="함초롬돋움" panose="020B0604000101010101" pitchFamily="50" charset="-127"/>
              </a:rPr>
              <a:t>외식서비스 품질 측정 모형</a:t>
            </a:r>
            <a:endParaRPr lang="en-US" altLang="ko-KR" sz="2000" b="0" dirty="0">
              <a:cs typeface="함초롬돋움" panose="020B0604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FE3D51-23F9-42C4-9B64-7AE757463DF4}"/>
              </a:ext>
            </a:extLst>
          </p:cNvPr>
          <p:cNvSpPr txBox="1"/>
          <p:nvPr/>
        </p:nvSpPr>
        <p:spPr>
          <a:xfrm>
            <a:off x="1747987" y="1798530"/>
            <a:ext cx="82157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u="sng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Rust &amp; Oliver(1994)</a:t>
            </a:r>
            <a:r>
              <a:rPr lang="ko-KR" altLang="en-US" u="sng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의 </a:t>
            </a:r>
            <a:r>
              <a:rPr lang="en-US" altLang="ko-KR" u="sng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3</a:t>
            </a:r>
            <a:r>
              <a:rPr lang="ko-KR" altLang="en-US" u="sng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차원 모형</a:t>
            </a:r>
            <a:endParaRPr lang="en-US" altLang="ko-KR" u="sng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algn="ctr"/>
            <a:endParaRPr lang="en-US" altLang="ko-KR" u="sng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algn="ctr"/>
            <a:r>
              <a:rPr lang="ko-KR" altLang="en-US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다면적인 서비스 속성을 포괄하면서 직관적이고 실용적이어서  더 우수한 모형으로 평가 받음</a:t>
            </a:r>
            <a:endParaRPr lang="en-US" altLang="ko-KR" dirty="0">
              <a:solidFill>
                <a:srgbClr val="C0000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algn="ctr"/>
            <a:r>
              <a:rPr lang="ko-KR" altLang="en-US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그러나 현장에서 서비스 품질을 관리하기 위해서는 포괄적이고 추상적인 개념의 구체화 작업 필요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4B839E-CE17-403E-8DF7-A64036387B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051"/>
          <a:stretch/>
        </p:blipFill>
        <p:spPr>
          <a:xfrm>
            <a:off x="2441130" y="3131976"/>
            <a:ext cx="6829425" cy="338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00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5F798448-71B6-402C-A5F8-45D6ADC6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 품질 개념과 구성요소</a:t>
            </a:r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3A93ADE6-6B93-4750-960F-369C0EB2B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1" y="1228725"/>
            <a:ext cx="5173996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2000" b="0" dirty="0">
                <a:cs typeface="함초롬돋움" panose="020B0604000101010101" pitchFamily="50" charset="-127"/>
              </a:rPr>
              <a:t>(2) </a:t>
            </a:r>
            <a:r>
              <a:rPr lang="ko-KR" altLang="en-US" sz="2000" b="0" dirty="0">
                <a:cs typeface="함초롬돋움" panose="020B0604000101010101" pitchFamily="50" charset="-127"/>
              </a:rPr>
              <a:t>외식서비스 품질 측정 모형</a:t>
            </a:r>
            <a:endParaRPr lang="en-US" altLang="ko-KR" sz="2000" b="0" dirty="0">
              <a:cs typeface="함초롬돋움" panose="020B0604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9A1831C-4127-4C22-9D49-B865B6F42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72" y="1991728"/>
            <a:ext cx="6372634" cy="434490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B2CF531-B23B-4E0E-AE17-140A17F64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779" y="1387974"/>
            <a:ext cx="4660649" cy="514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58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5F798448-71B6-402C-A5F8-45D6ADC6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 품질 개념과 구성요소</a:t>
            </a:r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3A93ADE6-6B93-4750-960F-369C0EB2B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1" y="1228725"/>
            <a:ext cx="10895986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2000" b="0" dirty="0">
                <a:cs typeface="함초롬돋움" panose="020B0604000101010101" pitchFamily="50" charset="-127"/>
              </a:rPr>
              <a:t>(2) </a:t>
            </a:r>
            <a:r>
              <a:rPr lang="ko-KR" altLang="en-US" sz="2000" b="0" dirty="0">
                <a:cs typeface="함초롬돋움" panose="020B0604000101010101" pitchFamily="50" charset="-127"/>
              </a:rPr>
              <a:t>외식서비스 품질 측정 모형</a:t>
            </a:r>
            <a:endParaRPr lang="en-US" altLang="ko-KR" sz="2000" b="0" dirty="0"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b="0" dirty="0">
                <a:cs typeface="함초롬돋움" panose="020B0604000101010101" pitchFamily="50" charset="-127"/>
              </a:rPr>
              <a:t>레스토랑 콘셉트에 따라 고객이 인식하는 서비스 품질 속성의 중요도가 변화하기 때문에 서비스 품질의 구성요소 또한 달라질 수 있음</a:t>
            </a:r>
            <a:endParaRPr lang="en-US" altLang="ko-KR" sz="1800" b="0" dirty="0"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altLang="ko-KR" sz="1800" b="0" dirty="0"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ko-KR" altLang="en-US" sz="1800" b="0" dirty="0"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b="0" dirty="0">
                <a:cs typeface="함초롬돋움" panose="020B0604000101010101" pitchFamily="50" charset="-127"/>
              </a:rPr>
              <a:t>레스토랑 방문고객마다 중요하게 생각하는 서비스 품질 속성이 다르므로 각 레스토랑은 그들의 콘셉트에 따라 중요시해야 할 서비스 품질 속성을 정확하게 파악 해야 함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b="0" dirty="0">
                <a:cs typeface="함초롬돋움" panose="020B0604000101010101" pitchFamily="50" charset="-127"/>
              </a:rPr>
              <a:t>기술기반의 서비스 전달과정의 등장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>
                <a:cs typeface="함초롬돋움" panose="020B0604000101010101" pitchFamily="50" charset="-127"/>
              </a:rPr>
              <a:t>     -</a:t>
            </a:r>
            <a:r>
              <a:rPr lang="ko-KR" altLang="en-US" sz="1800" b="0" dirty="0">
                <a:cs typeface="함초롬돋움" panose="020B0604000101010101" pitchFamily="50" charset="-127"/>
              </a:rPr>
              <a:t>고객들이 기대하거나 요구하는 </a:t>
            </a:r>
            <a:r>
              <a:rPr lang="en-US" altLang="ko-KR" sz="1800" b="0" dirty="0">
                <a:cs typeface="함초롬돋움" panose="020B0604000101010101" pitchFamily="50" charset="-127"/>
              </a:rPr>
              <a:t>e-</a:t>
            </a:r>
            <a:r>
              <a:rPr lang="ko-KR" altLang="en-US" sz="1800" b="0" dirty="0">
                <a:cs typeface="함초롬돋움" panose="020B0604000101010101" pitchFamily="50" charset="-127"/>
              </a:rPr>
              <a:t>서비스 품질요소는 전통적인 서비스 품질요소와는 다르게 나타남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2000" b="0" dirty="0">
              <a:cs typeface="함초롬돋움" panose="020B060400010101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0952A78-C3E7-4E48-BF30-983F14991523}"/>
              </a:ext>
            </a:extLst>
          </p:cNvPr>
          <p:cNvGrpSpPr/>
          <p:nvPr/>
        </p:nvGrpSpPr>
        <p:grpSpPr>
          <a:xfrm>
            <a:off x="2030912" y="2434782"/>
            <a:ext cx="8130175" cy="994218"/>
            <a:chOff x="1991544" y="2001755"/>
            <a:chExt cx="8130175" cy="994218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4130146-F785-46F8-AD47-5AB2A5F83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1544" y="2271147"/>
              <a:ext cx="936104" cy="662635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3033C3F-B546-47D6-8110-AD9B2DAB6D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6489" b="29363"/>
            <a:stretch/>
          </p:blipFill>
          <p:spPr>
            <a:xfrm>
              <a:off x="3252187" y="2350436"/>
              <a:ext cx="2890786" cy="504056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5CE123D-F037-4CB3-B624-ADC0721423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6596" t="14425" r="14837" b="14423"/>
            <a:stretch/>
          </p:blipFill>
          <p:spPr>
            <a:xfrm>
              <a:off x="6394742" y="2198345"/>
              <a:ext cx="1944216" cy="797628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C0F39013-7AA5-4E59-B4B1-A38A49F35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60296" y="2001755"/>
              <a:ext cx="1361423" cy="902683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FD3AEE9-2C07-4472-9133-79FA45B1C1EC}"/>
              </a:ext>
            </a:extLst>
          </p:cNvPr>
          <p:cNvGrpSpPr/>
          <p:nvPr/>
        </p:nvGrpSpPr>
        <p:grpSpPr>
          <a:xfrm>
            <a:off x="3234602" y="5449810"/>
            <a:ext cx="6485352" cy="1054661"/>
            <a:chOff x="2714327" y="5049671"/>
            <a:chExt cx="7062580" cy="1426076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26D520C6-F646-47CF-8C82-0F5837A679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12842"/>
            <a:stretch/>
          </p:blipFill>
          <p:spPr>
            <a:xfrm>
              <a:off x="2714327" y="5070004"/>
              <a:ext cx="1834734" cy="140574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E1197CAF-23BA-4377-8011-1466401F1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39406" y="5049671"/>
              <a:ext cx="2396026" cy="14016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D769DCF-A02B-41AC-A378-CDF1DF93C2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30364" r="14001"/>
            <a:stretch/>
          </p:blipFill>
          <p:spPr>
            <a:xfrm>
              <a:off x="7301505" y="5070004"/>
              <a:ext cx="2475402" cy="136101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999159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5F798448-71B6-402C-A5F8-45D6ADC6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 품질 개념과 구성요소</a:t>
            </a:r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3A93ADE6-6B93-4750-960F-369C0EB2B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88" y="1228725"/>
            <a:ext cx="11279986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2000" b="0" dirty="0">
                <a:cs typeface="함초롬돋움" panose="020B0604000101010101" pitchFamily="50" charset="-127"/>
              </a:rPr>
              <a:t>(3) </a:t>
            </a:r>
            <a:r>
              <a:rPr lang="ko-KR" altLang="en-US" sz="2000" b="0" dirty="0">
                <a:cs typeface="함초롬돋움" panose="020B0604000101010101" pitchFamily="50" charset="-127"/>
              </a:rPr>
              <a:t>핵심 서비스 품질 구성요소 도출하기</a:t>
            </a:r>
            <a:endParaRPr lang="en-US" altLang="ko-KR" sz="2000" b="0" dirty="0"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000" b="0" dirty="0">
              <a:cs typeface="함초롬돋움" panose="020B0604000101010101" pitchFamily="50" charset="-127"/>
            </a:endParaRPr>
          </a:p>
          <a:p>
            <a:pPr eaLnBrk="1" hangingPunct="1">
              <a:buClr>
                <a:schemeClr val="tx1"/>
              </a:buClr>
            </a:pPr>
            <a:r>
              <a:rPr lang="ko-KR" altLang="en-US" sz="2000" b="0" dirty="0">
                <a:cs typeface="함초롬돋움" panose="020B0604000101010101" pitchFamily="50" charset="-127"/>
              </a:rPr>
              <a:t>① </a:t>
            </a:r>
            <a:r>
              <a:rPr lang="ko-KR" altLang="en-US" sz="1800" b="0" dirty="0">
                <a:cs typeface="함초롬돋움" panose="020B0604000101010101" pitchFamily="50" charset="-127"/>
              </a:rPr>
              <a:t>운영하는 레스토랑 이용 고객의 소리</a:t>
            </a:r>
            <a:r>
              <a:rPr lang="en-US" altLang="ko-KR" sz="1800" b="0" dirty="0">
                <a:cs typeface="함초롬돋움" panose="020B0604000101010101" pitchFamily="50" charset="-127"/>
              </a:rPr>
              <a:t>voice of customer </a:t>
            </a:r>
            <a:r>
              <a:rPr lang="ko-KR" altLang="en-US" sz="1800" b="0" dirty="0">
                <a:cs typeface="함초롬돋움" panose="020B0604000101010101" pitchFamily="50" charset="-127"/>
              </a:rPr>
              <a:t>자료를 먼저 확인한다</a:t>
            </a:r>
            <a:r>
              <a:rPr lang="en-US" altLang="ko-KR" sz="1800" b="0" dirty="0">
                <a:cs typeface="함초롬돋움" panose="020B0604000101010101" pitchFamily="50" charset="-127"/>
              </a:rPr>
              <a:t>. </a:t>
            </a:r>
            <a:r>
              <a:rPr lang="ko-KR" altLang="en-US" sz="1800" b="0" dirty="0">
                <a:cs typeface="함초롬돋움" panose="020B0604000101010101" pitchFamily="50" charset="-127"/>
              </a:rPr>
              <a:t>고객 클레임</a:t>
            </a:r>
            <a:r>
              <a:rPr lang="en-US" altLang="ko-KR" sz="1800" b="0" dirty="0">
                <a:cs typeface="함초롬돋움" panose="020B0604000101010101" pitchFamily="50" charset="-127"/>
              </a:rPr>
              <a:t>, </a:t>
            </a:r>
            <a:r>
              <a:rPr lang="ko-KR" altLang="en-US" sz="1800" b="0" dirty="0">
                <a:cs typeface="함초롬돋움" panose="020B0604000101010101" pitchFamily="50" charset="-127"/>
              </a:rPr>
              <a:t>인터뷰</a:t>
            </a:r>
            <a:r>
              <a:rPr lang="en-US" altLang="ko-KR" sz="1800" b="0" dirty="0">
                <a:cs typeface="함초롬돋움" panose="020B0604000101010101" pitchFamily="50" charset="-127"/>
              </a:rPr>
              <a:t>, </a:t>
            </a:r>
            <a:r>
              <a:rPr lang="ko-KR" altLang="en-US" sz="1800" b="0" dirty="0">
                <a:cs typeface="함초롬돋움" panose="020B0604000101010101" pitchFamily="50" charset="-127"/>
              </a:rPr>
              <a:t>빅데이터 분석 등을 활용하여 고객이 원하고 바라는 서비스</a:t>
            </a:r>
            <a:r>
              <a:rPr lang="en-US" altLang="ko-KR" sz="1800" b="0" dirty="0">
                <a:cs typeface="함초롬돋움" panose="020B0604000101010101" pitchFamily="50" charset="-127"/>
              </a:rPr>
              <a:t>, </a:t>
            </a:r>
            <a:r>
              <a:rPr lang="ko-KR" altLang="en-US" sz="1800" b="0" dirty="0">
                <a:cs typeface="함초롬돋움" panose="020B0604000101010101" pitchFamily="50" charset="-127"/>
              </a:rPr>
              <a:t>고 객이 중요하게 생각하는 서비스 요소를 찾아 정리한다</a:t>
            </a:r>
            <a:r>
              <a:rPr lang="en-US" altLang="ko-KR" sz="1800" b="0" dirty="0">
                <a:cs typeface="함초롬돋움" panose="020B0604000101010101" pitchFamily="50" charset="-127"/>
              </a:rPr>
              <a:t>.</a:t>
            </a:r>
          </a:p>
          <a:p>
            <a:pPr eaLnBrk="1" hangingPunct="1">
              <a:buClr>
                <a:schemeClr val="tx1"/>
              </a:buClr>
            </a:pPr>
            <a:endParaRPr lang="ko-KR" altLang="en-US" sz="1800" b="0" dirty="0">
              <a:cs typeface="함초롬돋움" panose="020B0604000101010101" pitchFamily="50" charset="-127"/>
            </a:endParaRPr>
          </a:p>
          <a:p>
            <a:pPr eaLnBrk="1" hangingPunct="1">
              <a:buClr>
                <a:schemeClr val="tx1"/>
              </a:buClr>
            </a:pPr>
            <a:r>
              <a:rPr lang="ko-KR" altLang="en-US" sz="1800" b="0" dirty="0">
                <a:cs typeface="함초롬돋움" panose="020B0604000101010101" pitchFamily="50" charset="-127"/>
              </a:rPr>
              <a:t>② 찾은 서비스 품질요소를 상위 개념과 하위 개념으로 구분하여 위계 구조로 분석해보고 현장에서 관리 가능한 실무적인 서비스 항목을 정리한 후 이를 바탕으로 설문지를 작성</a:t>
            </a:r>
            <a:r>
              <a:rPr lang="en-US" altLang="ko-KR" sz="1800" b="0" dirty="0">
                <a:cs typeface="함초롬돋움" panose="020B0604000101010101" pitchFamily="50" charset="-127"/>
              </a:rPr>
              <a:t>. </a:t>
            </a:r>
          </a:p>
          <a:p>
            <a:pPr marL="465138" lvl="1" indent="-285750"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ko-KR" altLang="en-US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문항 형식은 ‘내가 기대했던 것보다 이 레스토랑의 음식은 맛 있다’</a:t>
            </a:r>
            <a:r>
              <a:rPr lang="en-US" altLang="ko-KR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‘</a:t>
            </a:r>
            <a:r>
              <a:rPr lang="ko-KR" altLang="en-US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내가 기대했던 것보다 이 레스토랑의 서비스는 신속하다’ 등으로 표현하며 </a:t>
            </a:r>
            <a:r>
              <a:rPr lang="en-US" altLang="ko-KR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5</a:t>
            </a:r>
            <a:r>
              <a:rPr lang="ko-KR" altLang="en-US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점 척도나 </a:t>
            </a:r>
            <a:r>
              <a:rPr lang="en-US" altLang="ko-KR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7</a:t>
            </a:r>
            <a:r>
              <a:rPr lang="ko-KR" altLang="en-US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점 척도로 질문 내용에 대해 동의한 정도를 측정</a:t>
            </a:r>
            <a:endParaRPr lang="en-US" altLang="ko-KR" sz="1800" b="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465138" lvl="1" indent="-285750" eaLnBrk="1" hangingPunct="1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ko-KR" altLang="en-US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설문지에는 서비스 품질요소 외 에 ‘전반적인 고객 </a:t>
            </a:r>
            <a:r>
              <a:rPr lang="ko-KR" altLang="en-US" sz="1800" b="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만족도’와</a:t>
            </a:r>
            <a:r>
              <a:rPr lang="ko-KR" altLang="en-US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‘충성도’ 문항을 꼭 포함하여 통계 분석 시 고객 만족에 영향을 미치는 서비스 품질요소를 파악할 수 있음</a:t>
            </a:r>
            <a:r>
              <a:rPr lang="en-US" altLang="ko-KR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(</a:t>
            </a:r>
            <a:r>
              <a:rPr lang="ko-KR" altLang="en-US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표</a:t>
            </a:r>
            <a:r>
              <a:rPr lang="en-US" altLang="ko-KR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3-2 </a:t>
            </a:r>
            <a:r>
              <a:rPr lang="ko-KR" altLang="en-US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참조</a:t>
            </a:r>
            <a:r>
              <a:rPr lang="en-US" altLang="ko-KR" sz="18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)</a:t>
            </a:r>
          </a:p>
          <a:p>
            <a:pPr eaLnBrk="1" hangingPunct="1">
              <a:buClr>
                <a:schemeClr val="tx1"/>
              </a:buClr>
            </a:pPr>
            <a:endParaRPr lang="ko-KR" altLang="en-US" sz="1800" b="0" dirty="0">
              <a:cs typeface="함초롬돋움" panose="020B0604000101010101" pitchFamily="50" charset="-127"/>
            </a:endParaRPr>
          </a:p>
          <a:p>
            <a:pPr eaLnBrk="1" hangingPunct="1">
              <a:buClr>
                <a:schemeClr val="tx1"/>
              </a:buClr>
            </a:pPr>
            <a:r>
              <a:rPr lang="ko-KR" altLang="en-US" sz="1800" b="0" dirty="0">
                <a:cs typeface="함초롬돋움" panose="020B0604000101010101" pitchFamily="50" charset="-127"/>
              </a:rPr>
              <a:t>③ 이용 고객 대상으로 설문 조사를 실시하되 적어도 </a:t>
            </a:r>
            <a:r>
              <a:rPr lang="en-US" altLang="ko-KR" sz="1800" b="0" dirty="0">
                <a:cs typeface="함초롬돋움" panose="020B0604000101010101" pitchFamily="50" charset="-127"/>
              </a:rPr>
              <a:t>200</a:t>
            </a:r>
            <a:r>
              <a:rPr lang="ko-KR" altLang="en-US" sz="1800" b="0" dirty="0">
                <a:cs typeface="함초롬돋움" panose="020B0604000101010101" pitchFamily="50" charset="-127"/>
              </a:rPr>
              <a:t>부 이상의 자료를 수집</a:t>
            </a:r>
            <a:endParaRPr lang="en-US" altLang="ko-KR" sz="1800" b="0" dirty="0">
              <a:cs typeface="함초롬돋움" panose="020B0604000101010101" pitchFamily="50" charset="-127"/>
            </a:endParaRPr>
          </a:p>
          <a:p>
            <a:pPr eaLnBrk="1" hangingPunct="1">
              <a:buClr>
                <a:schemeClr val="tx1"/>
              </a:buClr>
            </a:pPr>
            <a:endParaRPr lang="ko-KR" altLang="en-US" sz="1800" b="0" dirty="0">
              <a:cs typeface="함초롬돋움" panose="020B0604000101010101" pitchFamily="50" charset="-127"/>
            </a:endParaRPr>
          </a:p>
          <a:p>
            <a:pPr eaLnBrk="1" hangingPunct="1">
              <a:buClr>
                <a:schemeClr val="tx1"/>
              </a:buClr>
            </a:pPr>
            <a:r>
              <a:rPr lang="ko-KR" altLang="en-US" sz="1800" b="0" dirty="0">
                <a:cs typeface="함초롬돋움" panose="020B0604000101010101" pitchFamily="50" charset="-127"/>
              </a:rPr>
              <a:t>④ 통계 분석</a:t>
            </a:r>
            <a:r>
              <a:rPr lang="en-US" altLang="ko-KR" sz="1800" b="0" dirty="0">
                <a:cs typeface="함초롬돋움" panose="020B0604000101010101" pitchFamily="50" charset="-127"/>
              </a:rPr>
              <a:t>(</a:t>
            </a:r>
            <a:r>
              <a:rPr lang="ko-KR" altLang="en-US" sz="1800" b="0" dirty="0">
                <a:cs typeface="함초롬돋움" panose="020B0604000101010101" pitchFamily="50" charset="-127"/>
              </a:rPr>
              <a:t>탐색적 요인 분석과 다중 회귀 분석</a:t>
            </a:r>
            <a:r>
              <a:rPr lang="en-US" altLang="ko-KR" sz="1800" b="0" dirty="0">
                <a:cs typeface="함초롬돋움" panose="020B0604000101010101" pitchFamily="50" charset="-127"/>
              </a:rPr>
              <a:t>)</a:t>
            </a:r>
            <a:r>
              <a:rPr lang="ko-KR" altLang="en-US" sz="1800" b="0" dirty="0">
                <a:cs typeface="함초롬돋움" panose="020B0604000101010101" pitchFamily="50" charset="-127"/>
              </a:rPr>
              <a:t>을 통해 고객 만족도에 통계적으로 유의한 영 향을 미치는 품질요소가 무엇인지 확인</a:t>
            </a:r>
            <a:endParaRPr lang="en-US" altLang="ko-KR" sz="1800" b="0" dirty="0"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8981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5F798448-71B6-402C-A5F8-45D6ADC6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 품질 개념과 구성요소</a:t>
            </a:r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3A93ADE6-6B93-4750-960F-369C0EB2B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88" y="1228725"/>
            <a:ext cx="11279986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2000" b="0" dirty="0">
                <a:cs typeface="함초롬돋움" panose="020B0604000101010101" pitchFamily="50" charset="-127"/>
              </a:rPr>
              <a:t>(3) </a:t>
            </a:r>
            <a:r>
              <a:rPr lang="ko-KR" altLang="en-US" sz="2000" b="0" dirty="0">
                <a:cs typeface="함초롬돋움" panose="020B0604000101010101" pitchFamily="50" charset="-127"/>
              </a:rPr>
              <a:t>핵심 서비스 품질 구성요소 도출하기</a:t>
            </a:r>
            <a:r>
              <a:rPr lang="en-US" altLang="ko-KR" sz="2000" b="0" dirty="0">
                <a:cs typeface="함초롬돋움" panose="020B0604000101010101" pitchFamily="50" charset="-127"/>
              </a:rPr>
              <a:t>(</a:t>
            </a:r>
            <a:r>
              <a:rPr lang="ko-KR" altLang="en-US" sz="2000" b="0" dirty="0">
                <a:cs typeface="함초롬돋움" panose="020B0604000101010101" pitchFamily="50" charset="-127"/>
              </a:rPr>
              <a:t>그룹활동</a:t>
            </a:r>
            <a:r>
              <a:rPr lang="en-US" altLang="ko-KR" sz="2000" b="0" dirty="0">
                <a:cs typeface="함초롬돋움" panose="020B0604000101010101" pitchFamily="50" charset="-127"/>
              </a:rPr>
              <a:t>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C882CA1-800F-4177-9B2E-5EC35A29E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07" y="2058073"/>
            <a:ext cx="5049094" cy="235661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1395E5F-A3A4-4493-A78D-215DA863D8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8891"/>
          <a:stretch/>
        </p:blipFill>
        <p:spPr>
          <a:xfrm>
            <a:off x="6274600" y="2058073"/>
            <a:ext cx="5586474" cy="391774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20EF084-9384-41E3-AA66-FAA7F0DEA4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9223" y="2860606"/>
            <a:ext cx="2067822" cy="7515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36A4E7F-5128-466C-9095-A7E2E1C0AB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3885" y="4698852"/>
            <a:ext cx="4082516" cy="155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60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5F798448-71B6-402C-A5F8-45D6ADC6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왜 고객만족</a:t>
            </a: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고객만족 하는 걸까</a:t>
            </a: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?</a:t>
            </a:r>
            <a:endParaRPr lang="ko-KR" altLang="en-US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3A93ADE6-6B93-4750-960F-369C0EB2B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363" y="1313601"/>
            <a:ext cx="9306481" cy="4816642"/>
          </a:xfrm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en-US" altLang="ko-KR" sz="2000" b="0" dirty="0"/>
              <a:t> </a:t>
            </a:r>
            <a:r>
              <a:rPr lang="ko-KR" altLang="en-US" sz="2000" b="0" dirty="0">
                <a:cs typeface="함초롬돋움" panose="020B0604000101010101" pitchFamily="50" charset="-127"/>
              </a:rPr>
              <a:t>고객은 모든 사업에서 가장 중요한 사람이며</a:t>
            </a:r>
            <a:r>
              <a:rPr lang="en-US" altLang="ko-KR" sz="2000" b="0" dirty="0">
                <a:cs typeface="함초롬돋움" panose="020B0604000101010101" pitchFamily="50" charset="-127"/>
              </a:rPr>
              <a:t>, </a:t>
            </a:r>
            <a:r>
              <a:rPr lang="ko-KR" altLang="en-US" sz="2000" b="0" dirty="0">
                <a:cs typeface="함초롬돋움" panose="020B0604000101010101" pitchFamily="50" charset="-127"/>
              </a:rPr>
              <a:t>모든 사업은 고객에게 의존</a:t>
            </a:r>
            <a:endParaRPr lang="en-US" altLang="ko-KR" sz="2000" b="0" dirty="0"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2000" b="0" dirty="0">
                <a:cs typeface="함초롬돋움" panose="020B0604000101010101" pitchFamily="50" charset="-127"/>
              </a:rPr>
              <a:t> 고객은 시장 트렌드와 방향을 지시하는 사람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2000" b="0" dirty="0">
                <a:cs typeface="함초롬돋움" panose="020B0604000101010101" pitchFamily="50" charset="-127"/>
              </a:rPr>
              <a:t> 고객을 만족시키는 것은 사업 성공에 절대적인 요소이며 고객만족은 서비스 기업에 대한 충성도를 향상 시킴</a:t>
            </a:r>
            <a:endParaRPr lang="en-US" altLang="ko-KR" sz="2000" b="0" dirty="0"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2000" b="0" dirty="0">
                <a:cs typeface="함초롬돋움" panose="020B0604000101010101" pitchFamily="50" charset="-127"/>
              </a:rPr>
              <a:t> 만족한 고객의 입소문은 신규 고객을 확보하는데 많은 도움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2000" b="0" dirty="0">
                <a:cs typeface="함초롬돋움" panose="020B0604000101010101" pitchFamily="50" charset="-127"/>
              </a:rPr>
              <a:t> 충성고객 </a:t>
            </a:r>
            <a:r>
              <a:rPr lang="en-US" altLang="ko-KR" sz="2000" b="0" dirty="0">
                <a:cs typeface="함초롬돋움" panose="020B0604000101010101" pitchFamily="50" charset="-127"/>
              </a:rPr>
              <a:t>5%</a:t>
            </a:r>
            <a:r>
              <a:rPr lang="ko-KR" altLang="en-US" sz="2000" b="0" dirty="0">
                <a:cs typeface="함초롬돋움" panose="020B0604000101010101" pitchFamily="50" charset="-127"/>
              </a:rPr>
              <a:t>를 증가시키면 기업 이익은 </a:t>
            </a:r>
            <a:r>
              <a:rPr lang="en-US" altLang="ko-KR" sz="2000" b="0" dirty="0">
                <a:cs typeface="함초롬돋움" panose="020B0604000101010101" pitchFamily="50" charset="-127"/>
              </a:rPr>
              <a:t>25%~85% </a:t>
            </a:r>
            <a:r>
              <a:rPr lang="ko-KR" altLang="en-US" sz="2000" b="0" dirty="0">
                <a:cs typeface="함초롬돋움" panose="020B0604000101010101" pitchFamily="50" charset="-127"/>
              </a:rPr>
              <a:t>증가</a:t>
            </a:r>
            <a:endParaRPr lang="ko-KR" altLang="en-US" b="0" dirty="0"/>
          </a:p>
        </p:txBody>
      </p:sp>
      <p:sp>
        <p:nvSpPr>
          <p:cNvPr id="14340" name="직사각형 9">
            <a:extLst>
              <a:ext uri="{FF2B5EF4-FFF2-40B4-BE49-F238E27FC236}">
                <a16:creationId xmlns:a16="http://schemas.microsoft.com/office/drawing/2014/main" id="{7D14795D-965B-4913-A9DF-BEF5D5E0B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B0D6A2-CA06-4203-862F-03402EDEA20F}"/>
              </a:ext>
            </a:extLst>
          </p:cNvPr>
          <p:cNvSpPr txBox="1"/>
          <p:nvPr/>
        </p:nvSpPr>
        <p:spPr>
          <a:xfrm>
            <a:off x="1526283" y="4967481"/>
            <a:ext cx="91394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서비스품질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-</a:t>
            </a:r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고객만족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-</a:t>
            </a:r>
            <a:r>
              <a:rPr lang="ko-KR" altLang="en-US" sz="2000" dirty="0" err="1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고객충성도는</a:t>
            </a:r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인과관계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!!</a:t>
            </a:r>
          </a:p>
          <a:p>
            <a:pPr algn="ctr"/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따라서 지속적으로 고객 기대수준을 충족시켜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</a:t>
            </a:r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고객만족을 달성해야 경쟁 우위 확보할 수 있음</a:t>
            </a:r>
            <a:endParaRPr lang="en-US" altLang="ko-KR" sz="2000" dirty="0">
              <a:solidFill>
                <a:srgbClr val="C0000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9748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00BD4017-64D4-4BA5-A0C9-7AE89787A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2)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고객만족의 이해</a:t>
            </a: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EC31C8C2-6D82-4025-AB0F-CD0AD4E82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800" b="0"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/>
          </a:p>
        </p:txBody>
      </p:sp>
      <p:sp>
        <p:nvSpPr>
          <p:cNvPr id="16388" name="직사각형 9">
            <a:extLst>
              <a:ext uri="{FF2B5EF4-FFF2-40B4-BE49-F238E27FC236}">
                <a16:creationId xmlns:a16="http://schemas.microsoft.com/office/drawing/2014/main" id="{713395B4-573A-4FFB-9E6E-28E6968DA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8BE1922-C128-4CB3-B88D-191EEBBF5353}"/>
              </a:ext>
            </a:extLst>
          </p:cNvPr>
          <p:cNvSpPr txBox="1">
            <a:spLocks/>
          </p:cNvSpPr>
          <p:nvPr/>
        </p:nvSpPr>
        <p:spPr bwMode="auto">
          <a:xfrm>
            <a:off x="520950" y="1228725"/>
            <a:ext cx="110805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AutoNum type="arabicParenBoth"/>
            </a:pPr>
            <a:r>
              <a:rPr lang="ko-KR" altLang="en-US" sz="2000" b="0" dirty="0">
                <a:cs typeface="함초롬돋움" panose="020B0604000101010101" pitchFamily="50" charset="-127"/>
              </a:rPr>
              <a:t>고객 만족의 개념</a:t>
            </a:r>
            <a:endParaRPr lang="en-US" altLang="ko-KR" sz="2000" b="0" dirty="0"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b="0" dirty="0">
                <a:cs typeface="함초롬돋움" panose="020B0604000101010101" pitchFamily="50" charset="-127"/>
              </a:rPr>
              <a:t>고객의 만족 판단 과정은 매우 복잡한 과정을 거침</a:t>
            </a:r>
            <a:endParaRPr lang="en-US" altLang="ko-KR" sz="1800" b="0" dirty="0"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b="0" dirty="0">
                <a:cs typeface="함초롬돋움" panose="020B0604000101010101" pitchFamily="50" charset="-127"/>
              </a:rPr>
              <a:t>만족한다는 의미도 다양</a:t>
            </a:r>
            <a:endParaRPr lang="en-US" altLang="ko-KR" sz="1800" b="0" dirty="0">
              <a:cs typeface="함초롬돋움" panose="020B0604000101010101" pitchFamily="50" charset="-127"/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ko-KR" altLang="en-US" sz="16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서비스를 통해 원하는 것을 </a:t>
            </a:r>
            <a:r>
              <a:rPr lang="ko-KR" altLang="en-US" sz="1600" b="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성취</a:t>
            </a:r>
            <a:r>
              <a:rPr lang="ko-KR" altLang="en-US" sz="16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하거나</a:t>
            </a:r>
            <a:r>
              <a:rPr lang="en-US" altLang="ko-KR" sz="16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고객기대나 욕구를 </a:t>
            </a:r>
            <a:r>
              <a:rPr lang="ko-KR" altLang="en-US" sz="1600" b="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충족</a:t>
            </a:r>
            <a:r>
              <a:rPr lang="ko-KR" altLang="en-US" sz="16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하거나</a:t>
            </a:r>
            <a:r>
              <a:rPr lang="en-US" altLang="ko-KR" sz="16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서비스경험을 통해 </a:t>
            </a:r>
            <a:r>
              <a:rPr lang="ko-KR" altLang="en-US" sz="1600" b="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행복감</a:t>
            </a:r>
            <a:r>
              <a:rPr lang="ko-KR" altLang="en-US" sz="16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을 느끼거나</a:t>
            </a:r>
            <a:r>
              <a:rPr lang="en-US" altLang="ko-KR" sz="16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깜짝 이벤트를 통해 </a:t>
            </a:r>
            <a:r>
              <a:rPr lang="ko-KR" altLang="en-US" sz="1600" b="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감동</a:t>
            </a:r>
            <a:r>
              <a:rPr lang="ko-KR" altLang="en-US" sz="16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하거나</a:t>
            </a:r>
            <a:r>
              <a:rPr lang="en-US" altLang="ko-KR" sz="16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600" b="0" dirty="0" err="1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치과가서</a:t>
            </a:r>
            <a:r>
              <a:rPr lang="ko-KR" altLang="en-US" sz="16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통증을 제거함으로써 얻는 </a:t>
            </a:r>
            <a:r>
              <a:rPr lang="ko-KR" altLang="en-US" sz="1600" b="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안도감</a:t>
            </a:r>
            <a:r>
              <a:rPr lang="ko-KR" altLang="en-US" sz="16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등</a:t>
            </a:r>
            <a:r>
              <a:rPr lang="en-US" altLang="ko-KR" sz="16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</a:t>
            </a:r>
            <a:r>
              <a:rPr lang="ko-KR" altLang="en-US" sz="1600" b="0" dirty="0"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B0604000101010101" pitchFamily="50" charset="-127"/>
              </a:rPr>
              <a:t> </a:t>
            </a:r>
            <a:endParaRPr lang="en-US" altLang="ko-KR" sz="1600" b="0" dirty="0"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b="0" dirty="0">
                <a:cs typeface="함초롬돋움" panose="020B0604000101010101" pitchFamily="50" charset="-127"/>
              </a:rPr>
              <a:t>동일한 서비스에도 고객마다 만족정도가 </a:t>
            </a:r>
            <a:r>
              <a:rPr lang="ko-KR" altLang="en-US" sz="1800" b="0" dirty="0" err="1">
                <a:cs typeface="함초롬돋움" panose="020B0604000101010101" pitchFamily="50" charset="-127"/>
              </a:rPr>
              <a:t>다를수</a:t>
            </a:r>
            <a:r>
              <a:rPr lang="ko-KR" altLang="en-US" sz="1800" b="0" dirty="0">
                <a:cs typeface="함초롬돋움" panose="020B0604000101010101" pitchFamily="50" charset="-127"/>
              </a:rPr>
              <a:t> 있고</a:t>
            </a:r>
            <a:r>
              <a:rPr lang="en-US" altLang="ko-KR" sz="1800" b="0" dirty="0">
                <a:cs typeface="함초롬돋움" panose="020B0604000101010101" pitchFamily="50" charset="-127"/>
              </a:rPr>
              <a:t>, </a:t>
            </a:r>
            <a:r>
              <a:rPr lang="ko-KR" altLang="en-US" sz="1800" b="0" dirty="0">
                <a:cs typeface="함초롬돋움" panose="020B0604000101010101" pitchFamily="50" charset="-127"/>
              </a:rPr>
              <a:t>고객 기대수준</a:t>
            </a:r>
            <a:r>
              <a:rPr lang="en-US" altLang="ko-KR" sz="1800" b="0" dirty="0">
                <a:cs typeface="함초롬돋움" panose="020B0604000101010101" pitchFamily="50" charset="-127"/>
              </a:rPr>
              <a:t>, </a:t>
            </a:r>
            <a:r>
              <a:rPr lang="ko-KR" altLang="en-US" sz="1800" b="0" dirty="0">
                <a:cs typeface="함초롬돋움" panose="020B0604000101010101" pitchFamily="50" charset="-127"/>
              </a:rPr>
              <a:t>성향</a:t>
            </a:r>
            <a:r>
              <a:rPr lang="en-US" altLang="ko-KR" sz="1800" b="0" dirty="0">
                <a:cs typeface="함초롬돋움" panose="020B0604000101010101" pitchFamily="50" charset="-127"/>
              </a:rPr>
              <a:t>, </a:t>
            </a:r>
            <a:r>
              <a:rPr lang="ko-KR" altLang="en-US" sz="1800" b="0" dirty="0">
                <a:cs typeface="함초롬돋움" panose="020B0604000101010101" pitchFamily="50" charset="-127"/>
              </a:rPr>
              <a:t>감정</a:t>
            </a:r>
            <a:r>
              <a:rPr lang="en-US" altLang="ko-KR" sz="1800" b="0" dirty="0">
                <a:cs typeface="함초롬돋움" panose="020B0604000101010101" pitchFamily="50" charset="-127"/>
              </a:rPr>
              <a:t>, </a:t>
            </a:r>
            <a:r>
              <a:rPr lang="ko-KR" altLang="en-US" sz="1800" b="0" dirty="0">
                <a:cs typeface="함초롬돋움" panose="020B0604000101010101" pitchFamily="50" charset="-127"/>
              </a:rPr>
              <a:t>기분상태</a:t>
            </a:r>
            <a:r>
              <a:rPr lang="en-US" altLang="ko-KR" sz="1800" b="0" dirty="0">
                <a:cs typeface="함초롬돋움" panose="020B0604000101010101" pitchFamily="50" charset="-127"/>
              </a:rPr>
              <a:t>, </a:t>
            </a:r>
            <a:r>
              <a:rPr lang="ko-KR" altLang="en-US" sz="1800" b="0" dirty="0">
                <a:cs typeface="함초롬돋움" panose="020B0604000101010101" pitchFamily="50" charset="-127"/>
              </a:rPr>
              <a:t>서비스의 공정성</a:t>
            </a:r>
            <a:r>
              <a:rPr lang="en-US" altLang="ko-KR" sz="1800" b="0" dirty="0">
                <a:cs typeface="함초롬돋움" panose="020B0604000101010101" pitchFamily="50" charset="-127"/>
              </a:rPr>
              <a:t>, </a:t>
            </a:r>
            <a:r>
              <a:rPr lang="ko-KR" altLang="en-US" sz="1800" b="0" dirty="0">
                <a:cs typeface="함초롬돋움" panose="020B0604000101010101" pitchFamily="50" charset="-127"/>
              </a:rPr>
              <a:t>과거경험</a:t>
            </a:r>
            <a:r>
              <a:rPr lang="en-US" altLang="ko-KR" sz="1800" b="0" dirty="0">
                <a:cs typeface="함초롬돋움" panose="020B0604000101010101" pitchFamily="50" charset="-127"/>
              </a:rPr>
              <a:t>, </a:t>
            </a:r>
            <a:r>
              <a:rPr lang="ko-KR" altLang="en-US" sz="1800" b="0" dirty="0">
                <a:cs typeface="함초롬돋움" panose="020B0604000101010101" pitchFamily="50" charset="-127"/>
              </a:rPr>
              <a:t>다른 고객들에 의해서도 만족에 대한 평가는 달라질 수 있음 </a:t>
            </a:r>
            <a:endParaRPr lang="en-US" altLang="ko-KR" sz="1800" b="0" dirty="0"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b="0" dirty="0">
                <a:cs typeface="함초롬돋움" panose="020B0604000101010101" pitchFamily="50" charset="-127"/>
              </a:rPr>
              <a:t>＂만족은 소비자가 제품이나 서비스의 소비로 얻 게 된 결과가 즐거운 수준이라고 판단하는 것</a:t>
            </a:r>
            <a:r>
              <a:rPr lang="en-US" altLang="ko-KR" sz="1800" b="0" dirty="0">
                <a:cs typeface="함초롬돋움" panose="020B0604000101010101" pitchFamily="50" charset="-127"/>
              </a:rPr>
              <a:t>(Oliver, 2010)”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altLang="ko-KR" sz="2000" b="0" dirty="0">
              <a:cs typeface="함초롬돋움" panose="020B0604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6EEF63E-2D8D-4DAC-9C47-796A94A3BFD5}"/>
              </a:ext>
            </a:extLst>
          </p:cNvPr>
          <p:cNvSpPr/>
          <p:nvPr/>
        </p:nvSpPr>
        <p:spPr>
          <a:xfrm>
            <a:off x="822807" y="5474494"/>
            <a:ext cx="107786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고객만족은 </a:t>
            </a:r>
            <a:r>
              <a:rPr lang="ko-KR" altLang="en-US" sz="2000" u="sng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 품질요소의</a:t>
            </a:r>
            <a:r>
              <a:rPr lang="en-US" altLang="ko-KR" sz="2000" u="sng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‘</a:t>
            </a:r>
            <a:r>
              <a:rPr lang="ko-KR" altLang="en-US" sz="2000" u="sng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기대 수준의 충족</a:t>
            </a:r>
            <a:r>
              <a:rPr lang="en-US" altLang="ko-KR" sz="2000" u="sng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(fulfillment)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’</a:t>
            </a:r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이외에 긍정적 느낌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(feeling), </a:t>
            </a:r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성취감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(contentment), </a:t>
            </a:r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기쁨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(pleasure), </a:t>
            </a:r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감동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(delight), </a:t>
            </a:r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안도감</a:t>
            </a:r>
            <a:r>
              <a:rPr lang="en-US" altLang="ko-KR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(relief)</a:t>
            </a:r>
            <a:r>
              <a:rPr lang="ko-KR" altLang="en-US" sz="2000" dirty="0">
                <a:solidFill>
                  <a:srgbClr val="C0000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등 인지적 및 감정적 평가가 모두 포함</a:t>
            </a:r>
            <a:endParaRPr lang="en-US" altLang="ko-KR" sz="2000" dirty="0">
              <a:solidFill>
                <a:srgbClr val="C0000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00BD4017-64D4-4BA5-A0C9-7AE89787A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2)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고객만족의 이해</a:t>
            </a: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EC31C8C2-6D82-4025-AB0F-CD0AD4E82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800" b="0" dirty="0"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8BE1922-C128-4CB3-B88D-191EEBBF5353}"/>
              </a:ext>
            </a:extLst>
          </p:cNvPr>
          <p:cNvSpPr txBox="1">
            <a:spLocks/>
          </p:cNvSpPr>
          <p:nvPr/>
        </p:nvSpPr>
        <p:spPr bwMode="auto">
          <a:xfrm>
            <a:off x="520950" y="1228726"/>
            <a:ext cx="9580313" cy="519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AutoNum type="arabicParenBoth"/>
            </a:pPr>
            <a:r>
              <a:rPr lang="ko-KR" altLang="en-US" sz="2000" b="0" dirty="0">
                <a:cs typeface="함초롬돋움" panose="020B0604000101010101" pitchFamily="50" charset="-127"/>
              </a:rPr>
              <a:t>고객 만족의 개념</a:t>
            </a:r>
            <a:endParaRPr lang="en-US" altLang="ko-KR" sz="2000" b="0" dirty="0"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altLang="ko-KR" sz="2000" b="0" dirty="0">
              <a:cs typeface="함초롬돋움" panose="020B0604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4AC5CAF-5711-4194-976C-F38F16298545}"/>
              </a:ext>
            </a:extLst>
          </p:cNvPr>
          <p:cNvGrpSpPr/>
          <p:nvPr/>
        </p:nvGrpSpPr>
        <p:grpSpPr>
          <a:xfrm>
            <a:off x="822297" y="2015849"/>
            <a:ext cx="10329953" cy="4308751"/>
            <a:chOff x="822297" y="2015849"/>
            <a:chExt cx="10329953" cy="430875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357FDD7-EDCF-4011-948C-6EC15DED1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46639" y="2573194"/>
              <a:ext cx="6469091" cy="3751406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76EEF63E-2D8D-4DAC-9C47-796A94A3BFD5}"/>
                </a:ext>
              </a:extLst>
            </p:cNvPr>
            <p:cNvSpPr/>
            <p:nvPr/>
          </p:nvSpPr>
          <p:spPr>
            <a:xfrm>
              <a:off x="950850" y="2015849"/>
              <a:ext cx="102014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dirty="0">
                  <a:latin typeface="서울남산 장체 M" panose="02020503020101020101" pitchFamily="18" charset="-127"/>
                  <a:ea typeface="서울남산 장체 M" panose="02020503020101020101" pitchFamily="18" charset="-127"/>
                </a:rPr>
                <a:t>제공받은 서비스가 고객 니즈나 기대수준에 충족되었는지에 대한 고객의 주관적 평가</a:t>
              </a: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EC1D956-4E1A-48D2-92B0-E621D926F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2297" y="3044331"/>
              <a:ext cx="2506726" cy="1977784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8E7AA70-10D2-4B29-8236-E8C1A2730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3347357" y="3438334"/>
              <a:ext cx="1250072" cy="1022813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B45781D-9221-4A5F-ACC3-4F4229DC479F}"/>
                </a:ext>
              </a:extLst>
            </p:cNvPr>
            <p:cNvSpPr/>
            <p:nvPr/>
          </p:nvSpPr>
          <p:spPr>
            <a:xfrm>
              <a:off x="4528049" y="3576300"/>
              <a:ext cx="6355915" cy="644935"/>
            </a:xfrm>
            <a:prstGeom prst="rect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서울남산 장체 M" panose="02020503020101020101" pitchFamily="18" charset="-127"/>
                <a:ea typeface="서울남산 장체 M" panose="020205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9679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00BD4017-64D4-4BA5-A0C9-7AE89787A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2)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고객만족의 이해</a:t>
            </a: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EC31C8C2-6D82-4025-AB0F-CD0AD4E82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800" b="0"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/>
          </a:p>
        </p:txBody>
      </p:sp>
      <p:sp>
        <p:nvSpPr>
          <p:cNvPr id="16388" name="직사각형 9">
            <a:extLst>
              <a:ext uri="{FF2B5EF4-FFF2-40B4-BE49-F238E27FC236}">
                <a16:creationId xmlns:a16="http://schemas.microsoft.com/office/drawing/2014/main" id="{713395B4-573A-4FFB-9E6E-28E6968DA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8BE1922-C128-4CB3-B88D-191EEBBF5353}"/>
              </a:ext>
            </a:extLst>
          </p:cNvPr>
          <p:cNvSpPr txBox="1">
            <a:spLocks/>
          </p:cNvSpPr>
          <p:nvPr/>
        </p:nvSpPr>
        <p:spPr bwMode="auto">
          <a:xfrm>
            <a:off x="520950" y="1228726"/>
            <a:ext cx="11080500" cy="757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2000" b="0" dirty="0">
                <a:cs typeface="함초롬돋움" panose="020B0604000101010101" pitchFamily="50" charset="-127"/>
              </a:rPr>
              <a:t>(2) </a:t>
            </a:r>
            <a:r>
              <a:rPr lang="ko-KR" altLang="en-US" sz="2000" b="0" dirty="0">
                <a:cs typeface="함초롬돋움" panose="020B0604000101010101" pitchFamily="50" charset="-127"/>
              </a:rPr>
              <a:t>서비스 품질</a:t>
            </a:r>
            <a:r>
              <a:rPr lang="en-US" altLang="ko-KR" sz="2000" b="0" dirty="0">
                <a:cs typeface="함초롬돋움" panose="020B0604000101010101" pitchFamily="50" charset="-127"/>
              </a:rPr>
              <a:t>-</a:t>
            </a:r>
            <a:r>
              <a:rPr lang="ko-KR" altLang="en-US" sz="2000" b="0" dirty="0">
                <a:cs typeface="함초롬돋움" panose="020B0604000101010101" pitchFamily="50" charset="-127"/>
              </a:rPr>
              <a:t>고객만족</a:t>
            </a:r>
            <a:r>
              <a:rPr lang="en-US" altLang="ko-KR" sz="2000" b="0" dirty="0">
                <a:cs typeface="함초롬돋움" panose="020B0604000101010101" pitchFamily="50" charset="-127"/>
              </a:rPr>
              <a:t>-</a:t>
            </a:r>
            <a:r>
              <a:rPr lang="ko-KR" altLang="en-US" sz="2000" b="0" dirty="0">
                <a:cs typeface="함초롬돋움" panose="020B0604000101010101" pitchFamily="50" charset="-127"/>
              </a:rPr>
              <a:t>충성도의 관계</a:t>
            </a:r>
            <a:endParaRPr lang="en-US" altLang="ko-KR" sz="2000" b="0" dirty="0"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altLang="ko-KR" sz="2000" b="0" dirty="0">
              <a:cs typeface="함초롬돋움" panose="020B0604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2FEE0DA-EF1F-4196-A4CA-B0839E71C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20" y="2031588"/>
            <a:ext cx="7007098" cy="43934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A39A347-8EBB-4FB2-8545-F4C2E99A3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387" y="1084263"/>
            <a:ext cx="434787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586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00BD4017-64D4-4BA5-A0C9-7AE89787A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2)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고객만족의 이해</a:t>
            </a: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EC31C8C2-6D82-4025-AB0F-CD0AD4E82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800" b="0" dirty="0"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 dirty="0"/>
          </a:p>
        </p:txBody>
      </p:sp>
      <p:sp>
        <p:nvSpPr>
          <p:cNvPr id="16388" name="직사각형 9">
            <a:extLst>
              <a:ext uri="{FF2B5EF4-FFF2-40B4-BE49-F238E27FC236}">
                <a16:creationId xmlns:a16="http://schemas.microsoft.com/office/drawing/2014/main" id="{713395B4-573A-4FFB-9E6E-28E6968DA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8BE1922-C128-4CB3-B88D-191EEBBF5353}"/>
              </a:ext>
            </a:extLst>
          </p:cNvPr>
          <p:cNvSpPr txBox="1">
            <a:spLocks/>
          </p:cNvSpPr>
          <p:nvPr/>
        </p:nvSpPr>
        <p:spPr bwMode="auto">
          <a:xfrm>
            <a:off x="475601" y="1228725"/>
            <a:ext cx="11371911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+mn-cs"/>
              </a:defRPr>
            </a:lvl1pPr>
            <a:lvl2pPr marL="1793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defRPr sz="24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2pPr>
            <a:lvl3pPr marL="4476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 sz="2000"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3pPr>
            <a:lvl4pPr marL="627063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ern="120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2000" b="0" dirty="0">
                <a:cs typeface="함초롬돋움" panose="020B0604000101010101" pitchFamily="50" charset="-127"/>
              </a:rPr>
              <a:t>(2) </a:t>
            </a:r>
            <a:r>
              <a:rPr lang="ko-KR" altLang="en-US" sz="2000" b="0" dirty="0">
                <a:cs typeface="함초롬돋움" panose="020B0604000101010101" pitchFamily="50" charset="-127"/>
              </a:rPr>
              <a:t>서비스 품질</a:t>
            </a:r>
            <a:r>
              <a:rPr lang="en-US" altLang="ko-KR" sz="2000" b="0" dirty="0">
                <a:cs typeface="함초롬돋움" panose="020B0604000101010101" pitchFamily="50" charset="-127"/>
              </a:rPr>
              <a:t>-</a:t>
            </a:r>
            <a:r>
              <a:rPr lang="ko-KR" altLang="en-US" sz="2000" b="0" dirty="0">
                <a:cs typeface="함초롬돋움" panose="020B0604000101010101" pitchFamily="50" charset="-127"/>
              </a:rPr>
              <a:t>고객만족</a:t>
            </a:r>
            <a:r>
              <a:rPr lang="en-US" altLang="ko-KR" sz="2000" b="0" dirty="0">
                <a:cs typeface="함초롬돋움" panose="020B0604000101010101" pitchFamily="50" charset="-127"/>
              </a:rPr>
              <a:t>-</a:t>
            </a:r>
            <a:r>
              <a:rPr lang="ko-KR" altLang="en-US" sz="2000" b="0" dirty="0">
                <a:cs typeface="함초롬돋움" panose="020B0604000101010101" pitchFamily="50" charset="-127"/>
              </a:rPr>
              <a:t>충성도의 관계</a:t>
            </a:r>
            <a:endParaRPr lang="en-US" altLang="ko-KR" sz="2000" b="0" dirty="0"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b="0" dirty="0">
                <a:cs typeface="함초롬돋움" panose="020B0604000101010101" pitchFamily="50" charset="-127"/>
              </a:rPr>
              <a:t>고객만족도 측정 </a:t>
            </a:r>
            <a:r>
              <a:rPr lang="en-US" altLang="ko-KR" sz="1800" b="0" dirty="0">
                <a:cs typeface="함초롬돋움" panose="020B0604000101010101" pitchFamily="50" charset="-127"/>
              </a:rPr>
              <a:t>– </a:t>
            </a:r>
            <a:r>
              <a:rPr lang="ko-KR" altLang="en-US" sz="1800" b="0" dirty="0">
                <a:cs typeface="함초롬돋움" panose="020B0604000101010101" pitchFamily="50" charset="-127"/>
              </a:rPr>
              <a:t>보통 </a:t>
            </a:r>
            <a:r>
              <a:rPr lang="en-US" altLang="ko-KR" sz="1800" b="0" dirty="0">
                <a:cs typeface="함초롬돋움" panose="020B0604000101010101" pitchFamily="50" charset="-127"/>
              </a:rPr>
              <a:t>5</a:t>
            </a:r>
            <a:r>
              <a:rPr lang="ko-KR" altLang="en-US" sz="1800" b="0" dirty="0">
                <a:cs typeface="함초롬돋움" panose="020B0604000101010101" pitchFamily="50" charset="-127"/>
              </a:rPr>
              <a:t>점 척도로 질문</a:t>
            </a:r>
            <a:endParaRPr lang="en-US" altLang="ko-KR" sz="1800" b="0" dirty="0"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b="0" dirty="0">
                <a:cs typeface="함초롬돋움" panose="020B0604000101010101" pitchFamily="50" charset="-127"/>
              </a:rPr>
              <a:t>고객만족도가 높을 수록 고객 충성도와 기업의 수익 향상</a:t>
            </a:r>
            <a:endParaRPr lang="en-US" altLang="ko-KR" sz="1800" b="0" dirty="0"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1800" b="0" dirty="0">
                <a:cs typeface="함초롬돋움" panose="020B0604000101010101" pitchFamily="50" charset="-127"/>
              </a:rPr>
              <a:t>4</a:t>
            </a:r>
            <a:r>
              <a:rPr lang="ko-KR" altLang="en-US" sz="1800" b="0" dirty="0">
                <a:cs typeface="함초롬돋움" panose="020B0604000101010101" pitchFamily="50" charset="-127"/>
              </a:rPr>
              <a:t>점</a:t>
            </a:r>
            <a:r>
              <a:rPr lang="en-US" altLang="ko-KR" sz="1800" b="0" dirty="0">
                <a:cs typeface="함초롬돋움" panose="020B0604000101010101" pitchFamily="50" charset="-127"/>
              </a:rPr>
              <a:t>(</a:t>
            </a:r>
            <a:r>
              <a:rPr lang="ko-KR" altLang="en-US" sz="1800" b="0" dirty="0">
                <a:cs typeface="함초롬돋움" panose="020B0604000101010101" pitchFamily="50" charset="-127"/>
              </a:rPr>
              <a:t>만족</a:t>
            </a:r>
            <a:r>
              <a:rPr lang="en-US" altLang="ko-KR" sz="1800" b="0" dirty="0">
                <a:cs typeface="함초롬돋움" panose="020B0604000101010101" pitchFamily="50" charset="-127"/>
              </a:rPr>
              <a:t>)</a:t>
            </a:r>
            <a:r>
              <a:rPr lang="ko-KR" altLang="en-US" sz="1800" b="0" dirty="0">
                <a:cs typeface="함초롬돋움" panose="020B0604000101010101" pitchFamily="50" charset="-127"/>
              </a:rPr>
              <a:t>보다 </a:t>
            </a:r>
            <a:r>
              <a:rPr lang="en-US" altLang="ko-KR" sz="1800" b="0" dirty="0">
                <a:cs typeface="함초롬돋움" panose="020B0604000101010101" pitchFamily="50" charset="-127"/>
              </a:rPr>
              <a:t>5</a:t>
            </a:r>
            <a:r>
              <a:rPr lang="ko-KR" altLang="en-US" sz="1800" b="0" dirty="0">
                <a:cs typeface="함초롬돋움" panose="020B0604000101010101" pitchFamily="50" charset="-127"/>
              </a:rPr>
              <a:t>점</a:t>
            </a:r>
            <a:r>
              <a:rPr lang="en-US" altLang="ko-KR" sz="1800" b="0" dirty="0">
                <a:cs typeface="함초롬돋움" panose="020B0604000101010101" pitchFamily="50" charset="-127"/>
              </a:rPr>
              <a:t>(</a:t>
            </a:r>
            <a:r>
              <a:rPr lang="ko-KR" altLang="en-US" sz="1800" b="0" dirty="0" err="1">
                <a:cs typeface="함초롬돋움" panose="020B0604000101010101" pitchFamily="50" charset="-127"/>
              </a:rPr>
              <a:t>매우만족</a:t>
            </a:r>
            <a:r>
              <a:rPr lang="en-US" altLang="ko-KR" sz="1800" b="0" dirty="0">
                <a:cs typeface="함초롬돋움" panose="020B0604000101010101" pitchFamily="50" charset="-127"/>
              </a:rPr>
              <a:t>)</a:t>
            </a:r>
            <a:r>
              <a:rPr lang="ko-KR" altLang="en-US" sz="1800" b="0" dirty="0">
                <a:cs typeface="함초롬돋움" panose="020B0604000101010101" pitchFamily="50" charset="-127"/>
              </a:rPr>
              <a:t>이라고 응답한 고객이 충성고객이 될 확률은 </a:t>
            </a:r>
            <a:r>
              <a:rPr lang="en-US" altLang="ko-KR" sz="1800" b="0" dirty="0">
                <a:cs typeface="함초롬돋움" panose="020B0604000101010101" pitchFamily="50" charset="-127"/>
              </a:rPr>
              <a:t>6</a:t>
            </a:r>
            <a:r>
              <a:rPr lang="ko-KR" altLang="en-US" sz="1800" b="0" dirty="0">
                <a:cs typeface="함초롬돋움" panose="020B0604000101010101" pitchFamily="50" charset="-127"/>
              </a:rPr>
              <a:t>배나 높음</a:t>
            </a:r>
            <a:r>
              <a:rPr lang="en-US" altLang="ko-KR" sz="1800" b="0" dirty="0">
                <a:cs typeface="함초롬돋움" panose="020B0604000101010101" pitchFamily="50" charset="-127"/>
              </a:rPr>
              <a:t> -&gt; </a:t>
            </a:r>
            <a:r>
              <a:rPr lang="ko-KR" altLang="en-US" sz="1800" b="0" dirty="0">
                <a:cs typeface="함초롬돋움" panose="020B0604000101010101" pitchFamily="50" charset="-127"/>
              </a:rPr>
              <a:t>그냥 만족한 수준</a:t>
            </a:r>
            <a:r>
              <a:rPr lang="en-US" altLang="ko-KR" sz="1800" b="0" dirty="0">
                <a:cs typeface="함초롬돋움" panose="020B0604000101010101" pitchFamily="50" charset="-127"/>
              </a:rPr>
              <a:t>(4</a:t>
            </a:r>
            <a:r>
              <a:rPr lang="ko-KR" altLang="en-US" sz="1800" b="0" dirty="0">
                <a:cs typeface="함초롬돋움" panose="020B0604000101010101" pitchFamily="50" charset="-127"/>
              </a:rPr>
              <a:t>점</a:t>
            </a:r>
            <a:r>
              <a:rPr lang="en-US" altLang="ko-KR" sz="1800" b="0" dirty="0">
                <a:cs typeface="함초롬돋움" panose="020B0604000101010101" pitchFamily="50" charset="-127"/>
              </a:rPr>
              <a:t>)</a:t>
            </a:r>
            <a:r>
              <a:rPr lang="ko-KR" altLang="en-US" sz="1800" b="0" dirty="0">
                <a:cs typeface="함초롬돋움" panose="020B0604000101010101" pitchFamily="50" charset="-127"/>
              </a:rPr>
              <a:t>의 서비스는 충성고객을 만들기에 충분하지 않음을 의미</a:t>
            </a:r>
            <a:endParaRPr lang="en-US" altLang="ko-KR" sz="1800" b="0" dirty="0"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b="0" dirty="0">
                <a:cs typeface="함초롬돋움" panose="020B0604000101010101" pitchFamily="50" charset="-127"/>
              </a:rPr>
              <a:t>고객만족의 관리 목표를 </a:t>
            </a:r>
            <a:r>
              <a:rPr lang="en-US" altLang="ko-KR" sz="1800" b="0" dirty="0">
                <a:cs typeface="함초롬돋움" panose="020B0604000101010101" pitchFamily="50" charset="-127"/>
              </a:rPr>
              <a:t>5</a:t>
            </a:r>
            <a:r>
              <a:rPr lang="ko-KR" altLang="en-US" sz="1800" b="0" dirty="0">
                <a:cs typeface="함초롬돋움" panose="020B0604000101010101" pitchFamily="50" charset="-127"/>
              </a:rPr>
              <a:t>점</a:t>
            </a:r>
            <a:r>
              <a:rPr lang="en-US" altLang="ko-KR" sz="1800" b="0" dirty="0">
                <a:cs typeface="함초롬돋움" panose="020B0604000101010101" pitchFamily="50" charset="-127"/>
              </a:rPr>
              <a:t>(</a:t>
            </a:r>
            <a:r>
              <a:rPr lang="ko-KR" altLang="en-US" sz="1800" b="0" dirty="0" err="1">
                <a:cs typeface="함초롬돋움" panose="020B0604000101010101" pitchFamily="50" charset="-127"/>
              </a:rPr>
              <a:t>매우만족</a:t>
            </a:r>
            <a:r>
              <a:rPr lang="en-US" altLang="ko-KR" sz="1800" b="0" dirty="0">
                <a:cs typeface="함초롬돋움" panose="020B0604000101010101" pitchFamily="50" charset="-127"/>
              </a:rPr>
              <a:t>)</a:t>
            </a:r>
            <a:r>
              <a:rPr lang="ko-KR" altLang="en-US" sz="1800" b="0" dirty="0">
                <a:cs typeface="함초롬돋움" panose="020B0604000101010101" pitchFamily="50" charset="-127"/>
              </a:rPr>
              <a:t>으로 설정하고 만점에 가까운 서비스를 제공하려고 노력해야 함 </a:t>
            </a:r>
            <a:r>
              <a:rPr lang="en-US" altLang="ko-KR" sz="1800" b="0" dirty="0">
                <a:cs typeface="함초롬돋움" panose="020B0604000101010101" pitchFamily="50" charset="-127"/>
              </a:rPr>
              <a:t>(</a:t>
            </a:r>
            <a:r>
              <a:rPr lang="ko-KR" altLang="en-US" sz="1800" b="0" dirty="0">
                <a:cs typeface="함초롬돋움" panose="020B0604000101010101" pitchFamily="50" charset="-127"/>
              </a:rPr>
              <a:t>예</a:t>
            </a:r>
            <a:r>
              <a:rPr lang="en-US" altLang="ko-KR" sz="1800" b="0" dirty="0">
                <a:cs typeface="함초롬돋움" panose="020B0604000101010101" pitchFamily="50" charset="-127"/>
              </a:rPr>
              <a:t>, </a:t>
            </a:r>
            <a:r>
              <a:rPr lang="ko-KR" altLang="en-US" sz="1800" b="0" dirty="0">
                <a:cs typeface="함초롬돋움" panose="020B0604000101010101" pitchFamily="50" charset="-127"/>
              </a:rPr>
              <a:t>스타벅스 고객경험조사</a:t>
            </a:r>
            <a:r>
              <a:rPr lang="en-US" altLang="ko-KR" sz="1800" b="0" dirty="0">
                <a:cs typeface="함초롬돋움" panose="020B0604000101010101" pitchFamily="50" charset="-127"/>
              </a:rPr>
              <a:t>)</a:t>
            </a:r>
            <a:r>
              <a:rPr lang="ko-KR" altLang="en-US" sz="1800" b="0" dirty="0">
                <a:cs typeface="함초롬돋움" panose="020B0604000101010101" pitchFamily="50" charset="-127"/>
              </a:rPr>
              <a:t> </a:t>
            </a:r>
            <a:endParaRPr lang="en-US" altLang="ko-KR" sz="1800" b="0" dirty="0">
              <a:cs typeface="함초롬돋움" panose="020B0604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FC7D8EF-81DD-44FE-ACBE-E5906C147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986" y="4307454"/>
            <a:ext cx="5769166" cy="204515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F605DA6-B8EB-436C-BCFD-715D110C11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803" r="26991"/>
          <a:stretch/>
        </p:blipFill>
        <p:spPr>
          <a:xfrm>
            <a:off x="8645764" y="4108473"/>
            <a:ext cx="2180649" cy="200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67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텍스트 개체 틀 3">
            <a:extLst>
              <a:ext uri="{FF2B5EF4-FFF2-40B4-BE49-F238E27FC236}">
                <a16:creationId xmlns:a16="http://schemas.microsoft.com/office/drawing/2014/main" id="{C96D5FBC-2A62-4721-9DAF-36E63A9CE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ko-KR" dirty="0"/>
              <a:t>3. </a:t>
            </a:r>
            <a:r>
              <a:rPr lang="ko-KR" altLang="en-US" dirty="0"/>
              <a:t>갭 모델을 활용한 고품질 서비스 달성</a:t>
            </a: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E7C97B-F1BA-4121-A884-8C5CE92C5374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975AF8-F0BD-44BB-99E9-004244781CC4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ED976FD2-2F04-4C62-910F-3A8F1D768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갭</a:t>
            </a: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(gap)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모델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A3FD25-EF25-42BB-AE0E-1D4104EB813D}"/>
              </a:ext>
            </a:extLst>
          </p:cNvPr>
          <p:cNvSpPr/>
          <p:nvPr/>
        </p:nvSpPr>
        <p:spPr>
          <a:xfrm>
            <a:off x="995363" y="1287379"/>
            <a:ext cx="107786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갭 모델은 탁월한 서비스 품질 달성을 저해하는 요인을 다양한 갭으로 표현하여 갭을 줄이는 실무적인 방법을 제시</a:t>
            </a:r>
            <a:endParaRPr lang="en-US" altLang="ko-KR" sz="20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BB931AE-88E1-4C1A-8C3E-E56EC7E3BC19}"/>
              </a:ext>
            </a:extLst>
          </p:cNvPr>
          <p:cNvGrpSpPr/>
          <p:nvPr/>
        </p:nvGrpSpPr>
        <p:grpSpPr>
          <a:xfrm>
            <a:off x="2740169" y="1924288"/>
            <a:ext cx="6711662" cy="4674450"/>
            <a:chOff x="2740169" y="1924288"/>
            <a:chExt cx="6711662" cy="467445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EC689CC-6CF5-4022-A001-6E0140F22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40169" y="1924288"/>
              <a:ext cx="6711662" cy="467445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571210C-A0CB-4BFF-9626-6600565AB271}"/>
                </a:ext>
              </a:extLst>
            </p:cNvPr>
            <p:cNvSpPr/>
            <p:nvPr/>
          </p:nvSpPr>
          <p:spPr bwMode="auto">
            <a:xfrm>
              <a:off x="7010400" y="4028661"/>
              <a:ext cx="914400" cy="304800"/>
            </a:xfrm>
            <a:prstGeom prst="rect">
              <a:avLst/>
            </a:prstGeom>
            <a:solidFill>
              <a:srgbClr val="FFC000">
                <a:alpha val="27843"/>
              </a:srgbClr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서울남산 장체 M" panose="02020503020101020101" pitchFamily="18" charset="-127"/>
                <a:ea typeface="서울남산 장체 M" panose="02020503020101020101" pitchFamily="18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47F98F0-8A19-462B-A286-FD9B61D6B2B2}"/>
                </a:ext>
              </a:extLst>
            </p:cNvPr>
            <p:cNvSpPr/>
            <p:nvPr/>
          </p:nvSpPr>
          <p:spPr bwMode="auto">
            <a:xfrm>
              <a:off x="5261112" y="2756451"/>
              <a:ext cx="834887" cy="331305"/>
            </a:xfrm>
            <a:prstGeom prst="rect">
              <a:avLst/>
            </a:prstGeom>
            <a:solidFill>
              <a:srgbClr val="FFC000">
                <a:alpha val="27843"/>
              </a:srgbClr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서울남산 장체 M" panose="02020503020101020101" pitchFamily="18" charset="-127"/>
                <a:ea typeface="서울남산 장체 M" panose="02020503020101020101" pitchFamily="18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376E6C6-09FB-4C94-9690-55C68D5BA83C}"/>
                </a:ext>
              </a:extLst>
            </p:cNvPr>
            <p:cNvSpPr/>
            <p:nvPr/>
          </p:nvSpPr>
          <p:spPr bwMode="auto">
            <a:xfrm>
              <a:off x="3776868" y="2981739"/>
              <a:ext cx="834887" cy="331305"/>
            </a:xfrm>
            <a:prstGeom prst="rect">
              <a:avLst/>
            </a:prstGeom>
            <a:solidFill>
              <a:srgbClr val="FFC000">
                <a:alpha val="27843"/>
              </a:srgbClr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서울남산 장체 M" panose="02020503020101020101" pitchFamily="18" charset="-127"/>
                <a:ea typeface="서울남산 장체 M" panose="02020503020101020101" pitchFamily="18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33C8337-4024-474D-A764-CD830EE00600}"/>
                </a:ext>
              </a:extLst>
            </p:cNvPr>
            <p:cNvSpPr/>
            <p:nvPr/>
          </p:nvSpPr>
          <p:spPr bwMode="auto">
            <a:xfrm>
              <a:off x="3710607" y="4723978"/>
              <a:ext cx="834887" cy="331305"/>
            </a:xfrm>
            <a:prstGeom prst="rect">
              <a:avLst/>
            </a:prstGeom>
            <a:solidFill>
              <a:srgbClr val="FFC000">
                <a:alpha val="27843"/>
              </a:srgbClr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서울남산 장체 M" panose="02020503020101020101" pitchFamily="18" charset="-127"/>
                <a:ea typeface="서울남산 장체 M" panose="02020503020101020101" pitchFamily="18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B49DDC0-0C5C-43C4-B7EA-4513A273B991}"/>
                </a:ext>
              </a:extLst>
            </p:cNvPr>
            <p:cNvSpPr/>
            <p:nvPr/>
          </p:nvSpPr>
          <p:spPr bwMode="auto">
            <a:xfrm>
              <a:off x="5180839" y="5127746"/>
              <a:ext cx="834887" cy="331305"/>
            </a:xfrm>
            <a:prstGeom prst="rect">
              <a:avLst/>
            </a:prstGeom>
            <a:solidFill>
              <a:srgbClr val="FFC000">
                <a:alpha val="27843"/>
              </a:srgbClr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서울남산 장체 M" panose="02020503020101020101" pitchFamily="18" charset="-127"/>
                <a:ea typeface="서울남산 장체 M" panose="02020503020101020101" pitchFamily="18" charset="-127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14A83E1F-D4BD-4632-ACC9-7C89DF368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1)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 갭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CC23E6E6-BACB-4EDA-B5BE-913DC8CF6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74" y="1221931"/>
            <a:ext cx="11411226" cy="5102669"/>
          </a:xfrm>
          <a:extLst/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고객의 서비스에 대한 기대와 고객의 서비스에 대한 인식 간의 차이를 의미함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 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[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긍정적 불일치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(Positive Disconfirmation) =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탁월한 서비스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]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 [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부정적 불일치 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(Negative Disconfirmation) =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형편없는 서비스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]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     →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고객 갭은 아래 네 가지 서비스 제공자 갭으로부터 발생</a:t>
            </a:r>
          </a:p>
          <a:p>
            <a:pPr marL="285750" lvl="0" indent="-285750" eaLnBrk="1" hangingPunct="1">
              <a:lnSpc>
                <a:spcPct val="150000"/>
              </a:lnSpc>
              <a:buClr>
                <a:srgbClr val="003366"/>
              </a:buClr>
              <a:buFont typeface="서울남산 장체 M" pitchFamily="18" charset="-127"/>
              <a:buChar char="○"/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서비스 제공자 갭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(Service Provider Gaps) : </a:t>
            </a:r>
          </a:p>
          <a:p>
            <a:pPr lvl="0" eaLnBrk="1" hangingPunct="1">
              <a:lnSpc>
                <a:spcPct val="150000"/>
              </a:lnSpc>
              <a:buClr>
                <a:srgbClr val="003366"/>
              </a:buClr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     →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서비스를 제공하는 조직내에서 발생하는 것</a:t>
            </a:r>
            <a:endParaRPr lang="en-US" altLang="ko-KR" sz="18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9D1C1E7-4E24-4665-B991-F7AD97F80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006" y="4209951"/>
            <a:ext cx="6305379" cy="239201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DA7B1FBC-F69E-4286-963B-F689DB6BF089}"/>
              </a:ext>
            </a:extLst>
          </p:cNvPr>
          <p:cNvGrpSpPr/>
          <p:nvPr/>
        </p:nvGrpSpPr>
        <p:grpSpPr>
          <a:xfrm>
            <a:off x="7314733" y="1221931"/>
            <a:ext cx="4426693" cy="3270843"/>
            <a:chOff x="8046879" y="1235184"/>
            <a:chExt cx="3865122" cy="269192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DBF4985-EEB5-4A2F-9FEF-0D9100ACD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46879" y="1235184"/>
              <a:ext cx="3865122" cy="2691929"/>
            </a:xfrm>
            <a:prstGeom prst="rect">
              <a:avLst/>
            </a:prstGeom>
          </p:spPr>
        </p:pic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5F8F608D-B25D-40F2-BAE3-39250F7A13C7}"/>
                </a:ext>
              </a:extLst>
            </p:cNvPr>
            <p:cNvSpPr/>
            <p:nvPr/>
          </p:nvSpPr>
          <p:spPr bwMode="auto">
            <a:xfrm>
              <a:off x="10416209" y="1855304"/>
              <a:ext cx="675861" cy="1338470"/>
            </a:xfrm>
            <a:prstGeom prst="roundRect">
              <a:avLst/>
            </a:prstGeom>
            <a:solidFill>
              <a:srgbClr val="E4F234">
                <a:alpha val="14118"/>
              </a:srgbClr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서울남산 장체 M" panose="02020503020101020101" pitchFamily="18" charset="-127"/>
                <a:ea typeface="서울남산 장체 M" panose="02020503020101020101" pitchFamily="18" charset="-127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14A83E1F-D4BD-4632-ACC9-7C89DF368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2)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경청 갭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CC23E6E6-BACB-4EDA-B5BE-913DC8CF6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74" y="1431235"/>
            <a:ext cx="11411226" cy="4893365"/>
          </a:xfrm>
          <a:extLst/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경청 갭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(Listening gap) :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서비스에 대한 고객의 기대와 기업이 이해하는 고객의 기대 수준 차이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	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-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경청 갭의 책임은 </a:t>
            </a:r>
            <a:r>
              <a:rPr lang="ko-KR" altLang="en-US" sz="1800" b="0" dirty="0" err="1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경영자뿐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아니라 서비스 정책과 절차를 바꾸고 영향을 미칠 수 있는 권한을 가진 조직 내 모든 구성원으로 </a:t>
            </a:r>
            <a:endParaRPr lang="en-US" altLang="ko-KR" sz="18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           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범위가 확대될 수 있음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 	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-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경청 갭을 일으키는 핵심요인→ 고객조사의 부적절함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	   경영자나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M"/>
                <a:cs typeface="함초롬돋움" panose="02030504000101010101" pitchFamily="18" charset="-127"/>
              </a:rPr>
              <a:t>권한을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부여 받은 직원이 고객 기대에 대한 정확한 정보를 갖지 못하면 경청 갭은 더욱 커지게 됨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BF4985-EEB5-4A2F-9FEF-0D9100ACD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058" y="4045706"/>
            <a:ext cx="3084209" cy="227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132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14A83E1F-D4BD-4632-ACC9-7C89DF368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3)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 설계와 표준 갭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CC23E6E6-BACB-4EDA-B5BE-913DC8CF6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806" y="1325218"/>
            <a:ext cx="9581322" cy="4893365"/>
          </a:xfrm>
          <a:extLst/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서비스 설계와 표준 갭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(Service Design &amp; Standards Gap)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의 발생요인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: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-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고객 기대에 대한 기업의 이해와 고객 중심적 서비스 설계 및 표준 간의 차이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서비스 설계와 표준 갭의 방지 방법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: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-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지나친 단순화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,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불안정성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,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주관성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,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편견을 제거한 명확한 서비스 설계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→기존의 서비스를 향상시킬 수 있는 서비스 청사진과 같은 도구들이 필요</a:t>
            </a:r>
            <a:endParaRPr lang="en-US" altLang="ko-KR" sz="18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BF4985-EEB5-4A2F-9FEF-0D9100ACD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901" y="3709070"/>
            <a:ext cx="3396324" cy="250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9625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14A83E1F-D4BD-4632-ACC9-7C89DF368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4)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 성과의 갭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CC23E6E6-BACB-4EDA-B5BE-913DC8CF6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806" y="1325218"/>
            <a:ext cx="9933194" cy="4893365"/>
          </a:xfrm>
          <a:extLst/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서비스 성과 갭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(Service performance gap) :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-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고객 중심의 서비스 설계 및 표준과 접점 직원이 제공한 서비스 성과 간의 차이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서비스 성과 갭의 핵심적인 요인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-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직원이 접점에서 자신이 수행해야 할 역할을 명확이 이해하지 못함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-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고객과 경영자 사이에서 느끼는  갈등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-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효과적이지 못한 채용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-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직원에게 맞지 않는 기술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-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직원에 대한 부적절한 보상과 평가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-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부적합한 권한 위임과 팀워크 등의 부족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채용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,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교육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,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피드백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,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직무설계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,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동기부여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,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조직구조 등과 같은 인적 관리와 관련된 마케팅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,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인적자원부서의 공조 필요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8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BF4985-EEB5-4A2F-9FEF-0D9100ACD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179" y="2211575"/>
            <a:ext cx="4091312" cy="302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40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14A83E1F-D4BD-4632-ACC9-7C89DF368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5) 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의사소통의 갭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CC23E6E6-BACB-4EDA-B5BE-913DC8CF6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805" y="1285461"/>
            <a:ext cx="10436777" cy="4893365"/>
          </a:xfrm>
          <a:extLst/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의사소통 갭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(Communication gap) :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-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서비스 제공과 서비스 제공자의 외부 커뮤니케이션 간의 차이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-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서비스 기업의 커뮤니케이션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: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사람이 행하는 것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(What people do)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에 대한 약속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-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전통적인 형태의 외부 마케팅과 함께 직원과 고객 간의 접촉으로 이루어지는 상호작용 마케팅이 조화를 이루어야 함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   -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의사소통 갭의 방지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: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외부 커뮤니케이션과 실제 서비스 제공에 대한 조화 필요</a:t>
            </a:r>
            <a:endParaRPr lang="en-US" altLang="ko-KR" sz="18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BF4985-EEB5-4A2F-9FEF-0D9100ACD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00" y="3576204"/>
            <a:ext cx="4091312" cy="3023034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3E68087-7BD2-40B9-B3DF-A7E84C68E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697" y="3953885"/>
            <a:ext cx="4565225" cy="2645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5186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14A83E1F-D4BD-4632-ACC9-7C89DF368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[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갭모델을 맥도날드 사례로 설명해보면</a:t>
            </a:r>
            <a:r>
              <a:rPr lang="en-US" altLang="ko-KR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]</a:t>
            </a:r>
            <a:endParaRPr lang="ko-KR" altLang="en-US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CC23E6E6-BACB-4EDA-B5BE-913DC8CF6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92" y="1345096"/>
            <a:ext cx="11930615" cy="4893365"/>
          </a:xfrm>
          <a:extLst/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만약 </a:t>
            </a:r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McDonald </a:t>
            </a:r>
            <a:r>
              <a:rPr lang="ko-KR" altLang="en-US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고객이 가장 중요하게 생각하는 서비스 요소 중 하나가 </a:t>
            </a:r>
            <a:r>
              <a:rPr lang="ko-KR" altLang="en-US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C00000"/>
                </a:solidFill>
                <a:cs typeface="함초롬돋움" panose="02030504000101010101" pitchFamily="18" charset="-127"/>
              </a:rPr>
              <a:t>‘신속한 서비스’ </a:t>
            </a:r>
            <a:r>
              <a:rPr lang="ko-KR" altLang="en-US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라면</a:t>
            </a:r>
            <a:r>
              <a:rPr lang="en-US" altLang="ko-KR" sz="16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… 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endParaRPr lang="en-US" altLang="ko-KR" sz="160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(GAP 1) 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고객들이 가장 중요하게 생각하는 것이 ‘신속한 </a:t>
            </a:r>
            <a:r>
              <a:rPr lang="ko-KR" altLang="en-US" sz="1600" b="0" dirty="0" err="1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서비스’임을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서비스 경영자가 제대로 파악하지 못하고 다른 서비스에 집중</a:t>
            </a: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. 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다양한 고객 조사를 통해 목표 고객이 기대하는 서비스</a:t>
            </a: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, 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요구사항을 정확히 파악해야 함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(GAP 2) 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고객 요구사항이 ‘신속한 </a:t>
            </a:r>
            <a:r>
              <a:rPr lang="ko-KR" altLang="en-US" sz="1600" b="0" dirty="0" err="1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서비스’임을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정확히 파악했으나 어느 정도 빠른 서비스가 신속한 서비스인지 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C00000"/>
                </a:solidFill>
                <a:cs typeface="함초롬돋움" panose="02030504000101010101" pitchFamily="18" charset="-127"/>
              </a:rPr>
              <a:t>‘서비스 </a:t>
            </a:r>
            <a:r>
              <a:rPr lang="ko-KR" altLang="en-US" sz="1600" b="0" dirty="0" err="1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C00000"/>
                </a:solidFill>
                <a:cs typeface="함초롬돋움" panose="02030504000101010101" pitchFamily="18" charset="-127"/>
              </a:rPr>
              <a:t>표준’</a:t>
            </a:r>
            <a:r>
              <a:rPr lang="ko-KR" altLang="en-US" sz="1600" b="0" dirty="0" err="1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을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정확히 알지 못하여 신속한 서비스가 제공될 수 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C00000"/>
                </a:solidFill>
                <a:cs typeface="함초롬돋움" panose="02030504000101010101" pitchFamily="18" charset="-127"/>
              </a:rPr>
              <a:t>있는 프로세스를 설계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하지 못해 발생</a:t>
            </a: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. ‘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신속한 서비스’ 개념을 좀 더 구체적으로 정의해야 함 </a:t>
            </a:r>
            <a:r>
              <a:rPr lang="ko-KR" altLang="en-US" sz="1400" b="0" i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예</a:t>
            </a:r>
            <a:r>
              <a:rPr lang="en-US" altLang="ko-KR" sz="1400" b="0" i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) 3</a:t>
            </a:r>
            <a:r>
              <a:rPr lang="ko-KR" altLang="en-US" sz="1400" b="0" i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분 이내 음식 제공이 중요한 요구사항이라면</a:t>
            </a:r>
            <a:r>
              <a:rPr lang="en-US" altLang="ko-KR" sz="1400" b="0" i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. 3</a:t>
            </a:r>
            <a:r>
              <a:rPr lang="ko-KR" altLang="en-US" sz="1400" b="0" i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분을 서비스 표준으로 설정한 후 가장 바쁜 시간대에도 </a:t>
            </a:r>
            <a:r>
              <a:rPr lang="en-US" altLang="ko-KR" sz="1400" b="0" i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3</a:t>
            </a:r>
            <a:r>
              <a:rPr lang="ko-KR" altLang="en-US" sz="1400" b="0" i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분내에 서비스가 완료될 수 있도록 주문</a:t>
            </a:r>
            <a:r>
              <a:rPr lang="en-US" altLang="ko-KR" sz="1400" b="0" i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/</a:t>
            </a:r>
            <a:r>
              <a:rPr lang="ko-KR" altLang="en-US" sz="1400" b="0" i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조리</a:t>
            </a:r>
            <a:r>
              <a:rPr lang="en-US" altLang="ko-KR" sz="1400" b="0" i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/</a:t>
            </a:r>
            <a:r>
              <a:rPr lang="ko-KR" altLang="en-US" sz="1400" b="0" i="1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서비스 프로세스를 설계하고 조리 및 서비스 과정을 </a:t>
            </a:r>
            <a:r>
              <a:rPr lang="ko-KR" altLang="en-US" sz="1400" b="0" i="1" dirty="0" err="1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메뉴얼화</a:t>
            </a:r>
            <a:endParaRPr lang="ko-KR" altLang="en-US" sz="1400" b="0" i="1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(GAP 3) 3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분내에 음식이 서비스 되도록 조리서비스 매뉴얼을 구축했음에도 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C00000"/>
                </a:solidFill>
                <a:cs typeface="함초롬돋움" panose="02030504000101010101" pitchFamily="18" charset="-127"/>
              </a:rPr>
              <a:t>종사원들의 실수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로 서비스가 </a:t>
            </a: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3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분내에 전달되지 못하는 경우 발생</a:t>
            </a: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. 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조리종사원들을 충분히 훈련시켜 일관된 서비스가 제공되도록 함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(GAP 4) 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경쟁이 치열하다 보니 고객들에게 </a:t>
            </a: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1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분 안에 음식 서비스가 제공된다고 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C00000"/>
                </a:solidFill>
                <a:cs typeface="함초롬돋움" panose="02030504000101010101" pitchFamily="18" charset="-127"/>
              </a:rPr>
              <a:t>외부 광고를 할 경우 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실제 서비스 시간과의 차이가 발생</a:t>
            </a: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. 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실제 제공되는 서비스 속도를 감안하여 현실적으로 고객에게 홍보</a:t>
            </a: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. 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오히려 고객에게 ‘</a:t>
            </a: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4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분 안에 서비스 제공’ 약속을 하고 </a:t>
            </a: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3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분 안에  음식을 제공한다면 만족이나 감동하게 됨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4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가지 </a:t>
            </a: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GAP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중에 어느 하나라도 발생하면 </a:t>
            </a: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Customer Gap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이 발생하게 되므로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C00000"/>
                </a:solidFill>
                <a:cs typeface="함초롬돋움" panose="02030504000101010101" pitchFamily="18" charset="-127"/>
              </a:rPr>
              <a:t> </a:t>
            </a: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C00000"/>
                </a:solidFill>
                <a:cs typeface="함초롬돋움" panose="02030504000101010101" pitchFamily="18" charset="-127"/>
              </a:rPr>
              <a:t>[4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C00000"/>
                </a:solidFill>
                <a:cs typeface="함초롬돋움" panose="02030504000101010101" pitchFamily="18" charset="-127"/>
              </a:rPr>
              <a:t>가지 </a:t>
            </a: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C00000"/>
                </a:solidFill>
                <a:cs typeface="함초롬돋움" panose="02030504000101010101" pitchFamily="18" charset="-127"/>
              </a:rPr>
              <a:t>GAP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C00000"/>
                </a:solidFill>
                <a:cs typeface="함초롬돋움" panose="02030504000101010101" pitchFamily="18" charset="-127"/>
              </a:rPr>
              <a:t>을 모두 제거하는 완벽한 서비스만이 서비스품질관리의 해답</a:t>
            </a:r>
            <a:r>
              <a:rPr lang="en-US" altLang="ko-KR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solidFill>
                  <a:srgbClr val="C00000"/>
                </a:solidFill>
                <a:cs typeface="함초롬돋움" panose="02030504000101010101" pitchFamily="18" charset="-127"/>
              </a:rPr>
              <a:t>]</a:t>
            </a:r>
            <a:r>
              <a:rPr lang="ko-KR" altLang="en-US" sz="16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임</a:t>
            </a:r>
          </a:p>
        </p:txBody>
      </p:sp>
    </p:spTree>
    <p:extLst>
      <p:ext uri="{BB962C8B-B14F-4D97-AF65-F5344CB8AC3E}">
        <p14:creationId xmlns:p14="http://schemas.microsoft.com/office/powerpoint/2010/main" val="3441014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텍스트 개체 틀 3">
            <a:extLst>
              <a:ext uri="{FF2B5EF4-FFF2-40B4-BE49-F238E27FC236}">
                <a16:creationId xmlns:a16="http://schemas.microsoft.com/office/drawing/2014/main" id="{C96D5FBC-2A62-4721-9DAF-36E63A9CE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ko-KR" dirty="0"/>
              <a:t>4. </a:t>
            </a:r>
            <a:r>
              <a:rPr lang="ko-KR" altLang="en-US" dirty="0"/>
              <a:t>서비스 품질</a:t>
            </a:r>
            <a:r>
              <a:rPr lang="en-US" altLang="ko-KR" dirty="0"/>
              <a:t>, </a:t>
            </a:r>
            <a:r>
              <a:rPr lang="ko-KR" altLang="en-US" dirty="0"/>
              <a:t>서비스 혁신</a:t>
            </a:r>
            <a:r>
              <a:rPr lang="en-US" altLang="ko-KR" dirty="0"/>
              <a:t>, </a:t>
            </a:r>
            <a:r>
              <a:rPr lang="ko-KR" altLang="en-US" dirty="0"/>
              <a:t>생산성의 관계</a:t>
            </a: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E7C97B-F1BA-4121-A884-8C5CE92C5374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975AF8-F0BD-44BB-99E9-004244781CC4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42052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CC23E6E6-BACB-4EDA-B5BE-913DC8CF6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92" y="1345096"/>
            <a:ext cx="11930615" cy="4893365"/>
          </a:xfrm>
          <a:extLst/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외식업의 생산성은 고객이 경험하는 서비스 품질과 밀접하게 연관되어 있음</a:t>
            </a:r>
            <a:endParaRPr lang="en-US" altLang="ko-KR" sz="180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서비스 기업의 생산성은 기업과 고객 모두의 관점에서 생산성을 평가해야 함</a:t>
            </a:r>
            <a:r>
              <a:rPr lang="en-US" altLang="ko-KR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.</a:t>
            </a:r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서비스 품질 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&amp;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고객만족  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외식기업의 생산성 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수익성 향상의 솔루션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서비스 마케팅의 핵심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)</a:t>
            </a: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전통적 생산성 </a:t>
            </a:r>
            <a:endParaRPr lang="en-US" altLang="ko-KR" sz="18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  <a:sym typeface="Wingdings" panose="05000000000000000000" pitchFamily="2" charset="2"/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투입요소 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인력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자본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기계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설비 등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)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 대비 산출 양 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매출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이익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시장 점유율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)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으로 계산 </a:t>
            </a:r>
            <a:endParaRPr lang="en-US" altLang="ko-KR" sz="18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  <a:sym typeface="Wingdings" panose="05000000000000000000" pitchFamily="2" charset="2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서비스 기업의 생산성 </a:t>
            </a:r>
            <a:endParaRPr lang="en-US" altLang="ko-KR" sz="18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  <a:sym typeface="Wingdings" panose="05000000000000000000" pitchFamily="2" charset="2"/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서비스 기업과 고객이 공동으로 서비스를 생산하므로 </a:t>
            </a:r>
            <a:r>
              <a:rPr lang="en-US" altLang="ko-KR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800" dirty="0" err="1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기업＇과</a:t>
            </a: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 </a:t>
            </a:r>
            <a:r>
              <a:rPr lang="en-US" altLang="ko-KR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  <a:sym typeface="Wingdings" panose="05000000000000000000" pitchFamily="2" charset="2"/>
              </a:rPr>
              <a:t>고객＇ 모두의 관점에서 투입한 비용 대비 얻는 성과로 측정되어야 함</a:t>
            </a:r>
            <a:endParaRPr lang="en-US" altLang="ko-KR" sz="180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  <a:sym typeface="Wingdings" panose="05000000000000000000" pitchFamily="2" charset="2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고객 관점에서의 투입 </a:t>
            </a:r>
            <a:r>
              <a:rPr lang="en-US" altLang="ko-KR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: </a:t>
            </a: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고객이 서비스를 얻기 위해 투입한 비용과 시간</a:t>
            </a:r>
            <a:r>
              <a:rPr lang="en-US" altLang="ko-KR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, </a:t>
            </a: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노력</a:t>
            </a:r>
            <a:r>
              <a:rPr lang="en-US" altLang="ko-KR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, </a:t>
            </a: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감정적 에너지</a:t>
            </a:r>
            <a:endParaRPr lang="en-US" altLang="ko-KR" sz="180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고객 관점에서의 산출 </a:t>
            </a:r>
            <a:r>
              <a:rPr lang="en-US" altLang="ko-KR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: </a:t>
            </a: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고객이 느끼는 서비스 가치</a:t>
            </a:r>
            <a:r>
              <a:rPr lang="en-US" altLang="ko-KR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, </a:t>
            </a: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만족도</a:t>
            </a:r>
            <a:r>
              <a:rPr lang="en-US" altLang="ko-KR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, </a:t>
            </a: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서비스 경험</a:t>
            </a: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 </a:t>
            </a:r>
            <a:endParaRPr lang="ko-KR" altLang="en-US" sz="18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7F331E9-7998-43DA-AE1F-F364BE03E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40729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3F7FF-5AF0-4D66-A08B-7EC122121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EA0ACB-B28B-4FC5-8355-3B355C3C1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82" y="1567484"/>
            <a:ext cx="5181600" cy="3067050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F076333-CBF6-4834-BF1A-0AB21E1AD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6058" y="1782418"/>
            <a:ext cx="5832786" cy="4893365"/>
          </a:xfrm>
          <a:extLst/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</a:rPr>
              <a:t> 서비스 품질이 향상 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고객 산출 증가 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기업 산출 증가</a:t>
            </a:r>
            <a:endParaRPr lang="en-US" altLang="ko-KR" sz="18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  <a:sym typeface="Wingdings" panose="05000000000000000000" pitchFamily="2" charset="2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결과적으로 서비스 기업의 생산성과 고객의 생산성을 높이는 것은 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‘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탁월한 서비스 품질관리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’</a:t>
            </a:r>
            <a:r>
              <a:rPr lang="ko-KR" altLang="en-US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를 통해서 달성할 수 있음을 알 수 있음</a:t>
            </a:r>
            <a:r>
              <a:rPr lang="en-US" altLang="ko-KR" sz="1800" b="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.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sz="18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3053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3F7FF-5AF0-4D66-A08B-7EC122121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F076333-CBF6-4834-BF1A-0AB21E1AD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6058" y="1782418"/>
            <a:ext cx="5832786" cy="4893365"/>
          </a:xfrm>
          <a:extLst/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서비스</a:t>
            </a:r>
            <a:r>
              <a:rPr lang="en-US" altLang="ko-KR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생산성</a:t>
            </a:r>
            <a:r>
              <a:rPr lang="en-US" altLang="ko-KR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서비스 품질은 창의적이고 혁신적인 서비스 경험 디자인으로 향상됨</a:t>
            </a:r>
            <a:endParaRPr lang="en-US" altLang="ko-KR" sz="180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  <a:sym typeface="Wingdings" panose="05000000000000000000" pitchFamily="2" charset="2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기술 혁신을 통한 비용 절감 및 운영 효율성을 개선하고</a:t>
            </a:r>
            <a:r>
              <a:rPr lang="en-US" altLang="ko-KR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창의적이고 혁신적인 메뉴와 서비스 개발로 서비스 품질 인식이 높아지면 </a:t>
            </a:r>
            <a:r>
              <a:rPr lang="en-US" altLang="ko-KR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다시 생산성이 향상됨</a:t>
            </a:r>
            <a:endParaRPr lang="en-US" altLang="ko-KR" sz="180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  <a:sym typeface="Wingdings" panose="05000000000000000000" pitchFamily="2" charset="2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서울남산 장체 M" pitchFamily="18" charset="-127"/>
              <a:buChar char="○"/>
            </a:pP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서비스 품질</a:t>
            </a:r>
            <a:r>
              <a:rPr lang="en-US" altLang="ko-KR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서비스 생산성</a:t>
            </a:r>
            <a:r>
              <a:rPr lang="en-US" altLang="ko-KR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  <a:cs typeface="함초롬돋움" panose="02030504000101010101" pitchFamily="18" charset="-127"/>
                <a:sym typeface="Wingdings" panose="05000000000000000000" pitchFamily="2" charset="2"/>
              </a:rPr>
              <a:t>서비스 혁신은 불가분의 관계 </a:t>
            </a:r>
            <a:endParaRPr lang="en-US" altLang="ko-KR" sz="180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  <a:sym typeface="Wingdings" panose="05000000000000000000" pitchFamily="2" charset="2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sz="1800" b="0" dirty="0"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  <a:cs typeface="함초롬돋움" panose="02030504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656BBA-3CE1-4584-B157-9947D2ADC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65" y="1249017"/>
            <a:ext cx="5306837" cy="332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74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3F7FF-5AF0-4D66-A08B-7EC122121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91493036-D6A9-48D8-814E-CE85D6C58EC8}"/>
              </a:ext>
            </a:extLst>
          </p:cNvPr>
          <p:cNvSpPr txBox="1">
            <a:spLocks/>
          </p:cNvSpPr>
          <p:nvPr/>
        </p:nvSpPr>
        <p:spPr>
          <a:xfrm>
            <a:off x="1865529" y="1427576"/>
            <a:ext cx="8460941" cy="96775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함초롬돋움" panose="02030504000101010101" pitchFamily="18" charset="-127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400" dirty="0">
                <a:solidFill>
                  <a:srgbClr val="7030A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혁신</a:t>
            </a:r>
            <a:r>
              <a:rPr lang="en-US" altLang="ko-KR" sz="2400" dirty="0">
                <a:solidFill>
                  <a:srgbClr val="7030A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: </a:t>
            </a:r>
            <a:r>
              <a:rPr lang="ko-KR" altLang="en-US" sz="2400" dirty="0">
                <a:solidFill>
                  <a:srgbClr val="7030A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미래 기술을 활용한 </a:t>
            </a:r>
            <a:r>
              <a:rPr lang="ko-KR" altLang="en-US" sz="2400" dirty="0" err="1">
                <a:solidFill>
                  <a:srgbClr val="7030A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서비스라기보다는</a:t>
            </a:r>
            <a:r>
              <a:rPr lang="ko-KR" altLang="en-US" sz="2400" dirty="0">
                <a:solidFill>
                  <a:srgbClr val="7030A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고객이 진짜 원하고 바라고 기대하는 수준을 넘어서는 감동 서비스를 말함</a:t>
            </a:r>
            <a:r>
              <a:rPr lang="en-US" altLang="ko-KR" sz="2400" dirty="0">
                <a:solidFill>
                  <a:srgbClr val="7030A0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endParaRPr lang="ko-KR" altLang="en-US" sz="2400" dirty="0">
              <a:solidFill>
                <a:srgbClr val="7030A0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A777EA8-36E7-4BD9-954B-F0E0F98B9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287" y="2878343"/>
            <a:ext cx="7657672" cy="315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42002"/>
      </p:ext>
    </p:extLst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1192</TotalTime>
  <Words>2311</Words>
  <Application>Microsoft Office PowerPoint</Application>
  <PresentationFormat>와이드스크린</PresentationFormat>
  <Paragraphs>234</Paragraphs>
  <Slides>35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7" baseType="lpstr">
      <vt:lpstr>Arial</vt:lpstr>
      <vt:lpstr>굴림</vt:lpstr>
      <vt:lpstr>서울남산 장체 M</vt:lpstr>
      <vt:lpstr>서울남산 장체 L</vt:lpstr>
      <vt:lpstr>Wingdings</vt:lpstr>
      <vt:lpstr>서울남산 장체 EB</vt:lpstr>
      <vt:lpstr>서울남산 장체M</vt:lpstr>
      <vt:lpstr>맑은 고딕</vt:lpstr>
      <vt:lpstr>서울한강 장체 L</vt:lpstr>
      <vt:lpstr>Verdana</vt:lpstr>
      <vt:lpstr>함초롬돋움</vt:lpstr>
      <vt:lpstr>sample</vt:lpstr>
      <vt:lpstr>PowerPoint 프레젠테이션</vt:lpstr>
      <vt:lpstr>PowerPoint 프레젠테이션</vt:lpstr>
      <vt:lpstr>고객의 기대수준을 이해하는 것이 왜 중요할까?</vt:lpstr>
      <vt:lpstr>1) 고객 기대 개념과 기대 유형</vt:lpstr>
      <vt:lpstr>1) 고객 기대 개념과 기대 유형</vt:lpstr>
      <vt:lpstr>1) 고객 기대 개념과 기대 유형</vt:lpstr>
      <vt:lpstr>2) 고객 기대에 영향을 미치는 요인</vt:lpstr>
      <vt:lpstr>PowerPoint 프레젠테이션</vt:lpstr>
      <vt:lpstr>서비스 품질은 왜 중요할까?</vt:lpstr>
      <vt:lpstr>1) 서비스 품질 개념과 구성요소</vt:lpstr>
      <vt:lpstr>1) 서비스 품질 개념과 구성요소</vt:lpstr>
      <vt:lpstr>1) 서비스 품질 개념과 구성요소</vt:lpstr>
      <vt:lpstr>1) 서비스 품질 개념과 구성요소</vt:lpstr>
      <vt:lpstr>1) 서비스 품질 개념과 구성요소</vt:lpstr>
      <vt:lpstr>1) 서비스 품질 개념과 구성요소</vt:lpstr>
      <vt:lpstr>1) 서비스 품질 개념과 구성요소</vt:lpstr>
      <vt:lpstr>1) 서비스 품질 개념과 구성요소</vt:lpstr>
      <vt:lpstr>왜 고객만족, 고객만족 하는 걸까?</vt:lpstr>
      <vt:lpstr>2) 고객만족의 이해</vt:lpstr>
      <vt:lpstr>2) 고객만족의 이해</vt:lpstr>
      <vt:lpstr>2) 고객만족의 이해</vt:lpstr>
      <vt:lpstr>2) 고객만족의 이해</vt:lpstr>
      <vt:lpstr>PowerPoint 프레젠테이션</vt:lpstr>
      <vt:lpstr>갭(gap) 모델</vt:lpstr>
      <vt:lpstr>1) 고객 갭</vt:lpstr>
      <vt:lpstr>2) 경청 갭</vt:lpstr>
      <vt:lpstr>3) 서비스 설계와 표준 갭</vt:lpstr>
      <vt:lpstr>4) 서비스 성과의 갭</vt:lpstr>
      <vt:lpstr>5) 의사소통의 갭</vt:lpstr>
      <vt:lpstr>[갭모델을 맥도날드 사례로 설명해보면]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Windows 사용자</dc:creator>
  <cp:lastModifiedBy>Windows 사용자</cp:lastModifiedBy>
  <cp:revision>115</cp:revision>
  <dcterms:created xsi:type="dcterms:W3CDTF">2022-02-07T06:24:49Z</dcterms:created>
  <dcterms:modified xsi:type="dcterms:W3CDTF">2022-05-10T10:07:01Z</dcterms:modified>
</cp:coreProperties>
</file>