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4"/>
  </p:notesMasterIdLst>
  <p:sldIdLst>
    <p:sldId id="278" r:id="rId2"/>
    <p:sldId id="280" r:id="rId3"/>
    <p:sldId id="279" r:id="rId4"/>
    <p:sldId id="292" r:id="rId5"/>
    <p:sldId id="281" r:id="rId6"/>
    <p:sldId id="291" r:id="rId7"/>
    <p:sldId id="293" r:id="rId8"/>
    <p:sldId id="294" r:id="rId9"/>
    <p:sldId id="295" r:id="rId10"/>
    <p:sldId id="282" r:id="rId11"/>
    <p:sldId id="284" r:id="rId12"/>
    <p:sldId id="296" r:id="rId13"/>
    <p:sldId id="297" r:id="rId14"/>
    <p:sldId id="298" r:id="rId15"/>
    <p:sldId id="299" r:id="rId16"/>
    <p:sldId id="301" r:id="rId17"/>
    <p:sldId id="302" r:id="rId18"/>
    <p:sldId id="283" r:id="rId19"/>
    <p:sldId id="287" r:id="rId20"/>
    <p:sldId id="288" r:id="rId21"/>
    <p:sldId id="289" r:id="rId22"/>
    <p:sldId id="303" r:id="rId23"/>
    <p:sldId id="304" r:id="rId24"/>
    <p:sldId id="305" r:id="rId25"/>
    <p:sldId id="307" r:id="rId26"/>
    <p:sldId id="306" r:id="rId27"/>
    <p:sldId id="286" r:id="rId28"/>
    <p:sldId id="308" r:id="rId29"/>
    <p:sldId id="309" r:id="rId30"/>
    <p:sldId id="312" r:id="rId31"/>
    <p:sldId id="310" r:id="rId32"/>
    <p:sldId id="313" r:id="rId33"/>
  </p:sldIdLst>
  <p:sldSz cx="12192000" cy="6858000"/>
  <p:notesSz cx="6858000" cy="9144000"/>
  <p:embeddedFontLst>
    <p:embeddedFont>
      <p:font typeface="맑은 고딕" panose="020B0503020000020004" pitchFamily="50" charset="-127"/>
      <p:regular r:id="rId35"/>
      <p:bold r:id="rId36"/>
    </p:embeddedFont>
    <p:embeddedFont>
      <p:font typeface="서울남산 장체 EB" panose="02020503020101020101" pitchFamily="18" charset="-127"/>
      <p:regular r:id="rId37"/>
    </p:embeddedFont>
    <p:embeddedFont>
      <p:font typeface="서울남산 장체 L" panose="02020503020101020101" pitchFamily="18" charset="-127"/>
      <p:regular r:id="rId38"/>
    </p:embeddedFont>
    <p:embeddedFont>
      <p:font typeface="서울남산 장체 M" panose="02020503020101020101" pitchFamily="18" charset="-127"/>
      <p:regular r:id="rId39"/>
    </p:embeddedFont>
    <p:embeddedFont>
      <p:font typeface="서울한강 장체 L" panose="02020503020101020101" pitchFamily="18" charset="-127"/>
      <p:regular r:id="rId40"/>
    </p:embeddedFont>
    <p:embeddedFont>
      <p:font typeface="함초롬돋움" panose="020B0604000101010101" pitchFamily="50" charset="-127"/>
      <p:regular r:id="rId41"/>
      <p:bold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6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EA2B9F-07CA-4279-ACEC-81F092B4C3C0}" type="doc">
      <dgm:prSet loTypeId="urn:microsoft.com/office/officeart/2005/8/layout/equation1" loCatId="relationship" qsTypeId="urn:microsoft.com/office/officeart/2005/8/quickstyle/simple1" qsCatId="simple" csTypeId="urn:microsoft.com/office/officeart/2005/8/colors/accent0_2" csCatId="mainScheme" phldr="1"/>
      <dgm:spPr/>
    </dgm:pt>
    <dgm:pt modelId="{1E087EE6-F9B3-4F85-B77E-3658DC4AB398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유형적 </a:t>
          </a:r>
          <a:endParaRPr lang="en-US" altLang="ko-KR" sz="1400" b="1" dirty="0">
            <a:solidFill>
              <a:schemeClr val="tx2">
                <a:lumMod val="75000"/>
              </a:schemeClr>
            </a:solidFill>
          </a:endParaRPr>
        </a:p>
        <a:p>
          <a:pPr latinLnBrk="1"/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상품</a:t>
          </a:r>
          <a:endParaRPr lang="en-US" altLang="ko-KR" sz="1400" b="1" dirty="0">
            <a:solidFill>
              <a:schemeClr val="tx2">
                <a:lumMod val="75000"/>
              </a:schemeClr>
            </a:solidFill>
          </a:endParaRPr>
        </a:p>
        <a:p>
          <a:pPr latinLnBrk="1"/>
          <a:r>
            <a:rPr lang="en-US" altLang="ko-KR" sz="1400" b="1" dirty="0">
              <a:solidFill>
                <a:schemeClr val="tx2">
                  <a:lumMod val="75000"/>
                </a:schemeClr>
              </a:solidFill>
            </a:rPr>
            <a:t>‘</a:t>
          </a:r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음식</a:t>
          </a:r>
          <a:r>
            <a:rPr lang="en-US" altLang="ko-KR" sz="1400" b="1" dirty="0">
              <a:solidFill>
                <a:schemeClr val="tx2">
                  <a:lumMod val="75000"/>
                </a:schemeClr>
              </a:solidFill>
            </a:rPr>
            <a:t>’</a:t>
          </a:r>
          <a:endParaRPr lang="ko-KR" altLang="en-US" sz="1400" b="1" dirty="0">
            <a:solidFill>
              <a:schemeClr val="tx2">
                <a:lumMod val="75000"/>
              </a:schemeClr>
            </a:solidFill>
          </a:endParaRPr>
        </a:p>
      </dgm:t>
    </dgm:pt>
    <dgm:pt modelId="{A799F269-2AFF-401E-B475-0EFDE802E686}" type="parTrans" cxnId="{931AF787-06F7-4232-B46B-60161B5300C6}">
      <dgm:prSet/>
      <dgm:spPr/>
      <dgm:t>
        <a:bodyPr/>
        <a:lstStyle/>
        <a:p>
          <a:pPr latinLnBrk="1"/>
          <a:endParaRPr lang="ko-KR" altLang="en-US" sz="2000" b="1">
            <a:solidFill>
              <a:schemeClr val="tx2">
                <a:lumMod val="75000"/>
              </a:schemeClr>
            </a:solidFill>
          </a:endParaRPr>
        </a:p>
      </dgm:t>
    </dgm:pt>
    <dgm:pt modelId="{5CD5268B-C3CC-4DF6-B176-BFAB3429B7F0}" type="sibTrans" cxnId="{931AF787-06F7-4232-B46B-60161B5300C6}">
      <dgm:prSet custT="1"/>
      <dgm:spPr/>
      <dgm:t>
        <a:bodyPr/>
        <a:lstStyle/>
        <a:p>
          <a:pPr latinLnBrk="1"/>
          <a:endParaRPr lang="ko-KR" altLang="en-US" sz="1000" b="1">
            <a:solidFill>
              <a:schemeClr val="tx2">
                <a:lumMod val="75000"/>
              </a:schemeClr>
            </a:solidFill>
          </a:endParaRPr>
        </a:p>
      </dgm:t>
    </dgm:pt>
    <dgm:pt modelId="{1E0250F7-CCF3-49EB-872A-606079DFD175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무형적 </a:t>
          </a:r>
          <a:endParaRPr lang="en-US" altLang="ko-KR" sz="1400" b="1" dirty="0">
            <a:solidFill>
              <a:schemeClr val="tx2">
                <a:lumMod val="75000"/>
              </a:schemeClr>
            </a:solidFill>
          </a:endParaRPr>
        </a:p>
        <a:p>
          <a:pPr latinLnBrk="1"/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상품</a:t>
          </a:r>
          <a:endParaRPr lang="en-US" altLang="ko-KR" sz="1400" b="1" dirty="0">
            <a:solidFill>
              <a:schemeClr val="tx2">
                <a:lumMod val="75000"/>
              </a:schemeClr>
            </a:solidFill>
          </a:endParaRPr>
        </a:p>
        <a:p>
          <a:pPr latinLnBrk="1"/>
          <a:r>
            <a:rPr lang="en-US" altLang="ko-KR" sz="1400" b="1" dirty="0">
              <a:solidFill>
                <a:schemeClr val="tx2">
                  <a:lumMod val="75000"/>
                </a:schemeClr>
              </a:solidFill>
            </a:rPr>
            <a:t>‘</a:t>
          </a:r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서비스</a:t>
          </a:r>
          <a:r>
            <a:rPr lang="en-US" altLang="ko-KR" sz="1400" b="1" dirty="0">
              <a:solidFill>
                <a:schemeClr val="tx2">
                  <a:lumMod val="75000"/>
                </a:schemeClr>
              </a:solidFill>
            </a:rPr>
            <a:t>’</a:t>
          </a:r>
          <a:endParaRPr lang="ko-KR" altLang="en-US" sz="1400" b="1" dirty="0">
            <a:solidFill>
              <a:schemeClr val="tx2">
                <a:lumMod val="75000"/>
              </a:schemeClr>
            </a:solidFill>
          </a:endParaRPr>
        </a:p>
      </dgm:t>
    </dgm:pt>
    <dgm:pt modelId="{A69AAB93-A2AE-4F60-A78E-C2CAD84D1B90}" type="parTrans" cxnId="{39EAD519-60B7-4C13-ADCF-D60E6AF73F20}">
      <dgm:prSet/>
      <dgm:spPr/>
      <dgm:t>
        <a:bodyPr/>
        <a:lstStyle/>
        <a:p>
          <a:pPr latinLnBrk="1"/>
          <a:endParaRPr lang="ko-KR" altLang="en-US" sz="2000" b="1">
            <a:solidFill>
              <a:schemeClr val="tx2">
                <a:lumMod val="75000"/>
              </a:schemeClr>
            </a:solidFill>
          </a:endParaRPr>
        </a:p>
      </dgm:t>
    </dgm:pt>
    <dgm:pt modelId="{1EE99195-5014-4420-A129-74F69C2C6511}" type="sibTrans" cxnId="{39EAD519-60B7-4C13-ADCF-D60E6AF73F20}">
      <dgm:prSet custT="1"/>
      <dgm:spPr/>
      <dgm:t>
        <a:bodyPr/>
        <a:lstStyle/>
        <a:p>
          <a:pPr latinLnBrk="1"/>
          <a:endParaRPr lang="ko-KR" altLang="en-US" sz="1050" b="1">
            <a:solidFill>
              <a:schemeClr val="tx2">
                <a:lumMod val="75000"/>
              </a:schemeClr>
            </a:solidFill>
          </a:endParaRPr>
        </a:p>
      </dgm:t>
    </dgm:pt>
    <dgm:pt modelId="{925A27A0-ADEC-49E3-9FF3-EEDA70BC123A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solidFill>
                <a:schemeClr val="tx2">
                  <a:lumMod val="75000"/>
                </a:schemeClr>
              </a:solidFill>
            </a:rPr>
            <a:t>외식서비스</a:t>
          </a:r>
        </a:p>
      </dgm:t>
    </dgm:pt>
    <dgm:pt modelId="{78E0F6AA-6032-497A-97C3-A3C885A647AA}" type="parTrans" cxnId="{E03379D6-C9D2-4476-9B9D-68750D9E7989}">
      <dgm:prSet/>
      <dgm:spPr/>
      <dgm:t>
        <a:bodyPr/>
        <a:lstStyle/>
        <a:p>
          <a:pPr latinLnBrk="1"/>
          <a:endParaRPr lang="ko-KR" altLang="en-US" sz="2000" b="1">
            <a:solidFill>
              <a:schemeClr val="tx2">
                <a:lumMod val="75000"/>
              </a:schemeClr>
            </a:solidFill>
          </a:endParaRPr>
        </a:p>
      </dgm:t>
    </dgm:pt>
    <dgm:pt modelId="{873E1E03-E8ED-4378-8A03-77DA4A1EEC14}" type="sibTrans" cxnId="{E03379D6-C9D2-4476-9B9D-68750D9E7989}">
      <dgm:prSet/>
      <dgm:spPr/>
      <dgm:t>
        <a:bodyPr/>
        <a:lstStyle/>
        <a:p>
          <a:pPr latinLnBrk="1"/>
          <a:endParaRPr lang="ko-KR" altLang="en-US" sz="2000" b="1">
            <a:solidFill>
              <a:schemeClr val="tx2">
                <a:lumMod val="75000"/>
              </a:schemeClr>
            </a:solidFill>
          </a:endParaRPr>
        </a:p>
      </dgm:t>
    </dgm:pt>
    <dgm:pt modelId="{6F298CB6-C2C1-4F3B-A649-D9B40834D3A7}" type="pres">
      <dgm:prSet presAssocID="{7EEA2B9F-07CA-4279-ACEC-81F092B4C3C0}" presName="linearFlow" presStyleCnt="0">
        <dgm:presLayoutVars>
          <dgm:dir/>
          <dgm:resizeHandles val="exact"/>
        </dgm:presLayoutVars>
      </dgm:prSet>
      <dgm:spPr/>
    </dgm:pt>
    <dgm:pt modelId="{5EAC8BEC-D020-44B1-8076-A0084BE60B98}" type="pres">
      <dgm:prSet presAssocID="{1E087EE6-F9B3-4F85-B77E-3658DC4AB398}" presName="node" presStyleLbl="node1" presStyleIdx="0" presStyleCnt="3">
        <dgm:presLayoutVars>
          <dgm:bulletEnabled val="1"/>
        </dgm:presLayoutVars>
      </dgm:prSet>
      <dgm:spPr/>
    </dgm:pt>
    <dgm:pt modelId="{16F6ED02-AA87-4998-B704-16D120AF5C3C}" type="pres">
      <dgm:prSet presAssocID="{5CD5268B-C3CC-4DF6-B176-BFAB3429B7F0}" presName="spacerL" presStyleCnt="0"/>
      <dgm:spPr/>
    </dgm:pt>
    <dgm:pt modelId="{9E5B7B91-62AB-419F-AC65-72C7CA73CD3F}" type="pres">
      <dgm:prSet presAssocID="{5CD5268B-C3CC-4DF6-B176-BFAB3429B7F0}" presName="sibTrans" presStyleLbl="sibTrans2D1" presStyleIdx="0" presStyleCnt="2"/>
      <dgm:spPr/>
    </dgm:pt>
    <dgm:pt modelId="{9FF2C681-EA96-465E-8F85-8457BDC16614}" type="pres">
      <dgm:prSet presAssocID="{5CD5268B-C3CC-4DF6-B176-BFAB3429B7F0}" presName="spacerR" presStyleCnt="0"/>
      <dgm:spPr/>
    </dgm:pt>
    <dgm:pt modelId="{E56CD284-6EDA-412F-9118-002DDBC066CD}" type="pres">
      <dgm:prSet presAssocID="{1E0250F7-CCF3-49EB-872A-606079DFD175}" presName="node" presStyleLbl="node1" presStyleIdx="1" presStyleCnt="3">
        <dgm:presLayoutVars>
          <dgm:bulletEnabled val="1"/>
        </dgm:presLayoutVars>
      </dgm:prSet>
      <dgm:spPr/>
    </dgm:pt>
    <dgm:pt modelId="{295AEA61-76DD-44FE-934C-429479A7BDAB}" type="pres">
      <dgm:prSet presAssocID="{1EE99195-5014-4420-A129-74F69C2C6511}" presName="spacerL" presStyleCnt="0"/>
      <dgm:spPr/>
    </dgm:pt>
    <dgm:pt modelId="{7603533E-DC41-4398-AB70-D56A3723BD3A}" type="pres">
      <dgm:prSet presAssocID="{1EE99195-5014-4420-A129-74F69C2C6511}" presName="sibTrans" presStyleLbl="sibTrans2D1" presStyleIdx="1" presStyleCnt="2"/>
      <dgm:spPr/>
    </dgm:pt>
    <dgm:pt modelId="{F5728B62-51C4-417F-919B-D39057E2A363}" type="pres">
      <dgm:prSet presAssocID="{1EE99195-5014-4420-A129-74F69C2C6511}" presName="spacerR" presStyleCnt="0"/>
      <dgm:spPr/>
    </dgm:pt>
    <dgm:pt modelId="{75EFCA4F-8C21-419C-846A-7742F304C46D}" type="pres">
      <dgm:prSet presAssocID="{925A27A0-ADEC-49E3-9FF3-EEDA70BC123A}" presName="node" presStyleLbl="node1" presStyleIdx="2" presStyleCnt="3">
        <dgm:presLayoutVars>
          <dgm:bulletEnabled val="1"/>
        </dgm:presLayoutVars>
      </dgm:prSet>
      <dgm:spPr/>
    </dgm:pt>
  </dgm:ptLst>
  <dgm:cxnLst>
    <dgm:cxn modelId="{C3BA6718-7407-4083-B750-31E000935E2B}" type="presOf" srcId="{1EE99195-5014-4420-A129-74F69C2C6511}" destId="{7603533E-DC41-4398-AB70-D56A3723BD3A}" srcOrd="0" destOrd="0" presId="urn:microsoft.com/office/officeart/2005/8/layout/equation1"/>
    <dgm:cxn modelId="{39EAD519-60B7-4C13-ADCF-D60E6AF73F20}" srcId="{7EEA2B9F-07CA-4279-ACEC-81F092B4C3C0}" destId="{1E0250F7-CCF3-49EB-872A-606079DFD175}" srcOrd="1" destOrd="0" parTransId="{A69AAB93-A2AE-4F60-A78E-C2CAD84D1B90}" sibTransId="{1EE99195-5014-4420-A129-74F69C2C6511}"/>
    <dgm:cxn modelId="{889B123B-ACD2-4DE1-9BC9-C1D08CFC98FF}" type="presOf" srcId="{925A27A0-ADEC-49E3-9FF3-EEDA70BC123A}" destId="{75EFCA4F-8C21-419C-846A-7742F304C46D}" srcOrd="0" destOrd="0" presId="urn:microsoft.com/office/officeart/2005/8/layout/equation1"/>
    <dgm:cxn modelId="{7D67927E-77D8-4976-BC51-E3FC8C56BBAD}" type="presOf" srcId="{5CD5268B-C3CC-4DF6-B176-BFAB3429B7F0}" destId="{9E5B7B91-62AB-419F-AC65-72C7CA73CD3F}" srcOrd="0" destOrd="0" presId="urn:microsoft.com/office/officeart/2005/8/layout/equation1"/>
    <dgm:cxn modelId="{931AF787-06F7-4232-B46B-60161B5300C6}" srcId="{7EEA2B9F-07CA-4279-ACEC-81F092B4C3C0}" destId="{1E087EE6-F9B3-4F85-B77E-3658DC4AB398}" srcOrd="0" destOrd="0" parTransId="{A799F269-2AFF-401E-B475-0EFDE802E686}" sibTransId="{5CD5268B-C3CC-4DF6-B176-BFAB3429B7F0}"/>
    <dgm:cxn modelId="{F8BF4693-5167-4718-BB2B-D76F4E26D0A1}" type="presOf" srcId="{1E0250F7-CCF3-49EB-872A-606079DFD175}" destId="{E56CD284-6EDA-412F-9118-002DDBC066CD}" srcOrd="0" destOrd="0" presId="urn:microsoft.com/office/officeart/2005/8/layout/equation1"/>
    <dgm:cxn modelId="{7C5A6FAD-E63A-454E-AABE-ACE338F2487B}" type="presOf" srcId="{7EEA2B9F-07CA-4279-ACEC-81F092B4C3C0}" destId="{6F298CB6-C2C1-4F3B-A649-D9B40834D3A7}" srcOrd="0" destOrd="0" presId="urn:microsoft.com/office/officeart/2005/8/layout/equation1"/>
    <dgm:cxn modelId="{E03379D6-C9D2-4476-9B9D-68750D9E7989}" srcId="{7EEA2B9F-07CA-4279-ACEC-81F092B4C3C0}" destId="{925A27A0-ADEC-49E3-9FF3-EEDA70BC123A}" srcOrd="2" destOrd="0" parTransId="{78E0F6AA-6032-497A-97C3-A3C885A647AA}" sibTransId="{873E1E03-E8ED-4378-8A03-77DA4A1EEC14}"/>
    <dgm:cxn modelId="{A1DE85E5-AD22-44A1-B304-920FF3D922E8}" type="presOf" srcId="{1E087EE6-F9B3-4F85-B77E-3658DC4AB398}" destId="{5EAC8BEC-D020-44B1-8076-A0084BE60B98}" srcOrd="0" destOrd="0" presId="urn:microsoft.com/office/officeart/2005/8/layout/equation1"/>
    <dgm:cxn modelId="{8D76C631-4034-4C88-9613-CBCC27A9376C}" type="presParOf" srcId="{6F298CB6-C2C1-4F3B-A649-D9B40834D3A7}" destId="{5EAC8BEC-D020-44B1-8076-A0084BE60B98}" srcOrd="0" destOrd="0" presId="urn:microsoft.com/office/officeart/2005/8/layout/equation1"/>
    <dgm:cxn modelId="{9E8A3817-5F01-44DA-AC72-6DE3D8A0CCD5}" type="presParOf" srcId="{6F298CB6-C2C1-4F3B-A649-D9B40834D3A7}" destId="{16F6ED02-AA87-4998-B704-16D120AF5C3C}" srcOrd="1" destOrd="0" presId="urn:microsoft.com/office/officeart/2005/8/layout/equation1"/>
    <dgm:cxn modelId="{D7490FDE-C2F6-4574-92CD-D012789720D8}" type="presParOf" srcId="{6F298CB6-C2C1-4F3B-A649-D9B40834D3A7}" destId="{9E5B7B91-62AB-419F-AC65-72C7CA73CD3F}" srcOrd="2" destOrd="0" presId="urn:microsoft.com/office/officeart/2005/8/layout/equation1"/>
    <dgm:cxn modelId="{39D42870-F2BD-497B-A38A-948AB20AD2FC}" type="presParOf" srcId="{6F298CB6-C2C1-4F3B-A649-D9B40834D3A7}" destId="{9FF2C681-EA96-465E-8F85-8457BDC16614}" srcOrd="3" destOrd="0" presId="urn:microsoft.com/office/officeart/2005/8/layout/equation1"/>
    <dgm:cxn modelId="{FB89C25A-13B8-4113-90E7-0E46BE0246E0}" type="presParOf" srcId="{6F298CB6-C2C1-4F3B-A649-D9B40834D3A7}" destId="{E56CD284-6EDA-412F-9118-002DDBC066CD}" srcOrd="4" destOrd="0" presId="urn:microsoft.com/office/officeart/2005/8/layout/equation1"/>
    <dgm:cxn modelId="{A62EDC6F-7C1F-4BAA-9687-52A33553C632}" type="presParOf" srcId="{6F298CB6-C2C1-4F3B-A649-D9B40834D3A7}" destId="{295AEA61-76DD-44FE-934C-429479A7BDAB}" srcOrd="5" destOrd="0" presId="urn:microsoft.com/office/officeart/2005/8/layout/equation1"/>
    <dgm:cxn modelId="{53D87497-888B-4B5E-BFA8-DD0B0B7EE0CD}" type="presParOf" srcId="{6F298CB6-C2C1-4F3B-A649-D9B40834D3A7}" destId="{7603533E-DC41-4398-AB70-D56A3723BD3A}" srcOrd="6" destOrd="0" presId="urn:microsoft.com/office/officeart/2005/8/layout/equation1"/>
    <dgm:cxn modelId="{0445BA5A-0E9C-44A8-A3DE-5CDE45357E61}" type="presParOf" srcId="{6F298CB6-C2C1-4F3B-A649-D9B40834D3A7}" destId="{F5728B62-51C4-417F-919B-D39057E2A363}" srcOrd="7" destOrd="0" presId="urn:microsoft.com/office/officeart/2005/8/layout/equation1"/>
    <dgm:cxn modelId="{AD662805-CF67-40D7-8188-7DA1C88D5106}" type="presParOf" srcId="{6F298CB6-C2C1-4F3B-A649-D9B40834D3A7}" destId="{75EFCA4F-8C21-419C-846A-7742F304C46D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6BC1BC-7C47-411E-90EF-4586ACEE4054}" type="doc">
      <dgm:prSet loTypeId="urn:microsoft.com/office/officeart/2005/8/layout/radial6" loCatId="relationship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CC600AD2-A199-41ED-B584-88E45B539D48}">
      <dgm:prSet phldrT="[텍스트]"/>
      <dgm:spPr/>
      <dgm:t>
        <a:bodyPr/>
        <a:lstStyle/>
        <a:p>
          <a:pPr latinLnBrk="1"/>
          <a:r>
            <a:rPr lang="en-US" altLang="ko-KR" b="1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Marketing</a:t>
          </a:r>
          <a:endParaRPr lang="ko-KR" altLang="en-US" b="1" dirty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E3E51D77-709C-47A8-A820-F4F1F3AFD61D}" type="parTrans" cxnId="{B3E92CB9-562D-47F8-9DC4-E5D58CC47D59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B74E5877-3D65-4CFB-964B-747A8CE78AC4}" type="sibTrans" cxnId="{B3E92CB9-562D-47F8-9DC4-E5D58CC47D59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2E66FCDA-3223-4FE7-B340-E72992921FF7}">
      <dgm:prSet phldrT="[텍스트]"/>
      <dgm:spPr/>
      <dgm:t>
        <a:bodyPr/>
        <a:lstStyle/>
        <a:p>
          <a:pPr latinLnBrk="1"/>
          <a:r>
            <a:rPr lang="ko-KR" altLang="en-US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가치</a:t>
          </a:r>
        </a:p>
      </dgm:t>
    </dgm:pt>
    <dgm:pt modelId="{847B7A8A-2BB0-4456-B675-644FD13CD709}" type="parTrans" cxnId="{AD78C79D-CBC4-497D-9401-45C222BA6988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E4EBC5B5-BD24-4A4E-87AD-07EAE8EB64F6}" type="sibTrans" cxnId="{AD78C79D-CBC4-497D-9401-45C222BA6988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6CEFB350-35A5-4FB0-BC17-AF21F6921882}">
      <dgm:prSet phldrT="[텍스트]"/>
      <dgm:spPr/>
      <dgm:t>
        <a:bodyPr/>
        <a:lstStyle/>
        <a:p>
          <a:pPr latinLnBrk="1"/>
          <a:r>
            <a:rPr lang="ko-KR" altLang="en-US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과정</a:t>
          </a:r>
        </a:p>
      </dgm:t>
    </dgm:pt>
    <dgm:pt modelId="{68F79763-5921-41FB-8D8B-67B53FFC8C8F}" type="parTrans" cxnId="{A4995462-D78E-47FB-A0C1-5685642CE961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2627AC8A-0C91-45E8-9D40-210F6CAD252F}" type="sibTrans" cxnId="{A4995462-D78E-47FB-A0C1-5685642CE961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7867680D-CF32-41CA-9A37-DF40885D4073}">
      <dgm:prSet phldrT="[텍스트]"/>
      <dgm:spPr/>
      <dgm:t>
        <a:bodyPr/>
        <a:lstStyle/>
        <a:p>
          <a:pPr latinLnBrk="1"/>
          <a:r>
            <a:rPr lang="ko-KR" altLang="en-US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교환</a:t>
          </a:r>
        </a:p>
      </dgm:t>
    </dgm:pt>
    <dgm:pt modelId="{4C3D09AA-3008-4AFA-B21B-6F75B0A9EA15}" type="parTrans" cxnId="{2B46EACB-0BD9-461D-B819-F3C3E67AF19E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2B884534-491E-408B-89AB-91E5650BC683}" type="sibTrans" cxnId="{2B46EACB-0BD9-461D-B819-F3C3E67AF19E}">
      <dgm:prSet/>
      <dgm:spPr/>
      <dgm:t>
        <a:bodyPr/>
        <a:lstStyle/>
        <a:p>
          <a:pPr latinLnBrk="1"/>
          <a:endParaRPr lang="ko-KR" altLang="en-US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5F1405ED-A71F-4DE9-B26F-CAFD79336CB4}" type="pres">
      <dgm:prSet presAssocID="{0D6BC1BC-7C47-411E-90EF-4586ACEE405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489FFE2-F52E-4A65-A1EA-4251F70A1580}" type="pres">
      <dgm:prSet presAssocID="{CC600AD2-A199-41ED-B584-88E45B539D48}" presName="centerShape" presStyleLbl="node0" presStyleIdx="0" presStyleCnt="1"/>
      <dgm:spPr/>
    </dgm:pt>
    <dgm:pt modelId="{CC028579-2FBE-48C5-9FB8-F8F7635E1A6F}" type="pres">
      <dgm:prSet presAssocID="{2E66FCDA-3223-4FE7-B340-E72992921FF7}" presName="node" presStyleLbl="node1" presStyleIdx="0" presStyleCnt="3">
        <dgm:presLayoutVars>
          <dgm:bulletEnabled val="1"/>
        </dgm:presLayoutVars>
      </dgm:prSet>
      <dgm:spPr/>
    </dgm:pt>
    <dgm:pt modelId="{EC5A46A3-B13A-41F3-9A4D-6E862DA872D5}" type="pres">
      <dgm:prSet presAssocID="{2E66FCDA-3223-4FE7-B340-E72992921FF7}" presName="dummy" presStyleCnt="0"/>
      <dgm:spPr/>
    </dgm:pt>
    <dgm:pt modelId="{AF3D27A1-7D34-4B5A-A520-D2609D30977E}" type="pres">
      <dgm:prSet presAssocID="{E4EBC5B5-BD24-4A4E-87AD-07EAE8EB64F6}" presName="sibTrans" presStyleLbl="sibTrans2D1" presStyleIdx="0" presStyleCnt="3"/>
      <dgm:spPr/>
    </dgm:pt>
    <dgm:pt modelId="{8FF195AE-E158-447D-821E-53CA284195B8}" type="pres">
      <dgm:prSet presAssocID="{6CEFB350-35A5-4FB0-BC17-AF21F6921882}" presName="node" presStyleLbl="node1" presStyleIdx="1" presStyleCnt="3">
        <dgm:presLayoutVars>
          <dgm:bulletEnabled val="1"/>
        </dgm:presLayoutVars>
      </dgm:prSet>
      <dgm:spPr/>
    </dgm:pt>
    <dgm:pt modelId="{B856C7CC-0A66-44B4-946A-D8BBEBCEF729}" type="pres">
      <dgm:prSet presAssocID="{6CEFB350-35A5-4FB0-BC17-AF21F6921882}" presName="dummy" presStyleCnt="0"/>
      <dgm:spPr/>
    </dgm:pt>
    <dgm:pt modelId="{7DD482D7-E73D-4824-8E07-8C5E5A488F32}" type="pres">
      <dgm:prSet presAssocID="{2627AC8A-0C91-45E8-9D40-210F6CAD252F}" presName="sibTrans" presStyleLbl="sibTrans2D1" presStyleIdx="1" presStyleCnt="3"/>
      <dgm:spPr/>
    </dgm:pt>
    <dgm:pt modelId="{AAFBADA8-023D-4D43-A922-FB979955F557}" type="pres">
      <dgm:prSet presAssocID="{7867680D-CF32-41CA-9A37-DF40885D4073}" presName="node" presStyleLbl="node1" presStyleIdx="2" presStyleCnt="3">
        <dgm:presLayoutVars>
          <dgm:bulletEnabled val="1"/>
        </dgm:presLayoutVars>
      </dgm:prSet>
      <dgm:spPr/>
    </dgm:pt>
    <dgm:pt modelId="{8D29B75B-0DDA-4667-B3BF-5683D588FEB5}" type="pres">
      <dgm:prSet presAssocID="{7867680D-CF32-41CA-9A37-DF40885D4073}" presName="dummy" presStyleCnt="0"/>
      <dgm:spPr/>
    </dgm:pt>
    <dgm:pt modelId="{A10CA9FE-FE2D-45AD-9296-3D6674321F96}" type="pres">
      <dgm:prSet presAssocID="{2B884534-491E-408B-89AB-91E5650BC683}" presName="sibTrans" presStyleLbl="sibTrans2D1" presStyleIdx="2" presStyleCnt="3"/>
      <dgm:spPr/>
    </dgm:pt>
  </dgm:ptLst>
  <dgm:cxnLst>
    <dgm:cxn modelId="{14952A38-9216-45CF-8992-4BD7FBF42469}" type="presOf" srcId="{0D6BC1BC-7C47-411E-90EF-4586ACEE4054}" destId="{5F1405ED-A71F-4DE9-B26F-CAFD79336CB4}" srcOrd="0" destOrd="0" presId="urn:microsoft.com/office/officeart/2005/8/layout/radial6"/>
    <dgm:cxn modelId="{A4995462-D78E-47FB-A0C1-5685642CE961}" srcId="{CC600AD2-A199-41ED-B584-88E45B539D48}" destId="{6CEFB350-35A5-4FB0-BC17-AF21F6921882}" srcOrd="1" destOrd="0" parTransId="{68F79763-5921-41FB-8D8B-67B53FFC8C8F}" sibTransId="{2627AC8A-0C91-45E8-9D40-210F6CAD252F}"/>
    <dgm:cxn modelId="{183A2368-87ED-49B2-890E-E7F8D10026F1}" type="presOf" srcId="{2E66FCDA-3223-4FE7-B340-E72992921FF7}" destId="{CC028579-2FBE-48C5-9FB8-F8F7635E1A6F}" srcOrd="0" destOrd="0" presId="urn:microsoft.com/office/officeart/2005/8/layout/radial6"/>
    <dgm:cxn modelId="{88EE6E48-8952-43C7-BFCC-A2764649A813}" type="presOf" srcId="{E4EBC5B5-BD24-4A4E-87AD-07EAE8EB64F6}" destId="{AF3D27A1-7D34-4B5A-A520-D2609D30977E}" srcOrd="0" destOrd="0" presId="urn:microsoft.com/office/officeart/2005/8/layout/radial6"/>
    <dgm:cxn modelId="{662F4B8B-538C-4766-ADC6-D84B8CC18546}" type="presOf" srcId="{7867680D-CF32-41CA-9A37-DF40885D4073}" destId="{AAFBADA8-023D-4D43-A922-FB979955F557}" srcOrd="0" destOrd="0" presId="urn:microsoft.com/office/officeart/2005/8/layout/radial6"/>
    <dgm:cxn modelId="{10780297-D02C-4B27-8B8A-FFB2EE5C9994}" type="presOf" srcId="{2627AC8A-0C91-45E8-9D40-210F6CAD252F}" destId="{7DD482D7-E73D-4824-8E07-8C5E5A488F32}" srcOrd="0" destOrd="0" presId="urn:microsoft.com/office/officeart/2005/8/layout/radial6"/>
    <dgm:cxn modelId="{8F942098-5FA0-4A53-9A49-2653B5226626}" type="presOf" srcId="{2B884534-491E-408B-89AB-91E5650BC683}" destId="{A10CA9FE-FE2D-45AD-9296-3D6674321F96}" srcOrd="0" destOrd="0" presId="urn:microsoft.com/office/officeart/2005/8/layout/radial6"/>
    <dgm:cxn modelId="{AD78C79D-CBC4-497D-9401-45C222BA6988}" srcId="{CC600AD2-A199-41ED-B584-88E45B539D48}" destId="{2E66FCDA-3223-4FE7-B340-E72992921FF7}" srcOrd="0" destOrd="0" parTransId="{847B7A8A-2BB0-4456-B675-644FD13CD709}" sibTransId="{E4EBC5B5-BD24-4A4E-87AD-07EAE8EB64F6}"/>
    <dgm:cxn modelId="{3928A7AB-100B-453E-91FA-32FE87A54732}" type="presOf" srcId="{6CEFB350-35A5-4FB0-BC17-AF21F6921882}" destId="{8FF195AE-E158-447D-821E-53CA284195B8}" srcOrd="0" destOrd="0" presId="urn:microsoft.com/office/officeart/2005/8/layout/radial6"/>
    <dgm:cxn modelId="{B3E92CB9-562D-47F8-9DC4-E5D58CC47D59}" srcId="{0D6BC1BC-7C47-411E-90EF-4586ACEE4054}" destId="{CC600AD2-A199-41ED-B584-88E45B539D48}" srcOrd="0" destOrd="0" parTransId="{E3E51D77-709C-47A8-A820-F4F1F3AFD61D}" sibTransId="{B74E5877-3D65-4CFB-964B-747A8CE78AC4}"/>
    <dgm:cxn modelId="{6A876EC5-7AC9-4E85-B5A8-8C19312EE95F}" type="presOf" srcId="{CC600AD2-A199-41ED-B584-88E45B539D48}" destId="{C489FFE2-F52E-4A65-A1EA-4251F70A1580}" srcOrd="0" destOrd="0" presId="urn:microsoft.com/office/officeart/2005/8/layout/radial6"/>
    <dgm:cxn modelId="{2B46EACB-0BD9-461D-B819-F3C3E67AF19E}" srcId="{CC600AD2-A199-41ED-B584-88E45B539D48}" destId="{7867680D-CF32-41CA-9A37-DF40885D4073}" srcOrd="2" destOrd="0" parTransId="{4C3D09AA-3008-4AFA-B21B-6F75B0A9EA15}" sibTransId="{2B884534-491E-408B-89AB-91E5650BC683}"/>
    <dgm:cxn modelId="{06B01305-E967-4437-A254-635CD2D4A547}" type="presParOf" srcId="{5F1405ED-A71F-4DE9-B26F-CAFD79336CB4}" destId="{C489FFE2-F52E-4A65-A1EA-4251F70A1580}" srcOrd="0" destOrd="0" presId="urn:microsoft.com/office/officeart/2005/8/layout/radial6"/>
    <dgm:cxn modelId="{64CDB810-6DAA-4C72-84EA-06D5BBAF860C}" type="presParOf" srcId="{5F1405ED-A71F-4DE9-B26F-CAFD79336CB4}" destId="{CC028579-2FBE-48C5-9FB8-F8F7635E1A6F}" srcOrd="1" destOrd="0" presId="urn:microsoft.com/office/officeart/2005/8/layout/radial6"/>
    <dgm:cxn modelId="{D2AD3837-24C8-4A4C-A6AA-45F86A21F321}" type="presParOf" srcId="{5F1405ED-A71F-4DE9-B26F-CAFD79336CB4}" destId="{EC5A46A3-B13A-41F3-9A4D-6E862DA872D5}" srcOrd="2" destOrd="0" presId="urn:microsoft.com/office/officeart/2005/8/layout/radial6"/>
    <dgm:cxn modelId="{6736726E-8200-4D3B-88E9-281FFE590552}" type="presParOf" srcId="{5F1405ED-A71F-4DE9-B26F-CAFD79336CB4}" destId="{AF3D27A1-7D34-4B5A-A520-D2609D30977E}" srcOrd="3" destOrd="0" presId="urn:microsoft.com/office/officeart/2005/8/layout/radial6"/>
    <dgm:cxn modelId="{99C8F130-7203-46D7-9CA0-4D90735BE44F}" type="presParOf" srcId="{5F1405ED-A71F-4DE9-B26F-CAFD79336CB4}" destId="{8FF195AE-E158-447D-821E-53CA284195B8}" srcOrd="4" destOrd="0" presId="urn:microsoft.com/office/officeart/2005/8/layout/radial6"/>
    <dgm:cxn modelId="{48F3F753-C267-4E99-AD1B-A53AC63FFBC0}" type="presParOf" srcId="{5F1405ED-A71F-4DE9-B26F-CAFD79336CB4}" destId="{B856C7CC-0A66-44B4-946A-D8BBEBCEF729}" srcOrd="5" destOrd="0" presId="urn:microsoft.com/office/officeart/2005/8/layout/radial6"/>
    <dgm:cxn modelId="{A76F69F6-54E0-4379-8C2F-9B9968024168}" type="presParOf" srcId="{5F1405ED-A71F-4DE9-B26F-CAFD79336CB4}" destId="{7DD482D7-E73D-4824-8E07-8C5E5A488F32}" srcOrd="6" destOrd="0" presId="urn:microsoft.com/office/officeart/2005/8/layout/radial6"/>
    <dgm:cxn modelId="{A1F6FB0A-7BF2-441B-A4CE-75A3C9060459}" type="presParOf" srcId="{5F1405ED-A71F-4DE9-B26F-CAFD79336CB4}" destId="{AAFBADA8-023D-4D43-A922-FB979955F557}" srcOrd="7" destOrd="0" presId="urn:microsoft.com/office/officeart/2005/8/layout/radial6"/>
    <dgm:cxn modelId="{FA9D6A35-8B72-4C8F-AFA9-F7E564DFB144}" type="presParOf" srcId="{5F1405ED-A71F-4DE9-B26F-CAFD79336CB4}" destId="{8D29B75B-0DDA-4667-B3BF-5683D588FEB5}" srcOrd="8" destOrd="0" presId="urn:microsoft.com/office/officeart/2005/8/layout/radial6"/>
    <dgm:cxn modelId="{B8CFF400-2A50-4E36-9433-E0123A4B0F3C}" type="presParOf" srcId="{5F1405ED-A71F-4DE9-B26F-CAFD79336CB4}" destId="{A10CA9FE-FE2D-45AD-9296-3D6674321F96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A4F93A-CEBF-47B4-B190-0F3137C561FB}" type="doc">
      <dgm:prSet loTypeId="urn:microsoft.com/office/officeart/2005/8/layout/matrix2" loCatId="matrix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5466C142-84AB-44DE-AE47-C5AFFAA2FF57}">
      <dgm:prSet phldrT="[텍스트]"/>
      <dgm:spPr/>
      <dgm:t>
        <a:bodyPr/>
        <a:lstStyle/>
        <a:p>
          <a:pPr latinLnBrk="1"/>
          <a:r>
            <a:rPr lang="en-US" altLang="ko-KR" b="1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roduct</a:t>
          </a:r>
        </a:p>
        <a:p>
          <a:pPr latinLnBrk="1"/>
          <a:r>
            <a: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제품</a:t>
          </a:r>
        </a:p>
      </dgm:t>
    </dgm:pt>
    <dgm:pt modelId="{CF1F1774-5C5F-406E-9FB5-DADF7A7C9A02}" type="parTrans" cxnId="{FA41A42E-50FD-40DC-B2E4-138DE06FCBA0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73C2CCD3-139D-4463-ABD3-E0CA52DE4A4E}" type="sibTrans" cxnId="{FA41A42E-50FD-40DC-B2E4-138DE06FCBA0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A7ABA2E7-AF8A-48BE-993E-E1F9BAFC08D3}">
      <dgm:prSet phldrT="[텍스트]"/>
      <dgm:spPr/>
      <dgm:t>
        <a:bodyPr/>
        <a:lstStyle/>
        <a:p>
          <a:pPr latinLnBrk="1"/>
          <a:r>
            <a:rPr lang="en-US" altLang="ko-KR" b="1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rice</a:t>
          </a:r>
        </a:p>
        <a:p>
          <a:pPr latinLnBrk="1"/>
          <a:r>
            <a: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가격</a:t>
          </a:r>
          <a:endParaRPr lang="ko-KR" altLang="en-US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89C12B7C-D24B-42F7-962D-3FDAD4C1ED24}" type="parTrans" cxnId="{D41BF801-69C1-40BE-AFDD-7D8F5EE209DF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720C548B-2081-4DCC-A033-2F57C130AAD7}" type="sibTrans" cxnId="{D41BF801-69C1-40BE-AFDD-7D8F5EE209DF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116AA3D6-8F93-46C9-B7CC-DD7D052F9036}">
      <dgm:prSet phldrT="[텍스트]"/>
      <dgm:spPr/>
      <dgm:t>
        <a:bodyPr/>
        <a:lstStyle/>
        <a:p>
          <a:pPr latinLnBrk="1"/>
          <a:r>
            <a:rPr lang="en-US" altLang="ko-KR" b="1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lace</a:t>
          </a:r>
        </a:p>
        <a:p>
          <a:pPr latinLnBrk="1"/>
          <a:r>
            <a: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유통경로</a:t>
          </a:r>
          <a:endParaRPr lang="ko-KR" altLang="en-US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2AA8AAF9-2B75-42A2-8E72-43A996062572}" type="parTrans" cxnId="{07B2DC12-87E3-4DA8-8548-39BBB24993A0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7CF2E8F6-A45B-4B8F-91E8-AA1F00D5649A}" type="sibTrans" cxnId="{07B2DC12-87E3-4DA8-8548-39BBB24993A0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536728EA-8452-4C20-B0F7-E35B83BA7334}">
      <dgm:prSet phldrT="[텍스트]"/>
      <dgm:spPr/>
      <dgm:t>
        <a:bodyPr/>
        <a:lstStyle/>
        <a:p>
          <a:pPr latinLnBrk="1"/>
          <a:r>
            <a:rPr lang="en-US" altLang="ko-KR" b="1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romotion</a:t>
          </a:r>
        </a:p>
        <a:p>
          <a:pPr latinLnBrk="1"/>
          <a:r>
            <a: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광고</a:t>
          </a:r>
          <a:r>
            <a:rPr lang="en-US" altLang="ko-KR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/</a:t>
          </a:r>
          <a:r>
            <a: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촉진물</a:t>
          </a:r>
          <a:endParaRPr lang="ko-KR" altLang="en-US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BD2B635C-8C17-4677-89FF-5EF3279A9ED9}" type="parTrans" cxnId="{EE581D71-46F8-432A-B02D-647951C80383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285220DA-29F8-4802-A280-EA23EFA1935C}" type="sibTrans" cxnId="{EE581D71-46F8-432A-B02D-647951C80383}">
      <dgm:prSet/>
      <dgm:spPr/>
      <dgm:t>
        <a:bodyPr/>
        <a:lstStyle/>
        <a:p>
          <a:pPr latinLnBrk="1"/>
          <a:endParaRPr lang="ko-KR" altLang="en-US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3FBCDB5C-1B50-410E-AB7D-934C9D942D7B}" type="pres">
      <dgm:prSet presAssocID="{5EA4F93A-CEBF-47B4-B190-0F3137C561FB}" presName="matrix" presStyleCnt="0">
        <dgm:presLayoutVars>
          <dgm:chMax val="1"/>
          <dgm:dir/>
          <dgm:resizeHandles val="exact"/>
        </dgm:presLayoutVars>
      </dgm:prSet>
      <dgm:spPr/>
    </dgm:pt>
    <dgm:pt modelId="{81210015-E127-47AD-B5CD-4CABC8B5DA7D}" type="pres">
      <dgm:prSet presAssocID="{5EA4F93A-CEBF-47B4-B190-0F3137C561FB}" presName="axisShape" presStyleLbl="bgShp" presStyleIdx="0" presStyleCnt="1"/>
      <dgm:spPr/>
    </dgm:pt>
    <dgm:pt modelId="{2A4D0365-5F14-4C1D-829E-E5C01B74EBE8}" type="pres">
      <dgm:prSet presAssocID="{5EA4F93A-CEBF-47B4-B190-0F3137C561FB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C836EC-98F8-4FFE-B8C7-97AF3C2AAA9D}" type="pres">
      <dgm:prSet presAssocID="{5EA4F93A-CEBF-47B4-B190-0F3137C561FB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A9C4D93-78B2-4051-9A5B-18B38ACF793A}" type="pres">
      <dgm:prSet presAssocID="{5EA4F93A-CEBF-47B4-B190-0F3137C561FB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041333-0037-484E-A513-02F5B8938E41}" type="pres">
      <dgm:prSet presAssocID="{5EA4F93A-CEBF-47B4-B190-0F3137C561FB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41BF801-69C1-40BE-AFDD-7D8F5EE209DF}" srcId="{5EA4F93A-CEBF-47B4-B190-0F3137C561FB}" destId="{A7ABA2E7-AF8A-48BE-993E-E1F9BAFC08D3}" srcOrd="1" destOrd="0" parTransId="{89C12B7C-D24B-42F7-962D-3FDAD4C1ED24}" sibTransId="{720C548B-2081-4DCC-A033-2F57C130AAD7}"/>
    <dgm:cxn modelId="{5BE59505-F42F-46AA-A86C-2373DE3179DC}" type="presOf" srcId="{116AA3D6-8F93-46C9-B7CC-DD7D052F9036}" destId="{FA9C4D93-78B2-4051-9A5B-18B38ACF793A}" srcOrd="0" destOrd="0" presId="urn:microsoft.com/office/officeart/2005/8/layout/matrix2"/>
    <dgm:cxn modelId="{7326A80E-6DCA-49B5-817D-A2974A1E9DA4}" type="presOf" srcId="{5466C142-84AB-44DE-AE47-C5AFFAA2FF57}" destId="{2A4D0365-5F14-4C1D-829E-E5C01B74EBE8}" srcOrd="0" destOrd="0" presId="urn:microsoft.com/office/officeart/2005/8/layout/matrix2"/>
    <dgm:cxn modelId="{07B2DC12-87E3-4DA8-8548-39BBB24993A0}" srcId="{5EA4F93A-CEBF-47B4-B190-0F3137C561FB}" destId="{116AA3D6-8F93-46C9-B7CC-DD7D052F9036}" srcOrd="2" destOrd="0" parTransId="{2AA8AAF9-2B75-42A2-8E72-43A996062572}" sibTransId="{7CF2E8F6-A45B-4B8F-91E8-AA1F00D5649A}"/>
    <dgm:cxn modelId="{FA41A42E-50FD-40DC-B2E4-138DE06FCBA0}" srcId="{5EA4F93A-CEBF-47B4-B190-0F3137C561FB}" destId="{5466C142-84AB-44DE-AE47-C5AFFAA2FF57}" srcOrd="0" destOrd="0" parTransId="{CF1F1774-5C5F-406E-9FB5-DADF7A7C9A02}" sibTransId="{73C2CCD3-139D-4463-ABD3-E0CA52DE4A4E}"/>
    <dgm:cxn modelId="{EE581D71-46F8-432A-B02D-647951C80383}" srcId="{5EA4F93A-CEBF-47B4-B190-0F3137C561FB}" destId="{536728EA-8452-4C20-B0F7-E35B83BA7334}" srcOrd="3" destOrd="0" parTransId="{BD2B635C-8C17-4677-89FF-5EF3279A9ED9}" sibTransId="{285220DA-29F8-4802-A280-EA23EFA1935C}"/>
    <dgm:cxn modelId="{5269B092-6ACC-4D92-84E3-2C6061A2BC1D}" type="presOf" srcId="{536728EA-8452-4C20-B0F7-E35B83BA7334}" destId="{8A041333-0037-484E-A513-02F5B8938E41}" srcOrd="0" destOrd="0" presId="urn:microsoft.com/office/officeart/2005/8/layout/matrix2"/>
    <dgm:cxn modelId="{BF1E02A9-711E-4669-811D-EB39C7B43848}" type="presOf" srcId="{5EA4F93A-CEBF-47B4-B190-0F3137C561FB}" destId="{3FBCDB5C-1B50-410E-AB7D-934C9D942D7B}" srcOrd="0" destOrd="0" presId="urn:microsoft.com/office/officeart/2005/8/layout/matrix2"/>
    <dgm:cxn modelId="{AE215EE3-9070-4EC7-AC45-3CE53C63BE14}" type="presOf" srcId="{A7ABA2E7-AF8A-48BE-993E-E1F9BAFC08D3}" destId="{C3C836EC-98F8-4FFE-B8C7-97AF3C2AAA9D}" srcOrd="0" destOrd="0" presId="urn:microsoft.com/office/officeart/2005/8/layout/matrix2"/>
    <dgm:cxn modelId="{B9068408-3A3F-47E1-B478-940BD94DDDAA}" type="presParOf" srcId="{3FBCDB5C-1B50-410E-AB7D-934C9D942D7B}" destId="{81210015-E127-47AD-B5CD-4CABC8B5DA7D}" srcOrd="0" destOrd="0" presId="urn:microsoft.com/office/officeart/2005/8/layout/matrix2"/>
    <dgm:cxn modelId="{7D634292-BDAC-4E41-B6EC-F46A53A433CF}" type="presParOf" srcId="{3FBCDB5C-1B50-410E-AB7D-934C9D942D7B}" destId="{2A4D0365-5F14-4C1D-829E-E5C01B74EBE8}" srcOrd="1" destOrd="0" presId="urn:microsoft.com/office/officeart/2005/8/layout/matrix2"/>
    <dgm:cxn modelId="{4EFD8CB4-ABC4-471A-BE5F-39BF9B3B1B25}" type="presParOf" srcId="{3FBCDB5C-1B50-410E-AB7D-934C9D942D7B}" destId="{C3C836EC-98F8-4FFE-B8C7-97AF3C2AAA9D}" srcOrd="2" destOrd="0" presId="urn:microsoft.com/office/officeart/2005/8/layout/matrix2"/>
    <dgm:cxn modelId="{49D30CAE-FF7F-4CF0-9CE8-7BB350F1F17F}" type="presParOf" srcId="{3FBCDB5C-1B50-410E-AB7D-934C9D942D7B}" destId="{FA9C4D93-78B2-4051-9A5B-18B38ACF793A}" srcOrd="3" destOrd="0" presId="urn:microsoft.com/office/officeart/2005/8/layout/matrix2"/>
    <dgm:cxn modelId="{5DD1F8EB-EA8B-49C8-83C4-3EF0EFEB91CC}" type="presParOf" srcId="{3FBCDB5C-1B50-410E-AB7D-934C9D942D7B}" destId="{8A041333-0037-484E-A513-02F5B8938E41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7D5448-F4A9-49F9-A454-2E5EE378F6EA}" type="doc">
      <dgm:prSet loTypeId="urn:microsoft.com/office/officeart/2008/layout/RadialCluster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199059D2-67B7-4193-9AB1-7D3F132CA8D4}">
      <dgm:prSet phldrT="[텍스트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Service</a:t>
          </a:r>
        </a:p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Marketing mix</a:t>
          </a:r>
        </a:p>
      </dgm:t>
    </dgm:pt>
    <dgm:pt modelId="{2D809F37-D266-4FD3-9AF1-A96E61FF0717}" type="parTrans" cxnId="{5445A6DF-DF51-4A73-A6C7-F27C2DACF42C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48677793-E4F4-44CC-88F6-6738DA60F6C0}" type="sibTrans" cxnId="{5445A6DF-DF51-4A73-A6C7-F27C2DACF42C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BD57420A-828D-4C05-8FA4-F2D283CEEB69}">
      <dgm:prSet phldrT="[텍스트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Product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46F7E17E-26A1-4AE1-929D-125F4235C95B}" type="parTrans" cxnId="{4D85CACE-9DDA-462A-969E-0AACF057540C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04E762BF-B430-4185-8E84-4ACC8074211D}" type="sibTrans" cxnId="{4D85CACE-9DDA-462A-969E-0AACF057540C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B636C484-08D8-4EBA-82A1-82753980FEB8}">
      <dgm:prSet phldrT="[텍스트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Promotion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D11D8724-C572-41A5-B8B3-712598E55056}" type="parTrans" cxnId="{3FBC0DAB-200D-4AF9-A977-9677B7479DE1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020145ED-450C-4F95-BA9E-036380744FB3}" type="sibTrans" cxnId="{3FBC0DAB-200D-4AF9-A977-9677B7479DE1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2F013218-8075-4C0C-9ACC-81D83D92F36E}">
      <dgm:prSet phldrT="[텍스트]" custT="1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Physical</a:t>
          </a:r>
        </a:p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evidence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92B7DD4A-C0D6-4094-B7F4-35C42D50C3C5}" type="parTrans" cxnId="{38A4107F-AF12-459D-A9F1-038F6627C93F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C14AD11F-D61A-4868-BA5D-9952F8C2DAFB}" type="sibTrans" cxnId="{38A4107F-AF12-459D-A9F1-038F6627C93F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461A0411-3418-4B49-9049-B84F5D503BD2}">
      <dgm:prSet phldrT="[텍스트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Place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1CBC3656-5EA6-4113-926D-5796956966F9}" type="parTrans" cxnId="{1EED42C7-FE67-42C8-A846-21450573C6CE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08603991-1792-4D47-8090-30816C4834E5}" type="sibTrans" cxnId="{1EED42C7-FE67-42C8-A846-21450573C6CE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C6C114BF-164F-4257-9A6E-32B521F6F7C9}">
      <dgm:prSet phldrT="[텍스트]" phldr="1"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65AFC92E-C7BF-41CB-AD52-73762C837C67}" type="parTrans" cxnId="{D4488BB8-0110-42D9-BA34-7D869385557C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6DAEAF5D-84BC-4786-BE82-B3F821C0C3D3}" type="sibTrans" cxnId="{D4488BB8-0110-42D9-BA34-7D869385557C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89DCE022-B13F-4072-8BF4-FAD17820ED88}">
      <dgm:prSet phldrT="[텍스트]" phldr="1"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A20B2F9A-3438-472E-98A1-38DBE83F4F16}" type="parTrans" cxnId="{1DBAC6D1-041E-4E16-B5BB-8B2604306562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AEC9D014-4075-4AB7-8491-5E614E07A5BD}" type="sibTrans" cxnId="{1DBAC6D1-041E-4E16-B5BB-8B2604306562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A31C8F06-F231-4EB2-BBE2-5B8C52A3FA96}">
      <dgm:prSet phldrT="[텍스트]" phldr="1"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03C5B9E0-8300-4AB1-BEDA-9C892BA3B06C}" type="parTrans" cxnId="{BF334B98-9E00-4267-AA80-556181A5636E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5818CAEB-3E6B-4E82-B830-5BA25C4C612B}" type="sibTrans" cxnId="{BF334B98-9E00-4267-AA80-556181A5636E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D4B0BA4D-B4BB-40C8-98BD-CDA9AE4F5D81}">
      <dgm:prSet phldrT="[텍스트]" phldr="1"/>
      <dgm:spPr/>
      <dgm:t>
        <a:bodyPr/>
        <a:lstStyle/>
        <a:p>
          <a:pPr latinLnBrk="1"/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C4021A8E-25F4-4C9C-B1E3-1B9FD2969616}" type="parTrans" cxnId="{1B22C898-ED7A-451E-BCF0-912D34038DC9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7537F97D-2AAD-41A5-AFAC-36AFD3691152}" type="sibTrans" cxnId="{1B22C898-ED7A-451E-BCF0-912D34038DC9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7437C82E-A85C-453F-8C65-F4023B0AA827}">
      <dgm:prSet phldrT="[텍스트]" custT="1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Process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BF123F47-1209-4BCF-A611-61C60DAE3EB9}" type="parTrans" cxnId="{D280CB84-078A-4813-9A45-E594FAA88386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F9878F48-E103-4DEB-B665-3E18FE0492C6}" type="sibTrans" cxnId="{D280CB84-078A-4813-9A45-E594FAA88386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590C8381-28A9-4CBB-ADAF-3691F72A423B}">
      <dgm:prSet phldrT="[텍스트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Price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E84D1E3E-F044-412A-8635-40A66232928E}" type="parTrans" cxnId="{A5FA9D1E-A344-4E90-9811-D19C2F972515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22A1466F-2B25-4346-AA4D-F5521DE4DE70}" type="sibTrans" cxnId="{A5FA9D1E-A344-4E90-9811-D19C2F972515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4903E843-F51A-4543-A23A-78C5C85EA236}">
      <dgm:prSet phldrT="[텍스트]" custT="1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sz="15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People</a:t>
          </a:r>
          <a:endParaRPr lang="ko-KR" altLang="en-US" sz="1500" b="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FCF72082-FBFE-4E91-A601-B05EF76A9CD8}" type="parTrans" cxnId="{62AD2593-C035-40D3-A3B5-E22B8E0E8159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95B3D679-99BE-4EE9-BB1D-4A7A8423C3D8}" type="sibTrans" cxnId="{62AD2593-C035-40D3-A3B5-E22B8E0E8159}">
      <dgm:prSet/>
      <dgm:spPr/>
      <dgm:t>
        <a:bodyPr/>
        <a:lstStyle/>
        <a:p>
          <a:pPr latinLnBrk="1"/>
          <a:endParaRPr lang="ko-KR" altLang="en-US" sz="1500" b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gm:t>
    </dgm:pt>
    <dgm:pt modelId="{63F8F2BB-9CEF-4E98-989D-A584AAB09660}" type="pres">
      <dgm:prSet presAssocID="{AC7D5448-F4A9-49F9-A454-2E5EE378F6E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DB8CB90-5F7B-4ECA-AF57-A17385CD2F11}" type="pres">
      <dgm:prSet presAssocID="{199059D2-67B7-4193-9AB1-7D3F132CA8D4}" presName="singleCycle" presStyleCnt="0"/>
      <dgm:spPr/>
    </dgm:pt>
    <dgm:pt modelId="{EB74A91C-71A3-4091-9253-6258E3171095}" type="pres">
      <dgm:prSet presAssocID="{199059D2-67B7-4193-9AB1-7D3F132CA8D4}" presName="singleCenter" presStyleLbl="node1" presStyleIdx="0" presStyleCnt="8">
        <dgm:presLayoutVars>
          <dgm:chMax val="7"/>
          <dgm:chPref val="7"/>
        </dgm:presLayoutVars>
      </dgm:prSet>
      <dgm:spPr/>
    </dgm:pt>
    <dgm:pt modelId="{2BFA995A-4387-438E-84F9-71B516D4748F}" type="pres">
      <dgm:prSet presAssocID="{46F7E17E-26A1-4AE1-929D-125F4235C95B}" presName="Name56" presStyleLbl="parChTrans1D2" presStyleIdx="0" presStyleCnt="7"/>
      <dgm:spPr/>
    </dgm:pt>
    <dgm:pt modelId="{6AE841B1-8F04-4EF1-9DDE-8E22E663B6BA}" type="pres">
      <dgm:prSet presAssocID="{BD57420A-828D-4C05-8FA4-F2D283CEEB69}" presName="text0" presStyleLbl="node1" presStyleIdx="1" presStyleCnt="8" custScaleX="113236">
        <dgm:presLayoutVars>
          <dgm:bulletEnabled val="1"/>
        </dgm:presLayoutVars>
      </dgm:prSet>
      <dgm:spPr/>
    </dgm:pt>
    <dgm:pt modelId="{3A2215BD-4001-4579-A810-9E272F4E50E4}" type="pres">
      <dgm:prSet presAssocID="{D11D8724-C572-41A5-B8B3-712598E55056}" presName="Name56" presStyleLbl="parChTrans1D2" presStyleIdx="1" presStyleCnt="7"/>
      <dgm:spPr/>
    </dgm:pt>
    <dgm:pt modelId="{96260EC9-907D-401D-AE4F-7E9DA64455C4}" type="pres">
      <dgm:prSet presAssocID="{B636C484-08D8-4EBA-82A1-82753980FEB8}" presName="text0" presStyleLbl="node1" presStyleIdx="2" presStyleCnt="8" custScaleX="164776">
        <dgm:presLayoutVars>
          <dgm:bulletEnabled val="1"/>
        </dgm:presLayoutVars>
      </dgm:prSet>
      <dgm:spPr/>
    </dgm:pt>
    <dgm:pt modelId="{BAEAB561-775D-4E3F-86A8-8F6422EA0C75}" type="pres">
      <dgm:prSet presAssocID="{92B7DD4A-C0D6-4094-B7F4-35C42D50C3C5}" presName="Name56" presStyleLbl="parChTrans1D2" presStyleIdx="2" presStyleCnt="7"/>
      <dgm:spPr/>
    </dgm:pt>
    <dgm:pt modelId="{C0551F26-2405-4615-91B0-D80C6ABB8D90}" type="pres">
      <dgm:prSet presAssocID="{2F013218-8075-4C0C-9ACC-81D83D92F36E}" presName="text0" presStyleLbl="node1" presStyleIdx="3" presStyleCnt="8" custScaleX="156585">
        <dgm:presLayoutVars>
          <dgm:bulletEnabled val="1"/>
        </dgm:presLayoutVars>
      </dgm:prSet>
      <dgm:spPr/>
    </dgm:pt>
    <dgm:pt modelId="{93552CEC-48EE-44D6-B8EB-2025E5715F6E}" type="pres">
      <dgm:prSet presAssocID="{FCF72082-FBFE-4E91-A601-B05EF76A9CD8}" presName="Name56" presStyleLbl="parChTrans1D2" presStyleIdx="3" presStyleCnt="7"/>
      <dgm:spPr/>
    </dgm:pt>
    <dgm:pt modelId="{C3359C6A-0018-495C-ACB1-BBC1A8476424}" type="pres">
      <dgm:prSet presAssocID="{4903E843-F51A-4543-A23A-78C5C85EA236}" presName="text0" presStyleLbl="node1" presStyleIdx="4" presStyleCnt="8">
        <dgm:presLayoutVars>
          <dgm:bulletEnabled val="1"/>
        </dgm:presLayoutVars>
      </dgm:prSet>
      <dgm:spPr/>
    </dgm:pt>
    <dgm:pt modelId="{2DD377E9-7EAF-4364-B3B1-291EB90EAA5B}" type="pres">
      <dgm:prSet presAssocID="{BF123F47-1209-4BCF-A611-61C60DAE3EB9}" presName="Name56" presStyleLbl="parChTrans1D2" presStyleIdx="4" presStyleCnt="7"/>
      <dgm:spPr/>
    </dgm:pt>
    <dgm:pt modelId="{0E4701CC-B03B-423E-B751-4694E1E8C00E}" type="pres">
      <dgm:prSet presAssocID="{7437C82E-A85C-453F-8C65-F4023B0AA827}" presName="text0" presStyleLbl="node1" presStyleIdx="5" presStyleCnt="8" custScaleX="142089">
        <dgm:presLayoutVars>
          <dgm:bulletEnabled val="1"/>
        </dgm:presLayoutVars>
      </dgm:prSet>
      <dgm:spPr/>
    </dgm:pt>
    <dgm:pt modelId="{C5E1E0AD-9559-4404-AE95-FF1DB5FF7C75}" type="pres">
      <dgm:prSet presAssocID="{E84D1E3E-F044-412A-8635-40A66232928E}" presName="Name56" presStyleLbl="parChTrans1D2" presStyleIdx="5" presStyleCnt="7"/>
      <dgm:spPr/>
    </dgm:pt>
    <dgm:pt modelId="{7CBB0C9D-56CB-4476-AA56-A9D50779F467}" type="pres">
      <dgm:prSet presAssocID="{590C8381-28A9-4CBB-ADAF-3691F72A423B}" presName="text0" presStyleLbl="node1" presStyleIdx="6" presStyleCnt="8">
        <dgm:presLayoutVars>
          <dgm:bulletEnabled val="1"/>
        </dgm:presLayoutVars>
      </dgm:prSet>
      <dgm:spPr/>
    </dgm:pt>
    <dgm:pt modelId="{86626778-5FCF-4A05-A984-32371F4AC681}" type="pres">
      <dgm:prSet presAssocID="{1CBC3656-5EA6-4113-926D-5796956966F9}" presName="Name56" presStyleLbl="parChTrans1D2" presStyleIdx="6" presStyleCnt="7"/>
      <dgm:spPr/>
    </dgm:pt>
    <dgm:pt modelId="{5026FDE9-4A27-4AB1-8D81-B8B8CFEB2986}" type="pres">
      <dgm:prSet presAssocID="{461A0411-3418-4B49-9049-B84F5D503BD2}" presName="text0" presStyleLbl="node1" presStyleIdx="7" presStyleCnt="8">
        <dgm:presLayoutVars>
          <dgm:bulletEnabled val="1"/>
        </dgm:presLayoutVars>
      </dgm:prSet>
      <dgm:spPr/>
    </dgm:pt>
  </dgm:ptLst>
  <dgm:cxnLst>
    <dgm:cxn modelId="{22FB5D16-415A-4B35-B304-68DAB26CC8C4}" type="presOf" srcId="{1CBC3656-5EA6-4113-926D-5796956966F9}" destId="{86626778-5FCF-4A05-A984-32371F4AC681}" srcOrd="0" destOrd="0" presId="urn:microsoft.com/office/officeart/2008/layout/RadialCluster"/>
    <dgm:cxn modelId="{A5FA9D1E-A344-4E90-9811-D19C2F972515}" srcId="{199059D2-67B7-4193-9AB1-7D3F132CA8D4}" destId="{590C8381-28A9-4CBB-ADAF-3691F72A423B}" srcOrd="5" destOrd="0" parTransId="{E84D1E3E-F044-412A-8635-40A66232928E}" sibTransId="{22A1466F-2B25-4346-AA4D-F5521DE4DE70}"/>
    <dgm:cxn modelId="{2060C528-2294-491B-B4C2-4318CB260E7A}" type="presOf" srcId="{199059D2-67B7-4193-9AB1-7D3F132CA8D4}" destId="{EB74A91C-71A3-4091-9253-6258E3171095}" srcOrd="0" destOrd="0" presId="urn:microsoft.com/office/officeart/2008/layout/RadialCluster"/>
    <dgm:cxn modelId="{29B94F2F-CA61-489E-A9BC-2E5AA6393DD5}" type="presOf" srcId="{AC7D5448-F4A9-49F9-A454-2E5EE378F6EA}" destId="{63F8F2BB-9CEF-4E98-989D-A584AAB09660}" srcOrd="0" destOrd="0" presId="urn:microsoft.com/office/officeart/2008/layout/RadialCluster"/>
    <dgm:cxn modelId="{10383D38-BB23-46A9-A8C3-00DC6A88B595}" type="presOf" srcId="{92B7DD4A-C0D6-4094-B7F4-35C42D50C3C5}" destId="{BAEAB561-775D-4E3F-86A8-8F6422EA0C75}" srcOrd="0" destOrd="0" presId="urn:microsoft.com/office/officeart/2008/layout/RadialCluster"/>
    <dgm:cxn modelId="{0D71093F-BC23-463E-8A3A-41B83E40241F}" type="presOf" srcId="{7437C82E-A85C-453F-8C65-F4023B0AA827}" destId="{0E4701CC-B03B-423E-B751-4694E1E8C00E}" srcOrd="0" destOrd="0" presId="urn:microsoft.com/office/officeart/2008/layout/RadialCluster"/>
    <dgm:cxn modelId="{357A9864-8D14-4356-B679-687ADC4EEA68}" type="presOf" srcId="{46F7E17E-26A1-4AE1-929D-125F4235C95B}" destId="{2BFA995A-4387-438E-84F9-71B516D4748F}" srcOrd="0" destOrd="0" presId="urn:microsoft.com/office/officeart/2008/layout/RadialCluster"/>
    <dgm:cxn modelId="{0C8B8747-7BDC-4123-A0DC-C72D959D2D46}" type="presOf" srcId="{BF123F47-1209-4BCF-A611-61C60DAE3EB9}" destId="{2DD377E9-7EAF-4364-B3B1-291EB90EAA5B}" srcOrd="0" destOrd="0" presId="urn:microsoft.com/office/officeart/2008/layout/RadialCluster"/>
    <dgm:cxn modelId="{85FD466B-0C30-43CD-8261-787FD4871582}" type="presOf" srcId="{2F013218-8075-4C0C-9ACC-81D83D92F36E}" destId="{C0551F26-2405-4615-91B0-D80C6ABB8D90}" srcOrd="0" destOrd="0" presId="urn:microsoft.com/office/officeart/2008/layout/RadialCluster"/>
    <dgm:cxn modelId="{21CFE76C-DC68-4D64-90DA-C37A8E176094}" type="presOf" srcId="{E84D1E3E-F044-412A-8635-40A66232928E}" destId="{C5E1E0AD-9559-4404-AE95-FF1DB5FF7C75}" srcOrd="0" destOrd="0" presId="urn:microsoft.com/office/officeart/2008/layout/RadialCluster"/>
    <dgm:cxn modelId="{535C6C7C-DCB9-46CA-ABFD-9D6484671F5A}" type="presOf" srcId="{B636C484-08D8-4EBA-82A1-82753980FEB8}" destId="{96260EC9-907D-401D-AE4F-7E9DA64455C4}" srcOrd="0" destOrd="0" presId="urn:microsoft.com/office/officeart/2008/layout/RadialCluster"/>
    <dgm:cxn modelId="{2217487E-58E7-4021-AF35-F092E796D6F7}" type="presOf" srcId="{590C8381-28A9-4CBB-ADAF-3691F72A423B}" destId="{7CBB0C9D-56CB-4476-AA56-A9D50779F467}" srcOrd="0" destOrd="0" presId="urn:microsoft.com/office/officeart/2008/layout/RadialCluster"/>
    <dgm:cxn modelId="{38A4107F-AF12-459D-A9F1-038F6627C93F}" srcId="{199059D2-67B7-4193-9AB1-7D3F132CA8D4}" destId="{2F013218-8075-4C0C-9ACC-81D83D92F36E}" srcOrd="2" destOrd="0" parTransId="{92B7DD4A-C0D6-4094-B7F4-35C42D50C3C5}" sibTransId="{C14AD11F-D61A-4868-BA5D-9952F8C2DAFB}"/>
    <dgm:cxn modelId="{D280CB84-078A-4813-9A45-E594FAA88386}" srcId="{199059D2-67B7-4193-9AB1-7D3F132CA8D4}" destId="{7437C82E-A85C-453F-8C65-F4023B0AA827}" srcOrd="4" destOrd="0" parTransId="{BF123F47-1209-4BCF-A611-61C60DAE3EB9}" sibTransId="{F9878F48-E103-4DEB-B665-3E18FE0492C6}"/>
    <dgm:cxn modelId="{FCFFE288-7ACC-4A1A-AE43-C257E54CD69F}" type="presOf" srcId="{4903E843-F51A-4543-A23A-78C5C85EA236}" destId="{C3359C6A-0018-495C-ACB1-BBC1A8476424}" srcOrd="0" destOrd="0" presId="urn:microsoft.com/office/officeart/2008/layout/RadialCluster"/>
    <dgm:cxn modelId="{8057878A-D271-48A9-ACF6-852A08FB4916}" type="presOf" srcId="{FCF72082-FBFE-4E91-A601-B05EF76A9CD8}" destId="{93552CEC-48EE-44D6-B8EB-2025E5715F6E}" srcOrd="0" destOrd="0" presId="urn:microsoft.com/office/officeart/2008/layout/RadialCluster"/>
    <dgm:cxn modelId="{A0564390-50C8-412B-81D0-346AC7B9D12F}" type="presOf" srcId="{461A0411-3418-4B49-9049-B84F5D503BD2}" destId="{5026FDE9-4A27-4AB1-8D81-B8B8CFEB2986}" srcOrd="0" destOrd="0" presId="urn:microsoft.com/office/officeart/2008/layout/RadialCluster"/>
    <dgm:cxn modelId="{62AD2593-C035-40D3-A3B5-E22B8E0E8159}" srcId="{199059D2-67B7-4193-9AB1-7D3F132CA8D4}" destId="{4903E843-F51A-4543-A23A-78C5C85EA236}" srcOrd="3" destOrd="0" parTransId="{FCF72082-FBFE-4E91-A601-B05EF76A9CD8}" sibTransId="{95B3D679-99BE-4EE9-BB1D-4A7A8423C3D8}"/>
    <dgm:cxn modelId="{BF334B98-9E00-4267-AA80-556181A5636E}" srcId="{C6C114BF-164F-4257-9A6E-32B521F6F7C9}" destId="{A31C8F06-F231-4EB2-BBE2-5B8C52A3FA96}" srcOrd="1" destOrd="0" parTransId="{03C5B9E0-8300-4AB1-BEDA-9C892BA3B06C}" sibTransId="{5818CAEB-3E6B-4E82-B830-5BA25C4C612B}"/>
    <dgm:cxn modelId="{1B22C898-ED7A-451E-BCF0-912D34038DC9}" srcId="{AC7D5448-F4A9-49F9-A454-2E5EE378F6EA}" destId="{D4B0BA4D-B4BB-40C8-98BD-CDA9AE4F5D81}" srcOrd="1" destOrd="0" parTransId="{C4021A8E-25F4-4C9C-B1E3-1B9FD2969616}" sibTransId="{7537F97D-2AAD-41A5-AFAC-36AFD3691152}"/>
    <dgm:cxn modelId="{DA3D059E-A46D-4ECC-98CF-1E6C89E0242E}" type="presOf" srcId="{BD57420A-828D-4C05-8FA4-F2D283CEEB69}" destId="{6AE841B1-8F04-4EF1-9DDE-8E22E663B6BA}" srcOrd="0" destOrd="0" presId="urn:microsoft.com/office/officeart/2008/layout/RadialCluster"/>
    <dgm:cxn modelId="{3FBC0DAB-200D-4AF9-A977-9677B7479DE1}" srcId="{199059D2-67B7-4193-9AB1-7D3F132CA8D4}" destId="{B636C484-08D8-4EBA-82A1-82753980FEB8}" srcOrd="1" destOrd="0" parTransId="{D11D8724-C572-41A5-B8B3-712598E55056}" sibTransId="{020145ED-450C-4F95-BA9E-036380744FB3}"/>
    <dgm:cxn modelId="{07BF4EB5-71F4-4855-8EDE-A00D397708DC}" type="presOf" srcId="{D11D8724-C572-41A5-B8B3-712598E55056}" destId="{3A2215BD-4001-4579-A810-9E272F4E50E4}" srcOrd="0" destOrd="0" presId="urn:microsoft.com/office/officeart/2008/layout/RadialCluster"/>
    <dgm:cxn modelId="{D4488BB8-0110-42D9-BA34-7D869385557C}" srcId="{AC7D5448-F4A9-49F9-A454-2E5EE378F6EA}" destId="{C6C114BF-164F-4257-9A6E-32B521F6F7C9}" srcOrd="2" destOrd="0" parTransId="{65AFC92E-C7BF-41CB-AD52-73762C837C67}" sibTransId="{6DAEAF5D-84BC-4786-BE82-B3F821C0C3D3}"/>
    <dgm:cxn modelId="{1EED42C7-FE67-42C8-A846-21450573C6CE}" srcId="{199059D2-67B7-4193-9AB1-7D3F132CA8D4}" destId="{461A0411-3418-4B49-9049-B84F5D503BD2}" srcOrd="6" destOrd="0" parTransId="{1CBC3656-5EA6-4113-926D-5796956966F9}" sibTransId="{08603991-1792-4D47-8090-30816C4834E5}"/>
    <dgm:cxn modelId="{4D85CACE-9DDA-462A-969E-0AACF057540C}" srcId="{199059D2-67B7-4193-9AB1-7D3F132CA8D4}" destId="{BD57420A-828D-4C05-8FA4-F2D283CEEB69}" srcOrd="0" destOrd="0" parTransId="{46F7E17E-26A1-4AE1-929D-125F4235C95B}" sibTransId="{04E762BF-B430-4185-8E84-4ACC8074211D}"/>
    <dgm:cxn modelId="{1DBAC6D1-041E-4E16-B5BB-8B2604306562}" srcId="{C6C114BF-164F-4257-9A6E-32B521F6F7C9}" destId="{89DCE022-B13F-4072-8BF4-FAD17820ED88}" srcOrd="0" destOrd="0" parTransId="{A20B2F9A-3438-472E-98A1-38DBE83F4F16}" sibTransId="{AEC9D014-4075-4AB7-8491-5E614E07A5BD}"/>
    <dgm:cxn modelId="{5445A6DF-DF51-4A73-A6C7-F27C2DACF42C}" srcId="{AC7D5448-F4A9-49F9-A454-2E5EE378F6EA}" destId="{199059D2-67B7-4193-9AB1-7D3F132CA8D4}" srcOrd="0" destOrd="0" parTransId="{2D809F37-D266-4FD3-9AF1-A96E61FF0717}" sibTransId="{48677793-E4F4-44CC-88F6-6738DA60F6C0}"/>
    <dgm:cxn modelId="{0778B8F2-0F95-48E3-AF58-2D8E09888DD9}" type="presParOf" srcId="{63F8F2BB-9CEF-4E98-989D-A584AAB09660}" destId="{CDB8CB90-5F7B-4ECA-AF57-A17385CD2F11}" srcOrd="0" destOrd="0" presId="urn:microsoft.com/office/officeart/2008/layout/RadialCluster"/>
    <dgm:cxn modelId="{190D4737-039B-464D-910E-947611AE07BE}" type="presParOf" srcId="{CDB8CB90-5F7B-4ECA-AF57-A17385CD2F11}" destId="{EB74A91C-71A3-4091-9253-6258E3171095}" srcOrd="0" destOrd="0" presId="urn:microsoft.com/office/officeart/2008/layout/RadialCluster"/>
    <dgm:cxn modelId="{93317E7C-85CC-4CDB-BA88-FF338525296E}" type="presParOf" srcId="{CDB8CB90-5F7B-4ECA-AF57-A17385CD2F11}" destId="{2BFA995A-4387-438E-84F9-71B516D4748F}" srcOrd="1" destOrd="0" presId="urn:microsoft.com/office/officeart/2008/layout/RadialCluster"/>
    <dgm:cxn modelId="{1DA5439A-C88B-4B63-A333-E5ABD46BD2B4}" type="presParOf" srcId="{CDB8CB90-5F7B-4ECA-AF57-A17385CD2F11}" destId="{6AE841B1-8F04-4EF1-9DDE-8E22E663B6BA}" srcOrd="2" destOrd="0" presId="urn:microsoft.com/office/officeart/2008/layout/RadialCluster"/>
    <dgm:cxn modelId="{98C254EF-6B52-40F1-A17C-CE38BD83D146}" type="presParOf" srcId="{CDB8CB90-5F7B-4ECA-AF57-A17385CD2F11}" destId="{3A2215BD-4001-4579-A810-9E272F4E50E4}" srcOrd="3" destOrd="0" presId="urn:microsoft.com/office/officeart/2008/layout/RadialCluster"/>
    <dgm:cxn modelId="{0B036DE1-263D-488D-A88C-1F7C745BCF71}" type="presParOf" srcId="{CDB8CB90-5F7B-4ECA-AF57-A17385CD2F11}" destId="{96260EC9-907D-401D-AE4F-7E9DA64455C4}" srcOrd="4" destOrd="0" presId="urn:microsoft.com/office/officeart/2008/layout/RadialCluster"/>
    <dgm:cxn modelId="{BAAE33EE-711B-4E88-AA0E-2654CC8A3CD9}" type="presParOf" srcId="{CDB8CB90-5F7B-4ECA-AF57-A17385CD2F11}" destId="{BAEAB561-775D-4E3F-86A8-8F6422EA0C75}" srcOrd="5" destOrd="0" presId="urn:microsoft.com/office/officeart/2008/layout/RadialCluster"/>
    <dgm:cxn modelId="{A6EF5ACC-AC4E-45DD-AA3F-08B86E7A8168}" type="presParOf" srcId="{CDB8CB90-5F7B-4ECA-AF57-A17385CD2F11}" destId="{C0551F26-2405-4615-91B0-D80C6ABB8D90}" srcOrd="6" destOrd="0" presId="urn:microsoft.com/office/officeart/2008/layout/RadialCluster"/>
    <dgm:cxn modelId="{9F15543A-9437-467E-8179-691EBB13F3FC}" type="presParOf" srcId="{CDB8CB90-5F7B-4ECA-AF57-A17385CD2F11}" destId="{93552CEC-48EE-44D6-B8EB-2025E5715F6E}" srcOrd="7" destOrd="0" presId="urn:microsoft.com/office/officeart/2008/layout/RadialCluster"/>
    <dgm:cxn modelId="{B8A6E5EB-BF48-4E06-BEE9-50FFC5181D25}" type="presParOf" srcId="{CDB8CB90-5F7B-4ECA-AF57-A17385CD2F11}" destId="{C3359C6A-0018-495C-ACB1-BBC1A8476424}" srcOrd="8" destOrd="0" presId="urn:microsoft.com/office/officeart/2008/layout/RadialCluster"/>
    <dgm:cxn modelId="{BD970A9E-129C-4150-9F58-170ECF3A37D3}" type="presParOf" srcId="{CDB8CB90-5F7B-4ECA-AF57-A17385CD2F11}" destId="{2DD377E9-7EAF-4364-B3B1-291EB90EAA5B}" srcOrd="9" destOrd="0" presId="urn:microsoft.com/office/officeart/2008/layout/RadialCluster"/>
    <dgm:cxn modelId="{E551BE80-6E45-487D-94DA-364172A3A715}" type="presParOf" srcId="{CDB8CB90-5F7B-4ECA-AF57-A17385CD2F11}" destId="{0E4701CC-B03B-423E-B751-4694E1E8C00E}" srcOrd="10" destOrd="0" presId="urn:microsoft.com/office/officeart/2008/layout/RadialCluster"/>
    <dgm:cxn modelId="{7B54523B-1628-47A8-BD08-EAB31DB5FE6F}" type="presParOf" srcId="{CDB8CB90-5F7B-4ECA-AF57-A17385CD2F11}" destId="{C5E1E0AD-9559-4404-AE95-FF1DB5FF7C75}" srcOrd="11" destOrd="0" presId="urn:microsoft.com/office/officeart/2008/layout/RadialCluster"/>
    <dgm:cxn modelId="{9461E08E-E6E2-415E-A709-8917AEEFE215}" type="presParOf" srcId="{CDB8CB90-5F7B-4ECA-AF57-A17385CD2F11}" destId="{7CBB0C9D-56CB-4476-AA56-A9D50779F467}" srcOrd="12" destOrd="0" presId="urn:microsoft.com/office/officeart/2008/layout/RadialCluster"/>
    <dgm:cxn modelId="{E773ECE3-6256-4C2E-BA93-B3C5CFC707E7}" type="presParOf" srcId="{CDB8CB90-5F7B-4ECA-AF57-A17385CD2F11}" destId="{86626778-5FCF-4A05-A984-32371F4AC681}" srcOrd="13" destOrd="0" presId="urn:microsoft.com/office/officeart/2008/layout/RadialCluster"/>
    <dgm:cxn modelId="{9F43BD8E-2AFD-41B3-99EB-540981D72627}" type="presParOf" srcId="{CDB8CB90-5F7B-4ECA-AF57-A17385CD2F11}" destId="{5026FDE9-4A27-4AB1-8D81-B8B8CFEB2986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C8BEC-D020-44B1-8076-A0084BE60B98}">
      <dsp:nvSpPr>
        <dsp:cNvPr id="0" name=""/>
        <dsp:cNvSpPr/>
      </dsp:nvSpPr>
      <dsp:spPr>
        <a:xfrm>
          <a:off x="1245" y="299151"/>
          <a:ext cx="1651253" cy="16512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유형적 </a:t>
          </a:r>
          <a:endParaRPr lang="en-US" altLang="ko-KR" sz="1400" b="1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상품</a:t>
          </a:r>
          <a:endParaRPr lang="en-US" altLang="ko-KR" sz="1400" b="1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>
              <a:solidFill>
                <a:schemeClr val="tx2">
                  <a:lumMod val="75000"/>
                </a:schemeClr>
              </a:solidFill>
            </a:rPr>
            <a:t>‘</a:t>
          </a: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음식</a:t>
          </a:r>
          <a:r>
            <a:rPr lang="en-US" altLang="ko-KR" sz="1400" b="1" kern="1200" dirty="0">
              <a:solidFill>
                <a:schemeClr val="tx2">
                  <a:lumMod val="75000"/>
                </a:schemeClr>
              </a:solidFill>
            </a:rPr>
            <a:t>’</a:t>
          </a:r>
          <a:endParaRPr lang="ko-KR" altLang="en-US" sz="14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243065" y="540971"/>
        <a:ext cx="1167613" cy="1167613"/>
      </dsp:txXfrm>
    </dsp:sp>
    <dsp:sp modelId="{9E5B7B91-62AB-419F-AC65-72C7CA73CD3F}">
      <dsp:nvSpPr>
        <dsp:cNvPr id="0" name=""/>
        <dsp:cNvSpPr/>
      </dsp:nvSpPr>
      <dsp:spPr>
        <a:xfrm>
          <a:off x="1786581" y="645914"/>
          <a:ext cx="957727" cy="957727"/>
        </a:xfrm>
        <a:prstGeom prst="mathPlus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>
            <a:solidFill>
              <a:schemeClr val="tx2">
                <a:lumMod val="75000"/>
              </a:schemeClr>
            </a:solidFill>
          </a:endParaRPr>
        </a:p>
      </dsp:txBody>
      <dsp:txXfrm>
        <a:off x="1913528" y="1012149"/>
        <a:ext cx="703833" cy="225257"/>
      </dsp:txXfrm>
    </dsp:sp>
    <dsp:sp modelId="{E56CD284-6EDA-412F-9118-002DDBC066CD}">
      <dsp:nvSpPr>
        <dsp:cNvPr id="0" name=""/>
        <dsp:cNvSpPr/>
      </dsp:nvSpPr>
      <dsp:spPr>
        <a:xfrm>
          <a:off x="2878390" y="299151"/>
          <a:ext cx="1651253" cy="16512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무형적 </a:t>
          </a:r>
          <a:endParaRPr lang="en-US" altLang="ko-KR" sz="1400" b="1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상품</a:t>
          </a:r>
          <a:endParaRPr lang="en-US" altLang="ko-KR" sz="1400" b="1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>
              <a:solidFill>
                <a:schemeClr val="tx2">
                  <a:lumMod val="75000"/>
                </a:schemeClr>
              </a:solidFill>
            </a:rPr>
            <a:t>‘</a:t>
          </a: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서비스</a:t>
          </a:r>
          <a:r>
            <a:rPr lang="en-US" altLang="ko-KR" sz="1400" b="1" kern="1200" dirty="0">
              <a:solidFill>
                <a:schemeClr val="tx2">
                  <a:lumMod val="75000"/>
                </a:schemeClr>
              </a:solidFill>
            </a:rPr>
            <a:t>’</a:t>
          </a:r>
          <a:endParaRPr lang="ko-KR" altLang="en-US" sz="14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3120210" y="540971"/>
        <a:ext cx="1167613" cy="1167613"/>
      </dsp:txXfrm>
    </dsp:sp>
    <dsp:sp modelId="{7603533E-DC41-4398-AB70-D56A3723BD3A}">
      <dsp:nvSpPr>
        <dsp:cNvPr id="0" name=""/>
        <dsp:cNvSpPr/>
      </dsp:nvSpPr>
      <dsp:spPr>
        <a:xfrm>
          <a:off x="4663725" y="645914"/>
          <a:ext cx="957727" cy="957727"/>
        </a:xfrm>
        <a:prstGeom prst="mathEqual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50" b="1" kern="1200">
            <a:solidFill>
              <a:schemeClr val="tx2">
                <a:lumMod val="75000"/>
              </a:schemeClr>
            </a:solidFill>
          </a:endParaRPr>
        </a:p>
      </dsp:txBody>
      <dsp:txXfrm>
        <a:off x="4790672" y="843206"/>
        <a:ext cx="703833" cy="563143"/>
      </dsp:txXfrm>
    </dsp:sp>
    <dsp:sp modelId="{75EFCA4F-8C21-419C-846A-7742F304C46D}">
      <dsp:nvSpPr>
        <dsp:cNvPr id="0" name=""/>
        <dsp:cNvSpPr/>
      </dsp:nvSpPr>
      <dsp:spPr>
        <a:xfrm>
          <a:off x="5755534" y="299151"/>
          <a:ext cx="1651253" cy="16512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tx2">
                  <a:lumMod val="75000"/>
                </a:schemeClr>
              </a:solidFill>
            </a:rPr>
            <a:t>외식서비스</a:t>
          </a:r>
        </a:p>
      </dsp:txBody>
      <dsp:txXfrm>
        <a:off x="5997354" y="540971"/>
        <a:ext cx="1167613" cy="11676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CA9FE-FE2D-45AD-9296-3D6674321F96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D482D7-E73D-4824-8E07-8C5E5A488F32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3D27A1-7D34-4B5A-A520-D2609D30977E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489FFE2-F52E-4A65-A1EA-4251F70A1580}">
      <dsp:nvSpPr>
        <dsp:cNvPr id="0" name=""/>
        <dsp:cNvSpPr/>
      </dsp:nvSpPr>
      <dsp:spPr>
        <a:xfrm>
          <a:off x="2278558" y="1404868"/>
          <a:ext cx="1538882" cy="15388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b="1" kern="12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Marketing</a:t>
          </a:r>
          <a:endParaRPr lang="ko-KR" altLang="en-US" sz="1700" b="1" kern="1200" dirty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sp:txBody>
      <dsp:txXfrm>
        <a:off x="2503922" y="1630232"/>
        <a:ext cx="1088154" cy="1088154"/>
      </dsp:txXfrm>
    </dsp:sp>
    <dsp:sp modelId="{CC028579-2FBE-48C5-9FB8-F8F7635E1A6F}">
      <dsp:nvSpPr>
        <dsp:cNvPr id="0" name=""/>
        <dsp:cNvSpPr/>
      </dsp:nvSpPr>
      <dsp:spPr>
        <a:xfrm>
          <a:off x="2509391" y="1406"/>
          <a:ext cx="1077217" cy="10772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가치</a:t>
          </a:r>
        </a:p>
      </dsp:txBody>
      <dsp:txXfrm>
        <a:off x="2667146" y="159161"/>
        <a:ext cx="761707" cy="761707"/>
      </dsp:txXfrm>
    </dsp:sp>
    <dsp:sp modelId="{8FF195AE-E158-447D-821E-53CA284195B8}">
      <dsp:nvSpPr>
        <dsp:cNvPr id="0" name=""/>
        <dsp:cNvSpPr/>
      </dsp:nvSpPr>
      <dsp:spPr>
        <a:xfrm>
          <a:off x="3924731" y="2452848"/>
          <a:ext cx="1077217" cy="10772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과정</a:t>
          </a:r>
        </a:p>
      </dsp:txBody>
      <dsp:txXfrm>
        <a:off x="4082486" y="2610603"/>
        <a:ext cx="761707" cy="761707"/>
      </dsp:txXfrm>
    </dsp:sp>
    <dsp:sp modelId="{AAFBADA8-023D-4D43-A922-FB979955F557}">
      <dsp:nvSpPr>
        <dsp:cNvPr id="0" name=""/>
        <dsp:cNvSpPr/>
      </dsp:nvSpPr>
      <dsp:spPr>
        <a:xfrm>
          <a:off x="1094050" y="2452848"/>
          <a:ext cx="1077217" cy="10772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rPr>
            <a:t>교환</a:t>
          </a:r>
        </a:p>
      </dsp:txBody>
      <dsp:txXfrm>
        <a:off x="1251805" y="2610603"/>
        <a:ext cx="761707" cy="761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10015-E127-47AD-B5CD-4CABC8B5DA7D}">
      <dsp:nvSpPr>
        <dsp:cNvPr id="0" name=""/>
        <dsp:cNvSpPr/>
      </dsp:nvSpPr>
      <dsp:spPr>
        <a:xfrm>
          <a:off x="1016000" y="0"/>
          <a:ext cx="4064000" cy="4064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D0365-5F14-4C1D-829E-E5C01B74EBE8}">
      <dsp:nvSpPr>
        <dsp:cNvPr id="0" name=""/>
        <dsp:cNvSpPr/>
      </dsp:nvSpPr>
      <dsp:spPr>
        <a:xfrm>
          <a:off x="1280160" y="264160"/>
          <a:ext cx="1625600" cy="162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 sz="230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roduct</a:t>
          </a:r>
        </a:p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제품</a:t>
          </a:r>
        </a:p>
      </dsp:txBody>
      <dsp:txXfrm>
        <a:off x="1359515" y="343515"/>
        <a:ext cx="1466890" cy="1466890"/>
      </dsp:txXfrm>
    </dsp:sp>
    <dsp:sp modelId="{C3C836EC-98F8-4FFE-B8C7-97AF3C2AAA9D}">
      <dsp:nvSpPr>
        <dsp:cNvPr id="0" name=""/>
        <dsp:cNvSpPr/>
      </dsp:nvSpPr>
      <dsp:spPr>
        <a:xfrm>
          <a:off x="3190240" y="264160"/>
          <a:ext cx="1625600" cy="162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b="1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rice</a:t>
          </a:r>
        </a:p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가격</a:t>
          </a:r>
          <a:endParaRPr lang="ko-KR" altLang="en-US" sz="230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3269595" y="343515"/>
        <a:ext cx="1466890" cy="1466890"/>
      </dsp:txXfrm>
    </dsp:sp>
    <dsp:sp modelId="{FA9C4D93-78B2-4051-9A5B-18B38ACF793A}">
      <dsp:nvSpPr>
        <dsp:cNvPr id="0" name=""/>
        <dsp:cNvSpPr/>
      </dsp:nvSpPr>
      <dsp:spPr>
        <a:xfrm>
          <a:off x="1280160" y="2174240"/>
          <a:ext cx="1625600" cy="162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b="1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lace</a:t>
          </a:r>
        </a:p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유통경로</a:t>
          </a:r>
          <a:endParaRPr lang="ko-KR" altLang="en-US" sz="230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1359515" y="2253595"/>
        <a:ext cx="1466890" cy="1466890"/>
      </dsp:txXfrm>
    </dsp:sp>
    <dsp:sp modelId="{8A041333-0037-484E-A513-02F5B8938E41}">
      <dsp:nvSpPr>
        <dsp:cNvPr id="0" name=""/>
        <dsp:cNvSpPr/>
      </dsp:nvSpPr>
      <dsp:spPr>
        <a:xfrm>
          <a:off x="3190240" y="2174240"/>
          <a:ext cx="1625600" cy="162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b="1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</a:t>
          </a:r>
          <a:r>
            <a:rPr lang="en-US" altLang="ko-KR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romotion</a:t>
          </a:r>
        </a:p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광고</a:t>
          </a:r>
          <a:r>
            <a:rPr lang="en-US" altLang="ko-KR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/</a:t>
          </a:r>
          <a:r>
            <a:rPr lang="ko-KR" altLang="en-US" sz="2300" kern="120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촉진물</a:t>
          </a:r>
          <a:endParaRPr lang="ko-KR" altLang="en-US" sz="230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3269595" y="2253595"/>
        <a:ext cx="1466890" cy="14668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4A91C-71A3-4091-9253-6258E3171095}">
      <dsp:nvSpPr>
        <dsp:cNvPr id="0" name=""/>
        <dsp:cNvSpPr/>
      </dsp:nvSpPr>
      <dsp:spPr>
        <a:xfrm>
          <a:off x="2110938" y="1428610"/>
          <a:ext cx="1157441" cy="115744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Service</a:t>
          </a:r>
        </a:p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Marketing mix</a:t>
          </a:r>
        </a:p>
      </dsp:txBody>
      <dsp:txXfrm>
        <a:off x="2167440" y="1485112"/>
        <a:ext cx="1044437" cy="1044437"/>
      </dsp:txXfrm>
    </dsp:sp>
    <dsp:sp modelId="{2BFA995A-4387-438E-84F9-71B516D4748F}">
      <dsp:nvSpPr>
        <dsp:cNvPr id="0" name=""/>
        <dsp:cNvSpPr/>
      </dsp:nvSpPr>
      <dsp:spPr>
        <a:xfrm rot="16200000">
          <a:off x="2382613" y="1121564"/>
          <a:ext cx="61409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14092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E841B1-8F04-4EF1-9DDE-8E22E663B6BA}">
      <dsp:nvSpPr>
        <dsp:cNvPr id="0" name=""/>
        <dsp:cNvSpPr/>
      </dsp:nvSpPr>
      <dsp:spPr>
        <a:xfrm>
          <a:off x="2250594" y="39032"/>
          <a:ext cx="878129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Product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2288450" y="76888"/>
        <a:ext cx="802417" cy="699773"/>
      </dsp:txXfrm>
    </dsp:sp>
    <dsp:sp modelId="{3A2215BD-4001-4579-A810-9E272F4E50E4}">
      <dsp:nvSpPr>
        <dsp:cNvPr id="0" name=""/>
        <dsp:cNvSpPr/>
      </dsp:nvSpPr>
      <dsp:spPr>
        <a:xfrm rot="19285714">
          <a:off x="3244550" y="1477715"/>
          <a:ext cx="2184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8452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60EC9-907D-401D-AE4F-7E9DA64455C4}">
      <dsp:nvSpPr>
        <dsp:cNvPr id="0" name=""/>
        <dsp:cNvSpPr/>
      </dsp:nvSpPr>
      <dsp:spPr>
        <a:xfrm>
          <a:off x="3286480" y="634128"/>
          <a:ext cx="1277814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Promotion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3324336" y="671984"/>
        <a:ext cx="1202102" cy="699773"/>
      </dsp:txXfrm>
    </dsp:sp>
    <dsp:sp modelId="{BAEAB561-775D-4E3F-86A8-8F6422EA0C75}">
      <dsp:nvSpPr>
        <dsp:cNvPr id="0" name=""/>
        <dsp:cNvSpPr/>
      </dsp:nvSpPr>
      <dsp:spPr>
        <a:xfrm rot="771429">
          <a:off x="3263814" y="2179940"/>
          <a:ext cx="36419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4190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551F26-2405-4615-91B0-D80C6ABB8D90}">
      <dsp:nvSpPr>
        <dsp:cNvPr id="0" name=""/>
        <dsp:cNvSpPr/>
      </dsp:nvSpPr>
      <dsp:spPr>
        <a:xfrm>
          <a:off x="3623440" y="1971295"/>
          <a:ext cx="1214294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Physical</a:t>
          </a:r>
        </a:p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evidence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3661296" y="2009151"/>
        <a:ext cx="1138582" cy="699773"/>
      </dsp:txXfrm>
    </dsp:sp>
    <dsp:sp modelId="{93552CEC-48EE-44D6-B8EB-2025E5715F6E}">
      <dsp:nvSpPr>
        <dsp:cNvPr id="0" name=""/>
        <dsp:cNvSpPr/>
      </dsp:nvSpPr>
      <dsp:spPr>
        <a:xfrm rot="3857143">
          <a:off x="2824602" y="2814836"/>
          <a:ext cx="5078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07862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359C6A-0018-495C-ACB1-BBC1A8476424}">
      <dsp:nvSpPr>
        <dsp:cNvPr id="0" name=""/>
        <dsp:cNvSpPr/>
      </dsp:nvSpPr>
      <dsp:spPr>
        <a:xfrm>
          <a:off x="2987693" y="3043620"/>
          <a:ext cx="775485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People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3025549" y="3081476"/>
        <a:ext cx="699773" cy="699773"/>
      </dsp:txXfrm>
    </dsp:sp>
    <dsp:sp modelId="{2DD377E9-7EAF-4364-B3B1-291EB90EAA5B}">
      <dsp:nvSpPr>
        <dsp:cNvPr id="0" name=""/>
        <dsp:cNvSpPr/>
      </dsp:nvSpPr>
      <dsp:spPr>
        <a:xfrm rot="6942857">
          <a:off x="2046854" y="2814836"/>
          <a:ext cx="5078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07862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4701CC-B03B-423E-B751-4694E1E8C00E}">
      <dsp:nvSpPr>
        <dsp:cNvPr id="0" name=""/>
        <dsp:cNvSpPr/>
      </dsp:nvSpPr>
      <dsp:spPr>
        <a:xfrm>
          <a:off x="1452941" y="3043620"/>
          <a:ext cx="1101880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Process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1490797" y="3081476"/>
        <a:ext cx="1026168" cy="699773"/>
      </dsp:txXfrm>
    </dsp:sp>
    <dsp:sp modelId="{C5E1E0AD-9559-4404-AE95-FF1DB5FF7C75}">
      <dsp:nvSpPr>
        <dsp:cNvPr id="0" name=""/>
        <dsp:cNvSpPr/>
      </dsp:nvSpPr>
      <dsp:spPr>
        <a:xfrm rot="10028571">
          <a:off x="1529087" y="2204979"/>
          <a:ext cx="58923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9237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BB0C9D-56CB-4476-AA56-A9D50779F467}">
      <dsp:nvSpPr>
        <dsp:cNvPr id="0" name=""/>
        <dsp:cNvSpPr/>
      </dsp:nvSpPr>
      <dsp:spPr>
        <a:xfrm>
          <a:off x="760988" y="1971295"/>
          <a:ext cx="775485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Price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798844" y="2009151"/>
        <a:ext cx="699773" cy="699773"/>
      </dsp:txXfrm>
    </dsp:sp>
    <dsp:sp modelId="{86626778-5FCF-4A05-A984-32371F4AC681}">
      <dsp:nvSpPr>
        <dsp:cNvPr id="0" name=""/>
        <dsp:cNvSpPr/>
      </dsp:nvSpPr>
      <dsp:spPr>
        <a:xfrm rot="13114286">
          <a:off x="1804105" y="1438451"/>
          <a:ext cx="34440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4402" y="0"/>
              </a:lnTo>
            </a:path>
          </a:pathLst>
        </a:custGeom>
        <a:noFill/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26FDE9-4A27-4AB1-8D81-B8B8CFEB2986}">
      <dsp:nvSpPr>
        <dsp:cNvPr id="0" name=""/>
        <dsp:cNvSpPr/>
      </dsp:nvSpPr>
      <dsp:spPr>
        <a:xfrm>
          <a:off x="1066187" y="634128"/>
          <a:ext cx="775485" cy="775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b="0" kern="12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rPr>
            <a:t>Place</a:t>
          </a:r>
          <a:endParaRPr lang="ko-KR" altLang="en-US" sz="1500" b="0" kern="1200" dirty="0">
            <a:latin typeface="서울남산 장체 M" panose="02020503020101020101" pitchFamily="18" charset="-127"/>
            <a:ea typeface="서울남산 장체 M" panose="02020503020101020101" pitchFamily="18" charset="-127"/>
            <a:cs typeface="함초롬돋움" panose="02030504000101010101" pitchFamily="18" charset="-127"/>
          </a:endParaRPr>
        </a:p>
      </dsp:txBody>
      <dsp:txXfrm>
        <a:off x="1104043" y="671984"/>
        <a:ext cx="699773" cy="699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35B2E3-37A0-415A-9DC6-3172C7D41F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E116D6-ECC9-4413-8AEF-FB1DA5A189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5B43C55-B056-4FD9-84F8-233C1F4FDD31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77AD19B-3485-46E7-8745-0CDBED68B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CB74131-54C1-40B3-BC67-5A900E072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9E5E1C-A543-469F-95D3-8D31AE452A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387404-AE34-43CE-BBEB-0B4D057E0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53956D6-C56B-4B37-B65C-056C21D6319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CB8A181F-ABE5-4A8F-B5FB-A0673F554B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C6F8F2BD-2B89-43EF-BB30-42F7723ECA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3D1467B2-F4F9-4B2B-B2CE-837A99A7D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20213E2-BD51-44BC-8D6B-CECE3D4AA82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439A9F2E-7318-41E3-9867-AFF91B44C7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6A8650C6-1030-40C7-A484-90773F93D5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ko-KR" altLang="en-US"/>
              <a:t>좋은 서비스 품질을 제공하기 위해서는 종사원의 끊임없는 교육과 훈련이 필요하다</a:t>
            </a:r>
            <a:r>
              <a:rPr lang="en-US" altLang="ko-KR"/>
              <a:t>.</a:t>
            </a: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288DD4FC-A487-41E3-817C-77400E08F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1F733F4-AB46-4A2D-B67C-F6991E802FE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6D7C1390-5630-409B-A16D-91125D7E9D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58818B38-7B57-467B-920D-EA2C3DB9BF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6E15174-0E30-4EB8-B490-42DE26891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4C80DF7-B195-4617-91B5-25E30C0427F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6445BDD3-374A-4BED-A689-913DB47D1E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8B296941-0EE5-48F5-B56E-955102E363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2A708617-4298-4C20-8854-6F30F585F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4A1A953-C945-46D5-B7FF-4714D9E05F2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AFA5D87-53A3-4492-A013-BB7264F1B0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F5E88F10-9DF8-4ECF-A3BD-A9C000FF73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5FECC40-E7F9-4086-8EEC-4DAA635EE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95AC8B7-6AD7-4252-A455-304F7107BB50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93FF719F-4633-419F-8A73-F03550002A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FFB59BBB-0434-4DDD-9256-3E33FAB12E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D7A50266-2053-476D-AB1A-3079D33088A0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66155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45D73A-8B1F-4919-8778-78DEA8C16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527A4D-67D4-4575-92E8-19FDADF82D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BD95B-AA20-4EC6-92D3-E5F56DC4FA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841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B64A21-F491-48AB-BAAA-655F75E008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658ABB-BE13-45CB-B96D-49FEE488A0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81D8E-677B-45BA-9369-E9C29734D3E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214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383610-E3D1-42E1-83D7-F9990BD0A1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D8C4472-3551-4E6F-850A-2CF5BF1A92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9D707-2150-44B3-83DC-78C606B5590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191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825BF1-684F-44A1-B16D-C24257C866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2D8BBE-607B-4B63-897D-6EBDA0673C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8FE5A-97B0-4D9B-A95E-058F5ED0230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300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4FE01B-F7ED-4D3F-846B-973E57E8B2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A82A55-3165-4D76-9920-16180D98A9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6E1CD-3011-4292-AD66-45822168A4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793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47AD5120-35CA-4575-AA67-4674DB8CEDFC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DC9E1AE7-D278-480D-AEEE-B12FCBF86AC8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B63846E2-1A56-4300-98B4-654406AB1D8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17F33EB7-5AE6-407B-9D8D-410D7345FAC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2056E9CA-E05F-4285-901A-142D669C3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21C9078-A4FC-4B44-811D-F25F4B1EEC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5FA6A6-3393-4202-8526-65D56DC313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4DC46B88-3438-4487-8CBE-1FF143EE40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C30E3DCD-E81D-4345-809E-E7C54C66AD9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C60C699-B155-4978-9F1B-3987F35B895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AE390F1C-AD2C-4C78-BD98-5640F85F6A9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21C4A975-16A0-470B-9C7C-E756ADAD3B0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A0880A12-C69C-4796-A0DA-748E79060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2" r:id="rId2"/>
    <p:sldLayoutId id="2147483733" r:id="rId3"/>
    <p:sldLayoutId id="2147483734" r:id="rId4"/>
    <p:sldLayoutId id="2147483735" r:id="rId5"/>
    <p:sldLayoutId id="2147483736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3E56DEF1-384D-46DC-BD2C-F0E6F6963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/>
              <a:t>Chepter 2. </a:t>
            </a:r>
            <a:r>
              <a:rPr lang="ko-KR" altLang="en-US"/>
              <a:t>외식서비스마케팅의 기본이해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BEEB06BF-182F-4A89-911E-A2CE13F1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/>
            </a:pPr>
            <a:r>
              <a:rPr lang="ko-KR" altLang="en-US"/>
              <a:t>서비스의 개념 및 본질적 특성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F79604-4FE5-4609-A3AC-77839EA738D6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5E56BA-C034-453F-BF79-38B1FF03AF06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9DF08D42-5C66-43B7-A13D-C84C77FB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서비스의 개념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D67E07EF-DEE7-4B5C-B1EF-E5D7AE3FE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/>
              <a:t>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함초롬돋움" panose="020B0604000101010101" pitchFamily="50" charset="-127"/>
              <a:buChar char="◦"/>
            </a:pP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하나의 주체가 다른 주체에게 제공하거나 공동으로 생산하는 </a:t>
            </a: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     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행동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과정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성과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(by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Zeithaml et al., 2013)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함초롬돋움" panose="020B0604000101010101" pitchFamily="50" charset="-127"/>
              <a:buChar char="◦"/>
            </a:pP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한 집단이 다른 집단에게 제공하는 행위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혜택 또는 만족으로서 </a:t>
            </a: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   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본질적으로 무형성을 가지고 있으며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소유권의 변경을 가져오지 않는 것</a:t>
            </a:r>
            <a:r>
              <a:rPr lang="en-US" altLang="ko-KR" sz="1800" b="0">
                <a:ea typeface="함초롬돋움" panose="020B0604000101010101" pitchFamily="50" charset="-127"/>
                <a:cs typeface="함초롬돋움" panose="020B0604000101010101" pitchFamily="50" charset="-127"/>
              </a:rPr>
              <a:t>(by Kotler, 2013)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/>
          </a:p>
        </p:txBody>
      </p:sp>
      <p:sp>
        <p:nvSpPr>
          <p:cNvPr id="6148" name="직사각형 9">
            <a:extLst>
              <a:ext uri="{FF2B5EF4-FFF2-40B4-BE49-F238E27FC236}">
                <a16:creationId xmlns:a16="http://schemas.microsoft.com/office/drawing/2014/main" id="{C4B25C5E-11A7-44F7-9868-CE1BD78B8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1" name="자유형 10">
            <a:extLst>
              <a:ext uri="{FF2B5EF4-FFF2-40B4-BE49-F238E27FC236}">
                <a16:creationId xmlns:a16="http://schemas.microsoft.com/office/drawing/2014/main" id="{8B3002DF-BED9-4437-9C6A-BE7F32680A08}"/>
              </a:ext>
            </a:extLst>
          </p:cNvPr>
          <p:cNvSpPr/>
          <p:nvPr/>
        </p:nvSpPr>
        <p:spPr>
          <a:xfrm>
            <a:off x="2649538" y="4967288"/>
            <a:ext cx="1014412" cy="1014412"/>
          </a:xfrm>
          <a:custGeom>
            <a:avLst/>
            <a:gdLst>
              <a:gd name="connsiteX0" fmla="*/ 0 w 1014028"/>
              <a:gd name="connsiteY0" fmla="*/ 507014 h 1014028"/>
              <a:gd name="connsiteX1" fmla="*/ 507014 w 1014028"/>
              <a:gd name="connsiteY1" fmla="*/ 0 h 1014028"/>
              <a:gd name="connsiteX2" fmla="*/ 1014028 w 1014028"/>
              <a:gd name="connsiteY2" fmla="*/ 507014 h 1014028"/>
              <a:gd name="connsiteX3" fmla="*/ 507014 w 1014028"/>
              <a:gd name="connsiteY3" fmla="*/ 1014028 h 1014028"/>
              <a:gd name="connsiteX4" fmla="*/ 0 w 1014028"/>
              <a:gd name="connsiteY4" fmla="*/ 507014 h 101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4028" h="1014028">
                <a:moveTo>
                  <a:pt x="0" y="507014"/>
                </a:moveTo>
                <a:cubicBezTo>
                  <a:pt x="0" y="226998"/>
                  <a:pt x="226998" y="0"/>
                  <a:pt x="507014" y="0"/>
                </a:cubicBezTo>
                <a:cubicBezTo>
                  <a:pt x="787030" y="0"/>
                  <a:pt x="1014028" y="226998"/>
                  <a:pt x="1014028" y="507014"/>
                </a:cubicBezTo>
                <a:cubicBezTo>
                  <a:pt x="1014028" y="787030"/>
                  <a:pt x="787030" y="1014028"/>
                  <a:pt x="507014" y="1014028"/>
                </a:cubicBezTo>
                <a:cubicBezTo>
                  <a:pt x="226998" y="1014028"/>
                  <a:pt x="0" y="787030"/>
                  <a:pt x="0" y="507014"/>
                </a:cubicBezTo>
                <a:close/>
              </a:path>
            </a:pathLst>
          </a:cu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lIns="148501" tIns="148501" rIns="148501" bIns="148501" spcCol="1270" anchor="ctr"/>
          <a:lstStyle/>
          <a:p>
            <a:pPr algn="ctr" defTabSz="800100" latinLnBrk="1">
              <a:lnSpc>
                <a:spcPct val="90000"/>
              </a:lnSpc>
              <a:spcAft>
                <a:spcPct val="35000"/>
              </a:spcAft>
              <a:defRPr/>
            </a:pPr>
            <a:r>
              <a:rPr lang="ko-KR" altLang="en-US" b="1" dirty="0" err="1">
                <a:solidFill>
                  <a:schemeClr val="tx2">
                    <a:lumMod val="75000"/>
                  </a:schemeClr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무형성</a:t>
            </a:r>
            <a:endParaRPr lang="ko-KR" altLang="en-US" b="1" dirty="0">
              <a:solidFill>
                <a:schemeClr val="tx2">
                  <a:lumMod val="75000"/>
                </a:schemeClr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2" name="자유형 11">
            <a:extLst>
              <a:ext uri="{FF2B5EF4-FFF2-40B4-BE49-F238E27FC236}">
                <a16:creationId xmlns:a16="http://schemas.microsoft.com/office/drawing/2014/main" id="{76D4A8AD-2B67-4BE7-8B8A-DD1DD7A07384}"/>
              </a:ext>
            </a:extLst>
          </p:cNvPr>
          <p:cNvSpPr/>
          <p:nvPr/>
        </p:nvSpPr>
        <p:spPr>
          <a:xfrm>
            <a:off x="3663950" y="4967288"/>
            <a:ext cx="1014413" cy="1014412"/>
          </a:xfrm>
          <a:custGeom>
            <a:avLst/>
            <a:gdLst>
              <a:gd name="connsiteX0" fmla="*/ 0 w 1014028"/>
              <a:gd name="connsiteY0" fmla="*/ 507014 h 1014028"/>
              <a:gd name="connsiteX1" fmla="*/ 507014 w 1014028"/>
              <a:gd name="connsiteY1" fmla="*/ 0 h 1014028"/>
              <a:gd name="connsiteX2" fmla="*/ 1014028 w 1014028"/>
              <a:gd name="connsiteY2" fmla="*/ 507014 h 1014028"/>
              <a:gd name="connsiteX3" fmla="*/ 507014 w 1014028"/>
              <a:gd name="connsiteY3" fmla="*/ 1014028 h 1014028"/>
              <a:gd name="connsiteX4" fmla="*/ 0 w 1014028"/>
              <a:gd name="connsiteY4" fmla="*/ 507014 h 101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4028" h="1014028">
                <a:moveTo>
                  <a:pt x="0" y="507014"/>
                </a:moveTo>
                <a:cubicBezTo>
                  <a:pt x="0" y="226998"/>
                  <a:pt x="226998" y="0"/>
                  <a:pt x="507014" y="0"/>
                </a:cubicBezTo>
                <a:cubicBezTo>
                  <a:pt x="787030" y="0"/>
                  <a:pt x="1014028" y="226998"/>
                  <a:pt x="1014028" y="507014"/>
                </a:cubicBezTo>
                <a:cubicBezTo>
                  <a:pt x="1014028" y="787030"/>
                  <a:pt x="787030" y="1014028"/>
                  <a:pt x="507014" y="1014028"/>
                </a:cubicBezTo>
                <a:cubicBezTo>
                  <a:pt x="226998" y="1014028"/>
                  <a:pt x="0" y="787030"/>
                  <a:pt x="0" y="507014"/>
                </a:cubicBezTo>
                <a:close/>
              </a:path>
            </a:pathLst>
          </a:cu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lIns="148501" tIns="148501" rIns="148501" bIns="148501" spcCol="1270" anchor="ctr"/>
          <a:lstStyle/>
          <a:p>
            <a:pPr algn="ctr" defTabSz="800100" latinLnBrk="1">
              <a:lnSpc>
                <a:spcPct val="90000"/>
              </a:lnSpc>
              <a:spcAft>
                <a:spcPct val="35000"/>
              </a:spcAft>
              <a:defRPr/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이질성</a:t>
            </a:r>
          </a:p>
        </p:txBody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B3B83171-F056-4A5C-99C6-8E3943FE093D}"/>
              </a:ext>
            </a:extLst>
          </p:cNvPr>
          <p:cNvSpPr/>
          <p:nvPr/>
        </p:nvSpPr>
        <p:spPr>
          <a:xfrm>
            <a:off x="4678363" y="4967288"/>
            <a:ext cx="1012825" cy="1014412"/>
          </a:xfrm>
          <a:custGeom>
            <a:avLst/>
            <a:gdLst>
              <a:gd name="connsiteX0" fmla="*/ 0 w 1014028"/>
              <a:gd name="connsiteY0" fmla="*/ 507014 h 1014028"/>
              <a:gd name="connsiteX1" fmla="*/ 507014 w 1014028"/>
              <a:gd name="connsiteY1" fmla="*/ 0 h 1014028"/>
              <a:gd name="connsiteX2" fmla="*/ 1014028 w 1014028"/>
              <a:gd name="connsiteY2" fmla="*/ 507014 h 1014028"/>
              <a:gd name="connsiteX3" fmla="*/ 507014 w 1014028"/>
              <a:gd name="connsiteY3" fmla="*/ 1014028 h 1014028"/>
              <a:gd name="connsiteX4" fmla="*/ 0 w 1014028"/>
              <a:gd name="connsiteY4" fmla="*/ 507014 h 101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4028" h="1014028">
                <a:moveTo>
                  <a:pt x="0" y="507014"/>
                </a:moveTo>
                <a:cubicBezTo>
                  <a:pt x="0" y="226998"/>
                  <a:pt x="226998" y="0"/>
                  <a:pt x="507014" y="0"/>
                </a:cubicBezTo>
                <a:cubicBezTo>
                  <a:pt x="787030" y="0"/>
                  <a:pt x="1014028" y="226998"/>
                  <a:pt x="1014028" y="507014"/>
                </a:cubicBezTo>
                <a:cubicBezTo>
                  <a:pt x="1014028" y="787030"/>
                  <a:pt x="787030" y="1014028"/>
                  <a:pt x="507014" y="1014028"/>
                </a:cubicBezTo>
                <a:cubicBezTo>
                  <a:pt x="226998" y="1014028"/>
                  <a:pt x="0" y="787030"/>
                  <a:pt x="0" y="507014"/>
                </a:cubicBezTo>
                <a:close/>
              </a:path>
            </a:pathLst>
          </a:cu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lIns="148501" tIns="148501" rIns="148501" bIns="148501" spcCol="1270" anchor="ctr"/>
          <a:lstStyle/>
          <a:p>
            <a:pPr algn="ctr" defTabSz="800100" latinLnBrk="1">
              <a:lnSpc>
                <a:spcPct val="90000"/>
              </a:lnSpc>
              <a:spcAft>
                <a:spcPct val="35000"/>
              </a:spcAft>
              <a:defRPr/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동시성</a:t>
            </a:r>
          </a:p>
        </p:txBody>
      </p:sp>
      <p:sp>
        <p:nvSpPr>
          <p:cNvPr id="14" name="자유형 13">
            <a:extLst>
              <a:ext uri="{FF2B5EF4-FFF2-40B4-BE49-F238E27FC236}">
                <a16:creationId xmlns:a16="http://schemas.microsoft.com/office/drawing/2014/main" id="{A077C37F-7215-45F9-9435-6BE365C50D72}"/>
              </a:ext>
            </a:extLst>
          </p:cNvPr>
          <p:cNvSpPr/>
          <p:nvPr/>
        </p:nvSpPr>
        <p:spPr>
          <a:xfrm>
            <a:off x="5691188" y="4967288"/>
            <a:ext cx="1014412" cy="1014412"/>
          </a:xfrm>
          <a:custGeom>
            <a:avLst/>
            <a:gdLst>
              <a:gd name="connsiteX0" fmla="*/ 0 w 1014028"/>
              <a:gd name="connsiteY0" fmla="*/ 507014 h 1014028"/>
              <a:gd name="connsiteX1" fmla="*/ 507014 w 1014028"/>
              <a:gd name="connsiteY1" fmla="*/ 0 h 1014028"/>
              <a:gd name="connsiteX2" fmla="*/ 1014028 w 1014028"/>
              <a:gd name="connsiteY2" fmla="*/ 507014 h 1014028"/>
              <a:gd name="connsiteX3" fmla="*/ 507014 w 1014028"/>
              <a:gd name="connsiteY3" fmla="*/ 1014028 h 1014028"/>
              <a:gd name="connsiteX4" fmla="*/ 0 w 1014028"/>
              <a:gd name="connsiteY4" fmla="*/ 507014 h 101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4028" h="1014028">
                <a:moveTo>
                  <a:pt x="0" y="507014"/>
                </a:moveTo>
                <a:cubicBezTo>
                  <a:pt x="0" y="226998"/>
                  <a:pt x="226998" y="0"/>
                  <a:pt x="507014" y="0"/>
                </a:cubicBezTo>
                <a:cubicBezTo>
                  <a:pt x="787030" y="0"/>
                  <a:pt x="1014028" y="226998"/>
                  <a:pt x="1014028" y="507014"/>
                </a:cubicBezTo>
                <a:cubicBezTo>
                  <a:pt x="1014028" y="787030"/>
                  <a:pt x="787030" y="1014028"/>
                  <a:pt x="507014" y="1014028"/>
                </a:cubicBezTo>
                <a:cubicBezTo>
                  <a:pt x="226998" y="1014028"/>
                  <a:pt x="0" y="787030"/>
                  <a:pt x="0" y="507014"/>
                </a:cubicBezTo>
                <a:close/>
              </a:path>
            </a:pathLst>
          </a:cu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lIns="148501" tIns="148501" rIns="148501" bIns="148501" spcCol="1270" anchor="ctr"/>
          <a:lstStyle/>
          <a:p>
            <a:pPr algn="ctr" defTabSz="800100" latinLnBrk="1">
              <a:lnSpc>
                <a:spcPct val="90000"/>
              </a:lnSpc>
              <a:spcAft>
                <a:spcPct val="35000"/>
              </a:spcAft>
              <a:defRPr/>
            </a:pPr>
            <a:r>
              <a:rPr lang="ko-KR" altLang="en-US" b="1" dirty="0" err="1">
                <a:solidFill>
                  <a:schemeClr val="tx2">
                    <a:lumMod val="75000"/>
                  </a:schemeClr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소멸성</a:t>
            </a:r>
            <a:endParaRPr lang="ko-KR" altLang="en-US" b="1" dirty="0">
              <a:solidFill>
                <a:schemeClr val="tx2">
                  <a:lumMod val="75000"/>
                </a:schemeClr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F7D1CA07-27E6-4A30-BD5D-01A627DA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66B7B1C5-FF9F-4339-A96E-D203C50E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○"/>
              <a:defRPr/>
            </a:pPr>
            <a:r>
              <a:rPr lang="en-US" altLang="ko-KR" sz="2000" b="0" dirty="0"/>
              <a:t> </a:t>
            </a:r>
            <a:r>
              <a:rPr lang="ko-KR" altLang="en-US" sz="2000" b="0" dirty="0" err="1"/>
              <a:t>무형성</a:t>
            </a:r>
            <a:r>
              <a:rPr lang="ko-KR" altLang="en-US" sz="2000" b="0" dirty="0"/>
              <a:t> </a:t>
            </a:r>
            <a:r>
              <a:rPr lang="en-US" altLang="ko-KR" sz="2000" dirty="0">
                <a:latin typeface="함초롬돋움" panose="020B0604000101010101" pitchFamily="50" charset="-127"/>
                <a:ea typeface="서울남산 장체 M" panose="02020503020101020101"/>
                <a:cs typeface="함초롬돋움" panose="020B0604000101010101" pitchFamily="50" charset="-127"/>
              </a:rPr>
              <a:t>(intangibility)</a:t>
            </a:r>
            <a:endParaRPr lang="en-US" altLang="ko-KR" sz="2000" b="0" dirty="0">
              <a:ea typeface="서울남산 장체 M" panose="02020503020101020101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○"/>
              <a:defRPr/>
            </a:pPr>
            <a:endParaRPr lang="en-US" altLang="ko-KR" sz="2000" b="0" dirty="0"/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서비스는 보이는 형태로 제시할 수 없어 가치 파악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평가가 어려움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    - Ex.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컨설팅 서비스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교육서비스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대부분의 제품과 서비스는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무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형성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+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유형성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-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무형성이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지배적일 경우 서비스 상품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-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유형성이 지배적일 경우 제품으로 분류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저장하거나 보관할 수 없고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특허로 보호 받을 수 없음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사전에 고객에게 보여주거나 설명하기 어려움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원가 계산이 어려워 가격 책정이 어려움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7172" name="직사각형 9">
            <a:extLst>
              <a:ext uri="{FF2B5EF4-FFF2-40B4-BE49-F238E27FC236}">
                <a16:creationId xmlns:a16="http://schemas.microsoft.com/office/drawing/2014/main" id="{60A3B030-9BE1-4C88-9D75-6191A438D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14D8ECEC-10E2-431E-8DFA-3E90C4B8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C063BBA-0C71-41C0-B2A6-84EC4D3172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56453" y="2633870"/>
          <a:ext cx="7408034" cy="2249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CF68E10C-4F15-4668-8DD9-804211DD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1388430F-F749-4E22-B59B-85A53D5B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/>
              <a:t> 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이질성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(heterogeneity)</a:t>
            </a:r>
            <a:endParaRPr lang="en-US" altLang="ko-KR" sz="2000" b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endParaRPr lang="en-US" altLang="ko-KR" sz="2000" b="0"/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 제공자와 제공받는 자 모두 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‘</a:t>
            </a: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사람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’</a:t>
            </a: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으로서 서비스를 서로 주고 받는 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</a:t>
            </a: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상황에 따라 서비스의 품질이 달라질 수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있음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</a:pPr>
            <a:r>
              <a:rPr lang="en-US" altLang="ko-KR" sz="1800">
                <a:solidFill>
                  <a:srgbClr val="FF0000"/>
                </a:solidFill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- </a:t>
            </a:r>
            <a:r>
              <a:rPr lang="ko-KR" altLang="en-US" sz="1800">
                <a:solidFill>
                  <a:srgbClr val="FF0000"/>
                </a:solidFill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동일한 직무교육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을 받은 종사원이라도 서비스 현장에서의 서비스 성과가 다름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</a:pPr>
            <a:r>
              <a:rPr lang="en-US" altLang="ko-KR" sz="1800">
                <a:solidFill>
                  <a:srgbClr val="FF0000"/>
                </a:solidFill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- </a:t>
            </a:r>
            <a:r>
              <a:rPr lang="ko-KR" altLang="en-US" sz="1800">
                <a:solidFill>
                  <a:srgbClr val="FF0000"/>
                </a:solidFill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같은 종사원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이라도 오전에 고객을 대하는 태도와 오후에 고객을 대하는 태도가 다를 수 있음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-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같은 음식점을 이용하는 고객이라도 </a:t>
            </a:r>
            <a:r>
              <a:rPr lang="ko-KR" altLang="en-US" sz="1800">
                <a:solidFill>
                  <a:srgbClr val="FF0000"/>
                </a:solidFill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고객의 기대 수준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에 따라 서비스에 대한 만족도가 달라짐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914400" lvl="2" latinLnBrk="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서비스는 표준화와 일관된 품질을 제공하는 것이 매우 어려움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0244" name="직사각형 9">
            <a:extLst>
              <a:ext uri="{FF2B5EF4-FFF2-40B4-BE49-F238E27FC236}">
                <a16:creationId xmlns:a16="http://schemas.microsoft.com/office/drawing/2014/main" id="{31E17E2B-B413-483D-BFE9-EB30CEA74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22097CB8-60DD-4453-9B7D-A301F308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EA46F594-090C-4FEA-93C0-9769087F5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/>
              <a:t> 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생산과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소비의 동시성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(inseparability)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endParaRPr lang="en-US" altLang="ko-KR" sz="2000" b="0"/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 생산과 동시에 그 자리에서 소비가 이루어져야 하는 특징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서비스가 생산되고 전달되는 과정에 고객이 직접 참여함으로써 공동 생산자의 역할을 수행하기도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함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제한된 시간과 좌석 → 고객 대기라인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서비스의 대량생산이 어렵고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고객이 생산과정에 참여하므로 서비스를 제공하는 공간의 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물리적 환경이 매우 중요함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2292" name="직사각형 9">
            <a:extLst>
              <a:ext uri="{FF2B5EF4-FFF2-40B4-BE49-F238E27FC236}">
                <a16:creationId xmlns:a16="http://schemas.microsoft.com/office/drawing/2014/main" id="{D48F1328-125E-4631-93F5-4B4708AC4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64B49F92-BD72-49E0-8D17-07D0EF8A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51BA283C-F14B-44FB-AEC7-3EC1A5856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/>
              <a:t> 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소멸성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(perishability)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/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서비스는 생산과 소비가 동시에 이루어지므로 서비스를 저장하거나 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보관할 수 없는 시간 소멸적 특성을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가짐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음식점은 좌석을 팔아 매출을 올리는데 좌석은 오늘 팔지 못하고 빈 좌석으로 남기면 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내일이면 사라져 버리는 자원임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고객 수요 변동에 따라 서비스 공급능력이 한계에 도달하거나 최적 수준에 미달될 수 있어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, </a:t>
            </a: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효과적인 수요와 공급관리 전략이 매우 중요</a:t>
            </a: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4340" name="직사각형 9">
            <a:extLst>
              <a:ext uri="{FF2B5EF4-FFF2-40B4-BE49-F238E27FC236}">
                <a16:creationId xmlns:a16="http://schemas.microsoft.com/office/drawing/2014/main" id="{6056C2CF-2A2D-4987-AD81-EF6750ABA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EFB31EFC-AC35-470C-8604-86351A1A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서비스의 특징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DEB04003-F521-4D11-8042-CDF5CD8F7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6388" name="직사각형 9">
            <a:extLst>
              <a:ext uri="{FF2B5EF4-FFF2-40B4-BE49-F238E27FC236}">
                <a16:creationId xmlns:a16="http://schemas.microsoft.com/office/drawing/2014/main" id="{3C15AB59-B069-459D-90FD-1D5100184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16389" name="그림 4">
            <a:extLst>
              <a:ext uri="{FF2B5EF4-FFF2-40B4-BE49-F238E27FC236}">
                <a16:creationId xmlns:a16="http://schemas.microsoft.com/office/drawing/2014/main" id="{3CC69E3D-D212-4803-9737-CE9B532AC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828800"/>
            <a:ext cx="5997575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텍스트 개체 틀 3">
            <a:extLst>
              <a:ext uri="{FF2B5EF4-FFF2-40B4-BE49-F238E27FC236}">
                <a16:creationId xmlns:a16="http://schemas.microsoft.com/office/drawing/2014/main" id="{B948D74F-31F1-4D70-AF8B-5B70F0613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 startAt="2"/>
            </a:pPr>
            <a:r>
              <a:rPr lang="ko-KR" altLang="en-US"/>
              <a:t>서비스마케팅의 이해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41CD44-2B63-41D6-ACA7-88654C60F442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FFC59C-C5DF-451A-AB9C-963607182EBB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A5CB7D77-AC50-4C7B-93AB-0D6AD738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마케팅의 기본 개념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5053EEF0-ECF0-4E0D-BCD3-58F8D3D503A6}"/>
              </a:ext>
            </a:extLst>
          </p:cNvPr>
          <p:cNvSpPr>
            <a:spLocks noGrp="1"/>
          </p:cNvSpPr>
          <p:nvPr>
            <p:ph idx="1"/>
          </p:nvPr>
        </p:nvSpPr>
        <p:spPr>
          <a:extLst/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마케팅의 정의</a:t>
            </a: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marL="733425" lvl="2" indent="-2857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cs typeface="함초롬돋움" panose="02030504000101010101" pitchFamily="18" charset="-127"/>
              </a:rPr>
              <a:t>마케팅은 조직이나 개인이 자신의 목적을 달성시키는 교환을 창출하고 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lvl="2" latinLnBrk="0">
              <a:defRPr/>
            </a:pPr>
            <a:r>
              <a:rPr lang="en-US" altLang="ko-KR" sz="1800" dirty="0">
                <a:cs typeface="함초롬돋움" panose="02030504000101010101" pitchFamily="18" charset="-127"/>
              </a:rPr>
              <a:t>    </a:t>
            </a:r>
            <a:r>
              <a:rPr lang="ko-KR" altLang="en-US" sz="1800" dirty="0">
                <a:cs typeface="함초롬돋움" panose="02030504000101010101" pitchFamily="18" charset="-127"/>
              </a:rPr>
              <a:t>유지할 수 있도록 시장을 정의하고 관리하는 과정 </a:t>
            </a:r>
            <a:r>
              <a:rPr lang="en-US" altLang="ko-KR" sz="1800" i="1" dirty="0">
                <a:cs typeface="함초롬돋움" panose="02030504000101010101" pitchFamily="18" charset="-127"/>
              </a:rPr>
              <a:t>(by</a:t>
            </a:r>
            <a:r>
              <a:rPr lang="ko-KR" altLang="en-US" sz="1800" i="1" dirty="0">
                <a:cs typeface="함초롬돋움" panose="02030504000101010101" pitchFamily="18" charset="-127"/>
              </a:rPr>
              <a:t> </a:t>
            </a:r>
            <a:r>
              <a:rPr lang="ko-KR" altLang="en-US" sz="1800" i="1" dirty="0" err="1">
                <a:cs typeface="함초롬돋움" panose="02030504000101010101" pitchFamily="18" charset="-127"/>
              </a:rPr>
              <a:t>한국마케팅</a:t>
            </a:r>
            <a:r>
              <a:rPr lang="ko-KR" altLang="en-US" sz="1800" i="1" dirty="0">
                <a:cs typeface="함초롬돋움" panose="02030504000101010101" pitchFamily="18" charset="-127"/>
              </a:rPr>
              <a:t> 학회</a:t>
            </a:r>
            <a:r>
              <a:rPr lang="en-US" altLang="ko-KR" sz="1800" i="1" dirty="0">
                <a:cs typeface="함초롬돋움" panose="02030504000101010101" pitchFamily="18" charset="-127"/>
              </a:rPr>
              <a:t>)</a:t>
            </a:r>
          </a:p>
          <a:p>
            <a:pPr lvl="2" latinLnBrk="0">
              <a:defRPr/>
            </a:pPr>
            <a:endParaRPr lang="en-US" altLang="ko-KR" sz="1800" i="1" dirty="0">
              <a:cs typeface="함초롬돋움" panose="02030504000101010101" pitchFamily="18" charset="-127"/>
            </a:endParaRPr>
          </a:p>
          <a:p>
            <a:pPr marL="733425" lvl="2" indent="-2857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cs typeface="함초롬돋움" panose="02030504000101010101" pitchFamily="18" charset="-127"/>
              </a:rPr>
              <a:t>마케팅은 조직과 그 이해 관계자들을 위해서 고객들에게 가치를 창조하고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</a:p>
          <a:p>
            <a:pPr lvl="2" latinLnBrk="0">
              <a:defRPr/>
            </a:pPr>
            <a:r>
              <a:rPr lang="en-US" altLang="ko-KR" sz="1800" dirty="0">
                <a:cs typeface="함초롬돋움" panose="02030504000101010101" pitchFamily="18" charset="-127"/>
              </a:rPr>
              <a:t>    </a:t>
            </a:r>
            <a:r>
              <a:rPr lang="ko-KR" altLang="en-US" sz="1800" dirty="0">
                <a:cs typeface="함초롬돋움" panose="02030504000101010101" pitchFamily="18" charset="-127"/>
              </a:rPr>
              <a:t>커뮤니케이션하며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cs typeface="함초롬돋움" panose="02030504000101010101" pitchFamily="18" charset="-127"/>
              </a:rPr>
              <a:t>전달하고 또 고객과의 관계를 관리하기 위한 조직 내 기능 및 일련의 과정 </a:t>
            </a:r>
            <a:r>
              <a:rPr lang="en-US" altLang="ko-KR" sz="1800" i="1" dirty="0">
                <a:cs typeface="함초롬돋움" panose="02030504000101010101" pitchFamily="18" charset="-127"/>
              </a:rPr>
              <a:t>(by </a:t>
            </a:r>
            <a:r>
              <a:rPr lang="ko-KR" altLang="en-US" sz="1800" i="1" dirty="0" err="1">
                <a:cs typeface="함초롬돋움" panose="02030504000101010101" pitchFamily="18" charset="-127"/>
              </a:rPr>
              <a:t>미국마케팅</a:t>
            </a:r>
            <a:r>
              <a:rPr lang="ko-KR" altLang="en-US" sz="1800" i="1" dirty="0">
                <a:cs typeface="함초롬돋움" panose="02030504000101010101" pitchFamily="18" charset="-127"/>
              </a:rPr>
              <a:t> 학회</a:t>
            </a:r>
            <a:r>
              <a:rPr lang="en-US" altLang="ko-KR" sz="1800" i="1" dirty="0">
                <a:cs typeface="함초롬돋움" panose="02030504000101010101" pitchFamily="18" charset="-127"/>
              </a:rPr>
              <a:t>)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함초롬돋움" panose="020B0604000101010101" pitchFamily="50" charset="-127"/>
              <a:buChar char="◦"/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24C16DEC-E105-4980-A6EC-E2F31A19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마케팅의 기본 개념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08BB6BCE-E79C-4563-8354-97761012582A}"/>
              </a:ext>
            </a:extLst>
          </p:cNvPr>
          <p:cNvSpPr>
            <a:spLocks noGrp="1"/>
          </p:cNvSpPr>
          <p:nvPr>
            <p:ph idx="1"/>
          </p:nvPr>
        </p:nvSpPr>
        <p:spPr>
          <a:extLst/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마케팅의 정의</a:t>
            </a: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2EF2DE48-959D-4826-B3F7-987FEBC74591}"/>
              </a:ext>
            </a:extLst>
          </p:cNvPr>
          <p:cNvGraphicFramePr/>
          <p:nvPr/>
        </p:nvGraphicFramePr>
        <p:xfrm>
          <a:off x="2993538" y="166846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485" name="직사각형 4">
            <a:extLst>
              <a:ext uri="{FF2B5EF4-FFF2-40B4-BE49-F238E27FC236}">
                <a16:creationId xmlns:a16="http://schemas.microsoft.com/office/drawing/2014/main" id="{BEC35BDE-09A3-40F8-A171-B9CFA7A74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6067425"/>
            <a:ext cx="528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“ </a:t>
            </a:r>
            <a:r>
              <a:rPr lang="ko-KR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마케팅은 </a:t>
            </a:r>
            <a:r>
              <a:rPr lang="en-US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‘</a:t>
            </a:r>
            <a:r>
              <a:rPr lang="ko-KR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교환</a:t>
            </a:r>
            <a:r>
              <a:rPr lang="en-US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’</a:t>
            </a:r>
            <a:r>
              <a:rPr lang="ko-KR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을 촉진하려는 모든 노력과 활동</a:t>
            </a:r>
            <a:r>
              <a:rPr lang="en-US" altLang="ko-KR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“</a:t>
            </a:r>
            <a:endParaRPr lang="ko-KR" altLang="en-US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DA2A6105-9B88-41C5-AC05-294685A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마케팅의 기본 개념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990CF511-34EE-4918-A4A4-869974645A37}"/>
              </a:ext>
            </a:extLst>
          </p:cNvPr>
          <p:cNvSpPr>
            <a:spLocks noGrp="1"/>
          </p:cNvSpPr>
          <p:nvPr>
            <p:ph idx="1"/>
          </p:nvPr>
        </p:nvSpPr>
        <p:spPr>
          <a:extLst/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마케팅의 정의</a:t>
            </a: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sp>
        <p:nvSpPr>
          <p:cNvPr id="21508" name="TextBox 5">
            <a:extLst>
              <a:ext uri="{FF2B5EF4-FFF2-40B4-BE49-F238E27FC236}">
                <a16:creationId xmlns:a16="http://schemas.microsoft.com/office/drawing/2014/main" id="{B4F97019-4441-4879-89FF-E7050E95A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700463"/>
            <a:ext cx="3306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서울남산 장체 M" pitchFamily="18" charset="-127"/>
                <a:ea typeface="서울남산 장체 M" pitchFamily="18" charset="-127"/>
              </a:rPr>
              <a:t>마케팅 믹스 </a:t>
            </a:r>
            <a:r>
              <a:rPr lang="en-US" altLang="ko-KR" dirty="0">
                <a:latin typeface="서울남산 장체 M" pitchFamily="18" charset="-127"/>
                <a:ea typeface="서울남산 장체 M" pitchFamily="18" charset="-127"/>
              </a:rPr>
              <a:t>Marketing Mix (4P)</a:t>
            </a:r>
            <a:endParaRPr lang="ko-KR" altLang="en-US" dirty="0">
              <a:latin typeface="서울남산 장체 M" pitchFamily="18" charset="-127"/>
              <a:ea typeface="서울남산 장체 M" pitchFamily="18" charset="-127"/>
            </a:endParaRPr>
          </a:p>
        </p:txBody>
      </p:sp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5DDEDB21-7641-4690-9586-F7061348DF7B}"/>
              </a:ext>
            </a:extLst>
          </p:cNvPr>
          <p:cNvGraphicFramePr/>
          <p:nvPr/>
        </p:nvGraphicFramePr>
        <p:xfrm>
          <a:off x="3840163" y="216774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14F4B446-E0ED-48A4-A8F3-A93B8BFC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마케팅의 목표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4C21A1CB-0206-41D8-9DBC-C5ED712C15DD}"/>
              </a:ext>
            </a:extLst>
          </p:cNvPr>
          <p:cNvSpPr>
            <a:spLocks noGrp="1"/>
          </p:cNvSpPr>
          <p:nvPr>
            <p:ph idx="1"/>
          </p:nvPr>
        </p:nvSpPr>
        <p:spPr>
          <a:extLst/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b="0" dirty="0">
                <a:ln>
                  <a:solidFill>
                    <a:schemeClr val="tx1"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기업과 소비자 사이의 </a:t>
            </a:r>
            <a:r>
              <a:rPr lang="ko-KR" altLang="en-US" sz="2000" b="0" dirty="0" err="1">
                <a:ln>
                  <a:solidFill>
                    <a:schemeClr val="tx1"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교환과정의</a:t>
            </a:r>
            <a:r>
              <a:rPr lang="ko-KR" altLang="en-US" sz="2000" b="0" dirty="0">
                <a:ln>
                  <a:solidFill>
                    <a:schemeClr val="tx1"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생산성을 높이는 것</a:t>
            </a: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grpSp>
        <p:nvGrpSpPr>
          <p:cNvPr id="22532" name="Group 2">
            <a:extLst>
              <a:ext uri="{FF2B5EF4-FFF2-40B4-BE49-F238E27FC236}">
                <a16:creationId xmlns:a16="http://schemas.microsoft.com/office/drawing/2014/main" id="{C0D47268-6470-4C10-9933-23B69F52FCF2}"/>
              </a:ext>
            </a:extLst>
          </p:cNvPr>
          <p:cNvGrpSpPr>
            <a:grpSpLocks/>
          </p:cNvGrpSpPr>
          <p:nvPr/>
        </p:nvGrpSpPr>
        <p:grpSpPr bwMode="auto">
          <a:xfrm>
            <a:off x="1317625" y="2406650"/>
            <a:ext cx="3479800" cy="2232025"/>
            <a:chOff x="660" y="1344"/>
            <a:chExt cx="2142" cy="1361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9CDB0B20-E41F-4DFE-B227-97550A385E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" y="1872"/>
              <a:ext cx="2124" cy="833"/>
            </a:xfrm>
            <a:prstGeom prst="roundRect">
              <a:avLst>
                <a:gd name="adj" fmla="val 10347"/>
              </a:avLst>
            </a:prstGeom>
            <a:gradFill rotWithShape="1">
              <a:gsLst>
                <a:gs pos="0">
                  <a:srgbClr val="CCECFF"/>
                </a:gs>
                <a:gs pos="100000">
                  <a:srgbClr val="CCECFF">
                    <a:gamma/>
                    <a:tint val="0"/>
                    <a:invGamma/>
                  </a:srgbClr>
                </a:gs>
              </a:gsLst>
              <a:lin ang="18900000" scaled="1"/>
            </a:gradFill>
            <a:ln w="50800">
              <a:solidFill>
                <a:srgbClr val="7099E2"/>
              </a:solidFill>
              <a:round/>
              <a:headEnd/>
              <a:tailEnd/>
            </a:ln>
            <a:effectLst>
              <a:outerShdw dist="107763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grpSp>
          <p:nvGrpSpPr>
            <p:cNvPr id="22545" name="Group 4">
              <a:extLst>
                <a:ext uri="{FF2B5EF4-FFF2-40B4-BE49-F238E27FC236}">
                  <a16:creationId xmlns:a16="http://schemas.microsoft.com/office/drawing/2014/main" id="{F45B0AB8-4EC7-4BC8-B87B-5E654DCAA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344"/>
              <a:ext cx="498" cy="1245"/>
              <a:chOff x="2304" y="1344"/>
              <a:chExt cx="498" cy="1245"/>
            </a:xfrm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8963C4A4-6C1E-49B7-9B05-460C59426BE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425" y="1344"/>
                <a:ext cx="236" cy="254"/>
              </a:xfrm>
              <a:custGeom>
                <a:avLst/>
                <a:gdLst>
                  <a:gd name="T0" fmla="*/ 133 w 267"/>
                  <a:gd name="T1" fmla="*/ 0 h 292"/>
                  <a:gd name="T2" fmla="*/ 161 w 267"/>
                  <a:gd name="T3" fmla="*/ 3 h 292"/>
                  <a:gd name="T4" fmla="*/ 186 w 267"/>
                  <a:gd name="T5" fmla="*/ 12 h 292"/>
                  <a:gd name="T6" fmla="*/ 209 w 267"/>
                  <a:gd name="T7" fmla="*/ 25 h 292"/>
                  <a:gd name="T8" fmla="*/ 228 w 267"/>
                  <a:gd name="T9" fmla="*/ 42 h 292"/>
                  <a:gd name="T10" fmla="*/ 245 w 267"/>
                  <a:gd name="T11" fmla="*/ 64 h 292"/>
                  <a:gd name="T12" fmla="*/ 257 w 267"/>
                  <a:gd name="T13" fmla="*/ 88 h 292"/>
                  <a:gd name="T14" fmla="*/ 265 w 267"/>
                  <a:gd name="T15" fmla="*/ 116 h 292"/>
                  <a:gd name="T16" fmla="*/ 267 w 267"/>
                  <a:gd name="T17" fmla="*/ 146 h 292"/>
                  <a:gd name="T18" fmla="*/ 265 w 267"/>
                  <a:gd name="T19" fmla="*/ 175 h 292"/>
                  <a:gd name="T20" fmla="*/ 257 w 267"/>
                  <a:gd name="T21" fmla="*/ 203 h 292"/>
                  <a:gd name="T22" fmla="*/ 245 w 267"/>
                  <a:gd name="T23" fmla="*/ 227 h 292"/>
                  <a:gd name="T24" fmla="*/ 228 w 267"/>
                  <a:gd name="T25" fmla="*/ 249 h 292"/>
                  <a:gd name="T26" fmla="*/ 209 w 267"/>
                  <a:gd name="T27" fmla="*/ 267 h 292"/>
                  <a:gd name="T28" fmla="*/ 186 w 267"/>
                  <a:gd name="T29" fmla="*/ 281 h 292"/>
                  <a:gd name="T30" fmla="*/ 161 w 267"/>
                  <a:gd name="T31" fmla="*/ 289 h 292"/>
                  <a:gd name="T32" fmla="*/ 133 w 267"/>
                  <a:gd name="T33" fmla="*/ 292 h 292"/>
                  <a:gd name="T34" fmla="*/ 103 w 267"/>
                  <a:gd name="T35" fmla="*/ 288 h 292"/>
                  <a:gd name="T36" fmla="*/ 75 w 267"/>
                  <a:gd name="T37" fmla="*/ 277 h 292"/>
                  <a:gd name="T38" fmla="*/ 51 w 267"/>
                  <a:gd name="T39" fmla="*/ 260 h 292"/>
                  <a:gd name="T40" fmla="*/ 29 w 267"/>
                  <a:gd name="T41" fmla="*/ 237 h 292"/>
                  <a:gd name="T42" fmla="*/ 13 w 267"/>
                  <a:gd name="T43" fmla="*/ 210 h 292"/>
                  <a:gd name="T44" fmla="*/ 4 w 267"/>
                  <a:gd name="T45" fmla="*/ 178 h 292"/>
                  <a:gd name="T46" fmla="*/ 0 w 267"/>
                  <a:gd name="T47" fmla="*/ 146 h 292"/>
                  <a:gd name="T48" fmla="*/ 4 w 267"/>
                  <a:gd name="T49" fmla="*/ 113 h 292"/>
                  <a:gd name="T50" fmla="*/ 13 w 267"/>
                  <a:gd name="T51" fmla="*/ 81 h 292"/>
                  <a:gd name="T52" fmla="*/ 29 w 267"/>
                  <a:gd name="T53" fmla="*/ 54 h 292"/>
                  <a:gd name="T54" fmla="*/ 51 w 267"/>
                  <a:gd name="T55" fmla="*/ 32 h 292"/>
                  <a:gd name="T56" fmla="*/ 75 w 267"/>
                  <a:gd name="T57" fmla="*/ 14 h 292"/>
                  <a:gd name="T58" fmla="*/ 103 w 267"/>
                  <a:gd name="T59" fmla="*/ 3 h 292"/>
                  <a:gd name="T60" fmla="*/ 133 w 267"/>
                  <a:gd name="T61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7" h="292">
                    <a:moveTo>
                      <a:pt x="133" y="0"/>
                    </a:moveTo>
                    <a:lnTo>
                      <a:pt x="161" y="3"/>
                    </a:lnTo>
                    <a:lnTo>
                      <a:pt x="186" y="12"/>
                    </a:lnTo>
                    <a:lnTo>
                      <a:pt x="209" y="25"/>
                    </a:lnTo>
                    <a:lnTo>
                      <a:pt x="228" y="42"/>
                    </a:lnTo>
                    <a:lnTo>
                      <a:pt x="245" y="64"/>
                    </a:lnTo>
                    <a:lnTo>
                      <a:pt x="257" y="88"/>
                    </a:lnTo>
                    <a:lnTo>
                      <a:pt x="265" y="116"/>
                    </a:lnTo>
                    <a:lnTo>
                      <a:pt x="267" y="146"/>
                    </a:lnTo>
                    <a:lnTo>
                      <a:pt x="265" y="175"/>
                    </a:lnTo>
                    <a:lnTo>
                      <a:pt x="257" y="203"/>
                    </a:lnTo>
                    <a:lnTo>
                      <a:pt x="245" y="227"/>
                    </a:lnTo>
                    <a:lnTo>
                      <a:pt x="228" y="249"/>
                    </a:lnTo>
                    <a:lnTo>
                      <a:pt x="209" y="267"/>
                    </a:lnTo>
                    <a:lnTo>
                      <a:pt x="186" y="281"/>
                    </a:lnTo>
                    <a:lnTo>
                      <a:pt x="161" y="289"/>
                    </a:lnTo>
                    <a:lnTo>
                      <a:pt x="133" y="292"/>
                    </a:lnTo>
                    <a:lnTo>
                      <a:pt x="103" y="288"/>
                    </a:lnTo>
                    <a:lnTo>
                      <a:pt x="75" y="277"/>
                    </a:lnTo>
                    <a:lnTo>
                      <a:pt x="51" y="260"/>
                    </a:lnTo>
                    <a:lnTo>
                      <a:pt x="29" y="237"/>
                    </a:lnTo>
                    <a:lnTo>
                      <a:pt x="13" y="210"/>
                    </a:lnTo>
                    <a:lnTo>
                      <a:pt x="4" y="178"/>
                    </a:lnTo>
                    <a:lnTo>
                      <a:pt x="0" y="146"/>
                    </a:lnTo>
                    <a:lnTo>
                      <a:pt x="4" y="113"/>
                    </a:lnTo>
                    <a:lnTo>
                      <a:pt x="13" y="81"/>
                    </a:lnTo>
                    <a:lnTo>
                      <a:pt x="29" y="54"/>
                    </a:lnTo>
                    <a:lnTo>
                      <a:pt x="51" y="32"/>
                    </a:lnTo>
                    <a:lnTo>
                      <a:pt x="75" y="14"/>
                    </a:lnTo>
                    <a:lnTo>
                      <a:pt x="103" y="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7099E2"/>
              </a:solidFill>
              <a:ln>
                <a:noFill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F7F16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endParaRPr>
              </a:p>
            </p:txBody>
          </p:sp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35E1643A-4174-4CFB-9D7F-02E3FF6885C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304" y="1625"/>
                <a:ext cx="498" cy="964"/>
              </a:xfrm>
              <a:custGeom>
                <a:avLst/>
                <a:gdLst>
                  <a:gd name="T0" fmla="*/ 72 w 573"/>
                  <a:gd name="T1" fmla="*/ 5 h 1111"/>
                  <a:gd name="T2" fmla="*/ 30 w 573"/>
                  <a:gd name="T3" fmla="*/ 32 h 1111"/>
                  <a:gd name="T4" fmla="*/ 4 w 573"/>
                  <a:gd name="T5" fmla="*/ 75 h 1111"/>
                  <a:gd name="T6" fmla="*/ 0 w 573"/>
                  <a:gd name="T7" fmla="*/ 509 h 1111"/>
                  <a:gd name="T8" fmla="*/ 1 w 573"/>
                  <a:gd name="T9" fmla="*/ 516 h 1111"/>
                  <a:gd name="T10" fmla="*/ 9 w 573"/>
                  <a:gd name="T11" fmla="*/ 533 h 1111"/>
                  <a:gd name="T12" fmla="*/ 26 w 573"/>
                  <a:gd name="T13" fmla="*/ 550 h 1111"/>
                  <a:gd name="T14" fmla="*/ 56 w 573"/>
                  <a:gd name="T15" fmla="*/ 557 h 1111"/>
                  <a:gd name="T16" fmla="*/ 84 w 573"/>
                  <a:gd name="T17" fmla="*/ 551 h 1111"/>
                  <a:gd name="T18" fmla="*/ 100 w 573"/>
                  <a:gd name="T19" fmla="*/ 534 h 1111"/>
                  <a:gd name="T20" fmla="*/ 106 w 573"/>
                  <a:gd name="T21" fmla="*/ 516 h 1111"/>
                  <a:gd name="T22" fmla="*/ 108 w 573"/>
                  <a:gd name="T23" fmla="*/ 503 h 1111"/>
                  <a:gd name="T24" fmla="*/ 108 w 573"/>
                  <a:gd name="T25" fmla="*/ 166 h 1111"/>
                  <a:gd name="T26" fmla="*/ 135 w 573"/>
                  <a:gd name="T27" fmla="*/ 1066 h 1111"/>
                  <a:gd name="T28" fmla="*/ 138 w 573"/>
                  <a:gd name="T29" fmla="*/ 1073 h 1111"/>
                  <a:gd name="T30" fmla="*/ 151 w 573"/>
                  <a:gd name="T31" fmla="*/ 1089 h 1111"/>
                  <a:gd name="T32" fmla="*/ 174 w 573"/>
                  <a:gd name="T33" fmla="*/ 1105 h 1111"/>
                  <a:gd name="T34" fmla="*/ 199 w 573"/>
                  <a:gd name="T35" fmla="*/ 1111 h 1111"/>
                  <a:gd name="T36" fmla="*/ 227 w 573"/>
                  <a:gd name="T37" fmla="*/ 1110 h 1111"/>
                  <a:gd name="T38" fmla="*/ 255 w 573"/>
                  <a:gd name="T39" fmla="*/ 1097 h 1111"/>
                  <a:gd name="T40" fmla="*/ 272 w 573"/>
                  <a:gd name="T41" fmla="*/ 1080 h 1111"/>
                  <a:gd name="T42" fmla="*/ 278 w 573"/>
                  <a:gd name="T43" fmla="*/ 1068 h 1111"/>
                  <a:gd name="T44" fmla="*/ 279 w 573"/>
                  <a:gd name="T45" fmla="*/ 499 h 1111"/>
                  <a:gd name="T46" fmla="*/ 302 w 573"/>
                  <a:gd name="T47" fmla="*/ 503 h 1111"/>
                  <a:gd name="T48" fmla="*/ 302 w 573"/>
                  <a:gd name="T49" fmla="*/ 534 h 1111"/>
                  <a:gd name="T50" fmla="*/ 304 w 573"/>
                  <a:gd name="T51" fmla="*/ 590 h 1111"/>
                  <a:gd name="T52" fmla="*/ 304 w 573"/>
                  <a:gd name="T53" fmla="*/ 664 h 1111"/>
                  <a:gd name="T54" fmla="*/ 304 w 573"/>
                  <a:gd name="T55" fmla="*/ 750 h 1111"/>
                  <a:gd name="T56" fmla="*/ 304 w 573"/>
                  <a:gd name="T57" fmla="*/ 838 h 1111"/>
                  <a:gd name="T58" fmla="*/ 305 w 573"/>
                  <a:gd name="T59" fmla="*/ 926 h 1111"/>
                  <a:gd name="T60" fmla="*/ 305 w 573"/>
                  <a:gd name="T61" fmla="*/ 1004 h 1111"/>
                  <a:gd name="T62" fmla="*/ 305 w 573"/>
                  <a:gd name="T63" fmla="*/ 1066 h 1111"/>
                  <a:gd name="T64" fmla="*/ 306 w 573"/>
                  <a:gd name="T65" fmla="*/ 1073 h 1111"/>
                  <a:gd name="T66" fmla="*/ 315 w 573"/>
                  <a:gd name="T67" fmla="*/ 1088 h 1111"/>
                  <a:gd name="T68" fmla="*/ 335 w 573"/>
                  <a:gd name="T69" fmla="*/ 1103 h 1111"/>
                  <a:gd name="T70" fmla="*/ 372 w 573"/>
                  <a:gd name="T71" fmla="*/ 1111 h 1111"/>
                  <a:gd name="T72" fmla="*/ 408 w 573"/>
                  <a:gd name="T73" fmla="*/ 1103 h 1111"/>
                  <a:gd name="T74" fmla="*/ 429 w 573"/>
                  <a:gd name="T75" fmla="*/ 1089 h 1111"/>
                  <a:gd name="T76" fmla="*/ 437 w 573"/>
                  <a:gd name="T77" fmla="*/ 1073 h 1111"/>
                  <a:gd name="T78" fmla="*/ 438 w 573"/>
                  <a:gd name="T79" fmla="*/ 1067 h 1111"/>
                  <a:gd name="T80" fmla="*/ 466 w 573"/>
                  <a:gd name="T81" fmla="*/ 166 h 1111"/>
                  <a:gd name="T82" fmla="*/ 468 w 573"/>
                  <a:gd name="T83" fmla="*/ 503 h 1111"/>
                  <a:gd name="T84" fmla="*/ 472 w 573"/>
                  <a:gd name="T85" fmla="*/ 517 h 1111"/>
                  <a:gd name="T86" fmla="*/ 483 w 573"/>
                  <a:gd name="T87" fmla="*/ 537 h 1111"/>
                  <a:gd name="T88" fmla="*/ 505 w 573"/>
                  <a:gd name="T89" fmla="*/ 551 h 1111"/>
                  <a:gd name="T90" fmla="*/ 536 w 573"/>
                  <a:gd name="T91" fmla="*/ 551 h 1111"/>
                  <a:gd name="T92" fmla="*/ 557 w 573"/>
                  <a:gd name="T93" fmla="*/ 537 h 1111"/>
                  <a:gd name="T94" fmla="*/ 570 w 573"/>
                  <a:gd name="T95" fmla="*/ 517 h 1111"/>
                  <a:gd name="T96" fmla="*/ 573 w 573"/>
                  <a:gd name="T97" fmla="*/ 508 h 1111"/>
                  <a:gd name="T98" fmla="*/ 572 w 573"/>
                  <a:gd name="T99" fmla="*/ 68 h 1111"/>
                  <a:gd name="T100" fmla="*/ 546 w 573"/>
                  <a:gd name="T101" fmla="*/ 28 h 1111"/>
                  <a:gd name="T102" fmla="*/ 506 w 573"/>
                  <a:gd name="T103" fmla="*/ 4 h 1111"/>
                  <a:gd name="T104" fmla="*/ 94 w 573"/>
                  <a:gd name="T105" fmla="*/ 0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73" h="1111">
                    <a:moveTo>
                      <a:pt x="94" y="0"/>
                    </a:moveTo>
                    <a:lnTo>
                      <a:pt x="72" y="5"/>
                    </a:lnTo>
                    <a:lnTo>
                      <a:pt x="50" y="16"/>
                    </a:lnTo>
                    <a:lnTo>
                      <a:pt x="30" y="32"/>
                    </a:lnTo>
                    <a:lnTo>
                      <a:pt x="15" y="53"/>
                    </a:lnTo>
                    <a:lnTo>
                      <a:pt x="4" y="75"/>
                    </a:lnTo>
                    <a:lnTo>
                      <a:pt x="0" y="99"/>
                    </a:lnTo>
                    <a:lnTo>
                      <a:pt x="0" y="509"/>
                    </a:lnTo>
                    <a:lnTo>
                      <a:pt x="0" y="511"/>
                    </a:lnTo>
                    <a:lnTo>
                      <a:pt x="1" y="516"/>
                    </a:lnTo>
                    <a:lnTo>
                      <a:pt x="4" y="525"/>
                    </a:lnTo>
                    <a:lnTo>
                      <a:pt x="9" y="533"/>
                    </a:lnTo>
                    <a:lnTo>
                      <a:pt x="16" y="543"/>
                    </a:lnTo>
                    <a:lnTo>
                      <a:pt x="26" y="550"/>
                    </a:lnTo>
                    <a:lnTo>
                      <a:pt x="39" y="556"/>
                    </a:lnTo>
                    <a:lnTo>
                      <a:pt x="56" y="557"/>
                    </a:lnTo>
                    <a:lnTo>
                      <a:pt x="72" y="556"/>
                    </a:lnTo>
                    <a:lnTo>
                      <a:pt x="84" y="551"/>
                    </a:lnTo>
                    <a:lnTo>
                      <a:pt x="92" y="543"/>
                    </a:lnTo>
                    <a:lnTo>
                      <a:pt x="100" y="534"/>
                    </a:lnTo>
                    <a:lnTo>
                      <a:pt x="103" y="525"/>
                    </a:lnTo>
                    <a:lnTo>
                      <a:pt x="106" y="516"/>
                    </a:lnTo>
                    <a:lnTo>
                      <a:pt x="107" y="508"/>
                    </a:lnTo>
                    <a:lnTo>
                      <a:pt x="108" y="503"/>
                    </a:lnTo>
                    <a:lnTo>
                      <a:pt x="108" y="500"/>
                    </a:lnTo>
                    <a:lnTo>
                      <a:pt x="108" y="166"/>
                    </a:lnTo>
                    <a:lnTo>
                      <a:pt x="134" y="167"/>
                    </a:lnTo>
                    <a:lnTo>
                      <a:pt x="135" y="1066"/>
                    </a:lnTo>
                    <a:lnTo>
                      <a:pt x="136" y="1068"/>
                    </a:lnTo>
                    <a:lnTo>
                      <a:pt x="138" y="1073"/>
                    </a:lnTo>
                    <a:lnTo>
                      <a:pt x="143" y="1080"/>
                    </a:lnTo>
                    <a:lnTo>
                      <a:pt x="151" y="1089"/>
                    </a:lnTo>
                    <a:lnTo>
                      <a:pt x="162" y="1097"/>
                    </a:lnTo>
                    <a:lnTo>
                      <a:pt x="174" y="1105"/>
                    </a:lnTo>
                    <a:lnTo>
                      <a:pt x="189" y="1110"/>
                    </a:lnTo>
                    <a:lnTo>
                      <a:pt x="199" y="1111"/>
                    </a:lnTo>
                    <a:lnTo>
                      <a:pt x="217" y="1111"/>
                    </a:lnTo>
                    <a:lnTo>
                      <a:pt x="227" y="1110"/>
                    </a:lnTo>
                    <a:lnTo>
                      <a:pt x="243" y="1105"/>
                    </a:lnTo>
                    <a:lnTo>
                      <a:pt x="255" y="1097"/>
                    </a:lnTo>
                    <a:lnTo>
                      <a:pt x="265" y="1089"/>
                    </a:lnTo>
                    <a:lnTo>
                      <a:pt x="272" y="1080"/>
                    </a:lnTo>
                    <a:lnTo>
                      <a:pt x="276" y="1073"/>
                    </a:lnTo>
                    <a:lnTo>
                      <a:pt x="278" y="1068"/>
                    </a:lnTo>
                    <a:lnTo>
                      <a:pt x="279" y="1066"/>
                    </a:lnTo>
                    <a:lnTo>
                      <a:pt x="279" y="499"/>
                    </a:lnTo>
                    <a:lnTo>
                      <a:pt x="302" y="499"/>
                    </a:lnTo>
                    <a:lnTo>
                      <a:pt x="302" y="503"/>
                    </a:lnTo>
                    <a:lnTo>
                      <a:pt x="302" y="515"/>
                    </a:lnTo>
                    <a:lnTo>
                      <a:pt x="302" y="534"/>
                    </a:lnTo>
                    <a:lnTo>
                      <a:pt x="302" y="560"/>
                    </a:lnTo>
                    <a:lnTo>
                      <a:pt x="304" y="590"/>
                    </a:lnTo>
                    <a:lnTo>
                      <a:pt x="304" y="626"/>
                    </a:lnTo>
                    <a:lnTo>
                      <a:pt x="304" y="664"/>
                    </a:lnTo>
                    <a:lnTo>
                      <a:pt x="304" y="706"/>
                    </a:lnTo>
                    <a:lnTo>
                      <a:pt x="304" y="750"/>
                    </a:lnTo>
                    <a:lnTo>
                      <a:pt x="304" y="793"/>
                    </a:lnTo>
                    <a:lnTo>
                      <a:pt x="304" y="838"/>
                    </a:lnTo>
                    <a:lnTo>
                      <a:pt x="305" y="882"/>
                    </a:lnTo>
                    <a:lnTo>
                      <a:pt x="305" y="926"/>
                    </a:lnTo>
                    <a:lnTo>
                      <a:pt x="305" y="966"/>
                    </a:lnTo>
                    <a:lnTo>
                      <a:pt x="305" y="1004"/>
                    </a:lnTo>
                    <a:lnTo>
                      <a:pt x="305" y="1037"/>
                    </a:lnTo>
                    <a:lnTo>
                      <a:pt x="305" y="1066"/>
                    </a:lnTo>
                    <a:lnTo>
                      <a:pt x="305" y="1067"/>
                    </a:lnTo>
                    <a:lnTo>
                      <a:pt x="306" y="1073"/>
                    </a:lnTo>
                    <a:lnTo>
                      <a:pt x="310" y="1079"/>
                    </a:lnTo>
                    <a:lnTo>
                      <a:pt x="315" y="1088"/>
                    </a:lnTo>
                    <a:lnTo>
                      <a:pt x="323" y="1096"/>
                    </a:lnTo>
                    <a:lnTo>
                      <a:pt x="335" y="1103"/>
                    </a:lnTo>
                    <a:lnTo>
                      <a:pt x="351" y="1108"/>
                    </a:lnTo>
                    <a:lnTo>
                      <a:pt x="372" y="1111"/>
                    </a:lnTo>
                    <a:lnTo>
                      <a:pt x="392" y="1108"/>
                    </a:lnTo>
                    <a:lnTo>
                      <a:pt x="408" y="1103"/>
                    </a:lnTo>
                    <a:lnTo>
                      <a:pt x="420" y="1096"/>
                    </a:lnTo>
                    <a:lnTo>
                      <a:pt x="429" y="1089"/>
                    </a:lnTo>
                    <a:lnTo>
                      <a:pt x="434" y="1080"/>
                    </a:lnTo>
                    <a:lnTo>
                      <a:pt x="437" y="1073"/>
                    </a:lnTo>
                    <a:lnTo>
                      <a:pt x="438" y="1068"/>
                    </a:lnTo>
                    <a:lnTo>
                      <a:pt x="438" y="1067"/>
                    </a:lnTo>
                    <a:lnTo>
                      <a:pt x="440" y="166"/>
                    </a:lnTo>
                    <a:lnTo>
                      <a:pt x="466" y="166"/>
                    </a:lnTo>
                    <a:lnTo>
                      <a:pt x="466" y="500"/>
                    </a:lnTo>
                    <a:lnTo>
                      <a:pt x="468" y="503"/>
                    </a:lnTo>
                    <a:lnTo>
                      <a:pt x="469" y="509"/>
                    </a:lnTo>
                    <a:lnTo>
                      <a:pt x="472" y="517"/>
                    </a:lnTo>
                    <a:lnTo>
                      <a:pt x="477" y="527"/>
                    </a:lnTo>
                    <a:lnTo>
                      <a:pt x="483" y="537"/>
                    </a:lnTo>
                    <a:lnTo>
                      <a:pt x="493" y="545"/>
                    </a:lnTo>
                    <a:lnTo>
                      <a:pt x="505" y="551"/>
                    </a:lnTo>
                    <a:lnTo>
                      <a:pt x="520" y="554"/>
                    </a:lnTo>
                    <a:lnTo>
                      <a:pt x="536" y="551"/>
                    </a:lnTo>
                    <a:lnTo>
                      <a:pt x="548" y="545"/>
                    </a:lnTo>
                    <a:lnTo>
                      <a:pt x="557" y="537"/>
                    </a:lnTo>
                    <a:lnTo>
                      <a:pt x="563" y="527"/>
                    </a:lnTo>
                    <a:lnTo>
                      <a:pt x="570" y="517"/>
                    </a:lnTo>
                    <a:lnTo>
                      <a:pt x="573" y="510"/>
                    </a:lnTo>
                    <a:lnTo>
                      <a:pt x="573" y="508"/>
                    </a:lnTo>
                    <a:lnTo>
                      <a:pt x="573" y="79"/>
                    </a:lnTo>
                    <a:lnTo>
                      <a:pt x="572" y="68"/>
                    </a:lnTo>
                    <a:lnTo>
                      <a:pt x="561" y="47"/>
                    </a:lnTo>
                    <a:lnTo>
                      <a:pt x="546" y="28"/>
                    </a:lnTo>
                    <a:lnTo>
                      <a:pt x="528" y="14"/>
                    </a:lnTo>
                    <a:lnTo>
                      <a:pt x="506" y="4"/>
                    </a:lnTo>
                    <a:lnTo>
                      <a:pt x="485" y="0"/>
                    </a:lnTo>
                    <a:lnTo>
                      <a:pt x="94" y="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7099E2"/>
              </a:solidFill>
              <a:ln>
                <a:noFill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F7F16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endParaRPr>
              </a:p>
            </p:txBody>
          </p:sp>
        </p:grpSp>
      </p:grpSp>
      <p:grpSp>
        <p:nvGrpSpPr>
          <p:cNvPr id="22533" name="Group 15">
            <a:extLst>
              <a:ext uri="{FF2B5EF4-FFF2-40B4-BE49-F238E27FC236}">
                <a16:creationId xmlns:a16="http://schemas.microsoft.com/office/drawing/2014/main" id="{89474B06-063F-4016-ADF2-11A364F9F5D9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2390775"/>
            <a:ext cx="4751388" cy="2232025"/>
            <a:chOff x="2880" y="1344"/>
            <a:chExt cx="2926" cy="1361"/>
          </a:xfrm>
        </p:grpSpPr>
        <p:sp>
          <p:nvSpPr>
            <p:cNvPr id="14" name="AutoShape 10">
              <a:extLst>
                <a:ext uri="{FF2B5EF4-FFF2-40B4-BE49-F238E27FC236}">
                  <a16:creationId xmlns:a16="http://schemas.microsoft.com/office/drawing/2014/main" id="{C0AE5DD1-386F-48BC-B4C2-7B98A265AA4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94" y="1872"/>
              <a:ext cx="2188" cy="833"/>
            </a:xfrm>
            <a:prstGeom prst="roundRect">
              <a:avLst>
                <a:gd name="adj" fmla="val 10347"/>
              </a:avLst>
            </a:prstGeom>
            <a:gradFill rotWithShape="1">
              <a:gsLst>
                <a:gs pos="0">
                  <a:srgbClr val="D8F4BE">
                    <a:gamma/>
                    <a:tint val="0"/>
                    <a:invGamma/>
                  </a:srgbClr>
                </a:gs>
                <a:gs pos="100000">
                  <a:srgbClr val="D8F4BE"/>
                </a:gs>
              </a:gsLst>
              <a:lin ang="2700000" scaled="1"/>
            </a:gradFill>
            <a:ln w="50800">
              <a:solidFill>
                <a:srgbClr val="44988C"/>
              </a:solidFill>
              <a:round/>
              <a:headEnd/>
              <a:tailEnd/>
            </a:ln>
            <a:effectLst>
              <a:outerShdw dist="107763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EB2CE03C-83CD-487C-A4E8-739D0467AAC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174" y="1897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0C0C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소비자</a:t>
              </a:r>
              <a:endParaRPr lang="en-US" altLang="ko-K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grpSp>
          <p:nvGrpSpPr>
            <p:cNvPr id="22541" name="Group 12">
              <a:extLst>
                <a:ext uri="{FF2B5EF4-FFF2-40B4-BE49-F238E27FC236}">
                  <a16:creationId xmlns:a16="http://schemas.microsoft.com/office/drawing/2014/main" id="{6CFEF749-434D-4BF7-A47D-F709752B2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344"/>
              <a:ext cx="498" cy="1245"/>
              <a:chOff x="2880" y="1344"/>
              <a:chExt cx="498" cy="1245"/>
            </a:xfrm>
          </p:grpSpPr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4A6EE58F-E533-418E-ACFE-6FBDD4E02FB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01" y="1344"/>
                <a:ext cx="233" cy="254"/>
              </a:xfrm>
              <a:custGeom>
                <a:avLst/>
                <a:gdLst>
                  <a:gd name="T0" fmla="*/ 133 w 267"/>
                  <a:gd name="T1" fmla="*/ 0 h 292"/>
                  <a:gd name="T2" fmla="*/ 161 w 267"/>
                  <a:gd name="T3" fmla="*/ 3 h 292"/>
                  <a:gd name="T4" fmla="*/ 186 w 267"/>
                  <a:gd name="T5" fmla="*/ 12 h 292"/>
                  <a:gd name="T6" fmla="*/ 209 w 267"/>
                  <a:gd name="T7" fmla="*/ 25 h 292"/>
                  <a:gd name="T8" fmla="*/ 228 w 267"/>
                  <a:gd name="T9" fmla="*/ 42 h 292"/>
                  <a:gd name="T10" fmla="*/ 245 w 267"/>
                  <a:gd name="T11" fmla="*/ 64 h 292"/>
                  <a:gd name="T12" fmla="*/ 257 w 267"/>
                  <a:gd name="T13" fmla="*/ 88 h 292"/>
                  <a:gd name="T14" fmla="*/ 265 w 267"/>
                  <a:gd name="T15" fmla="*/ 116 h 292"/>
                  <a:gd name="T16" fmla="*/ 267 w 267"/>
                  <a:gd name="T17" fmla="*/ 146 h 292"/>
                  <a:gd name="T18" fmla="*/ 265 w 267"/>
                  <a:gd name="T19" fmla="*/ 175 h 292"/>
                  <a:gd name="T20" fmla="*/ 257 w 267"/>
                  <a:gd name="T21" fmla="*/ 203 h 292"/>
                  <a:gd name="T22" fmla="*/ 245 w 267"/>
                  <a:gd name="T23" fmla="*/ 227 h 292"/>
                  <a:gd name="T24" fmla="*/ 228 w 267"/>
                  <a:gd name="T25" fmla="*/ 249 h 292"/>
                  <a:gd name="T26" fmla="*/ 209 w 267"/>
                  <a:gd name="T27" fmla="*/ 267 h 292"/>
                  <a:gd name="T28" fmla="*/ 186 w 267"/>
                  <a:gd name="T29" fmla="*/ 281 h 292"/>
                  <a:gd name="T30" fmla="*/ 161 w 267"/>
                  <a:gd name="T31" fmla="*/ 289 h 292"/>
                  <a:gd name="T32" fmla="*/ 133 w 267"/>
                  <a:gd name="T33" fmla="*/ 292 h 292"/>
                  <a:gd name="T34" fmla="*/ 103 w 267"/>
                  <a:gd name="T35" fmla="*/ 288 h 292"/>
                  <a:gd name="T36" fmla="*/ 75 w 267"/>
                  <a:gd name="T37" fmla="*/ 277 h 292"/>
                  <a:gd name="T38" fmla="*/ 51 w 267"/>
                  <a:gd name="T39" fmla="*/ 260 h 292"/>
                  <a:gd name="T40" fmla="*/ 29 w 267"/>
                  <a:gd name="T41" fmla="*/ 237 h 292"/>
                  <a:gd name="T42" fmla="*/ 13 w 267"/>
                  <a:gd name="T43" fmla="*/ 210 h 292"/>
                  <a:gd name="T44" fmla="*/ 4 w 267"/>
                  <a:gd name="T45" fmla="*/ 178 h 292"/>
                  <a:gd name="T46" fmla="*/ 0 w 267"/>
                  <a:gd name="T47" fmla="*/ 146 h 292"/>
                  <a:gd name="T48" fmla="*/ 4 w 267"/>
                  <a:gd name="T49" fmla="*/ 113 h 292"/>
                  <a:gd name="T50" fmla="*/ 13 w 267"/>
                  <a:gd name="T51" fmla="*/ 81 h 292"/>
                  <a:gd name="T52" fmla="*/ 29 w 267"/>
                  <a:gd name="T53" fmla="*/ 54 h 292"/>
                  <a:gd name="T54" fmla="*/ 51 w 267"/>
                  <a:gd name="T55" fmla="*/ 32 h 292"/>
                  <a:gd name="T56" fmla="*/ 75 w 267"/>
                  <a:gd name="T57" fmla="*/ 14 h 292"/>
                  <a:gd name="T58" fmla="*/ 103 w 267"/>
                  <a:gd name="T59" fmla="*/ 3 h 292"/>
                  <a:gd name="T60" fmla="*/ 133 w 267"/>
                  <a:gd name="T61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7" h="292">
                    <a:moveTo>
                      <a:pt x="133" y="0"/>
                    </a:moveTo>
                    <a:lnTo>
                      <a:pt x="161" y="3"/>
                    </a:lnTo>
                    <a:lnTo>
                      <a:pt x="186" y="12"/>
                    </a:lnTo>
                    <a:lnTo>
                      <a:pt x="209" y="25"/>
                    </a:lnTo>
                    <a:lnTo>
                      <a:pt x="228" y="42"/>
                    </a:lnTo>
                    <a:lnTo>
                      <a:pt x="245" y="64"/>
                    </a:lnTo>
                    <a:lnTo>
                      <a:pt x="257" y="88"/>
                    </a:lnTo>
                    <a:lnTo>
                      <a:pt x="265" y="116"/>
                    </a:lnTo>
                    <a:lnTo>
                      <a:pt x="267" y="146"/>
                    </a:lnTo>
                    <a:lnTo>
                      <a:pt x="265" y="175"/>
                    </a:lnTo>
                    <a:lnTo>
                      <a:pt x="257" y="203"/>
                    </a:lnTo>
                    <a:lnTo>
                      <a:pt x="245" y="227"/>
                    </a:lnTo>
                    <a:lnTo>
                      <a:pt x="228" y="249"/>
                    </a:lnTo>
                    <a:lnTo>
                      <a:pt x="209" y="267"/>
                    </a:lnTo>
                    <a:lnTo>
                      <a:pt x="186" y="281"/>
                    </a:lnTo>
                    <a:lnTo>
                      <a:pt x="161" y="289"/>
                    </a:lnTo>
                    <a:lnTo>
                      <a:pt x="133" y="292"/>
                    </a:lnTo>
                    <a:lnTo>
                      <a:pt x="103" y="288"/>
                    </a:lnTo>
                    <a:lnTo>
                      <a:pt x="75" y="277"/>
                    </a:lnTo>
                    <a:lnTo>
                      <a:pt x="51" y="260"/>
                    </a:lnTo>
                    <a:lnTo>
                      <a:pt x="29" y="237"/>
                    </a:lnTo>
                    <a:lnTo>
                      <a:pt x="13" y="210"/>
                    </a:lnTo>
                    <a:lnTo>
                      <a:pt x="4" y="178"/>
                    </a:lnTo>
                    <a:lnTo>
                      <a:pt x="0" y="146"/>
                    </a:lnTo>
                    <a:lnTo>
                      <a:pt x="4" y="113"/>
                    </a:lnTo>
                    <a:lnTo>
                      <a:pt x="13" y="81"/>
                    </a:lnTo>
                    <a:lnTo>
                      <a:pt x="29" y="54"/>
                    </a:lnTo>
                    <a:lnTo>
                      <a:pt x="51" y="32"/>
                    </a:lnTo>
                    <a:lnTo>
                      <a:pt x="75" y="14"/>
                    </a:lnTo>
                    <a:lnTo>
                      <a:pt x="103" y="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44988C"/>
              </a:solidFill>
              <a:ln>
                <a:noFill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F7F16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endParaRPr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F3D89F32-8453-4AF8-A8B6-0C636CEC197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880" y="1625"/>
                <a:ext cx="498" cy="964"/>
              </a:xfrm>
              <a:custGeom>
                <a:avLst/>
                <a:gdLst>
                  <a:gd name="T0" fmla="*/ 72 w 573"/>
                  <a:gd name="T1" fmla="*/ 5 h 1111"/>
                  <a:gd name="T2" fmla="*/ 30 w 573"/>
                  <a:gd name="T3" fmla="*/ 32 h 1111"/>
                  <a:gd name="T4" fmla="*/ 4 w 573"/>
                  <a:gd name="T5" fmla="*/ 75 h 1111"/>
                  <a:gd name="T6" fmla="*/ 0 w 573"/>
                  <a:gd name="T7" fmla="*/ 509 h 1111"/>
                  <a:gd name="T8" fmla="*/ 1 w 573"/>
                  <a:gd name="T9" fmla="*/ 516 h 1111"/>
                  <a:gd name="T10" fmla="*/ 9 w 573"/>
                  <a:gd name="T11" fmla="*/ 533 h 1111"/>
                  <a:gd name="T12" fmla="*/ 26 w 573"/>
                  <a:gd name="T13" fmla="*/ 550 h 1111"/>
                  <a:gd name="T14" fmla="*/ 56 w 573"/>
                  <a:gd name="T15" fmla="*/ 557 h 1111"/>
                  <a:gd name="T16" fmla="*/ 84 w 573"/>
                  <a:gd name="T17" fmla="*/ 551 h 1111"/>
                  <a:gd name="T18" fmla="*/ 100 w 573"/>
                  <a:gd name="T19" fmla="*/ 534 h 1111"/>
                  <a:gd name="T20" fmla="*/ 106 w 573"/>
                  <a:gd name="T21" fmla="*/ 516 h 1111"/>
                  <a:gd name="T22" fmla="*/ 108 w 573"/>
                  <a:gd name="T23" fmla="*/ 503 h 1111"/>
                  <a:gd name="T24" fmla="*/ 108 w 573"/>
                  <a:gd name="T25" fmla="*/ 166 h 1111"/>
                  <a:gd name="T26" fmla="*/ 135 w 573"/>
                  <a:gd name="T27" fmla="*/ 1066 h 1111"/>
                  <a:gd name="T28" fmla="*/ 138 w 573"/>
                  <a:gd name="T29" fmla="*/ 1073 h 1111"/>
                  <a:gd name="T30" fmla="*/ 151 w 573"/>
                  <a:gd name="T31" fmla="*/ 1089 h 1111"/>
                  <a:gd name="T32" fmla="*/ 174 w 573"/>
                  <a:gd name="T33" fmla="*/ 1105 h 1111"/>
                  <a:gd name="T34" fmla="*/ 199 w 573"/>
                  <a:gd name="T35" fmla="*/ 1111 h 1111"/>
                  <a:gd name="T36" fmla="*/ 227 w 573"/>
                  <a:gd name="T37" fmla="*/ 1110 h 1111"/>
                  <a:gd name="T38" fmla="*/ 255 w 573"/>
                  <a:gd name="T39" fmla="*/ 1097 h 1111"/>
                  <a:gd name="T40" fmla="*/ 272 w 573"/>
                  <a:gd name="T41" fmla="*/ 1080 h 1111"/>
                  <a:gd name="T42" fmla="*/ 278 w 573"/>
                  <a:gd name="T43" fmla="*/ 1068 h 1111"/>
                  <a:gd name="T44" fmla="*/ 279 w 573"/>
                  <a:gd name="T45" fmla="*/ 499 h 1111"/>
                  <a:gd name="T46" fmla="*/ 302 w 573"/>
                  <a:gd name="T47" fmla="*/ 503 h 1111"/>
                  <a:gd name="T48" fmla="*/ 302 w 573"/>
                  <a:gd name="T49" fmla="*/ 534 h 1111"/>
                  <a:gd name="T50" fmla="*/ 304 w 573"/>
                  <a:gd name="T51" fmla="*/ 590 h 1111"/>
                  <a:gd name="T52" fmla="*/ 304 w 573"/>
                  <a:gd name="T53" fmla="*/ 664 h 1111"/>
                  <a:gd name="T54" fmla="*/ 304 w 573"/>
                  <a:gd name="T55" fmla="*/ 750 h 1111"/>
                  <a:gd name="T56" fmla="*/ 304 w 573"/>
                  <a:gd name="T57" fmla="*/ 838 h 1111"/>
                  <a:gd name="T58" fmla="*/ 305 w 573"/>
                  <a:gd name="T59" fmla="*/ 926 h 1111"/>
                  <a:gd name="T60" fmla="*/ 305 w 573"/>
                  <a:gd name="T61" fmla="*/ 1004 h 1111"/>
                  <a:gd name="T62" fmla="*/ 305 w 573"/>
                  <a:gd name="T63" fmla="*/ 1066 h 1111"/>
                  <a:gd name="T64" fmla="*/ 306 w 573"/>
                  <a:gd name="T65" fmla="*/ 1073 h 1111"/>
                  <a:gd name="T66" fmla="*/ 315 w 573"/>
                  <a:gd name="T67" fmla="*/ 1088 h 1111"/>
                  <a:gd name="T68" fmla="*/ 335 w 573"/>
                  <a:gd name="T69" fmla="*/ 1103 h 1111"/>
                  <a:gd name="T70" fmla="*/ 372 w 573"/>
                  <a:gd name="T71" fmla="*/ 1111 h 1111"/>
                  <a:gd name="T72" fmla="*/ 408 w 573"/>
                  <a:gd name="T73" fmla="*/ 1103 h 1111"/>
                  <a:gd name="T74" fmla="*/ 429 w 573"/>
                  <a:gd name="T75" fmla="*/ 1089 h 1111"/>
                  <a:gd name="T76" fmla="*/ 437 w 573"/>
                  <a:gd name="T77" fmla="*/ 1073 h 1111"/>
                  <a:gd name="T78" fmla="*/ 438 w 573"/>
                  <a:gd name="T79" fmla="*/ 1067 h 1111"/>
                  <a:gd name="T80" fmla="*/ 466 w 573"/>
                  <a:gd name="T81" fmla="*/ 166 h 1111"/>
                  <a:gd name="T82" fmla="*/ 468 w 573"/>
                  <a:gd name="T83" fmla="*/ 503 h 1111"/>
                  <a:gd name="T84" fmla="*/ 472 w 573"/>
                  <a:gd name="T85" fmla="*/ 517 h 1111"/>
                  <a:gd name="T86" fmla="*/ 483 w 573"/>
                  <a:gd name="T87" fmla="*/ 537 h 1111"/>
                  <a:gd name="T88" fmla="*/ 505 w 573"/>
                  <a:gd name="T89" fmla="*/ 551 h 1111"/>
                  <a:gd name="T90" fmla="*/ 536 w 573"/>
                  <a:gd name="T91" fmla="*/ 551 h 1111"/>
                  <a:gd name="T92" fmla="*/ 557 w 573"/>
                  <a:gd name="T93" fmla="*/ 537 h 1111"/>
                  <a:gd name="T94" fmla="*/ 570 w 573"/>
                  <a:gd name="T95" fmla="*/ 517 h 1111"/>
                  <a:gd name="T96" fmla="*/ 573 w 573"/>
                  <a:gd name="T97" fmla="*/ 508 h 1111"/>
                  <a:gd name="T98" fmla="*/ 572 w 573"/>
                  <a:gd name="T99" fmla="*/ 68 h 1111"/>
                  <a:gd name="T100" fmla="*/ 546 w 573"/>
                  <a:gd name="T101" fmla="*/ 28 h 1111"/>
                  <a:gd name="T102" fmla="*/ 506 w 573"/>
                  <a:gd name="T103" fmla="*/ 4 h 1111"/>
                  <a:gd name="T104" fmla="*/ 94 w 573"/>
                  <a:gd name="T105" fmla="*/ 0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73" h="1111">
                    <a:moveTo>
                      <a:pt x="94" y="0"/>
                    </a:moveTo>
                    <a:lnTo>
                      <a:pt x="72" y="5"/>
                    </a:lnTo>
                    <a:lnTo>
                      <a:pt x="50" y="16"/>
                    </a:lnTo>
                    <a:lnTo>
                      <a:pt x="30" y="32"/>
                    </a:lnTo>
                    <a:lnTo>
                      <a:pt x="15" y="53"/>
                    </a:lnTo>
                    <a:lnTo>
                      <a:pt x="4" y="75"/>
                    </a:lnTo>
                    <a:lnTo>
                      <a:pt x="0" y="99"/>
                    </a:lnTo>
                    <a:lnTo>
                      <a:pt x="0" y="509"/>
                    </a:lnTo>
                    <a:lnTo>
                      <a:pt x="0" y="511"/>
                    </a:lnTo>
                    <a:lnTo>
                      <a:pt x="1" y="516"/>
                    </a:lnTo>
                    <a:lnTo>
                      <a:pt x="4" y="525"/>
                    </a:lnTo>
                    <a:lnTo>
                      <a:pt x="9" y="533"/>
                    </a:lnTo>
                    <a:lnTo>
                      <a:pt x="16" y="543"/>
                    </a:lnTo>
                    <a:lnTo>
                      <a:pt x="26" y="550"/>
                    </a:lnTo>
                    <a:lnTo>
                      <a:pt x="39" y="556"/>
                    </a:lnTo>
                    <a:lnTo>
                      <a:pt x="56" y="557"/>
                    </a:lnTo>
                    <a:lnTo>
                      <a:pt x="72" y="556"/>
                    </a:lnTo>
                    <a:lnTo>
                      <a:pt x="84" y="551"/>
                    </a:lnTo>
                    <a:lnTo>
                      <a:pt x="92" y="543"/>
                    </a:lnTo>
                    <a:lnTo>
                      <a:pt x="100" y="534"/>
                    </a:lnTo>
                    <a:lnTo>
                      <a:pt x="103" y="525"/>
                    </a:lnTo>
                    <a:lnTo>
                      <a:pt x="106" y="516"/>
                    </a:lnTo>
                    <a:lnTo>
                      <a:pt x="107" y="508"/>
                    </a:lnTo>
                    <a:lnTo>
                      <a:pt x="108" y="503"/>
                    </a:lnTo>
                    <a:lnTo>
                      <a:pt x="108" y="500"/>
                    </a:lnTo>
                    <a:lnTo>
                      <a:pt x="108" y="166"/>
                    </a:lnTo>
                    <a:lnTo>
                      <a:pt x="134" y="167"/>
                    </a:lnTo>
                    <a:lnTo>
                      <a:pt x="135" y="1066"/>
                    </a:lnTo>
                    <a:lnTo>
                      <a:pt x="136" y="1068"/>
                    </a:lnTo>
                    <a:lnTo>
                      <a:pt x="138" y="1073"/>
                    </a:lnTo>
                    <a:lnTo>
                      <a:pt x="143" y="1080"/>
                    </a:lnTo>
                    <a:lnTo>
                      <a:pt x="151" y="1089"/>
                    </a:lnTo>
                    <a:lnTo>
                      <a:pt x="162" y="1097"/>
                    </a:lnTo>
                    <a:lnTo>
                      <a:pt x="174" y="1105"/>
                    </a:lnTo>
                    <a:lnTo>
                      <a:pt x="189" y="1110"/>
                    </a:lnTo>
                    <a:lnTo>
                      <a:pt x="199" y="1111"/>
                    </a:lnTo>
                    <a:lnTo>
                      <a:pt x="217" y="1111"/>
                    </a:lnTo>
                    <a:lnTo>
                      <a:pt x="227" y="1110"/>
                    </a:lnTo>
                    <a:lnTo>
                      <a:pt x="243" y="1105"/>
                    </a:lnTo>
                    <a:lnTo>
                      <a:pt x="255" y="1097"/>
                    </a:lnTo>
                    <a:lnTo>
                      <a:pt x="265" y="1089"/>
                    </a:lnTo>
                    <a:lnTo>
                      <a:pt x="272" y="1080"/>
                    </a:lnTo>
                    <a:lnTo>
                      <a:pt x="276" y="1073"/>
                    </a:lnTo>
                    <a:lnTo>
                      <a:pt x="278" y="1068"/>
                    </a:lnTo>
                    <a:lnTo>
                      <a:pt x="279" y="1066"/>
                    </a:lnTo>
                    <a:lnTo>
                      <a:pt x="279" y="499"/>
                    </a:lnTo>
                    <a:lnTo>
                      <a:pt x="302" y="499"/>
                    </a:lnTo>
                    <a:lnTo>
                      <a:pt x="302" y="503"/>
                    </a:lnTo>
                    <a:lnTo>
                      <a:pt x="302" y="515"/>
                    </a:lnTo>
                    <a:lnTo>
                      <a:pt x="302" y="534"/>
                    </a:lnTo>
                    <a:lnTo>
                      <a:pt x="302" y="560"/>
                    </a:lnTo>
                    <a:lnTo>
                      <a:pt x="304" y="590"/>
                    </a:lnTo>
                    <a:lnTo>
                      <a:pt x="304" y="626"/>
                    </a:lnTo>
                    <a:lnTo>
                      <a:pt x="304" y="664"/>
                    </a:lnTo>
                    <a:lnTo>
                      <a:pt x="304" y="706"/>
                    </a:lnTo>
                    <a:lnTo>
                      <a:pt x="304" y="750"/>
                    </a:lnTo>
                    <a:lnTo>
                      <a:pt x="304" y="793"/>
                    </a:lnTo>
                    <a:lnTo>
                      <a:pt x="304" y="838"/>
                    </a:lnTo>
                    <a:lnTo>
                      <a:pt x="305" y="882"/>
                    </a:lnTo>
                    <a:lnTo>
                      <a:pt x="305" y="926"/>
                    </a:lnTo>
                    <a:lnTo>
                      <a:pt x="305" y="966"/>
                    </a:lnTo>
                    <a:lnTo>
                      <a:pt x="305" y="1004"/>
                    </a:lnTo>
                    <a:lnTo>
                      <a:pt x="305" y="1037"/>
                    </a:lnTo>
                    <a:lnTo>
                      <a:pt x="305" y="1066"/>
                    </a:lnTo>
                    <a:lnTo>
                      <a:pt x="305" y="1067"/>
                    </a:lnTo>
                    <a:lnTo>
                      <a:pt x="306" y="1073"/>
                    </a:lnTo>
                    <a:lnTo>
                      <a:pt x="310" y="1079"/>
                    </a:lnTo>
                    <a:lnTo>
                      <a:pt x="315" y="1088"/>
                    </a:lnTo>
                    <a:lnTo>
                      <a:pt x="323" y="1096"/>
                    </a:lnTo>
                    <a:lnTo>
                      <a:pt x="335" y="1103"/>
                    </a:lnTo>
                    <a:lnTo>
                      <a:pt x="351" y="1108"/>
                    </a:lnTo>
                    <a:lnTo>
                      <a:pt x="372" y="1111"/>
                    </a:lnTo>
                    <a:lnTo>
                      <a:pt x="392" y="1108"/>
                    </a:lnTo>
                    <a:lnTo>
                      <a:pt x="408" y="1103"/>
                    </a:lnTo>
                    <a:lnTo>
                      <a:pt x="420" y="1096"/>
                    </a:lnTo>
                    <a:lnTo>
                      <a:pt x="429" y="1089"/>
                    </a:lnTo>
                    <a:lnTo>
                      <a:pt x="434" y="1080"/>
                    </a:lnTo>
                    <a:lnTo>
                      <a:pt x="437" y="1073"/>
                    </a:lnTo>
                    <a:lnTo>
                      <a:pt x="438" y="1068"/>
                    </a:lnTo>
                    <a:lnTo>
                      <a:pt x="438" y="1067"/>
                    </a:lnTo>
                    <a:lnTo>
                      <a:pt x="440" y="166"/>
                    </a:lnTo>
                    <a:lnTo>
                      <a:pt x="466" y="166"/>
                    </a:lnTo>
                    <a:lnTo>
                      <a:pt x="466" y="500"/>
                    </a:lnTo>
                    <a:lnTo>
                      <a:pt x="468" y="503"/>
                    </a:lnTo>
                    <a:lnTo>
                      <a:pt x="469" y="509"/>
                    </a:lnTo>
                    <a:lnTo>
                      <a:pt x="472" y="517"/>
                    </a:lnTo>
                    <a:lnTo>
                      <a:pt x="477" y="527"/>
                    </a:lnTo>
                    <a:lnTo>
                      <a:pt x="483" y="537"/>
                    </a:lnTo>
                    <a:lnTo>
                      <a:pt x="493" y="545"/>
                    </a:lnTo>
                    <a:lnTo>
                      <a:pt x="505" y="551"/>
                    </a:lnTo>
                    <a:lnTo>
                      <a:pt x="520" y="554"/>
                    </a:lnTo>
                    <a:lnTo>
                      <a:pt x="536" y="551"/>
                    </a:lnTo>
                    <a:lnTo>
                      <a:pt x="548" y="545"/>
                    </a:lnTo>
                    <a:lnTo>
                      <a:pt x="557" y="537"/>
                    </a:lnTo>
                    <a:lnTo>
                      <a:pt x="563" y="527"/>
                    </a:lnTo>
                    <a:lnTo>
                      <a:pt x="570" y="517"/>
                    </a:lnTo>
                    <a:lnTo>
                      <a:pt x="573" y="510"/>
                    </a:lnTo>
                    <a:lnTo>
                      <a:pt x="573" y="508"/>
                    </a:lnTo>
                    <a:lnTo>
                      <a:pt x="573" y="79"/>
                    </a:lnTo>
                    <a:lnTo>
                      <a:pt x="572" y="68"/>
                    </a:lnTo>
                    <a:lnTo>
                      <a:pt x="561" y="47"/>
                    </a:lnTo>
                    <a:lnTo>
                      <a:pt x="546" y="28"/>
                    </a:lnTo>
                    <a:lnTo>
                      <a:pt x="528" y="14"/>
                    </a:lnTo>
                    <a:lnTo>
                      <a:pt x="506" y="4"/>
                    </a:lnTo>
                    <a:lnTo>
                      <a:pt x="485" y="0"/>
                    </a:lnTo>
                    <a:lnTo>
                      <a:pt x="94" y="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44988C"/>
              </a:solidFill>
              <a:ln>
                <a:noFill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F7F16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endParaRPr>
              </a:p>
            </p:txBody>
          </p: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101EE3-AEFC-4997-8ED7-088D4CE51F19}"/>
              </a:ext>
            </a:extLst>
          </p:cNvPr>
          <p:cNvSpPr/>
          <p:nvPr/>
        </p:nvSpPr>
        <p:spPr>
          <a:xfrm>
            <a:off x="4060792" y="6037926"/>
            <a:ext cx="18966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관계 지향적 마케팅</a:t>
            </a:r>
            <a:endParaRPr lang="ko-KR" altLang="en-US" sz="1600" dirty="0"/>
          </a:p>
        </p:txBody>
      </p:sp>
      <p:sp>
        <p:nvSpPr>
          <p:cNvPr id="20" name="아래쪽 화살표 19">
            <a:extLst>
              <a:ext uri="{FF2B5EF4-FFF2-40B4-BE49-F238E27FC236}">
                <a16:creationId xmlns:a16="http://schemas.microsoft.com/office/drawing/2014/main" id="{B5918156-6F4D-442E-9D3A-DD5F5F9B0405}"/>
              </a:ext>
            </a:extLst>
          </p:cNvPr>
          <p:cNvSpPr/>
          <p:nvPr/>
        </p:nvSpPr>
        <p:spPr>
          <a:xfrm>
            <a:off x="4314825" y="5135563"/>
            <a:ext cx="1255713" cy="66992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3d extrusionH="57150" prstMaterial="softEdge">
              <a:bevelT w="25400" h="38100"/>
            </a:sp3d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defRPr/>
            </a:pPr>
            <a:endParaRPr lang="ko-KR" altLang="en-US" b="1">
              <a:solidFill>
                <a:srgbClr val="002A56"/>
              </a:solidFill>
              <a:ea typeface="굴림" panose="020B0600000101010101" pitchFamily="50" charset="-127"/>
            </a:endParaRP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43CBB254-FEC9-401A-99C8-CC4D34AE40D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19238" y="3557588"/>
            <a:ext cx="2438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기업</a:t>
            </a:r>
            <a:endParaRPr lang="en-US" altLang="ko-KR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C96084-86EC-420C-A712-D571386FBA15}"/>
              </a:ext>
            </a:extLst>
          </p:cNvPr>
          <p:cNvSpPr/>
          <p:nvPr/>
        </p:nvSpPr>
        <p:spPr>
          <a:xfrm>
            <a:off x="1527175" y="4019550"/>
            <a:ext cx="1150938" cy="36830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ko-KR" altLang="en-US">
                <a:effectLst>
                  <a:outerShdw blurRad="38100" dist="38100" dir="2700000" algn="tl">
                    <a:srgbClr val="C0C0C0"/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수익향상 </a:t>
            </a:r>
            <a:endParaRPr lang="ko-KR" altLang="en-US"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221F9F-4642-4223-B4E8-E1A689C79AAA}"/>
              </a:ext>
            </a:extLst>
          </p:cNvPr>
          <p:cNvSpPr/>
          <p:nvPr/>
        </p:nvSpPr>
        <p:spPr>
          <a:xfrm>
            <a:off x="6481763" y="3995738"/>
            <a:ext cx="1598612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만족하는 거래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C933C614-D153-423B-9BA6-C041A5F3F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마케팅의 목표</a:t>
            </a:r>
          </a:p>
        </p:txBody>
      </p:sp>
      <p:pic>
        <p:nvPicPr>
          <p:cNvPr id="23555" name="그림 23">
            <a:extLst>
              <a:ext uri="{FF2B5EF4-FFF2-40B4-BE49-F238E27FC236}">
                <a16:creationId xmlns:a16="http://schemas.microsoft.com/office/drawing/2014/main" id="{50D9597E-380A-48D4-874E-CA036D7B3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1833563"/>
            <a:ext cx="660876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직사각형 1">
            <a:extLst>
              <a:ext uri="{FF2B5EF4-FFF2-40B4-BE49-F238E27FC236}">
                <a16:creationId xmlns:a16="http://schemas.microsoft.com/office/drawing/2014/main" id="{08928CC9-A96E-4D25-B836-FC7FA91E3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838" y="4208463"/>
            <a:ext cx="1273175" cy="346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ko-KR" altLang="en-US">
                <a:solidFill>
                  <a:srgbClr val="000000"/>
                </a:solidFill>
                <a:latin typeface="서울남산 장체 M" pitchFamily="18" charset="-127"/>
                <a:ea typeface="서울남산 장체 M" pitchFamily="18" charset="-127"/>
              </a:rPr>
              <a:t>서비스 기업</a:t>
            </a:r>
          </a:p>
        </p:txBody>
      </p:sp>
      <p:sp>
        <p:nvSpPr>
          <p:cNvPr id="23557" name="직사각형 2">
            <a:extLst>
              <a:ext uri="{FF2B5EF4-FFF2-40B4-BE49-F238E27FC236}">
                <a16:creationId xmlns:a16="http://schemas.microsoft.com/office/drawing/2014/main" id="{DE93884A-171A-4DBF-A734-93ACD1CB3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5880100"/>
            <a:ext cx="2684463" cy="677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ko-KR" altLang="en-US">
                <a:solidFill>
                  <a:srgbClr val="000000"/>
                </a:solidFill>
                <a:latin typeface="서울남산 장체 M" pitchFamily="18" charset="-127"/>
                <a:ea typeface="서울남산 장체 M" pitchFamily="18" charset="-127"/>
              </a:rPr>
              <a:t>서비스 마케팅의 목표</a:t>
            </a:r>
          </a:p>
        </p:txBody>
      </p:sp>
      <p:sp>
        <p:nvSpPr>
          <p:cNvPr id="23558" name="직사각형 49">
            <a:extLst>
              <a:ext uri="{FF2B5EF4-FFF2-40B4-BE49-F238E27FC236}">
                <a16:creationId xmlns:a16="http://schemas.microsoft.com/office/drawing/2014/main" id="{1C61CBC2-C81F-43DD-B370-423D41E23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5221288"/>
            <a:ext cx="1362075" cy="447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서울남산 장체 M" pitchFamily="18" charset="-127"/>
              <a:ea typeface="서울남산 장체 M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FC0A6EEA-4881-4DB5-95BE-47CF06A3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왜 서비스마케팅인가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21599369-C06D-4B95-B471-36199C494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2000" b="0" dirty="0">
                <a:cs typeface="함초롬돋움" panose="020B0604000101010101" pitchFamily="50" charset="-127"/>
              </a:rPr>
              <a:t>‘서비스 경제사회’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latinLnBrk="0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2000" b="0" dirty="0">
                <a:cs typeface="함초롬돋움" panose="020B0604000101010101" pitchFamily="50" charset="-127"/>
              </a:rPr>
              <a:t>선진국으로 갈수록 경제에서 농업 비중↓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서비스 부분이 차지하는 비중↑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733425" lvl="2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 중심 경제사회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733425" lvl="2" indent="-285750" latinLnBrk="0">
              <a:lnSpc>
                <a:spcPct val="150000"/>
              </a:lnSpc>
            </a:pP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2000" b="0" dirty="0">
                <a:cs typeface="함초롬돋움" panose="020B0604000101010101" pitchFamily="50" charset="-127"/>
              </a:rPr>
              <a:t>제품 중심의 마케팅으로는 서비스 기업이 당면한 이슈와 과제를 해결하기 어려움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서비스업에 특화된 마케팅이 필요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2000" b="0" dirty="0">
                <a:cs typeface="함초롬돋움" panose="020B0604000101010101" pitchFamily="50" charset="-127"/>
              </a:rPr>
              <a:t>모든 산업에 걸쳐서 서비스 중심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 중심의 마케팅의 중요성 증가</a:t>
            </a:r>
            <a:endParaRPr lang="en-US" altLang="ko-KR" sz="2000" b="0" dirty="0"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35C130EE-8476-4E5E-A241-A02DC604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왜 서비스마케팅인가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DC5CC269-85FC-4045-90E6-FD38F231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733425" lvl="2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>
                <a:ea typeface="서울남산 장체 M" pitchFamily="18" charset="-127"/>
                <a:cs typeface="함초롬돋움" panose="020B0604000101010101" pitchFamily="50" charset="-127"/>
              </a:rPr>
              <a:t>제조기업의 서비스 부문 확대 이유</a:t>
            </a:r>
            <a:endParaRPr lang="en-US" altLang="ko-KR"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FontTx/>
              <a:buAutoNum type="circleNumDbPlain"/>
            </a:pP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표준화로 인해 가격 경쟁이 치열한 제조업 사업환경을 극복하기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위한 수단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경쟁사와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의</a:t>
            </a: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차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별화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때로는 제품보다 많은 이윤을 창출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고객과의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지속적 관계 유지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285750" indent="-28575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en-US" altLang="ko-KR" sz="18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텍스트 개체 틀 3">
            <a:extLst>
              <a:ext uri="{FF2B5EF4-FFF2-40B4-BE49-F238E27FC236}">
                <a16:creationId xmlns:a16="http://schemas.microsoft.com/office/drawing/2014/main" id="{5ACDFC3F-0F3E-4151-929F-64741D95E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 startAt="3"/>
            </a:pPr>
            <a:r>
              <a:rPr lang="ko-KR" altLang="en-US"/>
              <a:t>서비스 마케팅 믹스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901B62-A971-4A53-B43B-667CFE93F845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EFF842-F64D-4F72-81EA-0342ECB30BD7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177604B2-ED9B-4381-89DA-67093110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endParaRPr lang="ko-KR" altLang="en-US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4FA673E1-224B-4775-B98F-2994C2B14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447800"/>
            <a:ext cx="11515725" cy="1081088"/>
          </a:xfrm>
        </p:spPr>
        <p:txBody>
          <a:bodyPr/>
          <a:lstStyle/>
          <a:p>
            <a:pPr marL="342900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>
                <a:cs typeface="함초롬돋움" panose="020B0604000101010101" pitchFamily="50" charset="-127"/>
              </a:rPr>
              <a:t>마케팅 믹스</a:t>
            </a:r>
            <a:r>
              <a:rPr lang="en-US" altLang="ko-KR" sz="1800" b="0" dirty="0">
                <a:cs typeface="함초롬돋움" panose="020B0604000101010101" pitchFamily="50" charset="-127"/>
              </a:rPr>
              <a:t>: </a:t>
            </a:r>
            <a:r>
              <a:rPr lang="ko-KR" altLang="en-US" sz="1800" b="0" dirty="0">
                <a:cs typeface="함초롬돋움" panose="020B0604000101010101" pitchFamily="50" charset="-127"/>
              </a:rPr>
              <a:t>한 기업이 표적시장을 상대로 마케팅 목표를 달성하기 위해서 사용하는 마케팅 전략 수단들의 집합</a:t>
            </a:r>
            <a:r>
              <a:rPr lang="en-US" altLang="ko-KR" sz="1800" b="0" dirty="0">
                <a:cs typeface="함초롬돋움" panose="020B0604000101010101" pitchFamily="50" charset="-127"/>
              </a:rPr>
              <a:t> </a:t>
            </a:r>
          </a:p>
          <a:p>
            <a:pPr marL="342900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>
                <a:cs typeface="함초롬돋움" panose="020B0604000101010101" pitchFamily="50" charset="-127"/>
              </a:rPr>
              <a:t>서비스 마케팅 믹스 </a:t>
            </a:r>
            <a:r>
              <a:rPr lang="en-US" altLang="ko-KR" sz="1800" b="0" dirty="0">
                <a:cs typeface="함초롬돋움" panose="020B0604000101010101" pitchFamily="50" charset="-127"/>
              </a:rPr>
              <a:t>7Ps: </a:t>
            </a:r>
            <a:r>
              <a:rPr lang="ko-KR" altLang="en-US" sz="1800" b="0" dirty="0">
                <a:cs typeface="함초롬돋움" panose="020B0604000101010101" pitchFamily="50" charset="-127"/>
              </a:rPr>
              <a:t>전통적 마케팅 믹스 </a:t>
            </a:r>
            <a:r>
              <a:rPr lang="en-US" altLang="ko-KR" sz="1800" b="0" dirty="0">
                <a:cs typeface="함초롬돋움" panose="020B0604000101010101" pitchFamily="50" charset="-127"/>
              </a:rPr>
              <a:t>4Ps + </a:t>
            </a:r>
            <a:r>
              <a:rPr lang="ko-KR" altLang="en-US" sz="1800" b="0" dirty="0">
                <a:cs typeface="함초롬돋움" panose="020B0604000101010101" pitchFamily="50" charset="-127"/>
              </a:rPr>
              <a:t>서비스 특성을 고려한 마케팅 믹스 </a:t>
            </a:r>
            <a:r>
              <a:rPr lang="en-US" altLang="ko-KR" sz="1800" b="0" dirty="0">
                <a:cs typeface="함초롬돋움" panose="020B0604000101010101" pitchFamily="50" charset="-127"/>
              </a:rPr>
              <a:t>3Ps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BBA01018-4DA5-4823-90B9-4C4E48376F2A}"/>
              </a:ext>
            </a:extLst>
          </p:cNvPr>
          <p:cNvGraphicFramePr/>
          <p:nvPr/>
        </p:nvGraphicFramePr>
        <p:xfrm>
          <a:off x="3395733" y="2770989"/>
          <a:ext cx="5598723" cy="3858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A073E8A1-8DFD-4BDD-A21C-531906A2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상품 </a:t>
            </a: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80FDCC31-A709-44D2-9DF9-8D489A37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현대의 소비자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: </a:t>
            </a:r>
            <a:r>
              <a:rPr lang="ko-KR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자신의 개성과 라이프 스타일을 지지할 수 있는 제품을 원하고 소비하고자 </a:t>
            </a: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함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목표시장인 특정 소비자집단의 기호와 욕망에 일치하는 제품 개념을 규명하고 이를 구체화시키는 일이 중요함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. </a:t>
            </a: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 자체가 상품이 될 수 있음을 명심해야 함</a:t>
            </a:r>
            <a:r>
              <a:rPr lang="en-US" altLang="ko-KR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. </a:t>
            </a: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외식서비스 이용고객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1066800" lvl="2" indent="-342900" latinLnBrk="0">
              <a:lnSpc>
                <a:spcPct val="200000"/>
              </a:lnSpc>
              <a:buFont typeface="서울남산 장체 M" pitchFamily="18" charset="-127"/>
              <a:buChar char="◦"/>
            </a:pPr>
            <a:r>
              <a:rPr lang="ko-KR" altLang="en-US" sz="16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음식과 서비스를 이 용하는 모든 과정에서 겪은 </a:t>
            </a:r>
            <a:r>
              <a:rPr lang="ko-KR" altLang="en-US" sz="1600" b="1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총체적 경험</a:t>
            </a:r>
            <a:r>
              <a:rPr lang="en-US" altLang="ko-KR" sz="1600" b="1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(total experience)</a:t>
            </a:r>
            <a:r>
              <a:rPr lang="ko-KR" altLang="en-US" sz="16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을 구매하고자 함</a:t>
            </a:r>
            <a:endParaRPr lang="en-US" altLang="ko-KR" sz="16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핵심고객의 요구사항을 파악하여 기업이 통제할 수 있는 마케팅 믹스 요소 구성 필요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200000"/>
              </a:lnSpc>
            </a:pPr>
            <a:endParaRPr lang="ko-KR" altLang="en-US" sz="2800"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A5D84436-B04B-4B23-9BA5-E631FC0B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가격</a:t>
            </a: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EDDA55E4-5AB2-454B-B088-274D51227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정의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판매한 제품의 대가로서 사는 사람이 파는 사람에게 지불하는 금전적 가치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구매자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-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판매자의 적정 수준에서 결정해야 함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경쟁사의 가격 수준 고려 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기업의 이익과 밀접하게 연관 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전략적인 가격 결정 필요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레스토랑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수요관리에서 가장 중요한 요인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가시적인 고객 반응이 가장 빠르게 나타나는 특성의 마케팅 믹스 요소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20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현대 마케팅에서의 가격의 활용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가격은 </a:t>
            </a:r>
            <a:r>
              <a:rPr lang="ko-KR" altLang="en-US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촉진요소에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흡수되어 하나의 촉진도구로서 다른 촉진 전략과 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25487" lvl="2" latinLnBrk="0">
              <a:lnSpc>
                <a:spcPct val="200000"/>
              </a:lnSpc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결합하여 이용되고 있음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eaLnBrk="1" hangingPunct="1">
              <a:lnSpc>
                <a:spcPct val="200000"/>
              </a:lnSpc>
              <a:defRPr/>
            </a:pPr>
            <a:endParaRPr lang="ko-KR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0C36EE60-8EC7-4210-BB60-5845590A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촉진</a:t>
            </a: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8CB9F961-AC83-41EB-AD55-3925C022E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촉진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기업이 최종소비자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중간상 또는 기타 이해관계가 있는 대중에게 제품 또는 기업에 관해서 정보를 전달하는 기능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유형재와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무형의 서비스 상품을 모두 가지고 있는 외식업의 경우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전통적인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촉진방식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광고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판매 촉진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</a:t>
            </a:r>
          </a:p>
          <a:p>
            <a:pPr marL="457200" lvl="1" latinLnBrk="0">
              <a:lnSpc>
                <a:spcPct val="200000"/>
              </a:lnSpc>
              <a:buClr>
                <a:schemeClr val="tx1"/>
              </a:buClr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홍보 외에도 새로운 마케팅 커뮤니케이션 방법이 필요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 latinLnBrk="0">
              <a:lnSpc>
                <a:spcPct val="200000"/>
              </a:lnSpc>
              <a:buFont typeface="함초롬돋움" panose="02030504000101010101" pitchFamily="18" charset="-127"/>
              <a:buChar char="–"/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PR</a:t>
            </a:r>
          </a:p>
          <a:p>
            <a:pPr marL="1257300" lvl="2" indent="-342900" latinLnBrk="0">
              <a:lnSpc>
                <a:spcPct val="200000"/>
              </a:lnSpc>
              <a:buFont typeface="함초롬돋움" panose="02030504000101010101" pitchFamily="18" charset="-127"/>
              <a:buChar char="–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구전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(word-of-mouth)</a:t>
            </a:r>
          </a:p>
          <a:p>
            <a:pPr marL="1257300" lvl="2" indent="-342900" latinLnBrk="0">
              <a:lnSpc>
                <a:spcPct val="200000"/>
              </a:lnSpc>
              <a:buFont typeface="함초롬돋움" panose="02030504000101010101" pitchFamily="18" charset="-127"/>
              <a:buChar char="–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직접 마케팅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(direct marketing)</a:t>
            </a:r>
          </a:p>
          <a:p>
            <a:pPr marL="1257300" lvl="2" indent="-342900" latinLnBrk="0">
              <a:lnSpc>
                <a:spcPct val="200000"/>
              </a:lnSpc>
              <a:buFont typeface="함초롬돋움" panose="02030504000101010101" pitchFamily="18" charset="-127"/>
              <a:buChar char="–"/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SNS</a:t>
            </a: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17241C79-4D57-4AC7-AB3A-B9DE1B1E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4) </a:t>
            </a:r>
            <a:r>
              <a:rPr lang="ko-KR" altLang="en-US"/>
              <a:t>유통</a:t>
            </a: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2749256E-9590-4D43-BF37-88D25EB4C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고객에게 제품과 서비스를 전달하는 경로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190625" lvl="3" indent="-285750" latinLnBrk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유통경로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특정 제품이나 서비스의 흐름을 돕기 위하여 참여하는 일련의 중간 상인 및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매개인으로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endPara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914400" lvl="2" latinLnBrk="0">
              <a:lnSpc>
                <a:spcPct val="200000"/>
              </a:lnSpc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이루어지는 유기체적  통로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외식산업에서의 유통경로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일정한 장소에서 제품과 서비스가 생산되고 소비되는 특성을 고려해야 함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</a:p>
          <a:p>
            <a:pPr marL="1714500" lvl="3" indent="-342900" latinLnBrk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고객이 편리하고 쉽게 접근할 수 있는 입지가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유통관리의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핵심</a:t>
            </a:r>
            <a:endPara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714500" lvl="3" indent="-342900" latinLnBrk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단일 점포 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vs.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다수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점포 접근 방식 결정 </a:t>
            </a:r>
            <a:endPara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효율적인 공급사슬관리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→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가격 경쟁력 확보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차별화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최근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인터넷이나 스마트폰 기반의 전자 유통경로 개발 및 활용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D2EDD77B-90C0-4712-95B3-392D6561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 </a:t>
            </a:r>
            <a:r>
              <a:rPr lang="ko-KR" altLang="en-US"/>
              <a:t>사람</a:t>
            </a:r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AC61F2EB-C174-4DE0-82E4-D18036F6D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서비스를 전달하는 과정에 참여하여 고객의 지각에 영향을 미치는 모든 행위자</a:t>
            </a:r>
            <a:endParaRPr lang="en-US" altLang="ko-KR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ko-KR" altLang="en-US" sz="180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A4212-4B71-46FD-85F9-D5D07CF0D1B2}"/>
              </a:ext>
            </a:extLst>
          </p:cNvPr>
          <p:cNvSpPr txBox="1"/>
          <p:nvPr/>
        </p:nvSpPr>
        <p:spPr>
          <a:xfrm>
            <a:off x="995363" y="2390775"/>
            <a:ext cx="9221787" cy="149542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종사원 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태도와 행동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,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복장 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서비스의 수준을 가늠하게 하는 중요한 단서</a:t>
            </a:r>
            <a:endParaRPr lang="en-US" altLang="ko-KR" sz="1600" dirty="0">
              <a:latin typeface="함초롬돋움" panose="02030504000101010101" pitchFamily="18" charset="-127"/>
              <a:ea typeface="서울남산 장체 M" panose="02020503020101020101"/>
              <a:cs typeface="함초롬돋움" panose="02030504000101010101" pitchFamily="18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고객 본인 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서비스 유통에 관여하거나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,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다른 고객들이 인식하게 되는 서비스 품질에 영향</a:t>
            </a:r>
            <a:endParaRPr lang="en-US" altLang="ko-KR" sz="1600" dirty="0">
              <a:latin typeface="함초롬돋움" panose="02030504000101010101" pitchFamily="18" charset="-127"/>
              <a:ea typeface="서울남산 장체 M" panose="02020503020101020101"/>
              <a:cs typeface="함초롬돋움" panose="02030504000101010101" pitchFamily="18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다른 고객들 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외모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,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태도</a:t>
            </a:r>
            <a:r>
              <a:rPr lang="en-US" altLang="ko-KR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, </a:t>
            </a:r>
            <a:r>
              <a:rPr lang="ko-KR" altLang="en-US" sz="1600" dirty="0">
                <a:latin typeface="함초롬돋움" panose="02030504000101010101" pitchFamily="18" charset="-127"/>
                <a:ea typeface="서울남산 장체 M" panose="02020503020101020101"/>
                <a:cs typeface="함초롬돋움" panose="02030504000101010101" pitchFamily="18" charset="-127"/>
              </a:rPr>
              <a:t>패션 등도 서비스 품질 평가와 서비스 만족도에 영향을 줄 수 있음</a:t>
            </a:r>
            <a:endParaRPr lang="en-US" altLang="ko-KR" sz="1600" dirty="0">
              <a:latin typeface="함초롬돋움" panose="02030504000101010101" pitchFamily="18" charset="-127"/>
              <a:ea typeface="서울남산 장체 M" panose="02020503020101020101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6647284E-CB61-4765-9DA3-03F27811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6) </a:t>
            </a:r>
            <a:r>
              <a:rPr lang="ko-KR" altLang="en-US"/>
              <a:t>물리적 증거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AFFFAD17-3C91-4A9C-8CD6-679943CF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일정공간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일정시간을 머물면서 서비스를 제공받기 때문에 머무는 공간의 분위기나 물리적 시설이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457200" lvl="1" latinLnBrk="0">
              <a:lnSpc>
                <a:spcPct val="200000"/>
              </a:lnSpc>
              <a:buClr>
                <a:schemeClr val="tx1"/>
              </a:buClr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품질 평가에 중요하게 작용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함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외식업의 경우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고객들이 서비스를 받기 위해 방문하는 레스토랑 그 자체가 물리적 증거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 됨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1257300" lvl="2" indent="-342900" latinLnBrk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ko-KR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서비스스케이프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(</a:t>
            </a:r>
            <a:r>
              <a:rPr lang="en-US" altLang="ko-KR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servicescape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)</a:t>
            </a: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경험 전인 고객의 입장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: 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어떤 서비스를 받게 될 것인지 예측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하게 하는 수단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7BF9497-8E36-4E17-8ADC-27A70107FE5D}"/>
              </a:ext>
            </a:extLst>
          </p:cNvPr>
          <p:cNvSpPr/>
          <p:nvPr/>
        </p:nvSpPr>
        <p:spPr>
          <a:xfrm>
            <a:off x="2395538" y="4660900"/>
            <a:ext cx="7416800" cy="1341438"/>
          </a:xfrm>
          <a:prstGeom prst="round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레스토랑의 목적과 </a:t>
            </a:r>
            <a:r>
              <a:rPr lang="ko-KR" altLang="ko-KR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콘셉트와</a:t>
            </a:r>
            <a:r>
              <a:rPr lang="ko-KR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잘 맞게 설계된 물리적 증거들은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고객들에게 다른 요소들보다 훨씬 강하고 지속적으로 어떤 서비스를 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제공받을 수 있을 것인지에 대한 메시지를 전달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F18BF694-EE47-4462-A428-5EF4B88F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7) </a:t>
            </a:r>
            <a:r>
              <a:rPr lang="ko-KR" altLang="en-US"/>
              <a:t>프로세스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14542EB6-AABE-4C5D-BB09-3FBFCE991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055688"/>
            <a:ext cx="11515725" cy="5248275"/>
          </a:xfrm>
        </p:spPr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서비스가 제공되는 절차 또는 활동의 흐름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(flow)</a:t>
            </a:r>
          </a:p>
          <a:p>
            <a:pPr marL="1257300" lvl="2" indent="-342900" latinLnBrk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하나의 개체로 파악되지 않고 서비스 시작 시점부터 종료까지의 모든 과정이 투입과 산출로 이루어진 하나의 시스템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고객이 경험하는 서비스 </a:t>
            </a:r>
            <a:r>
              <a:rPr lang="ko-KR" altLang="ko-KR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전달과정의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적절한 설계는 고객이 서비스 품질을 평가할 때 중요한 요소로 작용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고객에게 오래 기억되는 경험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(memorable experience) </a:t>
            </a:r>
            <a:r>
              <a:rPr lang="ko-KR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프로세스 설계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 중요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텍스트 개체 틀 3">
            <a:extLst>
              <a:ext uri="{FF2B5EF4-FFF2-40B4-BE49-F238E27FC236}">
                <a16:creationId xmlns:a16="http://schemas.microsoft.com/office/drawing/2014/main" id="{66E25C8A-0B02-4CB9-9FA3-9D25E69AF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 startAt="4"/>
            </a:pPr>
            <a:r>
              <a:rPr lang="ko-KR" altLang="en-US"/>
              <a:t>외식서비스마케팅 삼각형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2DE4E7-60D6-4EB6-8B6C-967149C59114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C9F820-496B-46C0-A399-73B2ADE78186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363533F3-7C32-4092-83F1-F09077F2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외식사업의 고객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1B9AAC7A-27C6-482D-9878-81AC3C798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외식사업은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세 명의 핵심 플레이어가 삼각형의 각 꼭지점에 위치하며 서로 균형을 잘 맞춰 서로의 역할을 수행함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외식서비스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기업 또는 외식업체 경영주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기업이 고객에게 제공하기로 한 서비스를 전달하는 현장 종사원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서비스를 제공받는 고객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경영주는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내부고객인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현장 종사원의 근무환경 및 직원들 복지제도 등에 신경을 써야 함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190625" lvl="3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직무 만족도가 높은 종사원들은 서비스 접점에서 최고의 서비스를 전달할 수 있게 되므로 </a:t>
            </a:r>
            <a:endPara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904875" lvl="3" latinLnBrk="0">
              <a:lnSpc>
                <a:spcPct val="150000"/>
              </a:lnSpc>
              <a:defRPr/>
            </a:pP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외부고객의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만족도는 높아지게 됨</a:t>
            </a:r>
            <a:endParaRPr lang="en-US" altLang="ko-KR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1068387" lvl="2" indent="-342900" latinLnBrk="0">
              <a:lnSpc>
                <a:spcPct val="150000"/>
              </a:lnSpc>
              <a:buFont typeface="+mj-ea"/>
              <a:buAutoNum type="circleNumDbPlain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A215D14A-E7F8-4CAC-A155-20CFA6A8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외식서비스마케팅 삼각형</a:t>
            </a:r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01B66F15-29FF-4E54-A14F-8C13E846E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3" y="1157288"/>
            <a:ext cx="11517312" cy="5248275"/>
          </a:xfrm>
        </p:spPr>
        <p:txBody>
          <a:bodyPr/>
          <a:lstStyle/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>
                <a:ea typeface="함초롬돋움" panose="020B0604000101010101" pitchFamily="50" charset="-127"/>
                <a:cs typeface="함초롬돋움" panose="020B0604000101010101" pitchFamily="50" charset="-127"/>
              </a:rPr>
              <a:t>외식기업이 성공하기 위해 수행해야 할 마케팅 세 가지 유형</a:t>
            </a: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외부 마케팅 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–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광고 및 홍보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온라인 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/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오프라인 마케팅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모바일 광고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, DM, SNS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마케팅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 startAt="2"/>
            </a:pP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상호작용 마케팅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	-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접점 </a:t>
            </a:r>
            <a:r>
              <a:rPr lang="ko-KR" altLang="en-US" sz="1800" dirty="0" err="1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마케팅이라고도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함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.</a:t>
            </a: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	-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서비스 접점에서 종사원들이 직접 고객들과 접촉하면서 실제로 서비스 제공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       -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외부 마케팅을 통해 고객과 약속했던 서비스를 이행하는 지점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 startAt="3"/>
            </a:pP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내부 마케팅 </a:t>
            </a:r>
            <a:r>
              <a:rPr lang="en-US" altLang="ko-KR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– </a:t>
            </a:r>
            <a:r>
              <a:rPr lang="ko-KR" altLang="en-US" sz="1800" dirty="0">
                <a:latin typeface="서울남산 장체 M" pitchFamily="18" charset="-127"/>
                <a:ea typeface="서울남산 장체 M" pitchFamily="18" charset="-127"/>
                <a:cs typeface="함초롬돋움" panose="020B0604000101010101" pitchFamily="50" charset="-127"/>
              </a:rPr>
              <a:t>외식기업이 종사원들을 교육 훈련하고 동기부여하고 보상하는 활동</a:t>
            </a: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Tx/>
              <a:buAutoNum type="circleNumDbPlain" startAt="3"/>
            </a:pPr>
            <a:endParaRPr lang="en-US" altLang="ko-KR" sz="1800" dirty="0">
              <a:latin typeface="서울남산 장체 M" pitchFamily="18" charset="-127"/>
              <a:ea typeface="서울남산 장체 M" pitchFamily="18" charset="-127"/>
              <a:cs typeface="함초롬돋움" panose="020B0604000101010101" pitchFamily="50" charset="-127"/>
            </a:endParaRPr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/>
              <a:t>서비스 접점에서 최고의 서비스 품질이 제공되려면 종사원들이 최고의 서비스를 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/>
              <a:t>     </a:t>
            </a:r>
            <a:r>
              <a:rPr lang="ko-KR" altLang="en-US" sz="1800" b="0" dirty="0"/>
              <a:t>제공할 수 있도록 기업이 먼저 지원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/>
          </a:p>
        </p:txBody>
      </p:sp>
      <p:grpSp>
        <p:nvGrpSpPr>
          <p:cNvPr id="37892" name="그룹 1">
            <a:extLst>
              <a:ext uri="{FF2B5EF4-FFF2-40B4-BE49-F238E27FC236}">
                <a16:creationId xmlns:a16="http://schemas.microsoft.com/office/drawing/2014/main" id="{D6487B45-BD3B-4728-B765-DB6371CAE55E}"/>
              </a:ext>
            </a:extLst>
          </p:cNvPr>
          <p:cNvGrpSpPr>
            <a:grpSpLocks/>
          </p:cNvGrpSpPr>
          <p:nvPr/>
        </p:nvGrpSpPr>
        <p:grpSpPr bwMode="auto">
          <a:xfrm>
            <a:off x="7813493" y="3090287"/>
            <a:ext cx="4113521" cy="3359539"/>
            <a:chOff x="7593886" y="3097213"/>
            <a:chExt cx="4331536" cy="3593529"/>
          </a:xfrm>
        </p:grpSpPr>
        <p:sp>
          <p:nvSpPr>
            <p:cNvPr id="37893" name="순서도: 추출 1">
              <a:extLst>
                <a:ext uri="{FF2B5EF4-FFF2-40B4-BE49-F238E27FC236}">
                  <a16:creationId xmlns:a16="http://schemas.microsoft.com/office/drawing/2014/main" id="{220A56F7-0C6E-4263-B02E-9F729A477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9588" y="3359150"/>
              <a:ext cx="3190875" cy="2773363"/>
            </a:xfrm>
            <a:prstGeom prst="flowChartExtra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/>
              <a:endParaRPr lang="ko-KR" altLang="en-US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cxnSp>
          <p:nvCxnSpPr>
            <p:cNvPr id="37894" name="직선 연결선 3">
              <a:extLst>
                <a:ext uri="{FF2B5EF4-FFF2-40B4-BE49-F238E27FC236}">
                  <a16:creationId xmlns:a16="http://schemas.microsoft.com/office/drawing/2014/main" id="{4C3D1F74-6E3C-4461-B9E8-0B88284D4B61}"/>
                </a:ext>
              </a:extLst>
            </p:cNvPr>
            <p:cNvCxnSpPr>
              <a:cxnSpLocks noChangeShapeType="1"/>
              <a:stCxn id="37893" idx="0"/>
            </p:cNvCxnSpPr>
            <p:nvPr/>
          </p:nvCxnSpPr>
          <p:spPr bwMode="auto">
            <a:xfrm flipH="1">
              <a:off x="9690100" y="3359150"/>
              <a:ext cx="34925" cy="159067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895" name="직선 연결선 5">
              <a:extLst>
                <a:ext uri="{FF2B5EF4-FFF2-40B4-BE49-F238E27FC236}">
                  <a16:creationId xmlns:a16="http://schemas.microsoft.com/office/drawing/2014/main" id="{3115076E-587A-4970-A0F0-E125560F24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129588" y="4959350"/>
              <a:ext cx="1550987" cy="11731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896" name="직선 연결선 7">
              <a:extLst>
                <a:ext uri="{FF2B5EF4-FFF2-40B4-BE49-F238E27FC236}">
                  <a16:creationId xmlns:a16="http://schemas.microsoft.com/office/drawing/2014/main" id="{ABF20BA7-0789-4D4F-A3BC-B6885CF164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690100" y="4959350"/>
              <a:ext cx="1630363" cy="11731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97" name="TextBox 8">
              <a:extLst>
                <a:ext uri="{FF2B5EF4-FFF2-40B4-BE49-F238E27FC236}">
                  <a16:creationId xmlns:a16="http://schemas.microsoft.com/office/drawing/2014/main" id="{356F437B-ADA9-42CE-993C-3EC6BE13E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3538" y="5318125"/>
              <a:ext cx="1093787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ko-KR" sz="1200">
                  <a:ea typeface="굴림" panose="020B0600000101010101" pitchFamily="50" charset="-127"/>
                </a:rPr>
                <a:t>technology</a:t>
              </a:r>
              <a:endParaRPr lang="ko-KR" altLang="en-US" sz="1200">
                <a:ea typeface="굴림" panose="020B0600000101010101" pitchFamily="50" charset="-127"/>
              </a:endParaRPr>
            </a:p>
          </p:txBody>
        </p:sp>
        <p:sp>
          <p:nvSpPr>
            <p:cNvPr id="37899" name="TextBox 13">
              <a:extLst>
                <a:ext uri="{FF2B5EF4-FFF2-40B4-BE49-F238E27FC236}">
                  <a16:creationId xmlns:a16="http://schemas.microsoft.com/office/drawing/2014/main" id="{E863E11F-2F8A-4A7D-BFFB-172823B9D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98372" y="5965257"/>
              <a:ext cx="527050" cy="29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ko-KR" altLang="en-US" sz="1200" b="1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고객</a:t>
              </a:r>
            </a:p>
          </p:txBody>
        </p:sp>
        <p:sp>
          <p:nvSpPr>
            <p:cNvPr id="37901" name="TextBox 15">
              <a:extLst>
                <a:ext uri="{FF2B5EF4-FFF2-40B4-BE49-F238E27FC236}">
                  <a16:creationId xmlns:a16="http://schemas.microsoft.com/office/drawing/2014/main" id="{095130C6-12AE-4B65-BDEA-0A54345ED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4475" y="6394450"/>
              <a:ext cx="1371600" cy="29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ko-KR" altLang="en-US" sz="1200" b="1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서비스</a:t>
              </a:r>
              <a:r>
                <a:rPr lang="ko-KR" altLang="en-US" sz="1200" b="1" dirty="0">
                  <a:ea typeface="굴림" panose="020B0600000101010101" pitchFamily="50" charset="-127"/>
                </a:rPr>
                <a:t> </a:t>
              </a:r>
              <a:r>
                <a:rPr lang="ko-KR" altLang="en-US" sz="1200" b="1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피라미드</a:t>
              </a:r>
            </a:p>
          </p:txBody>
        </p:sp>
        <p:sp>
          <p:nvSpPr>
            <p:cNvPr id="37902" name="TextBox 17">
              <a:extLst>
                <a:ext uri="{FF2B5EF4-FFF2-40B4-BE49-F238E27FC236}">
                  <a16:creationId xmlns:a16="http://schemas.microsoft.com/office/drawing/2014/main" id="{A94FDF5A-A153-4ACB-9193-146F33335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3231" y="3097213"/>
              <a:ext cx="763587" cy="29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ko-KR" altLang="en-US" sz="1200" b="1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기업</a:t>
              </a:r>
            </a:p>
          </p:txBody>
        </p:sp>
        <p:sp>
          <p:nvSpPr>
            <p:cNvPr id="37903" name="TextBox 18">
              <a:extLst>
                <a:ext uri="{FF2B5EF4-FFF2-40B4-BE49-F238E27FC236}">
                  <a16:creationId xmlns:a16="http://schemas.microsoft.com/office/drawing/2014/main" id="{5D88C70B-A3BF-4FF2-921D-05D9D746A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886" y="5978253"/>
              <a:ext cx="606425" cy="29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ko-KR" altLang="en-US" sz="1200" b="1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직원</a:t>
              </a:r>
            </a:p>
          </p:txBody>
        </p:sp>
        <p:sp>
          <p:nvSpPr>
            <p:cNvPr id="37904" name="TextBox 19">
              <a:extLst>
                <a:ext uri="{FF2B5EF4-FFF2-40B4-BE49-F238E27FC236}">
                  <a16:creationId xmlns:a16="http://schemas.microsoft.com/office/drawing/2014/main" id="{255D0740-1E93-4A18-8CF4-A07DC2F2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82138" y="5068888"/>
              <a:ext cx="6064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ko-KR" altLang="en-US" sz="1200" b="1">
                  <a:latin typeface="서울남산 장체 M" pitchFamily="18" charset="-127"/>
                  <a:ea typeface="서울남산 장체 M" pitchFamily="18" charset="-127"/>
                </a:rPr>
                <a:t>기술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189D9FE2-744D-4E40-B0A4-59621883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외식서비스마케팅 삼각형</a:t>
            </a:r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C5B1D956-AF06-4B28-94F3-2ED41BC29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5" y="1246188"/>
            <a:ext cx="11517313" cy="5248275"/>
          </a:xfrm>
        </p:spPr>
        <p:txBody>
          <a:bodyPr/>
          <a:lstStyle/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>
                <a:cs typeface="함초롬돋움" panose="020B0604000101010101" pitchFamily="50" charset="-127"/>
              </a:rPr>
              <a:t>성공적인 상호작용 마케팅은 내부 마케팅이 성공적으로 이루어졌을 때 가능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/>
              <a:t>내부마케팅은 직원들을 적절히 교육하고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동기부여하고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보상하고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인정해주는 것에서부터 시작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/>
              <a:t>어느 한쪽이 희생하거나 불만족하다면 고품질의 서비스는 제공되기 어려움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>
                <a:cs typeface="함초롬돋움" panose="020B0604000101010101" pitchFamily="50" charset="-127"/>
              </a:rPr>
              <a:t>최근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서비스업에도 기술</a:t>
            </a:r>
            <a:r>
              <a:rPr lang="en-US" altLang="ko-KR" sz="1800" b="0" dirty="0">
                <a:cs typeface="함초롬돋움" panose="020B0604000101010101" pitchFamily="50" charset="-127"/>
              </a:rPr>
              <a:t>(Technology)</a:t>
            </a:r>
            <a:r>
              <a:rPr lang="ko-KR" altLang="en-US" sz="1800" b="0" dirty="0">
                <a:cs typeface="함초롬돋움" panose="020B0604000101010101" pitchFamily="50" charset="-127"/>
              </a:rPr>
              <a:t>의 중요성이 높아짐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 b="0" dirty="0" err="1">
                <a:cs typeface="함초롬돋움" panose="020B0604000101010101" pitchFamily="50" charset="-127"/>
              </a:rPr>
              <a:t>푸드테크</a:t>
            </a:r>
            <a:r>
              <a:rPr lang="ko-KR" altLang="en-US" sz="1800" b="0" dirty="0">
                <a:cs typeface="함초롬돋움" panose="020B0604000101010101" pitchFamily="50" charset="-127"/>
              </a:rPr>
              <a:t> </a:t>
            </a:r>
            <a:r>
              <a:rPr lang="en-US" altLang="ko-KR" sz="1800" b="0" dirty="0">
                <a:cs typeface="함초롬돋움" panose="020B0604000101010101" pitchFamily="50" charset="-127"/>
              </a:rPr>
              <a:t>– </a:t>
            </a:r>
            <a:r>
              <a:rPr lang="ko-KR" altLang="en-US" sz="1800" b="0" dirty="0">
                <a:cs typeface="함초롬돋움" panose="020B0604000101010101" pitchFamily="50" charset="-127"/>
              </a:rPr>
              <a:t>셀프서비스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푸드</a:t>
            </a:r>
            <a:r>
              <a:rPr lang="ko-KR" altLang="en-US" sz="1800" b="0" dirty="0">
                <a:cs typeface="함초롬돋움" panose="020B0604000101010101" pitchFamily="50" charset="-127"/>
              </a:rPr>
              <a:t> 프린터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곡물 고기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셰프로봇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생체인식기술 결제</a:t>
            </a:r>
            <a:r>
              <a:rPr lang="en-US" altLang="ko-KR" sz="1800" b="0" dirty="0">
                <a:cs typeface="함초롬돋움" panose="020B0604000101010101" pitchFamily="50" charset="-127"/>
              </a:rPr>
              <a:t>, AI</a:t>
            </a:r>
            <a:r>
              <a:rPr lang="ko-KR" altLang="en-US" sz="1800" b="0" dirty="0">
                <a:cs typeface="함초롬돋움" panose="020B0604000101010101" pitchFamily="50" charset="-127"/>
              </a:rPr>
              <a:t>의 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메뉴짜기와</a:t>
            </a:r>
            <a:r>
              <a:rPr lang="ko-KR" altLang="en-US" sz="1800" b="0" dirty="0">
                <a:cs typeface="함초롬돋움" panose="020B0604000101010101" pitchFamily="50" charset="-127"/>
              </a:rPr>
              <a:t> 고객 맞춤형 서비스 제안</a:t>
            </a:r>
            <a:endParaRPr lang="ko-KR" altLang="en-US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0" dirty="0"/>
              <a:t>   </a:t>
            </a:r>
            <a:r>
              <a:rPr lang="en-US" altLang="ko-KR" sz="1800" b="0" dirty="0"/>
              <a:t> </a:t>
            </a:r>
            <a:r>
              <a:rPr lang="ko-KR" altLang="en-US" sz="1800" b="0" dirty="0"/>
              <a:t> 예</a:t>
            </a:r>
            <a:r>
              <a:rPr lang="en-US" altLang="ko-KR" sz="1800" b="0" dirty="0"/>
              <a:t>) </a:t>
            </a:r>
            <a:r>
              <a:rPr lang="ko-KR" altLang="en-US" sz="1800" b="0" dirty="0"/>
              <a:t>외부 마케팅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외식기업이 신메뉴를 개발하여 특별 프로모션을 진행하는 것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/>
              <a:t>          </a:t>
            </a:r>
            <a:r>
              <a:rPr lang="ko-KR" altLang="en-US" sz="1800" b="0" dirty="0"/>
              <a:t>상호작용 마케팅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프로모션을 통해 약속한 음식과 서비스를 종사원이 고객에게 제대로 서비스 하는 것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/>
              <a:t>          </a:t>
            </a:r>
            <a:r>
              <a:rPr lang="ko-KR" altLang="en-US" sz="1800" b="0" dirty="0"/>
              <a:t>내부 마케팅 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프로모션과 메뉴 사진과 동일하게 조리하여 서비스하도록 접점 직원들을 충분히 훈련하고 </a:t>
            </a:r>
            <a:endParaRPr lang="en-US" altLang="ko-KR" sz="1800" b="0" dirty="0"/>
          </a:p>
          <a:p>
            <a:pPr marL="619125" indent="-342900" latinLnBrk="0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/>
              <a:t>                            </a:t>
            </a:r>
            <a:r>
              <a:rPr lang="ko-KR" altLang="en-US" sz="1800" b="0" dirty="0"/>
              <a:t>부서간 소통하는 것</a:t>
            </a:r>
            <a:endParaRPr lang="en-US" altLang="ko-KR" sz="1800" b="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584746-6649-42BB-B311-CD05128A2CF9}"/>
              </a:ext>
            </a:extLst>
          </p:cNvPr>
          <p:cNvSpPr/>
          <p:nvPr/>
        </p:nvSpPr>
        <p:spPr bwMode="auto">
          <a:xfrm>
            <a:off x="496888" y="4025900"/>
            <a:ext cx="10853737" cy="2468563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Arial" panose="020B0604020202020204" pitchFamily="34" charset="0"/>
              <a:ea typeface="서울남산 장체 M" panose="02020503020101020101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EF65059C-768C-4577-BE98-3B7947D7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통합 서비스마케팅 커뮤니케이션의 필요성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1C58AC66-DC2A-4A81-A895-6BFDC1B42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외부마케팅은 본부의 마케팅 부서가 담당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상호작용 마케팅은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점포현장의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종사원들에 의해 전달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    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 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따라서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약속한 서비스와 실제 서비스의 불일치 가능성이 존재함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통합 서비스 마케팅 커뮤니케이션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‘Integrated Service Marketing Communication’ (ISMC)</a:t>
            </a: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    -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기존의 ‘통합 마케팅 커뮤니케이션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Integrated Marketing Communication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’ 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(IMC)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와는 다른 개념임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통합 마케팅 커뮤니케이션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은 외부 마케팅에서의 온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오프라인 등 다양한 마케팅 커뮤니케이션 채널의 통합 만을 의미하지만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 </a:t>
            </a: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통합 서비스 마케팅 커뮤니케이션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은 서비스 마케팅 조직 안에서 나타나는 모든 내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외적 커뮤니케이션 경로를 주의 깊게 통합하고 이를 조직화하는 것</a:t>
            </a: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74FDF84E-6DF8-43BB-9B4F-9B93497D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통합 서비스마케팅 커뮤니케이션의 필요성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A64B6384-5717-4E95-BCE6-C09A5994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수직적 커뮤니케이션의 활성화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900113" lvl="1" indent="-442913" latinLnBrk="0">
              <a:lnSpc>
                <a:spcPct val="200000"/>
              </a:lnSpc>
              <a:buClr>
                <a:schemeClr val="tx1"/>
              </a:buClr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-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현장에서 일어나는 일을 경영자가 정확히 알고 전략적 의사결정을 내리기 위한 서비스 접점 직원으로부터 상위 경영자까지의 수직적 커뮤니케이션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457200" lvl="1" latinLnBrk="0">
              <a:lnSpc>
                <a:spcPct val="200000"/>
              </a:lnSpc>
              <a:buClr>
                <a:schemeClr val="tx1"/>
              </a:buClr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20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수평적 커뮤니케이션의 활성화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457200" lvl="1" latinLnBrk="0">
              <a:lnSpc>
                <a:spcPct val="200000"/>
              </a:lnSpc>
              <a:buClr>
                <a:schemeClr val="tx1"/>
              </a:buClr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-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실제 제공되는 서비스와 외부 커뮤니케이션이 일치되기 위해 마케팅부서와 </a:t>
            </a:r>
            <a:r>
              <a:rPr lang="ko-KR" altLang="en-US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운영부서를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비롯한 여러 부서를 통합할 필요가 있음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457200" lvl="1" latinLnBrk="0">
              <a:lnSpc>
                <a:spcPct val="200000"/>
              </a:lnSpc>
              <a:buClr>
                <a:schemeClr val="tx1"/>
              </a:buClr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-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조직 내 여러 부서 사이에서는 효과적인 수평적 커뮤니케이션이 자주 이루어져야 함</a:t>
            </a:r>
            <a:endParaRPr lang="ko-KR" altLang="en-US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841</TotalTime>
  <Words>1517</Words>
  <Application>Microsoft Office PowerPoint</Application>
  <PresentationFormat>와이드스크린</PresentationFormat>
  <Paragraphs>248</Paragraphs>
  <Slides>32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Arial</vt:lpstr>
      <vt:lpstr>함초롬돋움</vt:lpstr>
      <vt:lpstr>서울남산 장체 EB</vt:lpstr>
      <vt:lpstr>굴림</vt:lpstr>
      <vt:lpstr>서울남산 장체 M</vt:lpstr>
      <vt:lpstr>Wingdings</vt:lpstr>
      <vt:lpstr>맑은 고딕</vt:lpstr>
      <vt:lpstr>Verdana</vt:lpstr>
      <vt:lpstr>서울한강 장체 L</vt:lpstr>
      <vt:lpstr>서울남산 장체 L</vt:lpstr>
      <vt:lpstr>sample</vt:lpstr>
      <vt:lpstr>PowerPoint 프레젠테이션</vt:lpstr>
      <vt:lpstr>PowerPoint 프레젠테이션</vt:lpstr>
      <vt:lpstr>1) 서비스의 개념</vt:lpstr>
      <vt:lpstr>2) 서비스의 특징</vt:lpstr>
      <vt:lpstr>2) 서비스의 특징</vt:lpstr>
      <vt:lpstr>2) 서비스의 특징</vt:lpstr>
      <vt:lpstr>2) 서비스의 특징</vt:lpstr>
      <vt:lpstr>2) 서비스의 특징</vt:lpstr>
      <vt:lpstr>2) 서비스의 특징</vt:lpstr>
      <vt:lpstr>PowerPoint 프레젠테이션</vt:lpstr>
      <vt:lpstr>1) 마케팅의 기본 개념</vt:lpstr>
      <vt:lpstr>1) 마케팅의 기본 개념</vt:lpstr>
      <vt:lpstr>1) 마케팅의 기본 개념</vt:lpstr>
      <vt:lpstr>2) 마케팅의 목표</vt:lpstr>
      <vt:lpstr>2) 마케팅의 목표</vt:lpstr>
      <vt:lpstr>3) 왜 서비스마케팅인가? </vt:lpstr>
      <vt:lpstr>3) 왜 서비스마케팅인가? </vt:lpstr>
      <vt:lpstr>PowerPoint 프레젠테이션</vt:lpstr>
      <vt:lpstr>PowerPoint 프레젠테이션</vt:lpstr>
      <vt:lpstr>1) 상품 </vt:lpstr>
      <vt:lpstr>2) 가격</vt:lpstr>
      <vt:lpstr>3) 촉진</vt:lpstr>
      <vt:lpstr>4) 유통</vt:lpstr>
      <vt:lpstr>5) 사람</vt:lpstr>
      <vt:lpstr>6) 물리적 증거  </vt:lpstr>
      <vt:lpstr>7) 프로세스  </vt:lpstr>
      <vt:lpstr>PowerPoint 프레젠테이션</vt:lpstr>
      <vt:lpstr>1) 외식사업의 고객 </vt:lpstr>
      <vt:lpstr>2) 외식서비스마케팅 삼각형</vt:lpstr>
      <vt:lpstr>2) 외식서비스마케팅 삼각형</vt:lpstr>
      <vt:lpstr>3) 통합 서비스마케팅 커뮤니케이션의 필요성 </vt:lpstr>
      <vt:lpstr>3) 통합 서비스마케팅 커뮤니케이션의 필요성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67</cp:revision>
  <dcterms:created xsi:type="dcterms:W3CDTF">2022-02-07T06:24:49Z</dcterms:created>
  <dcterms:modified xsi:type="dcterms:W3CDTF">2022-05-10T09:46:55Z</dcterms:modified>
</cp:coreProperties>
</file>