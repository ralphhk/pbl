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2"/>
  </p:notesMasterIdLst>
  <p:sldIdLst>
    <p:sldId id="278" r:id="rId2"/>
    <p:sldId id="280" r:id="rId3"/>
    <p:sldId id="351" r:id="rId4"/>
    <p:sldId id="470" r:id="rId5"/>
    <p:sldId id="465" r:id="rId6"/>
    <p:sldId id="472" r:id="rId7"/>
    <p:sldId id="473" r:id="rId8"/>
    <p:sldId id="474" r:id="rId9"/>
    <p:sldId id="471" r:id="rId10"/>
    <p:sldId id="475" r:id="rId11"/>
    <p:sldId id="281" r:id="rId12"/>
    <p:sldId id="463" r:id="rId13"/>
    <p:sldId id="466" r:id="rId14"/>
    <p:sldId id="467" r:id="rId15"/>
    <p:sldId id="468" r:id="rId16"/>
    <p:sldId id="476" r:id="rId17"/>
    <p:sldId id="477" r:id="rId18"/>
    <p:sldId id="469" r:id="rId19"/>
    <p:sldId id="478" r:id="rId20"/>
    <p:sldId id="479" r:id="rId21"/>
  </p:sldIdLst>
  <p:sldSz cx="12192000" cy="6858000"/>
  <p:notesSz cx="6858000" cy="9144000"/>
  <p:embeddedFontLst>
    <p:embeddedFont>
      <p:font typeface="08서울남산체 B" panose="02020603020101020101" pitchFamily="18" charset="-127"/>
      <p:regular r:id="rId23"/>
    </p:embeddedFont>
    <p:embeddedFont>
      <p:font typeface="경기천년바탕 Regular" panose="02020503020101020101" pitchFamily="18" charset="-127"/>
      <p:regular r:id="rId24"/>
    </p:embeddedFont>
    <p:embeddedFont>
      <p:font typeface="맑은 고딕" panose="020B0503020000020004" pitchFamily="50" charset="-127"/>
      <p:regular r:id="rId25"/>
      <p:bold r:id="rId26"/>
    </p:embeddedFont>
    <p:embeddedFont>
      <p:font typeface="서울남산 장체 EB" panose="02020503020101020101" pitchFamily="18" charset="-127"/>
      <p:regular r:id="rId27"/>
    </p:embeddedFont>
    <p:embeddedFont>
      <p:font typeface="서울남산 장체 L" panose="02020503020101020101" pitchFamily="18" charset="-127"/>
      <p:regular r:id="rId28"/>
    </p:embeddedFont>
    <p:embeddedFont>
      <p:font typeface="서울남산 장체 M" panose="02020503020101020101" pitchFamily="18" charset="-127"/>
      <p:regular r:id="rId29"/>
    </p:embeddedFont>
    <p:embeddedFont>
      <p:font typeface="서울한강 장체 L" panose="02020503020101020101" pitchFamily="18" charset="-127"/>
      <p:regular r:id="rId30"/>
    </p:embeddedFont>
    <p:embeddedFont>
      <p:font typeface="함초롬돋움" panose="020B0604000101010101" pitchFamily="50" charset="-127"/>
      <p:regular r:id="rId31"/>
      <p:bold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60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5" autoAdjust="0"/>
    <p:restoredTop sz="94607" autoAdjust="0"/>
  </p:normalViewPr>
  <p:slideViewPr>
    <p:cSldViewPr snapToGrid="0" showGuides="1">
      <p:cViewPr varScale="1">
        <p:scale>
          <a:sx n="96" d="100"/>
          <a:sy n="96" d="100"/>
        </p:scale>
        <p:origin x="840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73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2CBB9-4A5B-4165-8B09-8477FE296C11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B3DB4-D385-4485-B184-BAAE808E34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666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404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117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801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284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05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536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989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397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629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086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4093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779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488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078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9697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891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B3DB4-D385-4485-B184-BAAE808E340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203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DAF59362-AAEC-438D-9E40-FF26D7C124E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672763" y="0"/>
            <a:ext cx="1519237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C4BCAED-39FD-4529-A8D0-C927A2B1FE4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149475"/>
            <a:ext cx="12192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A3F10358-8FCB-48D9-844C-654E1FD3A133}"/>
              </a:ext>
            </a:extLst>
          </p:cNvPr>
          <p:cNvSpPr>
            <a:spLocks/>
          </p:cNvSpPr>
          <p:nvPr/>
        </p:nvSpPr>
        <p:spPr bwMode="gray">
          <a:xfrm>
            <a:off x="-12700" y="2138363"/>
            <a:ext cx="10687050" cy="22717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724727" y="2539998"/>
            <a:ext cx="7740073" cy="1782618"/>
          </a:xfrm>
        </p:spPr>
        <p:txBody>
          <a:bodyPr anchor="ctr"/>
          <a:lstStyle>
            <a:lvl1pPr marL="0" indent="0" algn="r"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92110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0BE9C6-17D0-47CB-A0EF-045D871000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89769EA-A453-40FE-A799-4C4E9A9D248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7D478-249C-47C8-B0AE-AC9ECA1D2C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99944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2853028"/>
            <a:ext cx="10515600" cy="1500187"/>
          </a:xfrm>
        </p:spPr>
        <p:txBody>
          <a:bodyPr anchor="b"/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A6CFC8-92DA-41C2-B453-EB40215976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75F5179-55EE-4E7E-B50F-C7660EED23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A49D4F-3A8E-4D8E-9F58-49E042BE848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005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2717" y="383056"/>
            <a:ext cx="10515600" cy="54927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0365" y="1210797"/>
            <a:ext cx="5827374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20365" y="2029946"/>
            <a:ext cx="5827374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652247" y="1206034"/>
            <a:ext cx="5856070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652247" y="2029946"/>
            <a:ext cx="5856070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704256D-F4FB-4955-B253-70764EDB7B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5C741B7-C50E-4E9F-9844-13B7883CD1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40F6A-8F97-41BC-80EE-8A494F2C15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509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3693" y="381000"/>
            <a:ext cx="8940800" cy="563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726E936-95BF-4B4A-B805-FFC00A9593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ED5A9FD-AF5F-4CE9-9EBA-2193EF3CCA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085870-8A47-4BC3-8417-C3B9023B61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4036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90EED7E-D655-435A-B542-3ADE24937B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87A5C33-4BE0-463A-9685-3EA65632F3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7ED25-E065-4097-9741-8ADF60B196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38582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5">
            <a:extLst>
              <a:ext uri="{FF2B5EF4-FFF2-40B4-BE49-F238E27FC236}">
                <a16:creationId xmlns:a16="http://schemas.microsoft.com/office/drawing/2014/main" id="{F58C9D69-E12C-4263-846F-773DC50B354D}"/>
              </a:ext>
            </a:extLst>
          </p:cNvPr>
          <p:cNvSpPr>
            <a:spLocks/>
          </p:cNvSpPr>
          <p:nvPr/>
        </p:nvSpPr>
        <p:spPr bwMode="gray">
          <a:xfrm>
            <a:off x="-12700" y="344488"/>
            <a:ext cx="10926763" cy="6334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7" name="Group 16">
            <a:extLst>
              <a:ext uri="{FF2B5EF4-FFF2-40B4-BE49-F238E27FC236}">
                <a16:creationId xmlns:a16="http://schemas.microsoft.com/office/drawing/2014/main" id="{2C28487A-F298-475C-A204-79FC43F054C6}"/>
              </a:ext>
            </a:extLst>
          </p:cNvPr>
          <p:cNvGrpSpPr>
            <a:grpSpLocks/>
          </p:cNvGrpSpPr>
          <p:nvPr/>
        </p:nvGrpSpPr>
        <p:grpSpPr bwMode="auto">
          <a:xfrm>
            <a:off x="10871200" y="0"/>
            <a:ext cx="1320800" cy="6858000"/>
            <a:chOff x="5040" y="0"/>
            <a:chExt cx="720" cy="4320"/>
          </a:xfrm>
        </p:grpSpPr>
        <p:sp>
          <p:nvSpPr>
            <p:cNvPr id="1036" name="Rectangle 17">
              <a:extLst>
                <a:ext uri="{FF2B5EF4-FFF2-40B4-BE49-F238E27FC236}">
                  <a16:creationId xmlns:a16="http://schemas.microsoft.com/office/drawing/2014/main" id="{D4052D8F-ED52-42CD-858F-7929983A2B8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7" name="Rectangle 18">
              <a:extLst>
                <a:ext uri="{FF2B5EF4-FFF2-40B4-BE49-F238E27FC236}">
                  <a16:creationId xmlns:a16="http://schemas.microsoft.com/office/drawing/2014/main" id="{A4849AFE-A46E-4EFA-89A2-7EE328D572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28" name="Rectangle 3">
            <a:extLst>
              <a:ext uri="{FF2B5EF4-FFF2-40B4-BE49-F238E27FC236}">
                <a16:creationId xmlns:a16="http://schemas.microsoft.com/office/drawing/2014/main" id="{F49D34DD-136D-4EC6-8EC1-0CDE95C344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076325"/>
            <a:ext cx="1151731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166E1FE4-1A59-45AD-BBE5-3AF2455B8F0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8450" y="6510338"/>
            <a:ext cx="2844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B3B4B30-C6E8-48B1-950F-799A5A77C5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53800" y="6526213"/>
            <a:ext cx="609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800">
                <a:latin typeface="서울한강 장체 L" pitchFamily="18" charset="-127"/>
                <a:ea typeface="서울한강 장체 L" pitchFamily="18" charset="-127"/>
              </a:defRPr>
            </a:lvl1pPr>
          </a:lstStyle>
          <a:p>
            <a:pPr>
              <a:defRPr/>
            </a:pPr>
            <a:fld id="{8C3877AD-CFFB-4271-B326-AA3E8B4CDDB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grpSp>
        <p:nvGrpSpPr>
          <p:cNvPr id="1031" name="Group 22">
            <a:extLst>
              <a:ext uri="{FF2B5EF4-FFF2-40B4-BE49-F238E27FC236}">
                <a16:creationId xmlns:a16="http://schemas.microsoft.com/office/drawing/2014/main" id="{2549C1DD-2084-4511-B637-633F41C867D0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300038"/>
            <a:ext cx="684212" cy="661987"/>
            <a:chOff x="18" y="144"/>
            <a:chExt cx="510" cy="480"/>
          </a:xfrm>
        </p:grpSpPr>
        <p:sp>
          <p:nvSpPr>
            <p:cNvPr id="1033" name="AutoShape 23">
              <a:extLst>
                <a:ext uri="{FF2B5EF4-FFF2-40B4-BE49-F238E27FC236}">
                  <a16:creationId xmlns:a16="http://schemas.microsoft.com/office/drawing/2014/main" id="{A26CEC47-651E-44F7-BA60-614E9E825FA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4" name="AutoShape 24">
              <a:extLst>
                <a:ext uri="{FF2B5EF4-FFF2-40B4-BE49-F238E27FC236}">
                  <a16:creationId xmlns:a16="http://schemas.microsoft.com/office/drawing/2014/main" id="{6EBAFB4A-C0AC-40A0-A76E-39A39F6D89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5" name="AutoShape 25">
              <a:extLst>
                <a:ext uri="{FF2B5EF4-FFF2-40B4-BE49-F238E27FC236}">
                  <a16:creationId xmlns:a16="http://schemas.microsoft.com/office/drawing/2014/main" id="{60F49F54-34F0-42C7-BAD1-2FF0A3338EA6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385"/>
              <a:ext cx="288" cy="239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32" name="Rectangle 2">
            <a:extLst>
              <a:ext uri="{FF2B5EF4-FFF2-40B4-BE49-F238E27FC236}">
                <a16:creationId xmlns:a16="http://schemas.microsoft.com/office/drawing/2014/main" id="{2071A01C-7DE0-447B-9DEA-A9E5BE078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057275" y="381000"/>
            <a:ext cx="89408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8" r:id="rId2"/>
    <p:sldLayoutId id="2147483719" r:id="rId3"/>
    <p:sldLayoutId id="2147483720" r:id="rId4"/>
    <p:sldLayoutId id="2147483721" r:id="rId5"/>
    <p:sldLayoutId id="2147483722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서울남산 장체 M" panose="02020503020101020101" pitchFamily="18" charset="-127"/>
          <a:ea typeface="서울남산 장체 M" panose="02020503020101020101" pitchFamily="18" charset="-127"/>
          <a:cs typeface="+mn-cs"/>
        </a:defRPr>
      </a:lvl1pPr>
      <a:lvl2pPr marL="179388" indent="277813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defRPr sz="24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2pPr>
      <a:lvl3pPr marL="447675" indent="466725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defRPr sz="20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3pPr>
      <a:lvl4pPr marL="627063" indent="744538" algn="l" rtl="0" eaLnBrk="0" fontAlgn="base" latinLnBrk="1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부제목 3">
            <a:extLst>
              <a:ext uri="{FF2B5EF4-FFF2-40B4-BE49-F238E27FC236}">
                <a16:creationId xmlns:a16="http://schemas.microsoft.com/office/drawing/2014/main" id="{024AFDAE-10E1-4D39-A3BC-F1D6DFEA2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150" y="2540000"/>
            <a:ext cx="7740650" cy="17827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Chapter 14.</a:t>
            </a:r>
          </a:p>
          <a:p>
            <a:pPr eaLnBrk="1" latinLnBrk="0" hangingPunct="1"/>
            <a:r>
              <a:rPr lang="ko-KR" altLang="en-US" dirty="0"/>
              <a:t>외식 서비스 마케팅의 미래 전략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텍스트 개체 틀 3">
            <a:extLst>
              <a:ext uri="{FF2B5EF4-FFF2-40B4-BE49-F238E27FC236}">
                <a16:creationId xmlns:a16="http://schemas.microsoft.com/office/drawing/2014/main" id="{D19AC77A-C39D-4EF9-A975-CC4EB1311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통합 서비스 마케팅의 성과와 미래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3E0F6A-BAF9-4B4B-A640-212447528499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04E37F-209B-4DF1-8F78-144694E42AB3}"/>
              </a:ext>
            </a:extLst>
          </p:cNvPr>
          <p:cNvSpPr/>
          <p:nvPr/>
        </p:nvSpPr>
        <p:spPr bwMode="auto">
          <a:xfrm>
            <a:off x="10864850" y="4416203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grpSp>
        <p:nvGrpSpPr>
          <p:cNvPr id="6" name="Group 46">
            <a:extLst>
              <a:ext uri="{FF2B5EF4-FFF2-40B4-BE49-F238E27FC236}">
                <a16:creationId xmlns:a16="http://schemas.microsoft.com/office/drawing/2014/main" id="{356265F2-8A43-470F-A95D-9536653C6B7B}"/>
              </a:ext>
            </a:extLst>
          </p:cNvPr>
          <p:cNvGrpSpPr>
            <a:grpSpLocks/>
          </p:cNvGrpSpPr>
          <p:nvPr/>
        </p:nvGrpSpPr>
        <p:grpSpPr bwMode="auto">
          <a:xfrm>
            <a:off x="6313775" y="4784891"/>
            <a:ext cx="6169015" cy="663286"/>
            <a:chOff x="1296" y="1824"/>
            <a:chExt cx="3886" cy="432"/>
          </a:xfrm>
        </p:grpSpPr>
        <p:sp>
          <p:nvSpPr>
            <p:cNvPr id="9" name="AutoShape 47">
              <a:extLst>
                <a:ext uri="{FF2B5EF4-FFF2-40B4-BE49-F238E27FC236}">
                  <a16:creationId xmlns:a16="http://schemas.microsoft.com/office/drawing/2014/main" id="{E473C666-396D-4324-BE83-224C3E6561E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0" name="AutoShape 48">
              <a:extLst>
                <a:ext uri="{FF2B5EF4-FFF2-40B4-BE49-F238E27FC236}">
                  <a16:creationId xmlns:a16="http://schemas.microsoft.com/office/drawing/2014/main" id="{2B253A0C-722E-4B31-B440-D8E67ADD877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1" name="Text Box 49">
              <a:extLst>
                <a:ext uri="{FF2B5EF4-FFF2-40B4-BE49-F238E27FC236}">
                  <a16:creationId xmlns:a16="http://schemas.microsoft.com/office/drawing/2014/main" id="{194986AE-6EAF-4FE7-9193-7749E2504EA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en-US" altLang="ko-KR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‘</a:t>
              </a:r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성장</a:t>
              </a:r>
              <a:r>
                <a:rPr lang="en-US" altLang="ko-KR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’</a:t>
              </a:r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은 </a:t>
              </a:r>
              <a:r>
                <a:rPr lang="en-US" altLang="ko-KR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‘</a:t>
              </a:r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전략</a:t>
              </a:r>
              <a:r>
                <a:rPr lang="en-US" altLang="ko-KR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’</a:t>
              </a:r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이 아니라 </a:t>
              </a:r>
              <a:r>
                <a:rPr lang="en-US" altLang="ko-KR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‘</a:t>
              </a:r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결과</a:t>
              </a:r>
              <a:r>
                <a:rPr lang="en-US" altLang="ko-KR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＇</a:t>
              </a:r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이다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2" name="Text Box 50">
              <a:extLst>
                <a:ext uri="{FF2B5EF4-FFF2-40B4-BE49-F238E27FC236}">
                  <a16:creationId xmlns:a16="http://schemas.microsoft.com/office/drawing/2014/main" id="{13AE7767-CF72-407C-8932-90A141C75AE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1</a:t>
              </a:r>
            </a:p>
          </p:txBody>
        </p:sp>
      </p:grpSp>
      <p:grpSp>
        <p:nvGrpSpPr>
          <p:cNvPr id="13" name="Group 51">
            <a:extLst>
              <a:ext uri="{FF2B5EF4-FFF2-40B4-BE49-F238E27FC236}">
                <a16:creationId xmlns:a16="http://schemas.microsoft.com/office/drawing/2014/main" id="{CDD968AB-CBD2-4ADF-813C-46ED3421B5CE}"/>
              </a:ext>
            </a:extLst>
          </p:cNvPr>
          <p:cNvGrpSpPr>
            <a:grpSpLocks/>
          </p:cNvGrpSpPr>
          <p:nvPr/>
        </p:nvGrpSpPr>
        <p:grpSpPr bwMode="auto">
          <a:xfrm>
            <a:off x="6316946" y="5679480"/>
            <a:ext cx="6169025" cy="663285"/>
            <a:chOff x="1296" y="1824"/>
            <a:chExt cx="3886" cy="432"/>
          </a:xfrm>
        </p:grpSpPr>
        <p:sp>
          <p:nvSpPr>
            <p:cNvPr id="14" name="AutoShape 52">
              <a:extLst>
                <a:ext uri="{FF2B5EF4-FFF2-40B4-BE49-F238E27FC236}">
                  <a16:creationId xmlns:a16="http://schemas.microsoft.com/office/drawing/2014/main" id="{03E9FF54-AD50-4A81-A2C7-C40379E05A1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36" y="1899"/>
              <a:ext cx="3402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5" name="AutoShape 53">
              <a:extLst>
                <a:ext uri="{FF2B5EF4-FFF2-40B4-BE49-F238E27FC236}">
                  <a16:creationId xmlns:a16="http://schemas.microsoft.com/office/drawing/2014/main" id="{5A328CE1-B113-46C0-9FD1-859AA5A0D02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latinLnBrk="1" hangingPunct="1"/>
              <a:endParaRPr lang="ko-KR" altLang="en-US"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6" name="Text Box 54">
              <a:extLst>
                <a:ext uri="{FF2B5EF4-FFF2-40B4-BE49-F238E27FC236}">
                  <a16:creationId xmlns:a16="http://schemas.microsoft.com/office/drawing/2014/main" id="{58BE4C1F-4605-4D30-ADF1-F841533880C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80" y="1934"/>
              <a:ext cx="3402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latinLnBrk="1"/>
              <a:r>
                <a:rPr lang="ko-KR" altLang="en-US" b="1" dirty="0" err="1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다점포</a:t>
              </a:r>
              <a:r>
                <a:rPr lang="ko-KR" altLang="en-US" b="1" dirty="0">
                  <a:solidFill>
                    <a:srgbClr val="000000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 외식사업으로의 성장과 과제</a:t>
              </a:r>
              <a:endParaRPr lang="en-US" altLang="ko-KR" b="1" dirty="0">
                <a:solidFill>
                  <a:srgbClr val="000000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endParaRPr>
            </a:p>
          </p:txBody>
        </p:sp>
        <p:sp>
          <p:nvSpPr>
            <p:cNvPr id="17" name="Text Box 55">
              <a:extLst>
                <a:ext uri="{FF2B5EF4-FFF2-40B4-BE49-F238E27FC236}">
                  <a16:creationId xmlns:a16="http://schemas.microsoft.com/office/drawing/2014/main" id="{C65B2437-4BDC-4228-A74E-839C7151C48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398" y="1886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latinLnBrk="1"/>
              <a:r>
                <a:rPr lang="en-US" altLang="ko-KR" sz="2400">
                  <a:solidFill>
                    <a:schemeClr val="bg1"/>
                  </a:solidFill>
                  <a:latin typeface="08서울남산체 B" panose="02020603020101020101" pitchFamily="18" charset="-127"/>
                  <a:ea typeface="08서울남산체 B" panose="02020603020101020101" pitchFamily="18" charset="-127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‘</a:t>
            </a:r>
            <a:r>
              <a:rPr lang="ko-KR" altLang="en-US" dirty="0" err="1"/>
              <a:t>성장’은</a:t>
            </a:r>
            <a:r>
              <a:rPr lang="ko-KR" altLang="en-US" dirty="0"/>
              <a:t> ‘</a:t>
            </a:r>
            <a:r>
              <a:rPr lang="ko-KR" altLang="en-US" dirty="0" err="1"/>
              <a:t>전략’이</a:t>
            </a:r>
            <a:r>
              <a:rPr lang="ko-KR" altLang="en-US" dirty="0"/>
              <a:t> 아니라 ‘결과</a:t>
            </a:r>
            <a:r>
              <a:rPr lang="en-US" altLang="ko-KR" dirty="0"/>
              <a:t>’</a:t>
            </a:r>
            <a:r>
              <a:rPr lang="ko-KR" altLang="en-US" dirty="0"/>
              <a:t>이다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198" y="1218745"/>
            <a:ext cx="11103578" cy="3358674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 err="1">
                <a:solidFill>
                  <a:srgbClr val="003366"/>
                </a:solidFill>
              </a:rPr>
              <a:t>외식사업의</a:t>
            </a:r>
            <a:r>
              <a:rPr lang="ko-KR" altLang="en-US" sz="2000" b="0" dirty="0">
                <a:solidFill>
                  <a:srgbClr val="003366"/>
                </a:solidFill>
              </a:rPr>
              <a:t> 목표</a:t>
            </a:r>
            <a:r>
              <a:rPr lang="en-US" altLang="ko-KR" sz="2000" b="0" dirty="0">
                <a:solidFill>
                  <a:srgbClr val="003366"/>
                </a:solidFill>
              </a:rPr>
              <a:t>: </a:t>
            </a:r>
            <a:r>
              <a:rPr lang="ko-KR" altLang="en-US" sz="2000" b="0" dirty="0">
                <a:solidFill>
                  <a:srgbClr val="003366"/>
                </a:solidFill>
              </a:rPr>
              <a:t>종사원 만족과 고객 만족을 통해 궁극적으로 사업자 이익추구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u="sng" dirty="0">
                <a:solidFill>
                  <a:srgbClr val="003366"/>
                </a:solidFill>
              </a:rPr>
              <a:t>고객 만족도를 높이는 </a:t>
            </a:r>
            <a:r>
              <a:rPr lang="ko-KR" altLang="en-US" sz="2000" b="0" u="sng" dirty="0" err="1">
                <a:solidFill>
                  <a:srgbClr val="003366"/>
                </a:solidFill>
              </a:rPr>
              <a:t>외식서비스</a:t>
            </a:r>
            <a:r>
              <a:rPr lang="ko-KR" altLang="en-US" sz="2000" b="0" u="sng" dirty="0">
                <a:solidFill>
                  <a:srgbClr val="003366"/>
                </a:solidFill>
              </a:rPr>
              <a:t> 품질관리 활동의 결과</a:t>
            </a:r>
          </a:p>
          <a:p>
            <a:pPr marL="790575" lvl="2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err="1">
                <a:solidFill>
                  <a:srgbClr val="003366"/>
                </a:solidFill>
              </a:rPr>
              <a:t>외식사업의</a:t>
            </a:r>
            <a:r>
              <a:rPr lang="ko-KR" altLang="en-US" dirty="0">
                <a:solidFill>
                  <a:srgbClr val="003366"/>
                </a:solidFill>
              </a:rPr>
              <a:t> </a:t>
            </a:r>
            <a:r>
              <a:rPr lang="ko-KR" altLang="en-US" b="1" dirty="0">
                <a:solidFill>
                  <a:srgbClr val="C00000"/>
                </a:solidFill>
              </a:rPr>
              <a:t>매출과 이익 증가</a:t>
            </a:r>
            <a:r>
              <a:rPr lang="en-US" altLang="ko-KR" b="1" dirty="0">
                <a:solidFill>
                  <a:srgbClr val="C00000"/>
                </a:solidFill>
              </a:rPr>
              <a:t>, </a:t>
            </a:r>
            <a:r>
              <a:rPr lang="ko-KR" altLang="en-US" b="1" dirty="0">
                <a:solidFill>
                  <a:srgbClr val="C00000"/>
                </a:solidFill>
              </a:rPr>
              <a:t>점포 수 증가</a:t>
            </a:r>
            <a:endParaRPr lang="en-US" altLang="ko-KR" b="1" dirty="0">
              <a:solidFill>
                <a:srgbClr val="C00000"/>
              </a:solidFill>
            </a:endParaRPr>
          </a:p>
          <a:p>
            <a:pPr marL="790575" lvl="2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>
              <a:solidFill>
                <a:srgbClr val="C00000"/>
              </a:solidFill>
            </a:endParaRPr>
          </a:p>
          <a:p>
            <a:pPr marL="790575" lvl="2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>
              <a:solidFill>
                <a:srgbClr val="C00000"/>
              </a:solidFill>
            </a:endParaRPr>
          </a:p>
          <a:p>
            <a:pPr marL="790575" lvl="2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ko-KR" altLang="en-US" dirty="0">
              <a:solidFill>
                <a:srgbClr val="C00000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점포가 늘어난다는 것 </a:t>
            </a:r>
            <a:r>
              <a:rPr lang="en-US" altLang="ko-KR" sz="2000" b="0" dirty="0">
                <a:solidFill>
                  <a:srgbClr val="003366"/>
                </a:solidFill>
              </a:rPr>
              <a:t>-&gt; </a:t>
            </a:r>
            <a:r>
              <a:rPr lang="ko-KR" altLang="en-US" sz="2000" b="0" dirty="0">
                <a:solidFill>
                  <a:srgbClr val="003366"/>
                </a:solidFill>
              </a:rPr>
              <a:t>사업이 ‘성장’ 하고 있다는 것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외식 마케팅 서비스의 </a:t>
            </a:r>
            <a:r>
              <a:rPr lang="ko-KR" altLang="en-US" sz="2000" dirty="0">
                <a:solidFill>
                  <a:srgbClr val="C00000"/>
                </a:solidFill>
              </a:rPr>
              <a:t>성장</a:t>
            </a:r>
            <a:r>
              <a:rPr lang="en-US" altLang="ko-KR" sz="2000" dirty="0">
                <a:solidFill>
                  <a:srgbClr val="C00000"/>
                </a:solidFill>
              </a:rPr>
              <a:t>(growth) </a:t>
            </a:r>
          </a:p>
          <a:p>
            <a:pPr marL="790575" lvl="2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003366"/>
                </a:solidFill>
              </a:rPr>
              <a:t>‘마케팅 커뮤니케이션</a:t>
            </a:r>
            <a:r>
              <a:rPr lang="en-US" altLang="ko-KR" dirty="0">
                <a:solidFill>
                  <a:srgbClr val="003366"/>
                </a:solidFill>
              </a:rPr>
              <a:t>(</a:t>
            </a:r>
            <a:r>
              <a:rPr lang="ko-KR" altLang="en-US" dirty="0">
                <a:solidFill>
                  <a:srgbClr val="003366"/>
                </a:solidFill>
              </a:rPr>
              <a:t>외부 마케팅</a:t>
            </a:r>
            <a:r>
              <a:rPr lang="en-US" altLang="ko-KR" dirty="0">
                <a:solidFill>
                  <a:srgbClr val="003366"/>
                </a:solidFill>
              </a:rPr>
              <a:t>)’</a:t>
            </a:r>
            <a:r>
              <a:rPr lang="ko-KR" altLang="en-US" dirty="0">
                <a:solidFill>
                  <a:srgbClr val="003366"/>
                </a:solidFill>
              </a:rPr>
              <a:t>을 잘하거나 ‘전략</a:t>
            </a:r>
            <a:r>
              <a:rPr lang="en-US" altLang="ko-KR" dirty="0">
                <a:solidFill>
                  <a:srgbClr val="003366"/>
                </a:solidFill>
              </a:rPr>
              <a:t>(strategy)’</a:t>
            </a:r>
            <a:r>
              <a:rPr lang="ko-KR" altLang="en-US" dirty="0">
                <a:solidFill>
                  <a:srgbClr val="003366"/>
                </a:solidFill>
              </a:rPr>
              <a:t>을 잘 세워서 얻어지는 것이 아니라 </a:t>
            </a:r>
            <a:r>
              <a:rPr lang="ko-KR" altLang="en-US" u="sng" dirty="0">
                <a:solidFill>
                  <a:srgbClr val="003366"/>
                </a:solidFill>
              </a:rPr>
              <a:t>고객의 요구사항을 경쟁사보다 더 잘 </a:t>
            </a:r>
            <a:r>
              <a:rPr lang="ko-KR" altLang="en-US" u="sng" dirty="0" err="1">
                <a:solidFill>
                  <a:srgbClr val="003366"/>
                </a:solidFill>
              </a:rPr>
              <a:t>충족시켜줌으로써</a:t>
            </a:r>
            <a:r>
              <a:rPr lang="ko-KR" altLang="en-US" u="sng" dirty="0">
                <a:solidFill>
                  <a:srgbClr val="003366"/>
                </a:solidFill>
              </a:rPr>
              <a:t> 달성되는</a:t>
            </a:r>
            <a:r>
              <a:rPr lang="ko-KR" altLang="en-US" dirty="0">
                <a:solidFill>
                  <a:srgbClr val="003366"/>
                </a:solidFill>
              </a:rPr>
              <a:t> </a:t>
            </a:r>
            <a:r>
              <a:rPr lang="ko-KR" altLang="en-US" b="1" dirty="0">
                <a:solidFill>
                  <a:srgbClr val="C00000"/>
                </a:solidFill>
              </a:rPr>
              <a:t>고객 만족의 ‘결과물</a:t>
            </a:r>
            <a:r>
              <a:rPr lang="en-US" altLang="ko-KR" b="1" dirty="0">
                <a:solidFill>
                  <a:srgbClr val="C00000"/>
                </a:solidFill>
              </a:rPr>
              <a:t>(outcome)’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929" y="2768835"/>
            <a:ext cx="5327621" cy="153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372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‘</a:t>
            </a:r>
            <a:r>
              <a:rPr lang="ko-KR" altLang="en-US" dirty="0" err="1"/>
              <a:t>성장’은</a:t>
            </a:r>
            <a:r>
              <a:rPr lang="ko-KR" altLang="en-US" dirty="0"/>
              <a:t> ‘</a:t>
            </a:r>
            <a:r>
              <a:rPr lang="ko-KR" altLang="en-US" dirty="0" err="1"/>
              <a:t>전략’이</a:t>
            </a:r>
            <a:r>
              <a:rPr lang="ko-KR" altLang="en-US" dirty="0"/>
              <a:t> 아니라 ‘결과</a:t>
            </a:r>
            <a:r>
              <a:rPr lang="en-US" altLang="ko-KR" dirty="0"/>
              <a:t>’</a:t>
            </a:r>
            <a:r>
              <a:rPr lang="ko-KR" altLang="en-US" dirty="0"/>
              <a:t>이다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198" y="1218745"/>
            <a:ext cx="11103578" cy="3358674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선택할 상품이나 서비스 대안이 너무 많은 요즘은 </a:t>
            </a:r>
            <a:r>
              <a:rPr lang="en-US" altLang="ko-KR" sz="2000" b="0" dirty="0">
                <a:solidFill>
                  <a:srgbClr val="003366"/>
                </a:solidFill>
              </a:rPr>
              <a:t>‘</a:t>
            </a:r>
            <a:r>
              <a:rPr lang="ko-KR" altLang="en-US" sz="2000" b="0" dirty="0">
                <a:solidFill>
                  <a:srgbClr val="003366"/>
                </a:solidFill>
              </a:rPr>
              <a:t>불만족</a:t>
            </a:r>
            <a:r>
              <a:rPr lang="en-US" altLang="ko-KR" sz="2000" b="0" dirty="0">
                <a:solidFill>
                  <a:srgbClr val="003366"/>
                </a:solidFill>
              </a:rPr>
              <a:t>’</a:t>
            </a:r>
            <a:r>
              <a:rPr lang="ko-KR" altLang="en-US" sz="2000" b="0" dirty="0">
                <a:solidFill>
                  <a:srgbClr val="003366"/>
                </a:solidFill>
              </a:rPr>
              <a:t>해서가 아니라 다양한 서비스를 경험하고자 브랜드를 전환하는 고객들 증가 추세 </a:t>
            </a:r>
            <a:r>
              <a:rPr lang="en-US" altLang="ko-KR" sz="2000" b="0" dirty="0">
                <a:solidFill>
                  <a:srgbClr val="003366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2000" b="0" u="sng" dirty="0">
                <a:sym typeface="Wingdings" panose="05000000000000000000" pitchFamily="2" charset="2"/>
              </a:rPr>
              <a:t>충성고객 확보가 더욱 어려워지고 있음</a:t>
            </a:r>
            <a:endParaRPr lang="en-US" altLang="ko-KR" sz="2000" b="0" u="sng" dirty="0">
              <a:sym typeface="Wingdings" panose="05000000000000000000" pitchFamily="2" charset="2"/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  <a:sym typeface="Wingdings" panose="05000000000000000000" pitchFamily="2" charset="2"/>
              </a:rPr>
              <a:t>제공한 서비스에 대해 고객이 만족했다 할지라도 이들이 모두 단골고객</a:t>
            </a:r>
            <a:r>
              <a:rPr lang="en-US" altLang="ko-KR" sz="2000" b="0" dirty="0">
                <a:solidFill>
                  <a:srgbClr val="003366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2000" b="0" dirty="0" err="1">
                <a:solidFill>
                  <a:srgbClr val="003366"/>
                </a:solidFill>
                <a:sym typeface="Wingdings" panose="05000000000000000000" pitchFamily="2" charset="2"/>
              </a:rPr>
              <a:t>충성고객이</a:t>
            </a:r>
            <a:r>
              <a:rPr lang="ko-KR" altLang="en-US" sz="2000" b="0" dirty="0">
                <a:solidFill>
                  <a:srgbClr val="003366"/>
                </a:solidFill>
                <a:sym typeface="Wingdings" panose="05000000000000000000" pitchFamily="2" charset="2"/>
              </a:rPr>
              <a:t> 되는 것은 아님을 기억해야 함</a:t>
            </a:r>
            <a:endParaRPr lang="en-US" altLang="ko-KR" sz="2000" b="0" dirty="0">
              <a:solidFill>
                <a:srgbClr val="003366"/>
              </a:solidFill>
              <a:sym typeface="Wingdings" panose="05000000000000000000" pitchFamily="2" charset="2"/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  <a:sym typeface="Wingdings" panose="05000000000000000000" pitchFamily="2" charset="2"/>
              </a:rPr>
              <a:t>진정성을 가지고 기본에 충실해야 하고</a:t>
            </a:r>
            <a:r>
              <a:rPr lang="en-US" altLang="ko-KR" sz="2000" b="0" dirty="0">
                <a:solidFill>
                  <a:srgbClr val="003366"/>
                </a:solidFill>
                <a:sym typeface="Wingdings" panose="05000000000000000000" pitchFamily="2" charset="2"/>
              </a:rPr>
              <a:t>,</a:t>
            </a:r>
            <a:r>
              <a:rPr lang="ko-KR" altLang="en-US" sz="2000" b="0" dirty="0">
                <a:solidFill>
                  <a:srgbClr val="003366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solidFill>
                  <a:srgbClr val="C00000"/>
                </a:solidFill>
                <a:sym typeface="Wingdings" panose="05000000000000000000" pitchFamily="2" charset="2"/>
              </a:rPr>
              <a:t>‘</a:t>
            </a:r>
            <a:r>
              <a:rPr lang="ko-KR" altLang="en-US" sz="2000" dirty="0" err="1">
                <a:solidFill>
                  <a:srgbClr val="C00000"/>
                </a:solidFill>
                <a:sym typeface="Wingdings" panose="05000000000000000000" pitchFamily="2" charset="2"/>
              </a:rPr>
              <a:t>브랜딩</a:t>
            </a:r>
            <a:r>
              <a:rPr lang="en-US" altLang="ko-KR" sz="2000" dirty="0">
                <a:solidFill>
                  <a:srgbClr val="C00000"/>
                </a:solidFill>
                <a:sym typeface="Wingdings" panose="05000000000000000000" pitchFamily="2" charset="2"/>
              </a:rPr>
              <a:t>’</a:t>
            </a:r>
            <a:r>
              <a:rPr lang="ko-KR" altLang="en-US" sz="2000" dirty="0">
                <a:solidFill>
                  <a:srgbClr val="C00000"/>
                </a:solidFill>
                <a:sym typeface="Wingdings" panose="05000000000000000000" pitchFamily="2" charset="2"/>
              </a:rPr>
              <a:t>을 통해 고객의 마음을 얻는 것이  매우 중요</a:t>
            </a:r>
            <a:endParaRPr lang="en-US" altLang="ko-KR" sz="2000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522288" lvl="1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0" dirty="0">
                <a:solidFill>
                  <a:srgbClr val="003366"/>
                </a:solidFill>
                <a:sym typeface="Wingdings" panose="05000000000000000000" pitchFamily="2" charset="2"/>
              </a:rPr>
              <a:t>평범한 외식서비스가 특별하게 느껴지도록 작고 사소한 것에 창의적인 아이디어를 더해 매일 만나는 고객들이 늘 감동하는 외식서비스를 제공할 수 있어야 </a:t>
            </a:r>
            <a:r>
              <a:rPr lang="ko-KR" altLang="en-US" sz="2000" dirty="0">
                <a:solidFill>
                  <a:srgbClr val="003366"/>
                </a:solidFill>
                <a:sym typeface="Wingdings" panose="05000000000000000000" pitchFamily="2" charset="2"/>
              </a:rPr>
              <a:t>함</a:t>
            </a:r>
            <a:endParaRPr lang="en-US" altLang="ko-KR" sz="2000" b="0" dirty="0">
              <a:solidFill>
                <a:srgbClr val="003366"/>
              </a:solidFill>
              <a:sym typeface="Wingdings" panose="05000000000000000000" pitchFamily="2" charset="2"/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u="sng" dirty="0">
                <a:sym typeface="Wingdings" panose="05000000000000000000" pitchFamily="2" charset="2"/>
              </a:rPr>
              <a:t>창의적이고 독특한 서비스 상품은 개방된 조직문화에서 비롯</a:t>
            </a:r>
            <a:r>
              <a:rPr lang="ko-KR" altLang="en-US" sz="2000" b="0" dirty="0">
                <a:solidFill>
                  <a:srgbClr val="003366"/>
                </a:solidFill>
                <a:sym typeface="Wingdings" panose="05000000000000000000" pitchFamily="2" charset="2"/>
              </a:rPr>
              <a:t>되므로 외식업 경영주들은 자신이 외식업을 해야하는 이유를 명확히 하고 </a:t>
            </a:r>
            <a:r>
              <a:rPr lang="ko-KR" altLang="en-US" sz="2000" dirty="0">
                <a:solidFill>
                  <a:srgbClr val="C00000"/>
                </a:solidFill>
                <a:sym typeface="Wingdings" panose="05000000000000000000" pitchFamily="2" charset="2"/>
              </a:rPr>
              <a:t>고객 지향적인 경영철학을 바탕으로 차별적인 </a:t>
            </a:r>
            <a:r>
              <a:rPr lang="en-US" altLang="ko-KR" sz="2000" dirty="0">
                <a:solidFill>
                  <a:srgbClr val="C00000"/>
                </a:solidFill>
                <a:sym typeface="Wingdings" panose="05000000000000000000" pitchFamily="2" charset="2"/>
              </a:rPr>
              <a:t>‘</a:t>
            </a:r>
            <a:r>
              <a:rPr lang="ko-KR" altLang="en-US" sz="2000" dirty="0">
                <a:solidFill>
                  <a:srgbClr val="C00000"/>
                </a:solidFill>
                <a:sym typeface="Wingdings" panose="05000000000000000000" pitchFamily="2" charset="2"/>
              </a:rPr>
              <a:t>서비스 기업 문화</a:t>
            </a:r>
            <a:r>
              <a:rPr lang="en-US" altLang="ko-KR" sz="2000" dirty="0">
                <a:solidFill>
                  <a:srgbClr val="C00000"/>
                </a:solidFill>
                <a:sym typeface="Wingdings" panose="05000000000000000000" pitchFamily="2" charset="2"/>
              </a:rPr>
              <a:t>’</a:t>
            </a:r>
            <a:r>
              <a:rPr lang="ko-KR" altLang="en-US" sz="2000" dirty="0">
                <a:solidFill>
                  <a:srgbClr val="C00000"/>
                </a:solidFill>
                <a:sym typeface="Wingdings" panose="05000000000000000000" pitchFamily="2" charset="2"/>
              </a:rPr>
              <a:t>를 만들어 가야 함</a:t>
            </a:r>
            <a:endParaRPr lang="en-US" altLang="ko-KR" sz="2000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522288" lvl="1" indent="-342900" eaLnBrk="1" latinLnBrk="0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dirty="0">
                <a:solidFill>
                  <a:srgbClr val="003366"/>
                </a:solidFill>
                <a:sym typeface="Wingdings" panose="05000000000000000000" pitchFamily="2" charset="2"/>
              </a:rPr>
              <a:t>종사원들의 자발적 행동으로 최고의 고객 서비스를 제공하게 만드는 것이 진정한 리더의 역할임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990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 err="1"/>
              <a:t>다점포</a:t>
            </a:r>
            <a:r>
              <a:rPr lang="ko-KR" altLang="en-US" dirty="0"/>
              <a:t> 외식사업으로의 성장과 과제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472" y="1261608"/>
            <a:ext cx="10917840" cy="3358674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>
                <a:solidFill>
                  <a:srgbClr val="003366"/>
                </a:solidFill>
              </a:rPr>
              <a:t>(1) </a:t>
            </a:r>
            <a:r>
              <a:rPr lang="ko-KR" altLang="en-US" sz="2000" dirty="0" err="1">
                <a:solidFill>
                  <a:srgbClr val="003366"/>
                </a:solidFill>
              </a:rPr>
              <a:t>다점포</a:t>
            </a:r>
            <a:r>
              <a:rPr lang="ko-KR" altLang="en-US" sz="2000" dirty="0">
                <a:solidFill>
                  <a:srgbClr val="003366"/>
                </a:solidFill>
              </a:rPr>
              <a:t> 운영을 통한 외식사업 확장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높은 수익이 발생하면서 여러 개 또는 수십 개 점포를 운영하게 된다면 외식업은 더 이상 개인 하는 자영업이 아니라 외식 기업으로서 성장하고 발전할 수 있는 비전을 가질 수 있음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b="0" u="sng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사업 확장 방식</a:t>
            </a:r>
            <a:endParaRPr lang="en-US" altLang="ko-KR" sz="2000" b="0" u="sng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1257300" lvl="2" indent="-342900" latinLnBrk="0">
              <a:buFont typeface="+mj-ea"/>
              <a:buAutoNum type="circleNumDbPlain"/>
            </a:pPr>
            <a:r>
              <a:rPr lang="ko-KR" altLang="en-US" b="1" dirty="0" err="1">
                <a:solidFill>
                  <a:srgbClr val="C00000"/>
                </a:solidFill>
                <a:cs typeface="함초롬돋움" panose="02030504000101010101" pitchFamily="18" charset="-127"/>
              </a:rPr>
              <a:t>다점포</a:t>
            </a:r>
            <a:r>
              <a:rPr lang="ko-KR" altLang="en-US" b="1" dirty="0">
                <a:solidFill>
                  <a:srgbClr val="C00000"/>
                </a:solidFill>
                <a:cs typeface="함초롬돋움" panose="02030504000101010101" pitchFamily="18" charset="-127"/>
              </a:rPr>
              <a:t> 체인 사업</a:t>
            </a:r>
            <a:r>
              <a:rPr lang="en-US" altLang="ko-KR" dirty="0">
                <a:cs typeface="함초롬돋움" panose="02030504000101010101" pitchFamily="18" charset="-127"/>
              </a:rPr>
              <a:t>: </a:t>
            </a:r>
            <a:r>
              <a:rPr lang="ko-KR" altLang="en-US" dirty="0">
                <a:cs typeface="함초롬돋움" panose="02030504000101010101" pitchFamily="18" charset="-127"/>
              </a:rPr>
              <a:t>개인의 자본으로 여러 개 점포를 직접 운영</a:t>
            </a:r>
            <a:endParaRPr lang="en-US" altLang="ko-KR" dirty="0">
              <a:cs typeface="함초롬돋움" panose="02030504000101010101" pitchFamily="18" charset="-127"/>
            </a:endParaRPr>
          </a:p>
          <a:p>
            <a:pPr marL="1257300" lvl="2" indent="-342900" latinLnBrk="0">
              <a:buFont typeface="+mj-ea"/>
              <a:buAutoNum type="circleNumDbPlain"/>
            </a:pPr>
            <a:r>
              <a:rPr lang="ko-KR" altLang="en-US" b="1" dirty="0">
                <a:solidFill>
                  <a:srgbClr val="C00000"/>
                </a:solidFill>
                <a:cs typeface="함초롬돋움" panose="02030504000101010101" pitchFamily="18" charset="-127"/>
              </a:rPr>
              <a:t>가맹사업</a:t>
            </a:r>
            <a:r>
              <a:rPr lang="en-US" altLang="ko-KR" dirty="0">
                <a:cs typeface="함초롬돋움" panose="02030504000101010101" pitchFamily="18" charset="-127"/>
              </a:rPr>
              <a:t>: </a:t>
            </a:r>
            <a:r>
              <a:rPr lang="ko-KR" altLang="en-US" dirty="0">
                <a:cs typeface="함초롬돋움" panose="02030504000101010101" pitchFamily="18" charset="-127"/>
              </a:rPr>
              <a:t>다수의 가맹점주들과 계약을 맺고 일정 기간 동안 본사의 브랜드와 점포 운영 기법을 사용해 영업할 권리를 파는 사업 </a:t>
            </a:r>
            <a:endParaRPr lang="en-US" altLang="ko-KR" dirty="0">
              <a:cs typeface="함초롬돋움" panose="02030504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037" y="4006666"/>
            <a:ext cx="7611927" cy="283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691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 err="1"/>
              <a:t>다점포</a:t>
            </a:r>
            <a:r>
              <a:rPr lang="ko-KR" altLang="en-US" dirty="0"/>
              <a:t> 외식사업으로의 성장과 과제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722" y="1304470"/>
            <a:ext cx="11465528" cy="5182055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>
                <a:solidFill>
                  <a:srgbClr val="003366"/>
                </a:solidFill>
              </a:rPr>
              <a:t>(1) </a:t>
            </a:r>
            <a:r>
              <a:rPr lang="ko-KR" altLang="en-US" sz="2000" dirty="0" err="1">
                <a:solidFill>
                  <a:srgbClr val="003366"/>
                </a:solidFill>
              </a:rPr>
              <a:t>다점포</a:t>
            </a:r>
            <a:r>
              <a:rPr lang="ko-KR" altLang="en-US" sz="2000" dirty="0">
                <a:solidFill>
                  <a:srgbClr val="003366"/>
                </a:solidFill>
              </a:rPr>
              <a:t> 운영을 통한 외식사업 확장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solidFill>
                  <a:srgbClr val="C00000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다점포</a:t>
            </a:r>
            <a:r>
              <a:rPr lang="ko-KR" altLang="en-US" sz="2000" dirty="0">
                <a:solidFill>
                  <a:srgbClr val="C00000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체인의 장</a:t>
            </a:r>
            <a:r>
              <a:rPr lang="en-US" altLang="ko-KR" sz="2000" dirty="0">
                <a:solidFill>
                  <a:srgbClr val="C00000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.</a:t>
            </a:r>
            <a:r>
              <a:rPr lang="ko-KR" altLang="en-US" sz="2000" dirty="0">
                <a:solidFill>
                  <a:srgbClr val="C00000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단점</a:t>
            </a:r>
            <a:endParaRPr lang="en-US" altLang="ko-KR" sz="2000" dirty="0">
              <a:solidFill>
                <a:srgbClr val="C00000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latinLnBrk="0">
              <a:buFont typeface="Wingdings" panose="05000000000000000000" pitchFamily="2" charset="2"/>
              <a:buChar char="§"/>
            </a:pPr>
            <a:r>
              <a:rPr lang="ko-KR" altLang="en-US" sz="1800" dirty="0">
                <a:cs typeface="함초롬돋움" panose="02030504000101010101" pitchFamily="18" charset="-127"/>
              </a:rPr>
              <a:t>장점 </a:t>
            </a:r>
            <a:r>
              <a:rPr lang="en-US" altLang="ko-KR" sz="1800" dirty="0">
                <a:cs typeface="함초롬돋움" panose="02030504000101010101" pitchFamily="18" charset="-127"/>
              </a:rPr>
              <a:t>– </a:t>
            </a:r>
            <a:r>
              <a:rPr lang="ko-KR" altLang="en-US" sz="1800" dirty="0">
                <a:cs typeface="함초롬돋움" panose="02030504000101010101" pitchFamily="18" charset="-127"/>
              </a:rPr>
              <a:t>점포와의 </a:t>
            </a:r>
            <a:r>
              <a:rPr lang="ko-KR" altLang="en-US" sz="1800" u="sng" dirty="0">
                <a:cs typeface="함초롬돋움" panose="02030504000101010101" pitchFamily="18" charset="-127"/>
              </a:rPr>
              <a:t>커뮤니케이션이 원활</a:t>
            </a:r>
            <a:r>
              <a:rPr lang="ko-KR" altLang="en-US" sz="1800" dirty="0">
                <a:cs typeface="함초롬돋움" panose="02030504000101010101" pitchFamily="18" charset="-127"/>
              </a:rPr>
              <a:t>하고</a:t>
            </a:r>
            <a:r>
              <a:rPr lang="en-US" altLang="ko-KR" sz="1800" dirty="0">
                <a:cs typeface="함초롬돋움" panose="02030504000101010101" pitchFamily="18" charset="-127"/>
              </a:rPr>
              <a:t> </a:t>
            </a:r>
            <a:r>
              <a:rPr lang="ko-KR" altLang="en-US" sz="1800" u="sng" dirty="0">
                <a:cs typeface="함초롬돋움" panose="02030504000101010101" pitchFamily="18" charset="-127"/>
              </a:rPr>
              <a:t>품질 유지 및 브랜드 이미지 관리가 용이</a:t>
            </a:r>
            <a:r>
              <a:rPr lang="ko-KR" altLang="en-US" sz="1800" dirty="0">
                <a:cs typeface="함초롬돋움" panose="02030504000101010101" pitchFamily="18" charset="-127"/>
              </a:rPr>
              <a:t>하며 통제하기 쉬움</a:t>
            </a:r>
            <a:endParaRPr lang="en-US" altLang="ko-KR" sz="1800" dirty="0">
              <a:cs typeface="함초롬돋움" panose="02030504000101010101" pitchFamily="18" charset="-127"/>
            </a:endParaRPr>
          </a:p>
          <a:p>
            <a:pPr marL="800100" lvl="1" latinLnBrk="0">
              <a:buFont typeface="Wingdings" panose="05000000000000000000" pitchFamily="2" charset="2"/>
              <a:buChar char="§"/>
            </a:pPr>
            <a:r>
              <a:rPr lang="ko-KR" altLang="en-US" sz="1800" dirty="0">
                <a:cs typeface="함초롬돋움" panose="02030504000101010101" pitchFamily="18" charset="-127"/>
              </a:rPr>
              <a:t>단점 </a:t>
            </a:r>
            <a:r>
              <a:rPr lang="en-US" altLang="ko-KR" sz="1800" dirty="0">
                <a:cs typeface="함초롬돋움" panose="02030504000101010101" pitchFamily="18" charset="-127"/>
              </a:rPr>
              <a:t>– </a:t>
            </a:r>
            <a:r>
              <a:rPr lang="ko-KR" altLang="en-US" sz="1800" u="sng" dirty="0">
                <a:cs typeface="함초롬돋움" panose="02030504000101010101" pitchFamily="18" charset="-127"/>
              </a:rPr>
              <a:t>높은 투자비</a:t>
            </a:r>
            <a:r>
              <a:rPr lang="ko-KR" altLang="en-US" sz="1800" dirty="0">
                <a:cs typeface="함초롬돋움" panose="02030504000101010101" pitchFamily="18" charset="-127"/>
              </a:rPr>
              <a:t>에 따른 손실 위험과 </a:t>
            </a:r>
            <a:r>
              <a:rPr lang="ko-KR" altLang="en-US" sz="1800" u="sng" dirty="0">
                <a:cs typeface="함초롬돋움" panose="02030504000101010101" pitchFamily="18" charset="-127"/>
              </a:rPr>
              <a:t>직원들의 대리인 문제</a:t>
            </a:r>
            <a:r>
              <a:rPr lang="en-US" altLang="ko-KR" sz="1800" u="sng" dirty="0">
                <a:cs typeface="함초롬돋움" panose="02030504000101010101" pitchFamily="18" charset="-127"/>
              </a:rPr>
              <a:t>(agency problem)</a:t>
            </a:r>
            <a:r>
              <a:rPr lang="ko-KR" altLang="en-US" sz="1800" dirty="0">
                <a:cs typeface="함초롬돋움" panose="02030504000101010101" pitchFamily="18" charset="-127"/>
              </a:rPr>
              <a:t>가 발생하기 쉽고</a:t>
            </a:r>
            <a:r>
              <a:rPr lang="en-US" altLang="ko-KR" sz="1800" dirty="0">
                <a:cs typeface="함초롬돋움" panose="02030504000101010101" pitchFamily="18" charset="-127"/>
              </a:rPr>
              <a:t>, </a:t>
            </a:r>
            <a:r>
              <a:rPr lang="ko-KR" altLang="en-US" sz="1800" u="sng" dirty="0" err="1">
                <a:cs typeface="함초롬돋움" panose="02030504000101010101" pitchFamily="18" charset="-127"/>
              </a:rPr>
              <a:t>점포확장</a:t>
            </a:r>
            <a:r>
              <a:rPr lang="ko-KR" altLang="en-US" sz="1800" u="sng" dirty="0">
                <a:cs typeface="함초롬돋움" panose="02030504000101010101" pitchFamily="18" charset="-127"/>
              </a:rPr>
              <a:t> 속도가 느림</a:t>
            </a:r>
            <a:endParaRPr lang="en-US" altLang="ko-KR" sz="1800" u="sng" dirty="0">
              <a:cs typeface="함초롬돋움" panose="02030504000101010101" pitchFamily="18" charset="-127"/>
            </a:endParaRPr>
          </a:p>
          <a:p>
            <a:pPr marL="800100" lvl="1" indent="0" latinLnBrk="0"/>
            <a:endParaRPr lang="en-US" altLang="ko-KR" dirty="0">
              <a:cs typeface="함초롬돋움" panose="02030504000101010101" pitchFamily="18" charset="-127"/>
            </a:endParaRP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C00000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가맹사업의 장</a:t>
            </a:r>
            <a:r>
              <a:rPr lang="en-US" altLang="ko-KR" sz="2000" dirty="0">
                <a:solidFill>
                  <a:srgbClr val="C00000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.</a:t>
            </a:r>
            <a:r>
              <a:rPr lang="ko-KR" altLang="en-US" sz="2000" dirty="0">
                <a:solidFill>
                  <a:srgbClr val="C00000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단점</a:t>
            </a:r>
            <a:endParaRPr lang="en-US" altLang="ko-KR" sz="2000" dirty="0">
              <a:solidFill>
                <a:srgbClr val="C00000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latinLnBrk="0">
              <a:buFont typeface="Wingdings" panose="05000000000000000000" pitchFamily="2" charset="2"/>
              <a:buChar char="§"/>
            </a:pPr>
            <a:r>
              <a:rPr lang="ko-KR" altLang="en-US" sz="1800" dirty="0">
                <a:cs typeface="함초롬돋움" panose="02030504000101010101" pitchFamily="18" charset="-127"/>
              </a:rPr>
              <a:t>장점 </a:t>
            </a:r>
            <a:r>
              <a:rPr lang="en-US" altLang="ko-KR" sz="1800" dirty="0">
                <a:cs typeface="함초롬돋움" panose="02030504000101010101" pitchFamily="18" charset="-127"/>
              </a:rPr>
              <a:t>– </a:t>
            </a:r>
            <a:r>
              <a:rPr lang="ko-KR" altLang="en-US" sz="1800" dirty="0">
                <a:cs typeface="함초롬돋움" panose="02030504000101010101" pitchFamily="18" charset="-127"/>
              </a:rPr>
              <a:t>자본 없이도 </a:t>
            </a:r>
            <a:r>
              <a:rPr lang="ko-KR" altLang="en-US" sz="1800" u="sng" dirty="0">
                <a:cs typeface="함초롬돋움" panose="02030504000101010101" pitchFamily="18" charset="-127"/>
              </a:rPr>
              <a:t>빠른 시간내 사업 확장 가능</a:t>
            </a:r>
            <a:r>
              <a:rPr lang="ko-KR" altLang="en-US" sz="1800" dirty="0">
                <a:cs typeface="함초롬돋움" panose="02030504000101010101" pitchFamily="18" charset="-127"/>
              </a:rPr>
              <a:t>하고</a:t>
            </a:r>
            <a:r>
              <a:rPr lang="en-US" altLang="ko-KR" sz="1800" dirty="0">
                <a:cs typeface="함초롬돋움" panose="02030504000101010101" pitchFamily="18" charset="-127"/>
              </a:rPr>
              <a:t>, </a:t>
            </a:r>
            <a:r>
              <a:rPr lang="ko-KR" altLang="en-US" sz="1800" dirty="0">
                <a:cs typeface="함초롬돋움" panose="02030504000101010101" pitchFamily="18" charset="-127"/>
              </a:rPr>
              <a:t>점포가 늘어나면서 </a:t>
            </a:r>
            <a:r>
              <a:rPr lang="ko-KR" altLang="en-US" sz="1800" u="sng" dirty="0">
                <a:cs typeface="함초롬돋움" panose="02030504000101010101" pitchFamily="18" charset="-127"/>
              </a:rPr>
              <a:t>구매력이 높아져 가격 경쟁력</a:t>
            </a:r>
            <a:r>
              <a:rPr lang="ko-KR" altLang="en-US" sz="1800" dirty="0">
                <a:cs typeface="함초롬돋움" panose="02030504000101010101" pitchFamily="18" charset="-127"/>
              </a:rPr>
              <a:t>이</a:t>
            </a:r>
            <a:endParaRPr lang="en-US" altLang="ko-KR" sz="1800" dirty="0">
              <a:cs typeface="함초롬돋움" panose="02030504000101010101" pitchFamily="18" charset="-127"/>
            </a:endParaRPr>
          </a:p>
          <a:p>
            <a:pPr marL="800100" lvl="1" indent="0" latinLnBrk="0"/>
            <a:r>
              <a:rPr lang="en-US" altLang="ko-KR" sz="1800" dirty="0">
                <a:cs typeface="함초롬돋움" panose="02030504000101010101" pitchFamily="18" charset="-127"/>
              </a:rPr>
              <a:t>             </a:t>
            </a:r>
            <a:r>
              <a:rPr lang="ko-KR" altLang="en-US" sz="1800" dirty="0">
                <a:cs typeface="함초롬돋움" panose="02030504000101010101" pitchFamily="18" charset="-127"/>
              </a:rPr>
              <a:t> 생김</a:t>
            </a:r>
            <a:r>
              <a:rPr lang="en-US" altLang="ko-KR" sz="1800" dirty="0">
                <a:cs typeface="함초롬돋움" panose="02030504000101010101" pitchFamily="18" charset="-127"/>
              </a:rPr>
              <a:t>. </a:t>
            </a:r>
            <a:r>
              <a:rPr lang="ko-KR" altLang="en-US" sz="1800" dirty="0">
                <a:cs typeface="함초롬돋움" panose="02030504000101010101" pitchFamily="18" charset="-127"/>
              </a:rPr>
              <a:t>독립된 경영권을 가진 </a:t>
            </a:r>
            <a:r>
              <a:rPr lang="ko-KR" altLang="en-US" sz="1800" u="sng" dirty="0">
                <a:cs typeface="함초롬돋움" panose="02030504000101010101" pitchFamily="18" charset="-127"/>
              </a:rPr>
              <a:t>가맹점주들의 헌신적인 사업 참여로 높은 성과</a:t>
            </a:r>
            <a:r>
              <a:rPr lang="ko-KR" altLang="en-US" sz="1800" dirty="0">
                <a:cs typeface="함초롬돋움" panose="02030504000101010101" pitchFamily="18" charset="-127"/>
              </a:rPr>
              <a:t>를 얻을 수 있음</a:t>
            </a:r>
            <a:endParaRPr lang="en-US" altLang="ko-KR" sz="1800" dirty="0">
              <a:cs typeface="함초롬돋움" panose="02030504000101010101" pitchFamily="18" charset="-127"/>
            </a:endParaRPr>
          </a:p>
          <a:p>
            <a:pPr marL="800100" lvl="1" latinLnBrk="0">
              <a:buFont typeface="Wingdings" panose="05000000000000000000" pitchFamily="2" charset="2"/>
              <a:buChar char="§"/>
            </a:pPr>
            <a:r>
              <a:rPr lang="ko-KR" altLang="en-US" sz="1800" dirty="0">
                <a:cs typeface="함초롬돋움" panose="02030504000101010101" pitchFamily="18" charset="-127"/>
              </a:rPr>
              <a:t>단점 </a:t>
            </a:r>
            <a:r>
              <a:rPr lang="en-US" altLang="ko-KR" sz="1800" dirty="0">
                <a:cs typeface="함초롬돋움" panose="02030504000101010101" pitchFamily="18" charset="-127"/>
              </a:rPr>
              <a:t>– </a:t>
            </a:r>
            <a:r>
              <a:rPr lang="ko-KR" altLang="en-US" sz="1800" dirty="0">
                <a:cs typeface="함초롬돋움" panose="02030504000101010101" pitchFamily="18" charset="-127"/>
              </a:rPr>
              <a:t>본사의 </a:t>
            </a:r>
            <a:r>
              <a:rPr lang="ko-KR" altLang="en-US" sz="1800" u="sng" dirty="0">
                <a:cs typeface="함초롬돋움" panose="02030504000101010101" pitchFamily="18" charset="-127"/>
              </a:rPr>
              <a:t>가맹점에 대한 직접적인 통제가 어렵고</a:t>
            </a:r>
            <a:r>
              <a:rPr lang="en-US" altLang="ko-KR" sz="1800" dirty="0">
                <a:cs typeface="함초롬돋움" panose="02030504000101010101" pitchFamily="18" charset="-127"/>
              </a:rPr>
              <a:t>, </a:t>
            </a:r>
            <a:r>
              <a:rPr lang="ko-KR" altLang="en-US" sz="1800" dirty="0">
                <a:cs typeface="함초롬돋움" panose="02030504000101010101" pitchFamily="18" charset="-127"/>
              </a:rPr>
              <a:t>양자간 사업 목표나 관심사의 차이에서 오는 </a:t>
            </a:r>
            <a:endParaRPr lang="en-US" altLang="ko-KR" sz="1800" dirty="0">
              <a:cs typeface="함초롬돋움" panose="02030504000101010101" pitchFamily="18" charset="-127"/>
            </a:endParaRPr>
          </a:p>
          <a:p>
            <a:pPr marL="800100" lvl="1" indent="0" latinLnBrk="0"/>
            <a:r>
              <a:rPr lang="en-US" altLang="ko-KR" sz="1800" dirty="0">
                <a:cs typeface="함초롬돋움" panose="02030504000101010101" pitchFamily="18" charset="-127"/>
              </a:rPr>
              <a:t>              </a:t>
            </a:r>
            <a:r>
              <a:rPr lang="ko-KR" altLang="en-US" sz="1800" u="sng" dirty="0">
                <a:cs typeface="함초롬돋움" panose="02030504000101010101" pitchFamily="18" charset="-127"/>
              </a:rPr>
              <a:t>갈등</a:t>
            </a:r>
            <a:r>
              <a:rPr lang="en-US" altLang="ko-KR" sz="1800" u="sng" dirty="0">
                <a:cs typeface="함초롬돋움" panose="02030504000101010101" pitchFamily="18" charset="-127"/>
              </a:rPr>
              <a:t>(</a:t>
            </a:r>
            <a:r>
              <a:rPr lang="ko-KR" altLang="en-US" sz="1800" u="sng" dirty="0">
                <a:cs typeface="함초롬돋움" panose="02030504000101010101" pitchFamily="18" charset="-127"/>
              </a:rPr>
              <a:t>가맹점은 자신 점포의 이익만 추구하는 반면 가맹본부는 프랜차이즈 시스템 전반의 성과 </a:t>
            </a:r>
            <a:endParaRPr lang="en-US" altLang="ko-KR" sz="1800" u="sng" dirty="0">
              <a:cs typeface="함초롬돋움" panose="02030504000101010101" pitchFamily="18" charset="-127"/>
            </a:endParaRPr>
          </a:p>
          <a:p>
            <a:pPr marL="800100" lvl="1" indent="0" latinLnBrk="0"/>
            <a:r>
              <a:rPr lang="en-US" altLang="ko-KR" sz="1800" dirty="0">
                <a:cs typeface="함초롬돋움" panose="02030504000101010101" pitchFamily="18" charset="-127"/>
              </a:rPr>
              <a:t>              </a:t>
            </a:r>
            <a:r>
              <a:rPr lang="ko-KR" altLang="en-US" sz="1800" u="sng" dirty="0">
                <a:cs typeface="함초롬돋움" panose="02030504000101010101" pitchFamily="18" charset="-127"/>
              </a:rPr>
              <a:t>극대화 초점</a:t>
            </a:r>
            <a:r>
              <a:rPr lang="en-US" altLang="ko-KR" sz="1800" u="sng" dirty="0">
                <a:cs typeface="함초롬돋움" panose="02030504000101010101" pitchFamily="18" charset="-127"/>
              </a:rPr>
              <a:t>)</a:t>
            </a:r>
            <a:r>
              <a:rPr lang="ko-KR" altLang="en-US" sz="1800" dirty="0">
                <a:cs typeface="함초롬돋움" panose="02030504000101010101" pitchFamily="18" charset="-127"/>
              </a:rPr>
              <a:t>이 늘 존재하며</a:t>
            </a:r>
            <a:r>
              <a:rPr lang="en-US" altLang="ko-KR" sz="1800" dirty="0">
                <a:cs typeface="함초롬돋움" panose="02030504000101010101" pitchFamily="18" charset="-127"/>
              </a:rPr>
              <a:t>, </a:t>
            </a:r>
            <a:r>
              <a:rPr lang="ko-KR" altLang="en-US" sz="1800" u="sng" dirty="0">
                <a:cs typeface="함초롬돋움" panose="02030504000101010101" pitchFamily="18" charset="-127"/>
              </a:rPr>
              <a:t>가맹점 리스크</a:t>
            </a:r>
            <a:r>
              <a:rPr lang="en-US" altLang="ko-KR" sz="1800" dirty="0">
                <a:cs typeface="함초롬돋움" panose="02030504000101010101" pitchFamily="18" charset="-127"/>
              </a:rPr>
              <a:t>(</a:t>
            </a:r>
            <a:r>
              <a:rPr lang="ko-KR" altLang="en-US" sz="1800" dirty="0">
                <a:cs typeface="함초롬돋움" panose="02030504000101010101" pitchFamily="18" charset="-127"/>
              </a:rPr>
              <a:t>가맹점 하나의 실수가 전 점포 매출에 부정적 영향</a:t>
            </a:r>
            <a:r>
              <a:rPr lang="en-US" altLang="ko-KR" sz="1800" dirty="0">
                <a:cs typeface="함초롬돋움" panose="02030504000101010101" pitchFamily="18" charset="-127"/>
              </a:rPr>
              <a:t>)</a:t>
            </a:r>
            <a:r>
              <a:rPr lang="ko-KR" altLang="en-US" sz="1800" dirty="0">
                <a:cs typeface="함초롬돋움" panose="02030504000101010101" pitchFamily="18" charset="-127"/>
              </a:rPr>
              <a:t> 존재</a:t>
            </a:r>
            <a:endParaRPr lang="en-US" altLang="ko-KR" sz="1800" dirty="0">
              <a:cs typeface="함초롬돋움" panose="02030504000101010101" pitchFamily="18" charset="-127"/>
            </a:endParaRPr>
          </a:p>
          <a:p>
            <a:pPr marL="800100" lvl="1" latinLnBrk="0"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solidFill>
                  <a:srgbClr val="003366"/>
                </a:solidFill>
                <a:cs typeface="함초롬돋움" panose="02030504000101010101" pitchFamily="18" charset="-127"/>
              </a:rPr>
              <a:t>일관된 서비스 품질 제공을 위해서는 점포 운영의 표준화</a:t>
            </a:r>
            <a:r>
              <a:rPr lang="en-US" altLang="ko-KR" sz="1800" dirty="0">
                <a:solidFill>
                  <a:srgbClr val="003366"/>
                </a:solidFill>
                <a:cs typeface="함초롬돋움" panose="02030504000101010101" pitchFamily="18" charset="-127"/>
              </a:rPr>
              <a:t>, </a:t>
            </a:r>
            <a:r>
              <a:rPr lang="ko-KR" altLang="en-US" sz="1800" dirty="0" err="1">
                <a:solidFill>
                  <a:srgbClr val="003366"/>
                </a:solidFill>
                <a:cs typeface="함초롬돋움" panose="02030504000101010101" pitchFamily="18" charset="-127"/>
              </a:rPr>
              <a:t>메뉴얼화</a:t>
            </a:r>
            <a:r>
              <a:rPr lang="en-US" altLang="ko-KR" sz="1800" dirty="0">
                <a:solidFill>
                  <a:srgbClr val="003366"/>
                </a:solidFill>
                <a:cs typeface="함초롬돋움" panose="02030504000101010101" pitchFamily="18" charset="-127"/>
              </a:rPr>
              <a:t>, </a:t>
            </a:r>
            <a:r>
              <a:rPr lang="ko-KR" altLang="en-US" sz="1800" dirty="0" err="1">
                <a:solidFill>
                  <a:srgbClr val="003366"/>
                </a:solidFill>
                <a:cs typeface="함초롬돋움" panose="02030504000101010101" pitchFamily="18" charset="-127"/>
              </a:rPr>
              <a:t>시스템화가</a:t>
            </a:r>
            <a:r>
              <a:rPr lang="ko-KR" altLang="en-US" sz="1800" dirty="0">
                <a:solidFill>
                  <a:srgbClr val="003366"/>
                </a:solidFill>
                <a:cs typeface="함초롬돋움" panose="02030504000101010101" pitchFamily="18" charset="-127"/>
              </a:rPr>
              <a:t> 성공의 필수 요건</a:t>
            </a:r>
            <a:endParaRPr lang="en-US" altLang="ko-KR" sz="1800" dirty="0">
              <a:solidFill>
                <a:srgbClr val="003366"/>
              </a:solidFill>
              <a:cs typeface="함초롬돋움" panose="02030504000101010101" pitchFamily="18" charset="-127"/>
            </a:endParaRPr>
          </a:p>
          <a:p>
            <a:pPr marL="800100" lvl="1" latinLnBrk="0"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2000" dirty="0">
                <a:cs typeface="함초롬돋움" panose="02030504000101010101" pitchFamily="18" charset="-127"/>
              </a:rPr>
              <a:t>가맹본부의 지속적인 신상품개발 및 마케팅 지원이 수반되지 않는다면 성공이 쉽지 않음 </a:t>
            </a:r>
            <a:endParaRPr lang="en-US" altLang="ko-KR" sz="2000" dirty="0">
              <a:cs typeface="함초롬돋움" panose="02030504000101010101" pitchFamily="18" charset="-127"/>
            </a:endParaRPr>
          </a:p>
          <a:p>
            <a:pPr marL="800100" lvl="1" latinLnBrk="0">
              <a:buClr>
                <a:srgbClr val="DE8848"/>
              </a:buClr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cs typeface="함초롬돋움" panose="02030504000101010101" pitchFamily="18" charset="-127"/>
              </a:rPr>
              <a:t>가맹점주도</a:t>
            </a:r>
            <a:r>
              <a:rPr lang="ko-KR" altLang="en-US" sz="2000" dirty="0">
                <a:cs typeface="함초롬돋움" panose="02030504000101010101" pitchFamily="18" charset="-127"/>
              </a:rPr>
              <a:t> 가맹 시스템 구축과 경영에 대한 충분한 학습을 통해 가맹본부와 상생하는 협력적 관계 형성 필요</a:t>
            </a:r>
            <a:endParaRPr lang="en-US" altLang="ko-KR" sz="2000" dirty="0">
              <a:cs typeface="함초롬돋움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5396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 err="1"/>
              <a:t>다점포</a:t>
            </a:r>
            <a:r>
              <a:rPr lang="ko-KR" altLang="en-US" dirty="0"/>
              <a:t> 외식사업으로의 성장과 과제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472" y="1261608"/>
            <a:ext cx="10917840" cy="3358674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>
                <a:solidFill>
                  <a:srgbClr val="003366"/>
                </a:solidFill>
              </a:rPr>
              <a:t>(2) </a:t>
            </a:r>
            <a:r>
              <a:rPr lang="ko-KR" altLang="en-US" sz="2000" dirty="0">
                <a:solidFill>
                  <a:srgbClr val="003366"/>
                </a:solidFill>
              </a:rPr>
              <a:t>다</a:t>
            </a:r>
            <a:r>
              <a:rPr lang="en-US" altLang="ko-KR" sz="2000" dirty="0">
                <a:solidFill>
                  <a:srgbClr val="003366"/>
                </a:solidFill>
              </a:rPr>
              <a:t>(</a:t>
            </a:r>
            <a:r>
              <a:rPr lang="ko-KR" altLang="en-US" sz="2000" dirty="0">
                <a:solidFill>
                  <a:srgbClr val="003366"/>
                </a:solidFill>
              </a:rPr>
              <a:t>多</a:t>
            </a:r>
            <a:r>
              <a:rPr lang="en-US" altLang="ko-KR" sz="2000" dirty="0">
                <a:solidFill>
                  <a:srgbClr val="003366"/>
                </a:solidFill>
              </a:rPr>
              <a:t>)</a:t>
            </a:r>
            <a:r>
              <a:rPr lang="ko-KR" altLang="en-US" sz="2000" dirty="0">
                <a:solidFill>
                  <a:srgbClr val="003366"/>
                </a:solidFill>
              </a:rPr>
              <a:t>브랜드 개발을 통한 사업 확장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모든 상품과 브랜드는 제품 수명 주기를 가지고 있기 때문에 하나의 사업 브랜드로 지속적인 사업 확장을 기대할 수 없음</a:t>
            </a: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b="0" u="sng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다점포</a:t>
            </a:r>
            <a:r>
              <a:rPr lang="ko-KR" altLang="en-US" sz="2000" b="0" u="sng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전개와 함께 다양한 레스토랑 컨셉 브랜드 개발을 통해 사업 확장 도모</a:t>
            </a:r>
          </a:p>
        </p:txBody>
      </p:sp>
      <p:pic>
        <p:nvPicPr>
          <p:cNvPr id="5" name="Picture 2" descr="관련 이미지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575" y="3147750"/>
            <a:ext cx="5006911" cy="3324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564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 err="1"/>
              <a:t>다점포</a:t>
            </a:r>
            <a:r>
              <a:rPr lang="ko-KR" altLang="en-US" dirty="0"/>
              <a:t> 외식사업으로의 성장과 과제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472" y="1261608"/>
            <a:ext cx="10917840" cy="2124530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>
                <a:solidFill>
                  <a:srgbClr val="003366"/>
                </a:solidFill>
              </a:rPr>
              <a:t>(2) </a:t>
            </a:r>
            <a:r>
              <a:rPr lang="ko-KR" altLang="en-US" sz="2000" dirty="0">
                <a:solidFill>
                  <a:srgbClr val="003366"/>
                </a:solidFill>
              </a:rPr>
              <a:t>다</a:t>
            </a:r>
            <a:r>
              <a:rPr lang="en-US" altLang="ko-KR" sz="2000" dirty="0">
                <a:solidFill>
                  <a:srgbClr val="003366"/>
                </a:solidFill>
              </a:rPr>
              <a:t>(</a:t>
            </a:r>
            <a:r>
              <a:rPr lang="ko-KR" altLang="en-US" sz="2000" dirty="0">
                <a:solidFill>
                  <a:srgbClr val="003366"/>
                </a:solidFill>
              </a:rPr>
              <a:t>多</a:t>
            </a:r>
            <a:r>
              <a:rPr lang="en-US" altLang="ko-KR" sz="2000" dirty="0">
                <a:solidFill>
                  <a:srgbClr val="003366"/>
                </a:solidFill>
              </a:rPr>
              <a:t>)</a:t>
            </a:r>
            <a:r>
              <a:rPr lang="ko-KR" altLang="en-US" sz="2000" dirty="0">
                <a:solidFill>
                  <a:srgbClr val="003366"/>
                </a:solidFill>
              </a:rPr>
              <a:t>브랜드 개발을 통한 사업 확장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외식산업이 발전할 수록 다 브랜드를 보유한 기업의 수 늘어남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국내 대형 외식기업들도 </a:t>
            </a:r>
            <a:r>
              <a:rPr lang="ko-KR" altLang="en-US" sz="2000" b="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다브랜드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전략을 통해 사업을 확장하고 있음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모든 신규 브랜드가 성공하는 것이 아니므로 </a:t>
            </a:r>
            <a:r>
              <a:rPr lang="en-US" altLang="ko-KR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‘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혁신적이고 지속 가능한 브랜드 개발</a:t>
            </a:r>
            <a:r>
              <a:rPr lang="en-US" altLang="ko-KR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’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이 필요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latinLnBrk="0">
              <a:buFont typeface="Wingdings" panose="05000000000000000000" pitchFamily="2" charset="2"/>
              <a:buChar char="§"/>
            </a:pP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독특하고 차별화되는 콘셉트의 브랜드 개발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620712" indent="0" latinLnBrk="0"/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950" y="3514725"/>
            <a:ext cx="4436442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8938" y="6386512"/>
            <a:ext cx="25747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[SPC </a:t>
            </a:r>
            <a:r>
              <a:rPr lang="ko-KR" altLang="en-US" sz="1100" dirty="0"/>
              <a:t>그룹이 운영하는 외식브랜드들</a:t>
            </a:r>
            <a:r>
              <a:rPr lang="en-US" altLang="ko-KR" sz="1100" dirty="0"/>
              <a:t>]</a:t>
            </a:r>
            <a:endParaRPr lang="ko-KR" altLang="en-US" sz="1100" dirty="0"/>
          </a:p>
        </p:txBody>
      </p:sp>
      <p:grpSp>
        <p:nvGrpSpPr>
          <p:cNvPr id="9" name="그룹 8"/>
          <p:cNvGrpSpPr/>
          <p:nvPr/>
        </p:nvGrpSpPr>
        <p:grpSpPr>
          <a:xfrm>
            <a:off x="6786564" y="3514725"/>
            <a:ext cx="4572000" cy="2871787"/>
            <a:chOff x="7691822" y="3514725"/>
            <a:chExt cx="3652453" cy="262193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91823" y="5473901"/>
              <a:ext cx="2766627" cy="662758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91822" y="4186238"/>
              <a:ext cx="3652452" cy="1224065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1823" y="3514725"/>
              <a:ext cx="3652452" cy="671513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/>
        </p:nvSpPr>
        <p:spPr>
          <a:xfrm>
            <a:off x="7986713" y="6386512"/>
            <a:ext cx="25619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[</a:t>
            </a:r>
            <a:r>
              <a:rPr lang="en-US" altLang="ko-KR" sz="1100" dirty="0" err="1"/>
              <a:t>Elandeats</a:t>
            </a:r>
            <a:r>
              <a:rPr lang="ko-KR" altLang="en-US" sz="1100" dirty="0"/>
              <a:t> 운영하는 외식 브랜드들</a:t>
            </a:r>
            <a:r>
              <a:rPr lang="en-US" altLang="ko-KR" sz="1100" dirty="0"/>
              <a:t>]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3369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 err="1"/>
              <a:t>다점포</a:t>
            </a:r>
            <a:r>
              <a:rPr lang="ko-KR" altLang="en-US" dirty="0"/>
              <a:t> 외식사업으로의 성장과 과제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472" y="1261608"/>
            <a:ext cx="10917840" cy="2124530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>
                <a:solidFill>
                  <a:srgbClr val="003366"/>
                </a:solidFill>
              </a:rPr>
              <a:t>(2) </a:t>
            </a:r>
            <a:r>
              <a:rPr lang="ko-KR" altLang="en-US" sz="2000" dirty="0">
                <a:solidFill>
                  <a:srgbClr val="003366"/>
                </a:solidFill>
              </a:rPr>
              <a:t>다</a:t>
            </a:r>
            <a:r>
              <a:rPr lang="en-US" altLang="ko-KR" sz="2000" dirty="0">
                <a:solidFill>
                  <a:srgbClr val="003366"/>
                </a:solidFill>
              </a:rPr>
              <a:t>(</a:t>
            </a:r>
            <a:r>
              <a:rPr lang="ko-KR" altLang="en-US" sz="2000" dirty="0">
                <a:solidFill>
                  <a:srgbClr val="003366"/>
                </a:solidFill>
              </a:rPr>
              <a:t>多</a:t>
            </a:r>
            <a:r>
              <a:rPr lang="en-US" altLang="ko-KR" sz="2000" dirty="0">
                <a:solidFill>
                  <a:srgbClr val="003366"/>
                </a:solidFill>
              </a:rPr>
              <a:t>)</a:t>
            </a:r>
            <a:r>
              <a:rPr lang="ko-KR" altLang="en-US" sz="2000" dirty="0">
                <a:solidFill>
                  <a:srgbClr val="003366"/>
                </a:solidFill>
              </a:rPr>
              <a:t>브랜드 개발을 통한 사업 확장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외식업계에서 가장 </a:t>
            </a:r>
            <a:r>
              <a:rPr lang="ko-KR" altLang="en-US" sz="2000" b="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핫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한 식음료 브랜드를 보유한 </a:t>
            </a:r>
            <a:r>
              <a:rPr lang="en-US" altLang="ko-KR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CNP Company</a:t>
            </a:r>
          </a:p>
          <a:p>
            <a:pPr marL="800100" lvl="1" latinLnBrk="0">
              <a:buFont typeface="Wingdings" panose="05000000000000000000" pitchFamily="2" charset="2"/>
              <a:buChar char="§"/>
            </a:pPr>
            <a:r>
              <a:rPr lang="en-US" altLang="ko-KR" sz="2000" dirty="0">
                <a:cs typeface="함초롬돋움" panose="02030504000101010101" pitchFamily="18" charset="-127"/>
              </a:rPr>
              <a:t>Restaurant </a:t>
            </a:r>
            <a:r>
              <a:rPr lang="ko-KR" altLang="en-US" sz="2000" dirty="0">
                <a:cs typeface="함초롬돋움" panose="02030504000101010101" pitchFamily="18" charset="-127"/>
              </a:rPr>
              <a:t>브랜드 </a:t>
            </a:r>
            <a:r>
              <a:rPr lang="en-US" altLang="ko-KR" sz="2000" dirty="0">
                <a:cs typeface="함초롬돋움" panose="02030504000101010101" pitchFamily="18" charset="-127"/>
              </a:rPr>
              <a:t>14</a:t>
            </a:r>
            <a:r>
              <a:rPr lang="ko-KR" altLang="en-US" sz="2000" dirty="0">
                <a:cs typeface="함초롬돋움" panose="02030504000101010101" pitchFamily="18" charset="-127"/>
              </a:rPr>
              <a:t>개 </a:t>
            </a:r>
            <a:r>
              <a:rPr lang="en-US" altLang="ko-KR" sz="2000" dirty="0">
                <a:cs typeface="함초롬돋움" panose="02030504000101010101" pitchFamily="18" charset="-127"/>
              </a:rPr>
              <a:t>(</a:t>
            </a:r>
            <a:r>
              <a:rPr lang="ko-KR" altLang="en-US" sz="2000" dirty="0" err="1">
                <a:cs typeface="함초롬돋움" panose="02030504000101010101" pitchFamily="18" charset="-127"/>
              </a:rPr>
              <a:t>배드파머스</a:t>
            </a:r>
            <a:r>
              <a:rPr lang="en-US" altLang="ko-KR" sz="2000" dirty="0">
                <a:cs typeface="함초롬돋움" panose="02030504000101010101" pitchFamily="18" charset="-127"/>
              </a:rPr>
              <a:t>, Our Bakery, </a:t>
            </a:r>
            <a:r>
              <a:rPr lang="ko-KR" altLang="en-US" sz="2000" dirty="0" err="1">
                <a:cs typeface="함초롬돋움" panose="02030504000101010101" pitchFamily="18" charset="-127"/>
              </a:rPr>
              <a:t>도산분식</a:t>
            </a:r>
            <a:r>
              <a:rPr lang="en-US" altLang="ko-KR" sz="2000" dirty="0">
                <a:cs typeface="함초롬돋움" panose="02030504000101010101" pitchFamily="18" charset="-127"/>
              </a:rPr>
              <a:t>, </a:t>
            </a:r>
            <a:r>
              <a:rPr lang="ko-KR" altLang="en-US" sz="2000" dirty="0" err="1">
                <a:cs typeface="함초롬돋움" panose="02030504000101010101" pitchFamily="18" charset="-127"/>
              </a:rPr>
              <a:t>호랑이식당</a:t>
            </a:r>
            <a:r>
              <a:rPr lang="en-US" altLang="ko-KR" sz="2000" dirty="0">
                <a:cs typeface="함초롬돋움" panose="02030504000101010101" pitchFamily="18" charset="-127"/>
              </a:rPr>
              <a:t>, </a:t>
            </a:r>
            <a:r>
              <a:rPr lang="ko-KR" altLang="en-US" sz="2000" dirty="0" err="1">
                <a:cs typeface="함초롬돋움" panose="02030504000101010101" pitchFamily="18" charset="-127"/>
              </a:rPr>
              <a:t>형훈라멘</a:t>
            </a:r>
            <a:r>
              <a:rPr lang="en-US" altLang="ko-KR" sz="2000" dirty="0">
                <a:cs typeface="함초롬돋움" panose="02030504000101010101" pitchFamily="18" charset="-127"/>
              </a:rPr>
              <a:t>, </a:t>
            </a:r>
            <a:r>
              <a:rPr lang="ko-KR" altLang="en-US" sz="2000" dirty="0" err="1">
                <a:cs typeface="함초롬돋움" panose="02030504000101010101" pitchFamily="18" charset="-127"/>
              </a:rPr>
              <a:t>무차초</a:t>
            </a:r>
            <a:r>
              <a:rPr lang="ko-KR" altLang="en-US" sz="2000" dirty="0">
                <a:cs typeface="함초롬돋움" panose="02030504000101010101" pitchFamily="18" charset="-127"/>
              </a:rPr>
              <a:t> 등</a:t>
            </a:r>
            <a:r>
              <a:rPr lang="en-US" altLang="ko-KR" sz="2000" dirty="0">
                <a:cs typeface="함초롬돋움" panose="02030504000101010101" pitchFamily="18" charset="-127"/>
              </a:rPr>
              <a:t>)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800100" lvl="1" latinLnBrk="0">
              <a:buFont typeface="Wingdings" panose="05000000000000000000" pitchFamily="2" charset="2"/>
              <a:buChar char="§"/>
            </a:pPr>
            <a:r>
              <a:rPr lang="ko-KR" altLang="en-US" sz="2000" dirty="0">
                <a:cs typeface="함초롬돋움" panose="02030504000101010101" pitchFamily="18" charset="-127"/>
              </a:rPr>
              <a:t>배달 브랜드 </a:t>
            </a:r>
            <a:r>
              <a:rPr lang="en-US" altLang="ko-KR" sz="2000" dirty="0">
                <a:cs typeface="함초롬돋움" panose="02030504000101010101" pitchFamily="18" charset="-127"/>
              </a:rPr>
              <a:t>3</a:t>
            </a:r>
            <a:r>
              <a:rPr lang="ko-KR" altLang="en-US" sz="2000" dirty="0">
                <a:cs typeface="함초롬돋움" panose="02030504000101010101" pitchFamily="18" charset="-127"/>
              </a:rPr>
              <a:t>개 </a:t>
            </a:r>
            <a:r>
              <a:rPr lang="en-US" altLang="ko-KR" sz="2000" dirty="0">
                <a:cs typeface="함초롬돋움" panose="02030504000101010101" pitchFamily="18" charset="-127"/>
              </a:rPr>
              <a:t>(Thanks Pizza, </a:t>
            </a:r>
            <a:r>
              <a:rPr lang="ko-KR" altLang="en-US" sz="2000" dirty="0">
                <a:cs typeface="함초롬돋움" panose="02030504000101010101" pitchFamily="18" charset="-127"/>
              </a:rPr>
              <a:t>무궁화 덮밥 등</a:t>
            </a:r>
            <a:r>
              <a:rPr lang="en-US" altLang="ko-KR" sz="2000" dirty="0">
                <a:cs typeface="함초롬돋움" panose="02030504000101010101" pitchFamily="18" charset="-127"/>
              </a:rPr>
              <a:t>)</a:t>
            </a:r>
            <a:endParaRPr lang="ko-KR" altLang="en-US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3386138"/>
            <a:ext cx="7530841" cy="225470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026" y="3249733"/>
            <a:ext cx="1771897" cy="239110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9079" y="3314701"/>
            <a:ext cx="1829055" cy="28674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91019" y="5920516"/>
            <a:ext cx="23022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[CNP</a:t>
            </a:r>
            <a:r>
              <a:rPr lang="ko-KR" altLang="en-US" sz="1100" dirty="0"/>
              <a:t>가 운영하는 브랜드들 예시</a:t>
            </a:r>
            <a:r>
              <a:rPr lang="en-US" altLang="ko-KR" sz="1100" dirty="0"/>
              <a:t>]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099128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 err="1"/>
              <a:t>다점포</a:t>
            </a:r>
            <a:r>
              <a:rPr lang="ko-KR" altLang="en-US" dirty="0"/>
              <a:t> 외식사업으로의 성장과 과제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471" y="1261607"/>
            <a:ext cx="11303603" cy="5010605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ko-KR" sz="2000" dirty="0">
                <a:solidFill>
                  <a:srgbClr val="003366"/>
                </a:solidFill>
              </a:rPr>
              <a:t>(3) </a:t>
            </a:r>
            <a:r>
              <a:rPr lang="ko-KR" altLang="en-US" sz="2000" dirty="0" err="1">
                <a:solidFill>
                  <a:srgbClr val="003366"/>
                </a:solidFill>
              </a:rPr>
              <a:t>다점포</a:t>
            </a:r>
            <a:r>
              <a:rPr lang="ko-KR" altLang="en-US" sz="2000" dirty="0">
                <a:solidFill>
                  <a:srgbClr val="003366"/>
                </a:solidFill>
              </a:rPr>
              <a:t> 운영의 도전 과제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점포 하나를 운영할 때와 여러 개의 점포를 동시에 운영할 때 경영주에게 요구되는 역할이나 핵심역량과 당면하는 경영 이슈들은 매우 다름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동일 브랜드의 여러 점포를 이용할 때 가장 중요한 것은 일관된 서비스 품질로서 </a:t>
            </a:r>
            <a:r>
              <a:rPr lang="ko-KR" altLang="en-US" sz="2000" b="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점포간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품질 관리가 매우 중요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하지만 점포가 물리적으로 넓게 퍼져 위치할 경우 지역적으로 구분하여 관리하게 되는데 이때는 조직의 형태가 복잡해지고 지역 특성에 따라 전략적 의사 결정이 필요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무엇보다도 지역단위 </a:t>
            </a:r>
            <a:r>
              <a:rPr lang="ko-KR" altLang="en-US" sz="2000" b="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다점포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성과의 합이 개별 점포의 성과보다 더 중요할 수 있음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b="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다점포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sz="2000" b="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운영시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조직의 형태는 복잡해지므로 </a:t>
            </a:r>
            <a:r>
              <a:rPr lang="ko-KR" altLang="en-US" sz="2000" b="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다점포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운영 성과를 극대화하기 위해서는 </a:t>
            </a:r>
            <a:r>
              <a:rPr lang="ko-KR" altLang="en-US" sz="2000" b="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다점포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전개 속도 및 </a:t>
            </a:r>
            <a:r>
              <a:rPr lang="ko-KR" altLang="en-US" sz="2000" b="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점포수에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따라 전략적인 조직 구조 결정이 필요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b="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다점포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 운영 시스템과 관리 역량 구축하는 것이 </a:t>
            </a:r>
            <a:r>
              <a:rPr lang="ko-KR" altLang="en-US" sz="2000" b="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바람직</a:t>
            </a: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30504000101010101" pitchFamily="18" charset="-127"/>
            </a:endParaRPr>
          </a:p>
          <a:p>
            <a:pPr marL="963612" latinLnBrk="0">
              <a:buFont typeface="Wingdings" panose="05000000000000000000" pitchFamily="2" charset="2"/>
              <a:buChar char="§"/>
            </a:pP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최고 경영자의 탁월한 리더십과 자원의 효율적 배분</a:t>
            </a:r>
            <a:r>
              <a:rPr lang="en-US" altLang="ko-KR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, </a:t>
            </a:r>
            <a:r>
              <a:rPr lang="ko-KR" altLang="en-US" sz="2000" b="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30504000101010101" pitchFamily="18" charset="-127"/>
              </a:rPr>
              <a:t>인적 자원 및 조직 관리 능력이 점포 운영 능력보다 더 중요</a:t>
            </a:r>
          </a:p>
        </p:txBody>
      </p:sp>
    </p:spTree>
    <p:extLst>
      <p:ext uri="{BB962C8B-B14F-4D97-AF65-F5344CB8AC3E}">
        <p14:creationId xmlns:p14="http://schemas.microsoft.com/office/powerpoint/2010/main" val="186594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텍스트 개체 틀 3">
            <a:extLst>
              <a:ext uri="{FF2B5EF4-FFF2-40B4-BE49-F238E27FC236}">
                <a16:creationId xmlns:a16="http://schemas.microsoft.com/office/drawing/2014/main" id="{55E0D41E-B433-48C0-8EF4-B71E6063E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</a:t>
            </a:r>
            <a:r>
              <a:rPr lang="ko-KR" altLang="en-US" dirty="0"/>
              <a:t>외식서비스의 디지털화와 고객 경험 관리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183A278-AE7F-4EE7-A955-038237BDDAEF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1. </a:t>
            </a:r>
            <a:r>
              <a:rPr lang="ko-KR" altLang="en-US" dirty="0"/>
              <a:t>마켓 </a:t>
            </a:r>
            <a:r>
              <a:rPr lang="en-US" altLang="ko-KR" dirty="0"/>
              <a:t>5.0 </a:t>
            </a:r>
            <a:r>
              <a:rPr lang="ko-KR" altLang="en-US" dirty="0"/>
              <a:t>시대에 최우선 과제는 철저한 디지털화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076" y="1728168"/>
            <a:ext cx="8630964" cy="3358674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코로나 </a:t>
            </a:r>
            <a:r>
              <a:rPr lang="en-US" altLang="ko-KR" sz="2000" b="0" dirty="0">
                <a:solidFill>
                  <a:srgbClr val="003366"/>
                </a:solidFill>
              </a:rPr>
              <a:t>19</a:t>
            </a:r>
            <a:r>
              <a:rPr lang="ko-KR" altLang="en-US" sz="2000" b="0" dirty="0">
                <a:solidFill>
                  <a:srgbClr val="003366"/>
                </a:solidFill>
              </a:rPr>
              <a:t>로 인해 서비스 산업의 디지털화 필요성이 높아지고 있음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디지털 기술의 가속화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 err="1">
                <a:solidFill>
                  <a:srgbClr val="003366"/>
                </a:solidFill>
              </a:rPr>
              <a:t>언택트의</a:t>
            </a:r>
            <a:r>
              <a:rPr lang="ko-KR" altLang="en-US" sz="2000" b="0" dirty="0">
                <a:solidFill>
                  <a:srgbClr val="003366"/>
                </a:solidFill>
              </a:rPr>
              <a:t> 일상화로 </a:t>
            </a:r>
            <a:r>
              <a:rPr lang="ko-KR" altLang="en-US" sz="2000" dirty="0">
                <a:solidFill>
                  <a:srgbClr val="C00000"/>
                </a:solidFill>
              </a:rPr>
              <a:t>마켓 </a:t>
            </a:r>
            <a:r>
              <a:rPr lang="en-US" altLang="ko-KR" sz="2000" dirty="0">
                <a:solidFill>
                  <a:srgbClr val="C00000"/>
                </a:solidFill>
              </a:rPr>
              <a:t>5.0 </a:t>
            </a:r>
            <a:r>
              <a:rPr lang="ko-KR" altLang="en-US" sz="2000" dirty="0">
                <a:solidFill>
                  <a:srgbClr val="C00000"/>
                </a:solidFill>
              </a:rPr>
              <a:t>시대가 도래</a:t>
            </a:r>
            <a:endParaRPr lang="en-US" altLang="ko-KR" sz="2000" dirty="0">
              <a:solidFill>
                <a:srgbClr val="C00000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마켓 </a:t>
            </a:r>
            <a:r>
              <a:rPr lang="en-US" altLang="ko-KR" sz="2000" b="0" dirty="0">
                <a:solidFill>
                  <a:srgbClr val="003366"/>
                </a:solidFill>
              </a:rPr>
              <a:t>5.0</a:t>
            </a:r>
            <a:r>
              <a:rPr lang="ko-KR" altLang="en-US" sz="2000" b="0" dirty="0">
                <a:solidFill>
                  <a:srgbClr val="003366"/>
                </a:solidFill>
              </a:rPr>
              <a:t>의 저자 필립 </a:t>
            </a:r>
            <a:r>
              <a:rPr lang="ko-KR" altLang="en-US" sz="2000" b="0" dirty="0" err="1">
                <a:solidFill>
                  <a:srgbClr val="003366"/>
                </a:solidFill>
              </a:rPr>
              <a:t>코틀러의</a:t>
            </a:r>
            <a:r>
              <a:rPr lang="ko-KR" altLang="en-US" sz="2000" b="0" dirty="0">
                <a:solidFill>
                  <a:srgbClr val="003366"/>
                </a:solidFill>
              </a:rPr>
              <a:t> </a:t>
            </a:r>
            <a:r>
              <a:rPr lang="en-US" altLang="ko-KR" sz="2000" b="0" u="sng" dirty="0">
                <a:solidFill>
                  <a:srgbClr val="003366"/>
                </a:solidFill>
              </a:rPr>
              <a:t>‘</a:t>
            </a:r>
            <a:r>
              <a:rPr lang="ko-KR" altLang="en-US" sz="2000" b="0" u="sng" dirty="0">
                <a:solidFill>
                  <a:srgbClr val="003366"/>
                </a:solidFill>
              </a:rPr>
              <a:t>마켓 </a:t>
            </a:r>
            <a:r>
              <a:rPr lang="en-US" altLang="ko-KR" sz="2000" b="0" u="sng" dirty="0">
                <a:solidFill>
                  <a:srgbClr val="003366"/>
                </a:solidFill>
              </a:rPr>
              <a:t>5.0’ </a:t>
            </a:r>
            <a:r>
              <a:rPr lang="ko-KR" altLang="en-US" sz="2000" b="0" u="sng" dirty="0">
                <a:solidFill>
                  <a:srgbClr val="003366"/>
                </a:solidFill>
              </a:rPr>
              <a:t>정의 </a:t>
            </a:r>
            <a:r>
              <a:rPr lang="en-US" altLang="ko-KR" sz="2000" b="0" dirty="0">
                <a:solidFill>
                  <a:srgbClr val="003366"/>
                </a:solidFill>
              </a:rPr>
              <a:t>= </a:t>
            </a:r>
            <a:r>
              <a:rPr lang="en-US" altLang="ko-KR" sz="2000" b="0" u="sng" dirty="0">
                <a:solidFill>
                  <a:srgbClr val="003366"/>
                </a:solidFill>
              </a:rPr>
              <a:t>‘AI, </a:t>
            </a:r>
            <a:r>
              <a:rPr lang="ko-KR" altLang="en-US" sz="2000" b="0" u="sng" dirty="0">
                <a:solidFill>
                  <a:srgbClr val="003366"/>
                </a:solidFill>
              </a:rPr>
              <a:t>로봇 공학</a:t>
            </a:r>
            <a:r>
              <a:rPr lang="en-US" altLang="ko-KR" sz="2000" b="0" u="sng" dirty="0">
                <a:solidFill>
                  <a:srgbClr val="003366"/>
                </a:solidFill>
              </a:rPr>
              <a:t>, </a:t>
            </a:r>
            <a:r>
              <a:rPr lang="ko-KR" altLang="en-US" sz="2000" b="0" u="sng" dirty="0">
                <a:solidFill>
                  <a:srgbClr val="003366"/>
                </a:solidFill>
              </a:rPr>
              <a:t>메타버스 등 차세대 기술을 더 인간답게</a:t>
            </a:r>
            <a:r>
              <a:rPr lang="en-US" altLang="ko-KR" sz="2000" b="0" u="sng" dirty="0">
                <a:solidFill>
                  <a:srgbClr val="003366"/>
                </a:solidFill>
              </a:rPr>
              <a:t>, </a:t>
            </a:r>
            <a:r>
              <a:rPr lang="ko-KR" altLang="en-US" sz="2000" b="0" u="sng" dirty="0">
                <a:solidFill>
                  <a:srgbClr val="003366"/>
                </a:solidFill>
              </a:rPr>
              <a:t>인간을 위한 방식으로 활용해 고객 경험의 가치를 높이는 것</a:t>
            </a:r>
            <a:r>
              <a:rPr lang="en-US" altLang="ko-KR" sz="2000" b="0" u="sng" dirty="0">
                <a:solidFill>
                  <a:srgbClr val="003366"/>
                </a:solidFill>
              </a:rPr>
              <a:t>’</a:t>
            </a:r>
            <a:r>
              <a:rPr lang="ko-KR" altLang="en-US" sz="2000" b="0" u="sng" dirty="0">
                <a:solidFill>
                  <a:srgbClr val="003366"/>
                </a:solidFill>
              </a:rPr>
              <a:t> </a:t>
            </a:r>
            <a:endParaRPr lang="en-US" altLang="ko-KR" sz="2000" b="0" u="sng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예전에는 기술적 한계로 인해 불가능 했던 </a:t>
            </a:r>
            <a:r>
              <a:rPr lang="ko-KR" altLang="en-US" sz="2000" dirty="0">
                <a:solidFill>
                  <a:srgbClr val="003366"/>
                </a:solidFill>
              </a:rPr>
              <a:t>서비스가 이제는 모두 가능해졌기때문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따라서 </a:t>
            </a:r>
            <a:r>
              <a:rPr lang="ko-KR" altLang="en-US" sz="2000" dirty="0">
                <a:solidFill>
                  <a:srgbClr val="C00000"/>
                </a:solidFill>
              </a:rPr>
              <a:t>미래 기업의 최우선 과제는 철저한 </a:t>
            </a:r>
            <a:r>
              <a:rPr lang="ko-KR" altLang="en-US" sz="2000" dirty="0" err="1">
                <a:solidFill>
                  <a:srgbClr val="C00000"/>
                </a:solidFill>
              </a:rPr>
              <a:t>디지털화이며</a:t>
            </a:r>
            <a:r>
              <a:rPr lang="ko-KR" altLang="en-US" sz="2000" dirty="0">
                <a:solidFill>
                  <a:srgbClr val="C00000"/>
                </a:solidFill>
              </a:rPr>
              <a:t> 선택이 아닌 필수</a:t>
            </a:r>
            <a:r>
              <a:rPr lang="en-US" altLang="ko-KR" sz="2000" b="0" dirty="0">
                <a:solidFill>
                  <a:srgbClr val="003366"/>
                </a:solidFill>
              </a:rPr>
              <a:t>!!</a:t>
            </a: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새로운 </a:t>
            </a:r>
            <a:r>
              <a:rPr lang="ko-KR" altLang="en-US" sz="2000" dirty="0">
                <a:solidFill>
                  <a:srgbClr val="C00000"/>
                </a:solidFill>
              </a:rPr>
              <a:t>기술을 활용하는 목적은 철저하게 매력적인 고객 경험을 만들기 </a:t>
            </a:r>
            <a:r>
              <a:rPr lang="ko-KR" altLang="en-US" sz="2000" dirty="0" err="1">
                <a:solidFill>
                  <a:srgbClr val="C00000"/>
                </a:solidFill>
              </a:rPr>
              <a:t>위함이어야</a:t>
            </a:r>
            <a:r>
              <a:rPr lang="ko-KR" altLang="en-US" sz="2000" dirty="0">
                <a:solidFill>
                  <a:srgbClr val="C00000"/>
                </a:solidFill>
              </a:rPr>
              <a:t> </a:t>
            </a:r>
            <a:r>
              <a:rPr lang="ko-KR" altLang="en-US" sz="2000" b="0" dirty="0">
                <a:solidFill>
                  <a:srgbClr val="003366"/>
                </a:solidFill>
              </a:rPr>
              <a:t>함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363" y="1919466"/>
            <a:ext cx="2198687" cy="316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03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2. DX</a:t>
            </a:r>
            <a:r>
              <a:rPr lang="ko-KR" altLang="en-US" dirty="0"/>
              <a:t>의 핵심은 디지털화를 통한 고객관리와 고객 경험 강화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87" y="1370980"/>
            <a:ext cx="11246945" cy="4301157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C00000"/>
                </a:solidFill>
              </a:rPr>
              <a:t>디지털 </a:t>
            </a:r>
            <a:r>
              <a:rPr lang="ko-KR" altLang="en-US" sz="2000" dirty="0" err="1">
                <a:solidFill>
                  <a:srgbClr val="C00000"/>
                </a:solidFill>
              </a:rPr>
              <a:t>트랜스포메이션</a:t>
            </a:r>
            <a:r>
              <a:rPr lang="en-US" altLang="ko-KR" sz="2000" dirty="0">
                <a:solidFill>
                  <a:srgbClr val="C00000"/>
                </a:solidFill>
              </a:rPr>
              <a:t>(DX, Digital Transformation)</a:t>
            </a:r>
            <a:r>
              <a:rPr lang="ko-KR" altLang="en-US" sz="2000" b="0" dirty="0">
                <a:solidFill>
                  <a:srgbClr val="003366"/>
                </a:solidFill>
              </a:rPr>
              <a:t>은 디지털 기반으로 고객 경험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운영관리 프로세스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비즈니스 모델 등을 변화시키는 경영 전략을 의미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rgbClr val="C00000"/>
                </a:solidFill>
              </a:rPr>
              <a:t>DX</a:t>
            </a:r>
            <a:r>
              <a:rPr lang="ko-KR" altLang="en-US" sz="2000" dirty="0">
                <a:solidFill>
                  <a:srgbClr val="C00000"/>
                </a:solidFill>
              </a:rPr>
              <a:t>의 핵심은 온라인</a:t>
            </a:r>
            <a:r>
              <a:rPr lang="en-US" altLang="ko-KR" sz="2000" dirty="0">
                <a:solidFill>
                  <a:srgbClr val="C00000"/>
                </a:solidFill>
              </a:rPr>
              <a:t>, </a:t>
            </a:r>
            <a:r>
              <a:rPr lang="ko-KR" altLang="en-US" sz="2000" dirty="0">
                <a:solidFill>
                  <a:srgbClr val="C00000"/>
                </a:solidFill>
              </a:rPr>
              <a:t>디지털 기반에 최적화된 비즈니스 시스템 운영 및 마케팅으로 고객 경험</a:t>
            </a:r>
            <a:r>
              <a:rPr lang="en-US" altLang="ko-KR" sz="2000" dirty="0">
                <a:solidFill>
                  <a:srgbClr val="C00000"/>
                </a:solidFill>
              </a:rPr>
              <a:t>(CX, Customer Experience)</a:t>
            </a:r>
            <a:r>
              <a:rPr lang="ko-KR" altLang="en-US" sz="2000" dirty="0">
                <a:solidFill>
                  <a:srgbClr val="C00000"/>
                </a:solidFill>
              </a:rPr>
              <a:t>을 강화하는 것</a:t>
            </a:r>
            <a:r>
              <a:rPr lang="ko-KR" altLang="en-US" sz="2000" b="0" dirty="0">
                <a:solidFill>
                  <a:srgbClr val="003366"/>
                </a:solidFill>
              </a:rPr>
              <a:t>임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성공적인 디지털 </a:t>
            </a:r>
            <a:r>
              <a:rPr lang="ko-KR" altLang="en-US" sz="2000" b="0" dirty="0" err="1">
                <a:solidFill>
                  <a:srgbClr val="003366"/>
                </a:solidFill>
              </a:rPr>
              <a:t>트랜스포메이션은</a:t>
            </a:r>
            <a:r>
              <a:rPr lang="ko-KR" altLang="en-US" sz="2000" b="0" dirty="0">
                <a:solidFill>
                  <a:srgbClr val="003366"/>
                </a:solidFill>
              </a:rPr>
              <a:t> 비즈니스 및 운영 모델의 전면적 변화가 아니라 디지털 기술의 유연한 적용을 통해 새로운 방식으로 고객의 문제를 해결하는 것이 중요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기존의 비즈니스 모델에 데이터 분석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모바일 등 다양한 디지털 요소를 추가함으로써 고객 중심의 가치를 창출하고 지속적으로 서비스를 혁신하는 것이 중요</a:t>
            </a:r>
          </a:p>
        </p:txBody>
      </p:sp>
    </p:spTree>
    <p:extLst>
      <p:ext uri="{BB962C8B-B14F-4D97-AF65-F5344CB8AC3E}">
        <p14:creationId xmlns:p14="http://schemas.microsoft.com/office/powerpoint/2010/main" val="24524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3. </a:t>
            </a:r>
            <a:r>
              <a:rPr lang="ko-KR" altLang="en-US" dirty="0"/>
              <a:t>외식산업은 고객의 디지털 수요가 가장 낮은 편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87" y="1370981"/>
            <a:ext cx="11246945" cy="3358674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다른 산업 군에 비해 </a:t>
            </a:r>
            <a:r>
              <a:rPr lang="ko-KR" altLang="en-US" sz="2000" dirty="0">
                <a:solidFill>
                  <a:srgbClr val="C00000"/>
                </a:solidFill>
              </a:rPr>
              <a:t>외식산업은 외식기업 및 고객들의 디지털 준비 상태가 매우 낮은 것이 특징</a:t>
            </a:r>
            <a:endParaRPr lang="en-US" altLang="ko-KR" sz="2000" dirty="0">
              <a:solidFill>
                <a:srgbClr val="C00000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지금까지 외식 기업들이 활용하고 있는 디지털 서비스는 디지털 광고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콘텐츠 마케팅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디지털 채널 등 인터넷 활용 수준 정도에 머물러 있는 경우가 대부분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 err="1">
                <a:solidFill>
                  <a:srgbClr val="003366"/>
                </a:solidFill>
              </a:rPr>
              <a:t>팬데믹</a:t>
            </a:r>
            <a:r>
              <a:rPr lang="ko-KR" altLang="en-US" sz="2000" b="0" dirty="0">
                <a:solidFill>
                  <a:srgbClr val="003366"/>
                </a:solidFill>
              </a:rPr>
              <a:t> 이후 로봇 공학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en-US" altLang="ko-KR" sz="2000" b="0" dirty="0" err="1">
                <a:solidFill>
                  <a:srgbClr val="003366"/>
                </a:solidFill>
              </a:rPr>
              <a:t>IoT</a:t>
            </a:r>
            <a:r>
              <a:rPr lang="en-US" altLang="ko-KR" sz="2000" b="0" dirty="0">
                <a:solidFill>
                  <a:srgbClr val="003366"/>
                </a:solidFill>
              </a:rPr>
              <a:t>, AI, </a:t>
            </a:r>
            <a:r>
              <a:rPr lang="ko-KR" altLang="en-US" sz="2000" b="0" dirty="0" err="1">
                <a:solidFill>
                  <a:srgbClr val="003366"/>
                </a:solidFill>
              </a:rPr>
              <a:t>푸드</a:t>
            </a:r>
            <a:r>
              <a:rPr lang="ko-KR" altLang="en-US" sz="2000" b="0" dirty="0">
                <a:solidFill>
                  <a:srgbClr val="003366"/>
                </a:solidFill>
              </a:rPr>
              <a:t> 프린팅 등의 기술에 대한 수요가 점차 늘어나고 있어 디지털 기반의 혁신적인 서비스들도 많이 등장할 것으로 예상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C00000"/>
                </a:solidFill>
              </a:rPr>
              <a:t>외식사업 운영의 비효율성을 제거하기 위한 </a:t>
            </a:r>
            <a:r>
              <a:rPr lang="ko-KR" altLang="en-US" sz="2000" dirty="0" err="1">
                <a:solidFill>
                  <a:srgbClr val="C00000"/>
                </a:solidFill>
              </a:rPr>
              <a:t>외식기업의</a:t>
            </a:r>
            <a:r>
              <a:rPr lang="ko-KR" altLang="en-US" sz="2000" dirty="0">
                <a:solidFill>
                  <a:srgbClr val="C00000"/>
                </a:solidFill>
              </a:rPr>
              <a:t> 디지털화의 수요는 점차 늘어날 것으로 예상됨</a:t>
            </a:r>
            <a:endParaRPr lang="en-US" altLang="ko-KR" sz="2000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238" y="4595812"/>
            <a:ext cx="2452687" cy="183736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431" y="4595812"/>
            <a:ext cx="2771344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30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4. DX</a:t>
            </a:r>
            <a:r>
              <a:rPr lang="ko-KR" altLang="en-US" dirty="0"/>
              <a:t>를 통한 고객 충성도 및 생산성 향상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86" y="1128094"/>
            <a:ext cx="11246945" cy="3358674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디지털 혁신 성공 사례 </a:t>
            </a:r>
            <a:r>
              <a:rPr lang="en-US" altLang="ko-KR" sz="2000" b="0" dirty="0">
                <a:solidFill>
                  <a:srgbClr val="003366"/>
                </a:solidFill>
              </a:rPr>
              <a:t>- </a:t>
            </a:r>
            <a:r>
              <a:rPr lang="ko-KR" altLang="en-US" dirty="0">
                <a:solidFill>
                  <a:srgbClr val="C00000"/>
                </a:solidFill>
              </a:rPr>
              <a:t>스타벅스</a:t>
            </a:r>
            <a:r>
              <a:rPr lang="ko-KR" altLang="en-US" sz="2000" b="0" dirty="0">
                <a:solidFill>
                  <a:srgbClr val="003366"/>
                </a:solidFill>
              </a:rPr>
              <a:t> 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lvl="1" eaLnBrk="1" latinLnBrk="0" hangingPunct="1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3366"/>
                </a:solidFill>
              </a:rPr>
              <a:t>2008</a:t>
            </a:r>
            <a:r>
              <a:rPr lang="ko-KR" altLang="en-US" sz="2000" b="1" dirty="0">
                <a:solidFill>
                  <a:srgbClr val="003366"/>
                </a:solidFill>
              </a:rPr>
              <a:t>년부터 디지털 혁신</a:t>
            </a:r>
            <a:r>
              <a:rPr lang="en-US" altLang="ko-KR" sz="2000" b="1" dirty="0">
                <a:solidFill>
                  <a:srgbClr val="003366"/>
                </a:solidFill>
              </a:rPr>
              <a:t>(</a:t>
            </a:r>
            <a:r>
              <a:rPr lang="ko-KR" altLang="en-US" sz="2000" b="1" dirty="0">
                <a:solidFill>
                  <a:srgbClr val="003366"/>
                </a:solidFill>
              </a:rPr>
              <a:t>서비스의 디지털화</a:t>
            </a:r>
            <a:r>
              <a:rPr lang="en-US" altLang="ko-KR" sz="2000" b="1" dirty="0">
                <a:solidFill>
                  <a:srgbClr val="003366"/>
                </a:solidFill>
              </a:rPr>
              <a:t>) </a:t>
            </a:r>
            <a:r>
              <a:rPr lang="ko-KR" altLang="en-US" sz="2000" b="1" dirty="0">
                <a:solidFill>
                  <a:srgbClr val="003366"/>
                </a:solidFill>
              </a:rPr>
              <a:t>추진</a:t>
            </a:r>
            <a:endParaRPr lang="en-US" altLang="ko-KR" sz="2000" b="1" dirty="0">
              <a:solidFill>
                <a:srgbClr val="003366"/>
              </a:solidFill>
            </a:endParaRPr>
          </a:p>
          <a:p>
            <a:pPr lvl="2" eaLnBrk="1" latinLnBrk="0" hangingPunct="1">
              <a:buFont typeface="Wingdings" panose="05000000000000000000" pitchFamily="2" charset="2"/>
              <a:buChar char="§"/>
            </a:pPr>
            <a:r>
              <a:rPr lang="en-US" altLang="ko-KR" b="1" dirty="0">
                <a:solidFill>
                  <a:srgbClr val="C00000"/>
                </a:solidFill>
              </a:rPr>
              <a:t>Digital Flywheel </a:t>
            </a:r>
            <a:r>
              <a:rPr lang="ko-KR" altLang="en-US" b="1" dirty="0">
                <a:solidFill>
                  <a:srgbClr val="C00000"/>
                </a:solidFill>
              </a:rPr>
              <a:t>전략</a:t>
            </a:r>
            <a:endParaRPr lang="en-US" altLang="ko-KR" b="1" dirty="0">
              <a:solidFill>
                <a:srgbClr val="C00000"/>
              </a:solidFill>
            </a:endParaRPr>
          </a:p>
          <a:p>
            <a:pPr lvl="1" eaLnBrk="1" latinLnBrk="0" hangingPunct="1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3366"/>
                </a:solidFill>
              </a:rPr>
              <a:t>고객 커뮤니케이션 및 매장 내 고객 경험 강화를 위해 디지털 </a:t>
            </a:r>
            <a:r>
              <a:rPr lang="ko-KR" altLang="en-US" sz="2000" dirty="0" err="1">
                <a:solidFill>
                  <a:srgbClr val="003366"/>
                </a:solidFill>
              </a:rPr>
              <a:t>트랜스포메이션</a:t>
            </a:r>
            <a:r>
              <a:rPr lang="ko-KR" altLang="en-US" sz="2000" dirty="0">
                <a:solidFill>
                  <a:srgbClr val="003366"/>
                </a:solidFill>
              </a:rPr>
              <a:t> 시작</a:t>
            </a:r>
            <a:endParaRPr lang="en-US" altLang="ko-KR" sz="2000" dirty="0">
              <a:solidFill>
                <a:srgbClr val="003366"/>
              </a:solidFill>
            </a:endParaRPr>
          </a:p>
          <a:p>
            <a:pPr lvl="1" eaLnBrk="1" latinLnBrk="0" hangingPunct="1">
              <a:buFont typeface="Wingdings" panose="05000000000000000000" pitchFamily="2" charset="2"/>
              <a:buChar char="§"/>
            </a:pPr>
            <a:r>
              <a:rPr lang="en-US" altLang="ko-KR" sz="2000" b="1" u="sng" dirty="0">
                <a:solidFill>
                  <a:srgbClr val="003366"/>
                </a:solidFill>
              </a:rPr>
              <a:t>2011</a:t>
            </a:r>
            <a:r>
              <a:rPr lang="ko-KR" altLang="en-US" sz="2000" b="1" u="sng" dirty="0">
                <a:solidFill>
                  <a:srgbClr val="003366"/>
                </a:solidFill>
              </a:rPr>
              <a:t>년 선불충전카드</a:t>
            </a:r>
            <a:r>
              <a:rPr lang="en-US" altLang="ko-KR" sz="2000" b="1" u="sng" dirty="0">
                <a:solidFill>
                  <a:srgbClr val="003366"/>
                </a:solidFill>
              </a:rPr>
              <a:t>, 2014</a:t>
            </a:r>
            <a:r>
              <a:rPr lang="ko-KR" altLang="en-US" sz="2000" b="1" u="sng" dirty="0">
                <a:solidFill>
                  <a:srgbClr val="003366"/>
                </a:solidFill>
              </a:rPr>
              <a:t>년 </a:t>
            </a:r>
            <a:r>
              <a:rPr lang="ko-KR" altLang="en-US" sz="2000" b="1" u="sng" dirty="0" err="1">
                <a:solidFill>
                  <a:srgbClr val="003366"/>
                </a:solidFill>
              </a:rPr>
              <a:t>사이렌오더</a:t>
            </a:r>
            <a:r>
              <a:rPr lang="en-US" altLang="ko-KR" sz="2000" b="1" u="sng" dirty="0">
                <a:solidFill>
                  <a:srgbClr val="003366"/>
                </a:solidFill>
              </a:rPr>
              <a:t>, 2018</a:t>
            </a:r>
            <a:r>
              <a:rPr lang="ko-KR" altLang="en-US" sz="2000" b="1" u="sng" dirty="0">
                <a:solidFill>
                  <a:srgbClr val="003366"/>
                </a:solidFill>
              </a:rPr>
              <a:t>년 </a:t>
            </a:r>
            <a:r>
              <a:rPr lang="ko-KR" altLang="en-US" sz="2000" b="1" u="sng" dirty="0" err="1">
                <a:solidFill>
                  <a:srgbClr val="003366"/>
                </a:solidFill>
              </a:rPr>
              <a:t>차량번호로</a:t>
            </a:r>
            <a:r>
              <a:rPr lang="ko-KR" altLang="en-US" sz="2000" b="1" u="sng" dirty="0">
                <a:solidFill>
                  <a:srgbClr val="003366"/>
                </a:solidFill>
              </a:rPr>
              <a:t> 자동 결제하는 </a:t>
            </a:r>
            <a:r>
              <a:rPr lang="en-US" altLang="ko-KR" sz="2000" b="1" u="sng" dirty="0">
                <a:solidFill>
                  <a:srgbClr val="003366"/>
                </a:solidFill>
              </a:rPr>
              <a:t>DT</a:t>
            </a:r>
            <a:r>
              <a:rPr lang="ko-KR" altLang="en-US" sz="2000" b="1" u="sng" dirty="0">
                <a:solidFill>
                  <a:srgbClr val="003366"/>
                </a:solidFill>
              </a:rPr>
              <a:t>패스 시스템 개발 등 끊임없이 </a:t>
            </a:r>
            <a:endParaRPr lang="en-US" altLang="ko-KR" sz="2000" b="1" u="sng" dirty="0">
              <a:solidFill>
                <a:srgbClr val="003366"/>
              </a:solidFill>
            </a:endParaRPr>
          </a:p>
          <a:p>
            <a:pPr lvl="1" indent="0" eaLnBrk="1" latinLnBrk="0" hangingPunct="1"/>
            <a:r>
              <a:rPr lang="en-US" altLang="ko-KR" sz="2000" b="1" dirty="0">
                <a:solidFill>
                  <a:srgbClr val="003366"/>
                </a:solidFill>
              </a:rPr>
              <a:t>    </a:t>
            </a:r>
            <a:r>
              <a:rPr lang="ko-KR" altLang="en-US" sz="2000" b="1" u="sng" dirty="0">
                <a:solidFill>
                  <a:srgbClr val="003366"/>
                </a:solidFill>
              </a:rPr>
              <a:t>혁신적인 서비스를 소개</a:t>
            </a:r>
            <a:r>
              <a:rPr lang="ko-KR" altLang="en-US" sz="2000" dirty="0">
                <a:solidFill>
                  <a:srgbClr val="003366"/>
                </a:solidFill>
              </a:rPr>
              <a:t>하고 있음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rgbClr val="003366"/>
                </a:solidFill>
              </a:rPr>
              <a:t>2008</a:t>
            </a:r>
            <a:r>
              <a:rPr lang="ko-KR" altLang="en-US" sz="2000" dirty="0">
                <a:solidFill>
                  <a:srgbClr val="003366"/>
                </a:solidFill>
              </a:rPr>
              <a:t>년 매출 </a:t>
            </a:r>
            <a:r>
              <a:rPr lang="en-US" altLang="ko-KR" sz="2000" dirty="0">
                <a:solidFill>
                  <a:srgbClr val="003366"/>
                </a:solidFill>
              </a:rPr>
              <a:t>1700</a:t>
            </a:r>
            <a:r>
              <a:rPr lang="ko-KR" altLang="en-US" sz="2000" dirty="0">
                <a:solidFill>
                  <a:srgbClr val="003366"/>
                </a:solidFill>
              </a:rPr>
              <a:t>억원에서 </a:t>
            </a:r>
            <a:r>
              <a:rPr lang="en-US" altLang="ko-KR" sz="2000" b="1" dirty="0">
                <a:solidFill>
                  <a:srgbClr val="C00000"/>
                </a:solidFill>
              </a:rPr>
              <a:t>2019</a:t>
            </a:r>
            <a:r>
              <a:rPr lang="ko-KR" altLang="en-US" sz="2000" b="1" dirty="0">
                <a:solidFill>
                  <a:srgbClr val="C00000"/>
                </a:solidFill>
              </a:rPr>
              <a:t>년</a:t>
            </a:r>
            <a:r>
              <a:rPr lang="ko-KR" altLang="en-US" sz="2000" dirty="0">
                <a:solidFill>
                  <a:srgbClr val="003366"/>
                </a:solidFill>
              </a:rPr>
              <a:t> </a:t>
            </a:r>
            <a:r>
              <a:rPr lang="en-US" altLang="ko-KR" sz="2000" dirty="0">
                <a:solidFill>
                  <a:srgbClr val="003366"/>
                </a:solidFill>
              </a:rPr>
              <a:t>1</a:t>
            </a:r>
            <a:r>
              <a:rPr lang="ko-KR" altLang="en-US" sz="2000" dirty="0">
                <a:solidFill>
                  <a:srgbClr val="003366"/>
                </a:solidFill>
              </a:rPr>
              <a:t>조</a:t>
            </a:r>
            <a:r>
              <a:rPr lang="en-US" altLang="ko-KR" sz="2000" dirty="0">
                <a:solidFill>
                  <a:srgbClr val="003366"/>
                </a:solidFill>
              </a:rPr>
              <a:t>8695</a:t>
            </a:r>
            <a:r>
              <a:rPr lang="ko-KR" altLang="en-US" sz="2000" dirty="0">
                <a:solidFill>
                  <a:srgbClr val="003366"/>
                </a:solidFill>
              </a:rPr>
              <a:t>억원으로 </a:t>
            </a:r>
            <a:r>
              <a:rPr lang="ko-KR" altLang="en-US" sz="2000" b="1" dirty="0">
                <a:solidFill>
                  <a:srgbClr val="C00000"/>
                </a:solidFill>
              </a:rPr>
              <a:t>외식 분야 매출 </a:t>
            </a:r>
            <a:r>
              <a:rPr lang="en-US" altLang="ko-KR" sz="2000" b="1" dirty="0">
                <a:solidFill>
                  <a:srgbClr val="C00000"/>
                </a:solidFill>
              </a:rPr>
              <a:t>1</a:t>
            </a:r>
            <a:r>
              <a:rPr lang="ko-KR" altLang="en-US" sz="2000" b="1" dirty="0">
                <a:solidFill>
                  <a:srgbClr val="C00000"/>
                </a:solidFill>
              </a:rPr>
              <a:t>위 달성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536" y="4128266"/>
            <a:ext cx="3929062" cy="245566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258" y="4128266"/>
            <a:ext cx="4267200" cy="245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116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4. DX</a:t>
            </a:r>
            <a:r>
              <a:rPr lang="ko-KR" altLang="en-US" dirty="0"/>
              <a:t>를 통한 고객 충성도 및 생산성 향상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87" y="1370981"/>
            <a:ext cx="11246945" cy="3358674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디지털 혁신 성공 사례 </a:t>
            </a:r>
            <a:r>
              <a:rPr lang="en-US" altLang="ko-KR" sz="2000" b="0" dirty="0">
                <a:solidFill>
                  <a:srgbClr val="003366"/>
                </a:solidFill>
              </a:rPr>
              <a:t>– </a:t>
            </a:r>
            <a:r>
              <a:rPr lang="ko-KR" altLang="en-US" dirty="0">
                <a:solidFill>
                  <a:srgbClr val="C00000"/>
                </a:solidFill>
              </a:rPr>
              <a:t>도미노 피자 </a:t>
            </a:r>
            <a:endParaRPr lang="en-US" altLang="ko-KR" dirty="0">
              <a:solidFill>
                <a:srgbClr val="C00000"/>
              </a:solidFill>
            </a:endParaRPr>
          </a:p>
          <a:p>
            <a:pPr lvl="1" eaLnBrk="1" latinLnBrk="0" hangingPunct="1">
              <a:buFont typeface="Wingdings" panose="05000000000000000000" pitchFamily="2" charset="2"/>
              <a:buChar char="§"/>
            </a:pPr>
            <a:r>
              <a:rPr lang="ko-KR" altLang="en-US" sz="2000" b="1" u="sng" dirty="0"/>
              <a:t>도미노 피자의 주가는 지난 </a:t>
            </a:r>
            <a:r>
              <a:rPr lang="en-US" altLang="ko-KR" sz="2000" b="1" u="sng" dirty="0"/>
              <a:t>10</a:t>
            </a:r>
            <a:r>
              <a:rPr lang="ko-KR" altLang="en-US" sz="2000" b="1" u="sng" dirty="0"/>
              <a:t>년 동안 </a:t>
            </a:r>
            <a:r>
              <a:rPr lang="en-US" altLang="ko-KR" sz="2000" b="1" u="sng" dirty="0"/>
              <a:t>26</a:t>
            </a:r>
            <a:r>
              <a:rPr lang="ko-KR" altLang="en-US" sz="2000" b="1" u="sng" dirty="0"/>
              <a:t>배 이상 폭등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</a:pPr>
            <a:r>
              <a:rPr lang="ko-KR" altLang="en-US" sz="2000" dirty="0" err="1"/>
              <a:t>드론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무인배달</a:t>
            </a:r>
            <a:r>
              <a:rPr lang="ko-KR" altLang="en-US" sz="2000" dirty="0"/>
              <a:t> 로봇</a:t>
            </a:r>
            <a:r>
              <a:rPr lang="en-US" altLang="ko-KR" sz="2000" dirty="0"/>
              <a:t>, </a:t>
            </a:r>
            <a:r>
              <a:rPr lang="ko-KR" altLang="en-US" sz="2000" dirty="0"/>
              <a:t>자율주행 차량 등</a:t>
            </a:r>
            <a:endParaRPr lang="en-US" altLang="ko-KR" sz="2000" dirty="0"/>
          </a:p>
          <a:p>
            <a:pPr lvl="1" eaLnBrk="1" latinLnBrk="0" hangingPunct="1">
              <a:buFont typeface="Wingdings" panose="05000000000000000000" pitchFamily="2" charset="2"/>
              <a:buChar char="§"/>
            </a:pPr>
            <a:r>
              <a:rPr lang="en-US" altLang="ko-KR" sz="2000" dirty="0"/>
              <a:t>IT </a:t>
            </a:r>
            <a:r>
              <a:rPr lang="ko-KR" altLang="en-US" sz="2000" dirty="0"/>
              <a:t>기업 버금가는 주문 배송 시스템 도입으로 고객에게 새로운 경험 제공</a:t>
            </a:r>
          </a:p>
          <a:p>
            <a:pPr lvl="1" eaLnBrk="1" latinLnBrk="0" hangingPunct="1">
              <a:buFont typeface="Wingdings" panose="05000000000000000000" pitchFamily="2" charset="2"/>
              <a:buChar char="§"/>
            </a:pPr>
            <a:r>
              <a:rPr lang="en-US" altLang="ko-KR" sz="2000" dirty="0"/>
              <a:t>2003</a:t>
            </a:r>
            <a:r>
              <a:rPr lang="ko-KR" altLang="en-US" sz="2000" dirty="0"/>
              <a:t>년 업계 최초 온라인 주문 시스템 구축</a:t>
            </a:r>
            <a:r>
              <a:rPr lang="en-US" altLang="ko-KR" sz="2000" dirty="0"/>
              <a:t>, </a:t>
            </a:r>
            <a:r>
              <a:rPr lang="ko-KR" altLang="en-US" sz="2000" b="1" dirty="0" err="1">
                <a:solidFill>
                  <a:srgbClr val="C00000"/>
                </a:solidFill>
              </a:rPr>
              <a:t>피자주문</a:t>
            </a:r>
            <a:r>
              <a:rPr lang="ko-KR" altLang="en-US" sz="2000" b="1" dirty="0">
                <a:solidFill>
                  <a:srgbClr val="C00000"/>
                </a:solidFill>
              </a:rPr>
              <a:t> 방법만 </a:t>
            </a:r>
            <a:r>
              <a:rPr lang="ko-KR" altLang="en-US" sz="2000" b="1" dirty="0" err="1">
                <a:solidFill>
                  <a:srgbClr val="C00000"/>
                </a:solidFill>
              </a:rPr>
              <a:t>스마트워치</a:t>
            </a:r>
            <a:r>
              <a:rPr lang="en-US" altLang="ko-KR" sz="2000" b="1" dirty="0">
                <a:solidFill>
                  <a:srgbClr val="C00000"/>
                </a:solidFill>
              </a:rPr>
              <a:t>, AI</a:t>
            </a:r>
            <a:r>
              <a:rPr lang="ko-KR" altLang="en-US" sz="2000" b="1" dirty="0">
                <a:solidFill>
                  <a:srgbClr val="C00000"/>
                </a:solidFill>
              </a:rPr>
              <a:t>스피커 등 </a:t>
            </a:r>
            <a:r>
              <a:rPr lang="en-US" altLang="ko-KR" sz="2000" b="1" dirty="0">
                <a:solidFill>
                  <a:srgbClr val="C00000"/>
                </a:solidFill>
              </a:rPr>
              <a:t>36</a:t>
            </a:r>
            <a:r>
              <a:rPr lang="ko-KR" altLang="en-US" sz="2000" b="1" dirty="0">
                <a:solidFill>
                  <a:srgbClr val="C00000"/>
                </a:solidFill>
              </a:rPr>
              <a:t>가지</a:t>
            </a: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2000" b="0" dirty="0">
              <a:solidFill>
                <a:srgbClr val="003366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30696" y="6337931"/>
            <a:ext cx="59776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*</a:t>
            </a:r>
            <a:r>
              <a:rPr lang="ko-KR" altLang="en-US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자료 출처</a:t>
            </a:r>
            <a:r>
              <a:rPr lang="en-US" altLang="ko-KR" sz="1100" dirty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: https://www.opinionnews.co.kr/news/articleView.html?idxno=32883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709" y="3735431"/>
            <a:ext cx="3462788" cy="20199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019" y="3720222"/>
            <a:ext cx="2884095" cy="20188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1950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4. DX</a:t>
            </a:r>
            <a:r>
              <a:rPr lang="ko-KR" altLang="en-US" dirty="0"/>
              <a:t>를 통한 고객 충성도 및 생산성 향상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87" y="1370981"/>
            <a:ext cx="11246945" cy="3358674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디지털 혁신 성공 사례의 시사점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endParaRPr lang="en-US" altLang="ko-KR" dirty="0">
              <a:solidFill>
                <a:srgbClr val="C00000"/>
              </a:solidFill>
            </a:endParaRPr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solidFill>
                <a:srgbClr val="C00000"/>
              </a:solidFill>
            </a:endParaRP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기술이 발전해도 그 </a:t>
            </a:r>
            <a:r>
              <a:rPr lang="en-US" altLang="ko-KR" sz="2000" b="1" dirty="0">
                <a:solidFill>
                  <a:srgbClr val="C00000"/>
                </a:solidFill>
              </a:rPr>
              <a:t>‘</a:t>
            </a:r>
            <a:r>
              <a:rPr lang="ko-KR" altLang="en-US" sz="2000" b="1" dirty="0">
                <a:solidFill>
                  <a:srgbClr val="C00000"/>
                </a:solidFill>
              </a:rPr>
              <a:t>기술</a:t>
            </a:r>
            <a:r>
              <a:rPr lang="en-US" altLang="ko-KR" sz="2000" b="1" dirty="0">
                <a:solidFill>
                  <a:srgbClr val="C00000"/>
                </a:solidFill>
              </a:rPr>
              <a:t>’</a:t>
            </a:r>
            <a:r>
              <a:rPr lang="ko-KR" altLang="en-US" sz="2000" b="1" dirty="0">
                <a:solidFill>
                  <a:srgbClr val="C00000"/>
                </a:solidFill>
              </a:rPr>
              <a:t>은 고객만족을 위한 혁신적인 서비스 개발을 위해 사용되어야 </a:t>
            </a:r>
            <a:r>
              <a:rPr lang="ko-KR" altLang="en-US" sz="2000" dirty="0"/>
              <a:t>하며</a:t>
            </a:r>
            <a:endParaRPr lang="en-US" altLang="ko-KR" sz="2000" dirty="0"/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고객에게 </a:t>
            </a:r>
            <a:r>
              <a:rPr lang="ko-KR" altLang="en-US" sz="2000" b="1" dirty="0">
                <a:solidFill>
                  <a:srgbClr val="C00000"/>
                </a:solidFill>
              </a:rPr>
              <a:t>독특한 서비스 경험을 제공함으로써 고객 </a:t>
            </a:r>
            <a:r>
              <a:rPr lang="ko-KR" altLang="en-US" sz="2000" b="1" dirty="0" err="1">
                <a:solidFill>
                  <a:srgbClr val="C00000"/>
                </a:solidFill>
              </a:rPr>
              <a:t>충성도와</a:t>
            </a:r>
            <a:r>
              <a:rPr lang="ko-KR" altLang="en-US" sz="2000" b="1" dirty="0">
                <a:solidFill>
                  <a:srgbClr val="C00000"/>
                </a:solidFill>
              </a:rPr>
              <a:t> 서비스 생산성을 향상시켜야 </a:t>
            </a:r>
            <a:r>
              <a:rPr lang="ko-KR" altLang="en-US" sz="2000" b="0" dirty="0">
                <a:solidFill>
                  <a:srgbClr val="003366"/>
                </a:solidFill>
              </a:rPr>
              <a:t>함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solidFill>
                <a:srgbClr val="003366"/>
              </a:solidFill>
            </a:endParaRPr>
          </a:p>
          <a:p>
            <a:pPr lvl="1"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0" dirty="0">
              <a:solidFill>
                <a:srgbClr val="003366"/>
              </a:solidFill>
            </a:endParaRPr>
          </a:p>
          <a:p>
            <a:pPr lvl="1" indent="0" algn="ctr" eaLnBrk="1" latinLnBrk="0" hangingPunct="1"/>
            <a:r>
              <a:rPr lang="en-US" altLang="ko-KR" sz="2000" b="1" u="sng" dirty="0">
                <a:solidFill>
                  <a:srgbClr val="C00000"/>
                </a:solidFill>
              </a:rPr>
              <a:t>‘</a:t>
            </a:r>
            <a:r>
              <a:rPr lang="ko-KR" altLang="en-US" sz="2000" b="1" u="sng" dirty="0">
                <a:solidFill>
                  <a:srgbClr val="C00000"/>
                </a:solidFill>
              </a:rPr>
              <a:t>혁신적인 서비스 개발</a:t>
            </a:r>
            <a:r>
              <a:rPr lang="en-US" altLang="ko-KR" sz="2000" b="1" u="sng" dirty="0">
                <a:solidFill>
                  <a:srgbClr val="C00000"/>
                </a:solidFill>
              </a:rPr>
              <a:t>’</a:t>
            </a:r>
            <a:r>
              <a:rPr lang="ko-KR" altLang="en-US" sz="2000" b="1" u="sng" dirty="0">
                <a:solidFill>
                  <a:srgbClr val="C00000"/>
                </a:solidFill>
              </a:rPr>
              <a:t>을 통한 고객만족과 고객충성도 향상은</a:t>
            </a:r>
            <a:endParaRPr lang="en-US" altLang="ko-KR" sz="2000" b="1" u="sng" dirty="0">
              <a:solidFill>
                <a:srgbClr val="C00000"/>
              </a:solidFill>
            </a:endParaRPr>
          </a:p>
          <a:p>
            <a:pPr lvl="1" indent="0" algn="ctr" eaLnBrk="1" latinLnBrk="0" hangingPunct="1"/>
            <a:r>
              <a:rPr lang="ko-KR" altLang="en-US" sz="2000" b="1" dirty="0"/>
              <a:t>변하지 않는 외식사업 성공 원리임</a:t>
            </a:r>
            <a:r>
              <a:rPr lang="en-US" altLang="ko-KR" sz="2000" b="1" dirty="0"/>
              <a:t>!!</a:t>
            </a:r>
            <a:endParaRPr lang="ko-KR" altLang="en-US" sz="2000" b="1" dirty="0"/>
          </a:p>
        </p:txBody>
      </p:sp>
      <p:sp>
        <p:nvSpPr>
          <p:cNvPr id="3" name="이등변 삼각형 2"/>
          <p:cNvSpPr/>
          <p:nvPr/>
        </p:nvSpPr>
        <p:spPr bwMode="auto">
          <a:xfrm flipV="1">
            <a:off x="5002240" y="4029075"/>
            <a:ext cx="2586038" cy="400542"/>
          </a:xfrm>
          <a:prstGeom prst="triangle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885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en-US" altLang="ko-KR" dirty="0"/>
              <a:t>5. </a:t>
            </a:r>
            <a:r>
              <a:rPr lang="ko-KR" altLang="en-US" dirty="0"/>
              <a:t>스타벅스의 </a:t>
            </a:r>
            <a:r>
              <a:rPr lang="en-US" altLang="ko-KR" dirty="0"/>
              <a:t>DX </a:t>
            </a:r>
            <a:r>
              <a:rPr lang="ko-KR" altLang="en-US" dirty="0"/>
              <a:t>성공 사례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0778" y="2359715"/>
            <a:ext cx="7429226" cy="3358674"/>
          </a:xfrm>
        </p:spPr>
        <p:txBody>
          <a:bodyPr/>
          <a:lstStyle/>
          <a:p>
            <a:pPr eaLnBrk="1" latinLnBrk="0" hangingPunct="1">
              <a:buFont typeface="Wingdings" panose="05000000000000000000" pitchFamily="2" charset="2"/>
              <a:buChar char="§"/>
            </a:pPr>
            <a:r>
              <a:rPr lang="en-US" altLang="ko-KR" sz="2000" b="0" dirty="0">
                <a:solidFill>
                  <a:srgbClr val="003366"/>
                </a:solidFill>
              </a:rPr>
              <a:t>2008</a:t>
            </a:r>
            <a:r>
              <a:rPr lang="ko-KR" altLang="en-US" sz="2000" b="0" dirty="0">
                <a:solidFill>
                  <a:srgbClr val="003366"/>
                </a:solidFill>
              </a:rPr>
              <a:t>년 글로벌 금융위기를 겪으면서 </a:t>
            </a:r>
            <a:r>
              <a:rPr lang="ko-KR" altLang="en-US" sz="2000" b="0" dirty="0" err="1">
                <a:solidFill>
                  <a:srgbClr val="003366"/>
                </a:solidFill>
              </a:rPr>
              <a:t>매출급감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브랜드 이미지 추락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고객의 다변화 요구 대응 등의 경영상 어려움에 직면했을 때 매출 견인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이용고객 확대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환경변화를 극복하기 위한 솔루션으로서 </a:t>
            </a:r>
            <a:r>
              <a:rPr lang="en-US" altLang="ko-KR" sz="2000" b="0" dirty="0">
                <a:solidFill>
                  <a:srgbClr val="003366"/>
                </a:solidFill>
              </a:rPr>
              <a:t>2008</a:t>
            </a:r>
            <a:r>
              <a:rPr lang="ko-KR" altLang="en-US" sz="2000" b="0" dirty="0">
                <a:solidFill>
                  <a:srgbClr val="003366"/>
                </a:solidFill>
              </a:rPr>
              <a:t>년도부터 디지털 혁신</a:t>
            </a:r>
            <a:r>
              <a:rPr lang="en-US" altLang="ko-KR" sz="2000" b="0" dirty="0">
                <a:solidFill>
                  <a:srgbClr val="003366"/>
                </a:solidFill>
              </a:rPr>
              <a:t>(</a:t>
            </a:r>
            <a:r>
              <a:rPr lang="ko-KR" altLang="en-US" sz="2000" b="0" dirty="0">
                <a:solidFill>
                  <a:srgbClr val="003366"/>
                </a:solidFill>
              </a:rPr>
              <a:t>디지털 </a:t>
            </a:r>
            <a:r>
              <a:rPr lang="ko-KR" altLang="en-US" sz="2000" b="0" dirty="0" err="1">
                <a:solidFill>
                  <a:srgbClr val="003366"/>
                </a:solidFill>
              </a:rPr>
              <a:t>플라이휠</a:t>
            </a:r>
            <a:r>
              <a:rPr lang="ko-KR" altLang="en-US" sz="2000" b="0" dirty="0">
                <a:solidFill>
                  <a:srgbClr val="003366"/>
                </a:solidFill>
              </a:rPr>
              <a:t> </a:t>
            </a:r>
            <a:r>
              <a:rPr lang="en-US" altLang="ko-KR" sz="2000" b="0" dirty="0">
                <a:solidFill>
                  <a:srgbClr val="003366"/>
                </a:solidFill>
              </a:rPr>
              <a:t>Digital Flywheel)</a:t>
            </a:r>
            <a:r>
              <a:rPr lang="ko-KR" altLang="en-US" sz="2000" b="0" dirty="0">
                <a:solidFill>
                  <a:srgbClr val="003366"/>
                </a:solidFill>
              </a:rPr>
              <a:t>에 집중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eaLnBrk="1" latinLnBrk="0" hangingPunct="1"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매장 내 고객 경험을 강화하는 ‘</a:t>
            </a:r>
            <a:r>
              <a:rPr lang="en-US" altLang="ko-KR" sz="2000" b="0" dirty="0">
                <a:solidFill>
                  <a:srgbClr val="003366"/>
                </a:solidFill>
              </a:rPr>
              <a:t>reward’, ‘personalization’, ‘payment’, ‘ordering’ </a:t>
            </a:r>
            <a:r>
              <a:rPr lang="ko-KR" altLang="en-US" sz="2000" b="0" dirty="0">
                <a:solidFill>
                  <a:srgbClr val="003366"/>
                </a:solidFill>
              </a:rPr>
              <a:t>의 </a:t>
            </a:r>
            <a:r>
              <a:rPr lang="en-US" altLang="ko-KR" sz="2000" b="0" dirty="0">
                <a:solidFill>
                  <a:srgbClr val="003366"/>
                </a:solidFill>
              </a:rPr>
              <a:t>Digital Flywheel</a:t>
            </a:r>
            <a:r>
              <a:rPr lang="ko-KR" altLang="en-US" sz="2000" b="0" dirty="0">
                <a:solidFill>
                  <a:srgbClr val="003366"/>
                </a:solidFill>
              </a:rPr>
              <a:t>을 주축으로 디지털 </a:t>
            </a:r>
            <a:r>
              <a:rPr lang="ko-KR" altLang="en-US" sz="2000" b="0" dirty="0" err="1">
                <a:solidFill>
                  <a:srgbClr val="003366"/>
                </a:solidFill>
              </a:rPr>
              <a:t>트랜스포메이션</a:t>
            </a:r>
            <a:r>
              <a:rPr lang="ko-KR" altLang="en-US" sz="2000" b="0" dirty="0">
                <a:solidFill>
                  <a:srgbClr val="003366"/>
                </a:solidFill>
              </a:rPr>
              <a:t> 추진</a:t>
            </a:r>
          </a:p>
          <a:p>
            <a:pPr eaLnBrk="1" latinLnBrk="0" hangingPunct="1"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판매량 증가를 위해 알고리즘과 자동화를 통해 언제 어디서나 보상과 개인화된 서비스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 err="1">
                <a:solidFill>
                  <a:srgbClr val="003366"/>
                </a:solidFill>
              </a:rPr>
              <a:t>간편결제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효율적인 주문을 가능하게 하는 전략</a:t>
            </a:r>
          </a:p>
          <a:p>
            <a:pPr eaLnBrk="1" latinLnBrk="0" hangingPunct="1">
              <a:buFont typeface="Wingdings" panose="05000000000000000000" pitchFamily="2" charset="2"/>
              <a:buChar char="§"/>
            </a:pPr>
            <a:r>
              <a:rPr lang="en-US" altLang="ko-KR" sz="2000" b="0" dirty="0">
                <a:solidFill>
                  <a:srgbClr val="003366"/>
                </a:solidFill>
              </a:rPr>
              <a:t>POS</a:t>
            </a:r>
            <a:r>
              <a:rPr lang="ko-KR" altLang="en-US" sz="2000" b="0" dirty="0">
                <a:solidFill>
                  <a:srgbClr val="003366"/>
                </a:solidFill>
              </a:rPr>
              <a:t>와 회계</a:t>
            </a:r>
            <a:r>
              <a:rPr lang="en-US" altLang="ko-KR" sz="2000" b="0" dirty="0">
                <a:solidFill>
                  <a:srgbClr val="003366"/>
                </a:solidFill>
              </a:rPr>
              <a:t>App, </a:t>
            </a:r>
            <a:r>
              <a:rPr lang="ko-KR" altLang="en-US" sz="2000" b="0" dirty="0">
                <a:solidFill>
                  <a:srgbClr val="003366"/>
                </a:solidFill>
              </a:rPr>
              <a:t>모바일 앱</a:t>
            </a:r>
            <a:r>
              <a:rPr lang="en-US" altLang="ko-KR" sz="2000" b="0" dirty="0">
                <a:solidFill>
                  <a:srgbClr val="003366"/>
                </a:solidFill>
              </a:rPr>
              <a:t>, </a:t>
            </a:r>
            <a:r>
              <a:rPr lang="ko-KR" altLang="en-US" sz="2000" b="0" dirty="0">
                <a:solidFill>
                  <a:srgbClr val="003366"/>
                </a:solidFill>
              </a:rPr>
              <a:t>모바일 주문결제시스템 등 다양한 기술 플랫폼을 하나의 </a:t>
            </a:r>
            <a:r>
              <a:rPr lang="ko-KR" altLang="en-US" sz="2000" b="0" dirty="0" err="1">
                <a:solidFill>
                  <a:srgbClr val="003366"/>
                </a:solidFill>
              </a:rPr>
              <a:t>클라우드로</a:t>
            </a:r>
            <a:r>
              <a:rPr lang="ko-KR" altLang="en-US" sz="2000" b="0" dirty="0">
                <a:solidFill>
                  <a:srgbClr val="003366"/>
                </a:solidFill>
              </a:rPr>
              <a:t> 통합</a:t>
            </a:r>
          </a:p>
          <a:p>
            <a:pPr eaLnBrk="1" latinLnBrk="0" hangingPunct="1">
              <a:buFont typeface="Wingdings" panose="05000000000000000000" pitchFamily="2" charset="2"/>
              <a:buChar char="§"/>
            </a:pPr>
            <a:r>
              <a:rPr lang="ko-KR" altLang="en-US" sz="2000" b="0" dirty="0">
                <a:solidFill>
                  <a:srgbClr val="003366"/>
                </a:solidFill>
              </a:rPr>
              <a:t>사람들이 커피를 구매하는 과정에 </a:t>
            </a:r>
            <a:r>
              <a:rPr lang="ko-KR" altLang="en-US" sz="2000" b="0" dirty="0" err="1">
                <a:solidFill>
                  <a:srgbClr val="003366"/>
                </a:solidFill>
              </a:rPr>
              <a:t>온∙오프라인</a:t>
            </a:r>
            <a:r>
              <a:rPr lang="ko-KR" altLang="en-US" sz="2000" b="0" dirty="0">
                <a:solidFill>
                  <a:srgbClr val="003366"/>
                </a:solidFill>
              </a:rPr>
              <a:t> </a:t>
            </a:r>
            <a:r>
              <a:rPr lang="ko-KR" altLang="en-US" sz="2000" b="0" dirty="0" err="1">
                <a:solidFill>
                  <a:srgbClr val="003366"/>
                </a:solidFill>
              </a:rPr>
              <a:t>끊김없는</a:t>
            </a:r>
            <a:r>
              <a:rPr lang="en-US" altLang="ko-KR" sz="2000" b="0" dirty="0">
                <a:solidFill>
                  <a:srgbClr val="003366"/>
                </a:solidFill>
              </a:rPr>
              <a:t>(seamless) </a:t>
            </a:r>
            <a:r>
              <a:rPr lang="ko-KR" altLang="en-US" sz="2000" b="0" dirty="0" err="1">
                <a:solidFill>
                  <a:srgbClr val="003366"/>
                </a:solidFill>
              </a:rPr>
              <a:t>고객경험을</a:t>
            </a:r>
            <a:r>
              <a:rPr lang="ko-KR" altLang="en-US" sz="2000" b="0" dirty="0">
                <a:solidFill>
                  <a:srgbClr val="003366"/>
                </a:solidFill>
              </a:rPr>
              <a:t> 향상시키고 충성고객 확보와 지속적인 구매를 유도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44" y="2520949"/>
            <a:ext cx="4328034" cy="36798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788" y="1421306"/>
            <a:ext cx="11014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스타벅스 서비스 디지털화의 목표는 차별화된 고객 경험</a:t>
            </a:r>
            <a:r>
              <a:rPr lang="en-US" altLang="ko-KR" sz="2400" b="1" dirty="0">
                <a:solidFill>
                  <a:srgbClr val="C00000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(CX, UX) </a:t>
            </a:r>
            <a:r>
              <a:rPr lang="ko-KR" altLang="en-US" sz="2400" b="1" dirty="0">
                <a:solidFill>
                  <a:srgbClr val="C00000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설계를 통한 고객 만족의 실현</a:t>
            </a:r>
            <a:r>
              <a:rPr lang="en-US" altLang="ko-KR" sz="2400" b="1" dirty="0">
                <a:solidFill>
                  <a:srgbClr val="C00000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!!</a:t>
            </a:r>
            <a:endParaRPr lang="ko-KR" altLang="en-US" sz="2400" b="1" dirty="0">
              <a:solidFill>
                <a:srgbClr val="C00000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0393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BD1FD24-F219-4227-A314-DD80EA9E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latinLnBrk="0" hangingPunct="1"/>
            <a:r>
              <a:rPr lang="ko-KR" altLang="en-US" dirty="0"/>
              <a:t>맺음말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4EC5E73-01B8-45B0-8A92-149906BA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787" y="1370981"/>
            <a:ext cx="11246945" cy="2029444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 err="1"/>
              <a:t>팬데믹이</a:t>
            </a:r>
            <a:r>
              <a:rPr lang="ko-KR" altLang="en-US" sz="2000" b="0" dirty="0"/>
              <a:t> 가져온 변화도 엄청나지만 </a:t>
            </a:r>
            <a:r>
              <a:rPr lang="ko-KR" altLang="en-US" sz="2000" u="sng" dirty="0"/>
              <a:t>앞으로의 외식사업 환경은 우리의 예상보다 훨씬 더 빠르게 변화할 것임</a:t>
            </a:r>
            <a:endParaRPr lang="en-US" altLang="ko-KR" sz="2000" u="sng" dirty="0"/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 dirty="0"/>
              <a:t>그럼에도 불구하고 인력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기술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정보 등 </a:t>
            </a:r>
            <a:r>
              <a:rPr lang="ko-KR" altLang="en-US" sz="2000" u="sng" dirty="0"/>
              <a:t>모든 자원을 잘 활용해 항상 고객 기대를 뛰어넘는 혁신적인 감동적인 서비스를 제공하려고 노력</a:t>
            </a:r>
            <a:r>
              <a:rPr lang="ko-KR" altLang="en-US" sz="2000" b="0" dirty="0"/>
              <a:t>한다면 지속 가능한 외식 기업을 만들 수 있음</a:t>
            </a:r>
            <a:endParaRPr lang="en-US" altLang="ko-KR" sz="2000" b="0" dirty="0"/>
          </a:p>
          <a:p>
            <a:pPr eaLnBrk="1" latinLnBrk="0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C00000"/>
                </a:solidFill>
              </a:rPr>
              <a:t>나의 브랜드는 진정 혁신적이고 감동적인 브랜드인가</a:t>
            </a:r>
            <a:r>
              <a:rPr lang="en-US" altLang="ko-KR" sz="2000" dirty="0">
                <a:solidFill>
                  <a:srgbClr val="C00000"/>
                </a:solidFill>
              </a:rPr>
              <a:t>? </a:t>
            </a:r>
            <a:r>
              <a:rPr lang="ko-KR" altLang="en-US" sz="2000" b="0" dirty="0"/>
              <a:t>스스로 질문해 보고 객관적으로 평가해보자</a:t>
            </a:r>
            <a:r>
              <a:rPr lang="en-US" altLang="ko-KR" sz="2000" b="0" dirty="0"/>
              <a:t>!</a:t>
            </a:r>
            <a:endParaRPr lang="ko-KR" altLang="en-US" sz="2000" b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729" y="3608411"/>
            <a:ext cx="6555846" cy="282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559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300" y="2095500"/>
            <a:ext cx="428625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709706"/>
      </p:ext>
    </p:extLst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9744</TotalTime>
  <Words>1565</Words>
  <Application>Microsoft Office PowerPoint</Application>
  <PresentationFormat>와이드스크린</PresentationFormat>
  <Paragraphs>143</Paragraphs>
  <Slides>20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3" baseType="lpstr">
      <vt:lpstr>서울남산 장체 L</vt:lpstr>
      <vt:lpstr>Verdana</vt:lpstr>
      <vt:lpstr>맑은 고딕</vt:lpstr>
      <vt:lpstr>함초롬돋움</vt:lpstr>
      <vt:lpstr>서울남산 장체 M</vt:lpstr>
      <vt:lpstr>서울남산 장체 EB</vt:lpstr>
      <vt:lpstr>굴림</vt:lpstr>
      <vt:lpstr>08서울남산체 B</vt:lpstr>
      <vt:lpstr>Wingdings</vt:lpstr>
      <vt:lpstr>경기천년바탕 Regular</vt:lpstr>
      <vt:lpstr>Arial</vt:lpstr>
      <vt:lpstr>서울한강 장체 L</vt:lpstr>
      <vt:lpstr>sample</vt:lpstr>
      <vt:lpstr>PowerPoint 프레젠테이션</vt:lpstr>
      <vt:lpstr>PowerPoint 프레젠테이션</vt:lpstr>
      <vt:lpstr>1. ‘성장’은 ‘전략’이 아니라 ‘결과’이다</vt:lpstr>
      <vt:lpstr>1. ‘성장’은 ‘전략’이 아니라 ‘결과’이다</vt:lpstr>
      <vt:lpstr>2. 다점포 외식사업으로의 성장과 과제</vt:lpstr>
      <vt:lpstr>2. 다점포 외식사업으로의 성장과 과제</vt:lpstr>
      <vt:lpstr>2. 다점포 외식사업으로의 성장과 과제</vt:lpstr>
      <vt:lpstr>2. 다점포 외식사업으로의 성장과 과제</vt:lpstr>
      <vt:lpstr>2. 다점포 외식사업으로의 성장과 과제</vt:lpstr>
      <vt:lpstr>2. 다점포 외식사업으로의 성장과 과제</vt:lpstr>
      <vt:lpstr>PowerPoint 프레젠테이션</vt:lpstr>
      <vt:lpstr>1. 마켓 5.0 시대에 최우선 과제는 철저한 디지털화</vt:lpstr>
      <vt:lpstr>2. DX의 핵심은 디지털화를 통한 고객관리와 고객 경험 강화</vt:lpstr>
      <vt:lpstr>3. 외식산업은 고객의 디지털 수요가 가장 낮은 편</vt:lpstr>
      <vt:lpstr>4. DX를 통한 고객 충성도 및 생산성 향상</vt:lpstr>
      <vt:lpstr>4. DX를 통한 고객 충성도 및 생산성 향상</vt:lpstr>
      <vt:lpstr>4. DX를 통한 고객 충성도 및 생산성 향상</vt:lpstr>
      <vt:lpstr>5. 스타벅스의 DX 성공 사례</vt:lpstr>
      <vt:lpstr>맺음말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Windows 사용자</dc:creator>
  <cp:lastModifiedBy>Windows 사용자</cp:lastModifiedBy>
  <cp:revision>205</cp:revision>
  <dcterms:created xsi:type="dcterms:W3CDTF">2022-02-07T06:24:49Z</dcterms:created>
  <dcterms:modified xsi:type="dcterms:W3CDTF">2022-05-10T11:37:28Z</dcterms:modified>
</cp:coreProperties>
</file>