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78" r:id="rId2"/>
    <p:sldId id="280" r:id="rId3"/>
    <p:sldId id="279" r:id="rId4"/>
    <p:sldId id="281" r:id="rId5"/>
    <p:sldId id="282" r:id="rId6"/>
    <p:sldId id="283" r:id="rId7"/>
    <p:sldId id="284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</p:sldIdLst>
  <p:sldSz cx="12192000" cy="6858000"/>
  <p:notesSz cx="6858000" cy="9144000"/>
  <p:embeddedFontLst>
    <p:embeddedFont>
      <p:font typeface="Verdana" panose="020B0604030504040204" pitchFamily="34" charset="0"/>
      <p:regular r:id="rId33"/>
      <p:bold r:id="rId34"/>
      <p:italic r:id="rId35"/>
      <p:boldItalic r:id="rId36"/>
    </p:embeddedFont>
    <p:embeddedFont>
      <p:font typeface="맑은 고딕" panose="020B0503020000020004" pitchFamily="50" charset="-127"/>
      <p:regular r:id="rId37"/>
      <p:bold r:id="rId38"/>
    </p:embeddedFont>
    <p:embeddedFont>
      <p:font typeface="서울남산 장체 EB" panose="02020503020101020101" pitchFamily="18" charset="-127"/>
      <p:regular r:id="rId39"/>
    </p:embeddedFont>
    <p:embeddedFont>
      <p:font typeface="서울남산 장체 L" panose="02020503020101020101" pitchFamily="18" charset="-127"/>
      <p:regular r:id="rId40"/>
    </p:embeddedFont>
    <p:embeddedFont>
      <p:font typeface="서울남산 장체 M" panose="02020503020101020101" pitchFamily="18" charset="-127"/>
      <p:regular r:id="rId41"/>
    </p:embeddedFont>
    <p:embeddedFont>
      <p:font typeface="서울한강 장체 L" panose="02020503020101020101" pitchFamily="18" charset="-127"/>
      <p:regular r:id="rId42"/>
    </p:embeddedFont>
    <p:embeddedFont>
      <p:font typeface="함초롬돋움" panose="020B0604000101010101" pitchFamily="50" charset="-127"/>
      <p:regular r:id="rId43"/>
      <p:bold r:id="rId44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8E6296-7815-4D01-AC8F-0D56325A4B6A}" v="7" dt="2026-08-30T03:38:17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7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홍구 강" userId="a93389a66a7541b1" providerId="LiveId" clId="{351AAD23-9367-4F16-A80F-973D7BCCAA0C}"/>
    <pc:docChg chg="modSld">
      <pc:chgData name="홍구 강" userId="a93389a66a7541b1" providerId="LiveId" clId="{351AAD23-9367-4F16-A80F-973D7BCCAA0C}" dt="2026-08-30T03:38:17.101" v="6" actId="732"/>
      <pc:docMkLst>
        <pc:docMk/>
      </pc:docMkLst>
      <pc:sldChg chg="modSp">
        <pc:chgData name="홍구 강" userId="a93389a66a7541b1" providerId="LiveId" clId="{351AAD23-9367-4F16-A80F-973D7BCCAA0C}" dt="2026-08-30T03:38:17.101" v="6" actId="732"/>
        <pc:sldMkLst>
          <pc:docMk/>
          <pc:sldMk cId="0" sldId="282"/>
        </pc:sldMkLst>
        <pc:spChg chg="mod">
          <ac:chgData name="홍구 강" userId="a93389a66a7541b1" providerId="LiveId" clId="{351AAD23-9367-4F16-A80F-973D7BCCAA0C}" dt="2026-08-30T03:38:17.101" v="6" actId="732"/>
          <ac:spMkLst>
            <pc:docMk/>
            <pc:sldMk cId="0" sldId="282"/>
            <ac:spMk id="5" creationId="{56BCD8FF-F2AC-4356-B46B-E536AB341365}"/>
          </ac:spMkLst>
        </pc:spChg>
        <pc:grpChg chg="mod">
          <ac:chgData name="홍구 강" userId="a93389a66a7541b1" providerId="LiveId" clId="{351AAD23-9367-4F16-A80F-973D7BCCAA0C}" dt="2026-08-30T03:38:17.101" v="6" actId="732"/>
          <ac:grpSpMkLst>
            <pc:docMk/>
            <pc:sldMk cId="0" sldId="282"/>
            <ac:grpSpMk id="8195" creationId="{D8394EA7-3BE7-410D-BD5F-F7992A25B84A}"/>
          </ac:grpSpMkLst>
        </pc:grpChg>
        <pc:picChg chg="mod">
          <ac:chgData name="홍구 강" userId="a93389a66a7541b1" providerId="LiveId" clId="{351AAD23-9367-4F16-A80F-973D7BCCAA0C}" dt="2026-08-30T03:38:17.101" v="6" actId="732"/>
          <ac:picMkLst>
            <pc:docMk/>
            <pc:sldMk cId="0" sldId="282"/>
            <ac:picMk id="8197" creationId="{C0794DFC-CD04-40E0-8EC2-22E4602770D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58ABF36E-01ED-4FFA-A18D-E2904072E8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7A8C2ACE-47C0-44D3-9DC9-8E943806C447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279F6B1B-EC58-432B-A2FC-3C2789278BBB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933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EE91AE-1F94-49E5-8F8C-1557424694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04C3900-C54F-4101-BCE1-AF025B868AE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0A6536-864B-4FFA-889E-8A3AFC1AAA2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592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045166-DF5E-4FB6-9C2E-FEC690E17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3D3A160-A72D-415C-A582-C519C4A030B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DC414-35A2-49E8-9B98-68EFC5C7F340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0514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1B524C0-9F3C-48AA-91F7-ACB5846499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5595B8B-B0D0-49CD-9971-10A1E8E2D5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37AD34-B55E-45B9-84C8-230FE5C5E75A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9897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F37FF1F-7DBF-404A-8D16-83A3A82465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0C74C7-0CC4-45D2-9C01-7F42AC26F56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6CFBE-BC1F-4755-8043-0C2B074FC1E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396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B1D1F03-7BDA-4561-B50A-C865F9A3F0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341FAB9-1E9E-4DC3-BBF3-1860C4BBA88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913C0F-B8CB-4617-8AB8-ACC8C843D2A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9731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99F625B7-0022-4FDA-AF4D-4B744DC0D8EA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E0038497-D83A-4731-9E38-27B1B5A3C89B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7D2EEA0E-28D3-4BDA-BA68-D963B6A996B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78F50B4D-14E8-4332-A202-9EC4BCF94F2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8C5B9F00-2DA8-4530-96C5-355B4E4842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28615510-C704-4385-8E4D-F6C43A8D3F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E659992-C0B7-4C7F-9328-D1576C6AC19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fld id="{08E6F3DB-F43F-480C-962A-3EE507D9A71C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43FA07D3-4F02-4356-A8A7-804FC5DD302D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20D6CFFA-8EAD-4632-BDF9-45B00A2FC3A4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40740AAD-6A7E-47D9-B778-2DB6A5A7966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BCEA477C-574D-4A16-AFFE-C6FC394FECA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D7B4BB7F-09D4-41FD-8949-2D3A7F3EC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4" r:id="rId2"/>
    <p:sldLayoutId id="2147483705" r:id="rId3"/>
    <p:sldLayoutId id="2147483706" r:id="rId4"/>
    <p:sldLayoutId id="2147483707" r:id="rId5"/>
    <p:sldLayoutId id="2147483708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M" panose="02020503020101020101" pitchFamily="18" charset="-127"/>
          <a:ea typeface="서울남산 장체 M" panose="02020503020101020101" pitchFamily="18" charset="-127"/>
          <a:cs typeface="+mn-cs"/>
        </a:defRPr>
      </a:lvl1pPr>
      <a:lvl2pPr marL="1793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부제목 3">
            <a:extLst>
              <a:ext uri="{FF2B5EF4-FFF2-40B4-BE49-F238E27FC236}">
                <a16:creationId xmlns:a16="http://schemas.microsoft.com/office/drawing/2014/main" id="{9A0C3611-A30F-4B10-9CCE-825354142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hangingPunct="1"/>
            <a:r>
              <a:rPr lang="en-US" altLang="ko-KR"/>
              <a:t>Chapter 1. </a:t>
            </a:r>
            <a:r>
              <a:rPr lang="ko-KR" altLang="en-US"/>
              <a:t>외식서비스의 기본 이해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텍스트 개체 틀 3">
            <a:extLst>
              <a:ext uri="{FF2B5EF4-FFF2-40B4-BE49-F238E27FC236}">
                <a16:creationId xmlns:a16="http://schemas.microsoft.com/office/drawing/2014/main" id="{E8125C75-2900-4AED-8A93-E9A1D15DA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1. </a:t>
            </a:r>
            <a:r>
              <a:rPr lang="ko-KR" altLang="en-US"/>
              <a:t>외식사업의 기본 개념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8B0512-09CD-464B-9517-4B160E95990C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89B395-BE78-42D2-95FA-B9568A2935A8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581779BA-6873-4FFD-B38B-364392C2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외식사업의 정의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4E2B8656-FB9B-4BF9-8749-4D69AA8E1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광의의 개념 </a:t>
            </a:r>
            <a:r>
              <a:rPr lang="en-US" altLang="ko-KR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: ‘</a:t>
            </a:r>
            <a:r>
              <a:rPr lang="ko-KR" altLang="en-US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외식</a:t>
            </a:r>
            <a:r>
              <a:rPr lang="en-US" altLang="ko-KR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이란 가정 밖에서 이루어지는 모든 상업적인 식사 해결 형태 포함</a:t>
            </a:r>
            <a:endParaRPr lang="en-US" altLang="ko-KR" sz="2000" b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협의의 개념 </a:t>
            </a:r>
            <a:r>
              <a:rPr lang="en-US" altLang="ko-KR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: ‘</a:t>
            </a:r>
            <a:r>
              <a:rPr lang="ko-KR" altLang="en-US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외식</a:t>
            </a:r>
            <a:r>
              <a:rPr lang="en-US" altLang="ko-KR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2000" b="0">
                <a:ea typeface="함초롬돋움" panose="020B0604000101010101" pitchFamily="50" charset="-127"/>
                <a:cs typeface="함초롬돋움" panose="020B0604000101010101" pitchFamily="50" charset="-127"/>
              </a:rPr>
              <a:t>이란 일정한 장소에서 조리 가공된 음식을 일정가격을 지불하고 서비스와 함께 구매하여 소비하는 식생활 </a:t>
            </a:r>
            <a:endParaRPr lang="en-US" altLang="ko-KR" sz="2000" b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/>
            <a:endParaRPr lang="ko-KR" altLang="en-US" sz="200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095536E-2670-4031-9E85-1A2AC5091631}"/>
              </a:ext>
            </a:extLst>
          </p:cNvPr>
          <p:cNvSpPr/>
          <p:nvPr/>
        </p:nvSpPr>
        <p:spPr>
          <a:xfrm>
            <a:off x="658813" y="3700463"/>
            <a:ext cx="1725612" cy="1160462"/>
          </a:xfrm>
          <a:prstGeom prst="ellips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본 서의 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‘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외식사업</a:t>
            </a:r>
            <a:r>
              <a:rPr lang="en-US" altLang="ko-KR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’ </a:t>
            </a:r>
            <a:r>
              <a:rPr lang="ko-KR" altLang="en-US" sz="16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정의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EBAAC1C-0A57-4200-B344-7D3F3457C729}"/>
              </a:ext>
            </a:extLst>
          </p:cNvPr>
          <p:cNvSpPr/>
          <p:nvPr/>
        </p:nvSpPr>
        <p:spPr>
          <a:xfrm>
            <a:off x="1174750" y="5116513"/>
            <a:ext cx="8683625" cy="116205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영리를 목적으로 소비자들에게 음식과 서비스를 제공하는 </a:t>
            </a:r>
            <a:r>
              <a:rPr lang="ko-KR" altLang="en-US" sz="200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음식점업</a:t>
            </a:r>
            <a:r>
              <a:rPr lang="ko-KR" altLang="en-US" sz="20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또는 레스토랑 사업 </a:t>
            </a:r>
            <a:endParaRPr lang="en-US" altLang="ko-KR" sz="20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226911B7-EFF0-4A2A-8D8B-84780A4EE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7E0703-C7A9-4693-8340-38929E7370EC}"/>
              </a:ext>
            </a:extLst>
          </p:cNvPr>
          <p:cNvSpPr/>
          <p:nvPr/>
        </p:nvSpPr>
        <p:spPr bwMode="auto">
          <a:xfrm>
            <a:off x="1404938" y="2894013"/>
            <a:ext cx="9371012" cy="5889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외식을 위하여 판매가 가능하도록 생산한 제품 및 외식과 관련된 서비스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교육훈련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운영체계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상표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· </a:t>
            </a:r>
            <a:r>
              <a:rPr lang="ko-KR" altLang="en-US" sz="160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서비스표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등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  <a:endParaRPr lang="ko-KR" altLang="en-US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4DB565-6A23-4020-B7F0-84C42FF696E7}"/>
              </a:ext>
            </a:extLst>
          </p:cNvPr>
          <p:cNvSpPr/>
          <p:nvPr/>
        </p:nvSpPr>
        <p:spPr bwMode="auto">
          <a:xfrm>
            <a:off x="1404938" y="4033838"/>
            <a:ext cx="9371012" cy="8302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외식상품의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기획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·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개발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·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생산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·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유통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·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소비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·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수출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·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수입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·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가맹사업 및 이에 관련된 서비스를 행하는 산업과 그 밖에 대통령령으로 정하는 산업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896B82E-6E1B-4A73-BFFD-E400F4F1706E}"/>
              </a:ext>
            </a:extLst>
          </p:cNvPr>
          <p:cNvSpPr/>
          <p:nvPr/>
        </p:nvSpPr>
        <p:spPr bwMode="auto">
          <a:xfrm>
            <a:off x="373063" y="2820988"/>
            <a:ext cx="909637" cy="7350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ko-KR" altLang="en-US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외식상품</a:t>
            </a:r>
            <a:endParaRPr lang="ko-KR" altLang="en-US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5A8F3CA-3B74-4085-94C4-A1A6B2B22B91}"/>
              </a:ext>
            </a:extLst>
          </p:cNvPr>
          <p:cNvSpPr/>
          <p:nvPr/>
        </p:nvSpPr>
        <p:spPr bwMode="auto">
          <a:xfrm>
            <a:off x="373063" y="4083050"/>
            <a:ext cx="909637" cy="79216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외식산업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539226-D6A4-41DD-ADEA-6CB28EC5AC7C}"/>
              </a:ext>
            </a:extLst>
          </p:cNvPr>
          <p:cNvSpPr/>
          <p:nvPr/>
        </p:nvSpPr>
        <p:spPr bwMode="auto">
          <a:xfrm>
            <a:off x="1404938" y="1641475"/>
            <a:ext cx="9371012" cy="5857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가정에서 취사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취사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)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를 통하여 음식을 마련하지 아니하고 음식점 등에서 음식을 사서 이루어지는 </a:t>
            </a:r>
            <a:r>
              <a:rPr lang="ko-KR" altLang="en-US" sz="160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식사형태</a:t>
            </a:r>
            <a:endParaRPr lang="ko-KR" altLang="en-US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AEB696A-D387-450F-9B79-2C052CD68E83}"/>
              </a:ext>
            </a:extLst>
          </p:cNvPr>
          <p:cNvSpPr/>
          <p:nvPr/>
        </p:nvSpPr>
        <p:spPr bwMode="auto">
          <a:xfrm>
            <a:off x="373063" y="1566863"/>
            <a:ext cx="909637" cy="7350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외식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9BB14F-E632-47BD-AF9A-C0A192A6D237}"/>
              </a:ext>
            </a:extLst>
          </p:cNvPr>
          <p:cNvSpPr/>
          <p:nvPr/>
        </p:nvSpPr>
        <p:spPr bwMode="auto">
          <a:xfrm>
            <a:off x="1404938" y="5402263"/>
            <a:ext cx="9371012" cy="5873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외식산업과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관련된 경제활동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FA5CAEF-B5C1-4D12-B78E-4F9D4502B808}"/>
              </a:ext>
            </a:extLst>
          </p:cNvPr>
          <p:cNvSpPr/>
          <p:nvPr/>
        </p:nvSpPr>
        <p:spPr bwMode="auto">
          <a:xfrm>
            <a:off x="373063" y="5329238"/>
            <a:ext cx="909637" cy="7350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외식사업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A1AE63EF-BB5C-4281-A9B4-4A852581F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외식사업의 목표</a:t>
            </a:r>
          </a:p>
        </p:txBody>
      </p:sp>
      <p:grpSp>
        <p:nvGrpSpPr>
          <p:cNvPr id="8195" name="그룹 6">
            <a:extLst>
              <a:ext uri="{FF2B5EF4-FFF2-40B4-BE49-F238E27FC236}">
                <a16:creationId xmlns:a16="http://schemas.microsoft.com/office/drawing/2014/main" id="{D8394EA7-3BE7-410D-BD5F-F7992A25B84A}"/>
              </a:ext>
            </a:extLst>
          </p:cNvPr>
          <p:cNvGrpSpPr>
            <a:grpSpLocks/>
          </p:cNvGrpSpPr>
          <p:nvPr/>
        </p:nvGrpSpPr>
        <p:grpSpPr bwMode="auto">
          <a:xfrm>
            <a:off x="2005013" y="1227137"/>
            <a:ext cx="7993062" cy="3425825"/>
            <a:chOff x="2005187" y="1227712"/>
            <a:chExt cx="7992888" cy="3424790"/>
          </a:xfrm>
        </p:grpSpPr>
        <p:pic>
          <p:nvPicPr>
            <p:cNvPr id="8197" name="Picture 2" descr="C:\Users\KNOU_USER\Desktop\PPT자료(1장~3장)\1장\그림1-2.jpg">
              <a:extLst>
                <a:ext uri="{FF2B5EF4-FFF2-40B4-BE49-F238E27FC236}">
                  <a16:creationId xmlns:a16="http://schemas.microsoft.com/office/drawing/2014/main" id="{C0794DFC-CD04-40E0-8EC2-22E4602770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25"/>
            <a:stretch>
              <a:fillRect/>
            </a:stretch>
          </p:blipFill>
          <p:spPr bwMode="auto">
            <a:xfrm>
              <a:off x="2005187" y="1227712"/>
              <a:ext cx="7992888" cy="3424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6BCD8FF-F2AC-4356-B46B-E536AB341365}"/>
                </a:ext>
              </a:extLst>
            </p:cNvPr>
            <p:cNvSpPr txBox="1"/>
            <p:nvPr/>
          </p:nvSpPr>
          <p:spPr>
            <a:xfrm>
              <a:off x="4353048" y="3844709"/>
              <a:ext cx="1339821" cy="40627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defRPr/>
              </a:pPr>
              <a:endParaRPr lang="ko-KR" altLang="en-US">
                <a:solidFill>
                  <a:srgbClr val="FFFFFF"/>
                </a:solidFill>
                <a:ea typeface="굴림" panose="020B0600000101010101" pitchFamily="50" charset="-127"/>
              </a:endParaRPr>
            </a:p>
          </p:txBody>
        </p:sp>
      </p:grp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BD8B50BD-BFC7-462C-9D4A-B2BF819633C0}"/>
              </a:ext>
            </a:extLst>
          </p:cNvPr>
          <p:cNvSpPr/>
          <p:nvPr/>
        </p:nvSpPr>
        <p:spPr>
          <a:xfrm>
            <a:off x="900113" y="4652963"/>
            <a:ext cx="7993062" cy="172878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외부 고객 만족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“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탁월한 서비스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”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에 의해 결정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탁월한 서비스는 만족도가 높은 현장 종사원들의 접점서비스 수준에 의해 결정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70528729-ABF6-447C-AE7C-3FD37646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외식사업의 목표</a:t>
            </a:r>
          </a:p>
        </p:txBody>
      </p:sp>
      <p:grpSp>
        <p:nvGrpSpPr>
          <p:cNvPr id="9219" name="그룹 12">
            <a:extLst>
              <a:ext uri="{FF2B5EF4-FFF2-40B4-BE49-F238E27FC236}">
                <a16:creationId xmlns:a16="http://schemas.microsoft.com/office/drawing/2014/main" id="{626C27FB-4F98-4E02-9C19-0445F7B9A3F1}"/>
              </a:ext>
            </a:extLst>
          </p:cNvPr>
          <p:cNvGrpSpPr>
            <a:grpSpLocks/>
          </p:cNvGrpSpPr>
          <p:nvPr/>
        </p:nvGrpSpPr>
        <p:grpSpPr bwMode="auto">
          <a:xfrm>
            <a:off x="2595563" y="1636713"/>
            <a:ext cx="6624637" cy="2349500"/>
            <a:chOff x="1500163" y="1727097"/>
            <a:chExt cx="6624737" cy="2349975"/>
          </a:xfrm>
        </p:grpSpPr>
        <p:sp>
          <p:nvSpPr>
            <p:cNvPr id="14" name="육각형 13">
              <a:extLst>
                <a:ext uri="{FF2B5EF4-FFF2-40B4-BE49-F238E27FC236}">
                  <a16:creationId xmlns:a16="http://schemas.microsoft.com/office/drawing/2014/main" id="{FF1C23B5-58EA-4BE9-AC35-6A7F5E503B03}"/>
                </a:ext>
              </a:extLst>
            </p:cNvPr>
            <p:cNvSpPr/>
            <p:nvPr/>
          </p:nvSpPr>
          <p:spPr>
            <a:xfrm>
              <a:off x="1500163" y="2781410"/>
              <a:ext cx="1409721" cy="1198804"/>
            </a:xfrm>
            <a:prstGeom prst="hexagon">
              <a:avLst/>
            </a:prstGeom>
            <a:solidFill>
              <a:srgbClr val="4F81BD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lumMod val="75000"/>
                </a:srgbClr>
              </a:solidFill>
              <a:prstDash val="sysDash"/>
            </a:ln>
            <a:effectLst/>
          </p:spPr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kern="0" dirty="0">
                  <a:solidFill>
                    <a:prstClr val="black"/>
                  </a:solidFill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내부</a:t>
              </a:r>
              <a:endParaRPr lang="en-US" altLang="ko-KR" sz="1600" kern="0" dirty="0">
                <a:solidFill>
                  <a:prstClr val="black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kern="0" dirty="0">
                  <a:solidFill>
                    <a:prstClr val="black"/>
                  </a:solidFill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고객</a:t>
              </a:r>
              <a:endParaRPr lang="en-US" altLang="ko-KR" sz="1600" kern="0" dirty="0">
                <a:solidFill>
                  <a:prstClr val="black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 kern="0" dirty="0">
                  <a:solidFill>
                    <a:prstClr val="black"/>
                  </a:solidFill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(</a:t>
              </a:r>
              <a:r>
                <a:rPr lang="ko-KR" altLang="en-US" sz="1200" kern="0" dirty="0">
                  <a:solidFill>
                    <a:prstClr val="black"/>
                  </a:solidFill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현장종업원</a:t>
              </a:r>
              <a:r>
                <a:rPr lang="en-US" altLang="ko-KR" sz="1200" kern="0" dirty="0">
                  <a:solidFill>
                    <a:prstClr val="black"/>
                  </a:solidFill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)</a:t>
              </a:r>
              <a:endParaRPr lang="ko-KR" altLang="en-US" sz="1200" kern="0" dirty="0">
                <a:solidFill>
                  <a:prstClr val="black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15" name="육각형 14">
              <a:extLst>
                <a:ext uri="{FF2B5EF4-FFF2-40B4-BE49-F238E27FC236}">
                  <a16:creationId xmlns:a16="http://schemas.microsoft.com/office/drawing/2014/main" id="{D119DF93-973E-4657-95D9-8F2C6B64540B}"/>
                </a:ext>
              </a:extLst>
            </p:cNvPr>
            <p:cNvSpPr/>
            <p:nvPr/>
          </p:nvSpPr>
          <p:spPr>
            <a:xfrm>
              <a:off x="4176728" y="1727097"/>
              <a:ext cx="1416071" cy="1198804"/>
            </a:xfrm>
            <a:prstGeom prst="hexagon">
              <a:avLst/>
            </a:prstGeom>
            <a:solidFill>
              <a:srgbClr val="8064A2">
                <a:lumMod val="40000"/>
                <a:lumOff val="60000"/>
              </a:srgbClr>
            </a:solidFill>
            <a:ln w="25400" cap="flat" cmpd="sng" algn="ctr">
              <a:solidFill>
                <a:srgbClr val="8064A2">
                  <a:lumMod val="75000"/>
                </a:srgbClr>
              </a:solidFill>
              <a:prstDash val="sysDash"/>
            </a:ln>
            <a:effectLst/>
          </p:spPr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kern="0" dirty="0">
                  <a:solidFill>
                    <a:prstClr val="black"/>
                  </a:solidFill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외식</a:t>
              </a:r>
              <a:endParaRPr lang="en-US" altLang="ko-KR" sz="1600" kern="0" dirty="0">
                <a:solidFill>
                  <a:prstClr val="black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kern="0" dirty="0">
                  <a:solidFill>
                    <a:prstClr val="black"/>
                  </a:solidFill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경영자</a:t>
              </a:r>
            </a:p>
          </p:txBody>
        </p:sp>
        <p:sp>
          <p:nvSpPr>
            <p:cNvPr id="16" name="육각형 15">
              <a:extLst>
                <a:ext uri="{FF2B5EF4-FFF2-40B4-BE49-F238E27FC236}">
                  <a16:creationId xmlns:a16="http://schemas.microsoft.com/office/drawing/2014/main" id="{D695D766-B222-4094-9730-15D89D0B361C}"/>
                </a:ext>
              </a:extLst>
            </p:cNvPr>
            <p:cNvSpPr/>
            <p:nvPr/>
          </p:nvSpPr>
          <p:spPr>
            <a:xfrm>
              <a:off x="6685016" y="2781410"/>
              <a:ext cx="1439884" cy="1198804"/>
            </a:xfrm>
            <a:prstGeom prst="hexagon">
              <a:avLst/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solidFill>
                <a:srgbClr val="4BACC6">
                  <a:lumMod val="75000"/>
                </a:srgbClr>
              </a:solidFill>
              <a:prstDash val="sysDash"/>
            </a:ln>
            <a:effectLst/>
          </p:spPr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kern="0" dirty="0">
                  <a:solidFill>
                    <a:prstClr val="black"/>
                  </a:solidFill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외부</a:t>
              </a:r>
              <a:endParaRPr lang="en-US" altLang="ko-KR" sz="1600" kern="0" dirty="0">
                <a:solidFill>
                  <a:prstClr val="black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endParaRPr>
            </a:p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kern="0" dirty="0">
                  <a:solidFill>
                    <a:prstClr val="black"/>
                  </a:solidFill>
                  <a:latin typeface="함초롬돋움" panose="02030504000101010101" pitchFamily="18" charset="-127"/>
                  <a:ea typeface="함초롬돋움" panose="02030504000101010101" pitchFamily="18" charset="-127"/>
                  <a:cs typeface="함초롬돋움" panose="02030504000101010101" pitchFamily="18" charset="-127"/>
                </a:rPr>
                <a:t>고객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7EB6AF1-1BA6-415B-B684-C18C3958D0EB}"/>
                </a:ext>
              </a:extLst>
            </p:cNvPr>
            <p:cNvSpPr/>
            <p:nvPr/>
          </p:nvSpPr>
          <p:spPr>
            <a:xfrm>
              <a:off x="1579539" y="4031025"/>
              <a:ext cx="6448522" cy="46047"/>
            </a:xfrm>
            <a:prstGeom prst="rect">
              <a:avLst/>
            </a:prstGeom>
            <a:solidFill>
              <a:srgbClr val="EEECE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kern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cxnSp>
          <p:nvCxnSpPr>
            <p:cNvPr id="9225" name="직선 연결선 17">
              <a:extLst>
                <a:ext uri="{FF2B5EF4-FFF2-40B4-BE49-F238E27FC236}">
                  <a16:creationId xmlns:a16="http://schemas.microsoft.com/office/drawing/2014/main" id="{E5C18913-7ADD-4327-BBE7-8FF2057D1FDD}"/>
                </a:ext>
              </a:extLst>
            </p:cNvPr>
            <p:cNvCxnSpPr>
              <a:cxnSpLocks noChangeShapeType="1"/>
              <a:stCxn id="15" idx="2"/>
            </p:cNvCxnSpPr>
            <p:nvPr/>
          </p:nvCxnSpPr>
          <p:spPr bwMode="auto">
            <a:xfrm flipH="1">
              <a:off x="2724300" y="2326182"/>
              <a:ext cx="1452035" cy="769067"/>
            </a:xfrm>
            <a:prstGeom prst="line">
              <a:avLst/>
            </a:prstGeom>
            <a:noFill/>
            <a:ln w="952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26" name="직선 연결선 18">
              <a:extLst>
                <a:ext uri="{FF2B5EF4-FFF2-40B4-BE49-F238E27FC236}">
                  <a16:creationId xmlns:a16="http://schemas.microsoft.com/office/drawing/2014/main" id="{E23476B4-5C65-40C1-8710-7197891C726A}"/>
                </a:ext>
              </a:extLst>
            </p:cNvPr>
            <p:cNvCxnSpPr>
              <a:cxnSpLocks noChangeShapeType="1"/>
              <a:stCxn id="15" idx="1"/>
            </p:cNvCxnSpPr>
            <p:nvPr/>
          </p:nvCxnSpPr>
          <p:spPr bwMode="auto">
            <a:xfrm>
              <a:off x="5592845" y="2326182"/>
              <a:ext cx="1235911" cy="769067"/>
            </a:xfrm>
            <a:prstGeom prst="line">
              <a:avLst/>
            </a:prstGeom>
            <a:noFill/>
            <a:ln w="952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하트 19">
              <a:extLst>
                <a:ext uri="{FF2B5EF4-FFF2-40B4-BE49-F238E27FC236}">
                  <a16:creationId xmlns:a16="http://schemas.microsoft.com/office/drawing/2014/main" id="{1784A573-11C5-417F-ACA1-70080648549B}"/>
                </a:ext>
              </a:extLst>
            </p:cNvPr>
            <p:cNvSpPr/>
            <p:nvPr/>
          </p:nvSpPr>
          <p:spPr>
            <a:xfrm>
              <a:off x="1581126" y="2454319"/>
              <a:ext cx="407994" cy="288983"/>
            </a:xfrm>
            <a:prstGeom prst="heart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kern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1" name="하트 20">
              <a:extLst>
                <a:ext uri="{FF2B5EF4-FFF2-40B4-BE49-F238E27FC236}">
                  <a16:creationId xmlns:a16="http://schemas.microsoft.com/office/drawing/2014/main" id="{F1F0CBBB-84A2-4023-A652-565BF44E71B6}"/>
                </a:ext>
              </a:extLst>
            </p:cNvPr>
            <p:cNvSpPr/>
            <p:nvPr/>
          </p:nvSpPr>
          <p:spPr>
            <a:xfrm>
              <a:off x="1909744" y="2286010"/>
              <a:ext cx="239716" cy="161958"/>
            </a:xfrm>
            <a:prstGeom prst="heart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kern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0EC18CF3-B138-4319-A13D-36C8E8101A14}"/>
              </a:ext>
            </a:extLst>
          </p:cNvPr>
          <p:cNvSpPr/>
          <p:nvPr/>
        </p:nvSpPr>
        <p:spPr>
          <a:xfrm>
            <a:off x="3643313" y="4752975"/>
            <a:ext cx="7993062" cy="14398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외식업 경영자에게는 두 종류의 고객이 존재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외부고객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만족보다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내부고객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’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만족이 더 중요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DD538ADF-A2F3-424C-A215-EA3FD5694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외식시장과 레스토랑 콘셉트</a:t>
            </a:r>
          </a:p>
        </p:txBody>
      </p:sp>
      <p:grpSp>
        <p:nvGrpSpPr>
          <p:cNvPr id="10243" name="그룹 4">
            <a:extLst>
              <a:ext uri="{FF2B5EF4-FFF2-40B4-BE49-F238E27FC236}">
                <a16:creationId xmlns:a16="http://schemas.microsoft.com/office/drawing/2014/main" id="{AF7D3869-DD8F-4537-B76D-226407FA55B7}"/>
              </a:ext>
            </a:extLst>
          </p:cNvPr>
          <p:cNvGrpSpPr>
            <a:grpSpLocks/>
          </p:cNvGrpSpPr>
          <p:nvPr/>
        </p:nvGrpSpPr>
        <p:grpSpPr bwMode="auto">
          <a:xfrm>
            <a:off x="2076450" y="944563"/>
            <a:ext cx="8039100" cy="4148137"/>
            <a:chOff x="899592" y="1080689"/>
            <a:chExt cx="8039644" cy="4148511"/>
          </a:xfrm>
        </p:grpSpPr>
        <p:pic>
          <p:nvPicPr>
            <p:cNvPr id="10244" name="_x168253904" descr="EMB000026803223">
              <a:extLst>
                <a:ext uri="{FF2B5EF4-FFF2-40B4-BE49-F238E27FC236}">
                  <a16:creationId xmlns:a16="http://schemas.microsoft.com/office/drawing/2014/main" id="{D35BFEC6-96E5-403D-8674-2330AA5E0F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2051303"/>
              <a:ext cx="8039644" cy="3177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1D32EF7D-72A6-4FAD-AB6A-3C7821084BDD}"/>
                </a:ext>
              </a:extLst>
            </p:cNvPr>
            <p:cNvSpPr/>
            <p:nvPr/>
          </p:nvSpPr>
          <p:spPr>
            <a:xfrm>
              <a:off x="1091693" y="2206327"/>
              <a:ext cx="2246464" cy="1343146"/>
            </a:xfrm>
            <a:prstGeom prst="roundRect">
              <a:avLst/>
            </a:prstGeom>
            <a:noFill/>
            <a:ln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defRPr/>
              </a:pPr>
              <a:endParaRPr lang="ko-KR" altLang="en-US">
                <a:solidFill>
                  <a:srgbClr val="FFFFFF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0F162B79-65DB-4DA1-80E7-055CABF33DA0}"/>
                </a:ext>
              </a:extLst>
            </p:cNvPr>
            <p:cNvSpPr/>
            <p:nvPr/>
          </p:nvSpPr>
          <p:spPr>
            <a:xfrm>
              <a:off x="6513372" y="2204740"/>
              <a:ext cx="2246465" cy="1343146"/>
            </a:xfrm>
            <a:prstGeom prst="roundRect">
              <a:avLst/>
            </a:prstGeom>
            <a:noFill/>
            <a:ln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defRPr/>
              </a:pPr>
              <a:endParaRPr lang="ko-KR" altLang="en-US">
                <a:solidFill>
                  <a:srgbClr val="FFFFFF"/>
                </a:solidFill>
                <a:ea typeface="굴림" panose="020B0600000101010101" pitchFamily="50" charset="-127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DCE8B6D-9FCA-4BD4-9EF3-789463EDFD8E}"/>
                </a:ext>
              </a:extLst>
            </p:cNvPr>
            <p:cNvCxnSpPr/>
            <p:nvPr/>
          </p:nvCxnSpPr>
          <p:spPr>
            <a:xfrm flipV="1">
              <a:off x="2160152" y="1772901"/>
              <a:ext cx="0" cy="360394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E17EB2FC-1DFE-4142-BDE6-E1D0247C930F}"/>
                </a:ext>
              </a:extLst>
            </p:cNvPr>
            <p:cNvCxnSpPr/>
            <p:nvPr/>
          </p:nvCxnSpPr>
          <p:spPr>
            <a:xfrm>
              <a:off x="2160152" y="1772901"/>
              <a:ext cx="5515348" cy="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B8F2A2D-8F0B-465A-AE35-D728A139D3BC}"/>
                </a:ext>
              </a:extLst>
            </p:cNvPr>
            <p:cNvCxnSpPr/>
            <p:nvPr/>
          </p:nvCxnSpPr>
          <p:spPr>
            <a:xfrm flipV="1">
              <a:off x="7675500" y="1772901"/>
              <a:ext cx="0" cy="360394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폭발 1 11">
              <a:extLst>
                <a:ext uri="{FF2B5EF4-FFF2-40B4-BE49-F238E27FC236}">
                  <a16:creationId xmlns:a16="http://schemas.microsoft.com/office/drawing/2014/main" id="{8A594AFE-A1C8-41E2-988F-CECA19A2A922}"/>
                </a:ext>
              </a:extLst>
            </p:cNvPr>
            <p:cNvSpPr/>
            <p:nvPr/>
          </p:nvSpPr>
          <p:spPr>
            <a:xfrm>
              <a:off x="7343691" y="1080689"/>
              <a:ext cx="1595545" cy="836687"/>
            </a:xfrm>
            <a:prstGeom prst="irregularSeal1">
              <a:avLst/>
            </a:prstGeom>
            <a:solidFill>
              <a:srgbClr val="FFFF9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함초롬돋움" pitchFamily="50" charset="-127"/>
                  <a:ea typeface="함초롬돋움" pitchFamily="50" charset="-127"/>
                  <a:cs typeface="함초롬돋움" pitchFamily="50" charset="-127"/>
                </a:rPr>
                <a:t>차별화</a:t>
              </a:r>
              <a:r>
                <a:rPr lang="en-US" altLang="ko-KR" sz="1600" dirty="0">
                  <a:solidFill>
                    <a:schemeClr val="tx1"/>
                  </a:solidFill>
                  <a:latin typeface="함초롬돋움" pitchFamily="50" charset="-127"/>
                  <a:ea typeface="함초롬돋움" pitchFamily="50" charset="-127"/>
                  <a:cs typeface="함초롬돋움" pitchFamily="50" charset="-127"/>
                </a:rPr>
                <a:t>!</a:t>
              </a:r>
              <a:endParaRPr lang="ko-KR" altLang="en-US" sz="1600" dirty="0">
                <a:solidFill>
                  <a:schemeClr val="tx1"/>
                </a:solidFill>
                <a:latin typeface="함초롬돋움" pitchFamily="50" charset="-127"/>
                <a:ea typeface="함초롬돋움" pitchFamily="50" charset="-127"/>
                <a:cs typeface="함초롬돋움" pitchFamily="50" charset="-127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717D3539-3EAC-4165-AC77-94E7BE21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외식시장과 레스토랑 콘셉트</a:t>
            </a:r>
          </a:p>
        </p:txBody>
      </p:sp>
      <p:grpSp>
        <p:nvGrpSpPr>
          <p:cNvPr id="11267" name="그룹 12">
            <a:extLst>
              <a:ext uri="{FF2B5EF4-FFF2-40B4-BE49-F238E27FC236}">
                <a16:creationId xmlns:a16="http://schemas.microsoft.com/office/drawing/2014/main" id="{3E606F5B-0B6A-406B-A9E8-0F975E3A3E14}"/>
              </a:ext>
            </a:extLst>
          </p:cNvPr>
          <p:cNvGrpSpPr>
            <a:grpSpLocks/>
          </p:cNvGrpSpPr>
          <p:nvPr/>
        </p:nvGrpSpPr>
        <p:grpSpPr bwMode="auto">
          <a:xfrm>
            <a:off x="2509838" y="1217613"/>
            <a:ext cx="7172325" cy="3986212"/>
            <a:chOff x="1584176" y="1604160"/>
            <a:chExt cx="7171780" cy="3985346"/>
          </a:xfrm>
        </p:grpSpPr>
        <p:pic>
          <p:nvPicPr>
            <p:cNvPr id="11269" name="그림 13">
              <a:extLst>
                <a:ext uri="{FF2B5EF4-FFF2-40B4-BE49-F238E27FC236}">
                  <a16:creationId xmlns:a16="http://schemas.microsoft.com/office/drawing/2014/main" id="{BB646B56-2BE5-4160-8E13-E24307D67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4176" y="1688458"/>
              <a:ext cx="6444208" cy="3901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오각형 14">
              <a:extLst>
                <a:ext uri="{FF2B5EF4-FFF2-40B4-BE49-F238E27FC236}">
                  <a16:creationId xmlns:a16="http://schemas.microsoft.com/office/drawing/2014/main" id="{BB7F8252-3CBB-4CE0-BF18-FD02F6A3BBB2}"/>
                </a:ext>
              </a:extLst>
            </p:cNvPr>
            <p:cNvSpPr/>
            <p:nvPr/>
          </p:nvSpPr>
          <p:spPr>
            <a:xfrm>
              <a:off x="6552673" y="1604160"/>
              <a:ext cx="2203283" cy="428532"/>
            </a:xfrm>
            <a:prstGeom prst="homePlate">
              <a:avLst/>
            </a:prstGeom>
            <a:solidFill>
              <a:srgbClr val="FFFF99"/>
            </a:solidFill>
            <a:ln w="1905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 dirty="0">
                  <a:solidFill>
                    <a:schemeClr val="tx1"/>
                  </a:solidFill>
                  <a:latin typeface="함초롬돋움" pitchFamily="50" charset="-127"/>
                  <a:ea typeface="함초롬돋움" pitchFamily="50" charset="-127"/>
                  <a:cs typeface="함초롬돋움" pitchFamily="50" charset="-127"/>
                </a:rPr>
                <a:t>나아가야 할 목적지</a:t>
              </a: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92D1ACD-94DC-4CFE-86DA-76172954601F}"/>
                </a:ext>
              </a:extLst>
            </p:cNvPr>
            <p:cNvCxnSpPr/>
            <p:nvPr/>
          </p:nvCxnSpPr>
          <p:spPr>
            <a:xfrm>
              <a:off x="6552673" y="1777159"/>
              <a:ext cx="0" cy="1055459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A15E6B1E-8E5E-41B5-8A5F-42317085E5A1}"/>
              </a:ext>
            </a:extLst>
          </p:cNvPr>
          <p:cNvSpPr/>
          <p:nvPr/>
        </p:nvSpPr>
        <p:spPr>
          <a:xfrm>
            <a:off x="2252663" y="5573713"/>
            <a:ext cx="7991475" cy="100806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특정 목표시장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의 욕구를 충족시키기 위해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u="sng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최적 조합을 통해 각 음식점만의 독특한 </a:t>
            </a:r>
            <a:r>
              <a:rPr lang="ko-KR" altLang="en-US" u="sng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콘셉트를</a:t>
            </a:r>
            <a:r>
              <a:rPr lang="ko-KR" altLang="en-US" u="sng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완성</a:t>
            </a:r>
            <a:endParaRPr lang="en-US" altLang="ko-KR" u="sng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A446E4F9-9B6A-4B8F-8C94-82D51E8B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3) </a:t>
            </a:r>
            <a:r>
              <a:rPr lang="ko-KR" altLang="en-US" dirty="0"/>
              <a:t>외식시장과 레스토랑 콘셉트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36E7007A-1866-4F21-A46E-A1B1F9F66299}"/>
              </a:ext>
            </a:extLst>
          </p:cNvPr>
          <p:cNvSpPr/>
          <p:nvPr/>
        </p:nvSpPr>
        <p:spPr>
          <a:xfrm>
            <a:off x="2328863" y="5876925"/>
            <a:ext cx="7993062" cy="865188"/>
          </a:xfrm>
          <a:prstGeom prst="round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u="sng" kern="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레스토랑 </a:t>
            </a:r>
            <a:r>
              <a:rPr lang="ko-KR" altLang="en-US" sz="1600" u="sng" kern="0" dirty="0" err="1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콘셉트의</a:t>
            </a:r>
            <a:r>
              <a:rPr lang="ko-KR" altLang="en-US" sz="1600" u="sng" kern="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분류기준 </a:t>
            </a:r>
            <a:r>
              <a:rPr lang="en-US" altLang="ko-KR" sz="1600" u="sng" kern="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sz="1600" u="sng" kern="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가격 </a:t>
            </a:r>
            <a:r>
              <a:rPr lang="en-US" altLang="ko-KR" sz="1600" u="sng" kern="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&amp; </a:t>
            </a:r>
            <a:r>
              <a:rPr lang="ko-KR" altLang="en-US" sz="1600" u="sng" kern="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식사경험</a:t>
            </a:r>
            <a:endParaRPr lang="en-US" altLang="ko-KR" sz="1600" u="sng" kern="0" dirty="0">
              <a:solidFill>
                <a:prstClr val="black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pic>
        <p:nvPicPr>
          <p:cNvPr id="12292" name="그림 6">
            <a:extLst>
              <a:ext uri="{FF2B5EF4-FFF2-40B4-BE49-F238E27FC236}">
                <a16:creationId xmlns:a16="http://schemas.microsoft.com/office/drawing/2014/main" id="{89AE0B32-982D-4816-B6B4-C0283919E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0" y="1171575"/>
            <a:ext cx="6946900" cy="447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85C18A27-B3C2-42CE-8FA1-706BF491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외식시장과 레스토랑 콘셉트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98D0DF-E2DC-421E-9CA0-CC0105F01EBD}"/>
              </a:ext>
            </a:extLst>
          </p:cNvPr>
          <p:cNvSpPr/>
          <p:nvPr/>
        </p:nvSpPr>
        <p:spPr>
          <a:xfrm>
            <a:off x="728663" y="1071563"/>
            <a:ext cx="3544887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r>
              <a:rPr lang="ko-KR" altLang="en-US" sz="2000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패스트푸드 </a:t>
            </a:r>
            <a:r>
              <a:rPr lang="ko-KR" altLang="en-US" sz="2000" b="1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콘셉트</a:t>
            </a:r>
            <a:endParaRPr lang="en-US" altLang="ko-KR" sz="2000" b="1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셀프서비스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제한된 메뉴를 저렴한 가격에 신속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편리하게 제공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표준화 된 운영시스템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바쁜 현대인들이나 저렴한 식사를 원하는 고객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D8F9A0-DAD0-4FEA-840C-339A154F5CA9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r>
              <a:rPr lang="ko-KR" altLang="en-US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패스트푸드 캐주얼 </a:t>
            </a:r>
            <a:r>
              <a:rPr lang="ko-KR" altLang="en-US" b="1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콘셉트</a:t>
            </a:r>
            <a:endParaRPr lang="en-US" altLang="ko-KR" b="1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셀프서비스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패스트푸드보다 비싸고 다양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but,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캐주얼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   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다이닝보다는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저렴하고 제한 된 메뉴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시간 제약을 많이 받는 고객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패스트푸드와 캐주얼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다이닝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시장에서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   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이탈한 고객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AE3D1B2D-33D6-424F-A2C5-529BCB92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외식시장과 레스토랑 콘셉트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A23E11-F347-4ABE-8A20-4CAA78976AE8}"/>
              </a:ext>
            </a:extLst>
          </p:cNvPr>
          <p:cNvSpPr/>
          <p:nvPr/>
        </p:nvSpPr>
        <p:spPr>
          <a:xfrm>
            <a:off x="657225" y="1060450"/>
            <a:ext cx="3741738" cy="3586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3"/>
              <a:defRPr/>
            </a:pPr>
            <a:r>
              <a:rPr lang="ko-KR" altLang="en-US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패밀리 레스토랑 </a:t>
            </a:r>
            <a:r>
              <a:rPr lang="ko-KR" altLang="en-US" b="1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콘셉트</a:t>
            </a:r>
            <a:endParaRPr lang="en-US" altLang="ko-KR" b="1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다양한 메뉴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표준운영시스템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비격식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동네 음식점 이미지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한국형 패밀리 레스토랑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가족 외식의 대표적인 장소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고기구이 전문점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전문 한식당 등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B6964D-06AF-4EC5-BAF4-236AA313D8FE}"/>
              </a:ext>
            </a:extLst>
          </p:cNvPr>
          <p:cNvSpPr/>
          <p:nvPr/>
        </p:nvSpPr>
        <p:spPr>
          <a:xfrm>
            <a:off x="6096000" y="1482725"/>
            <a:ext cx="4032250" cy="3586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4"/>
              <a:defRPr/>
            </a:pPr>
            <a:r>
              <a:rPr lang="ko-KR" altLang="en-US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캐주얼 </a:t>
            </a:r>
            <a:r>
              <a:rPr lang="ko-KR" altLang="en-US" b="1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다이닝</a:t>
            </a:r>
            <a:r>
              <a:rPr lang="ko-KR" altLang="en-US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b="1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콘셉트</a:t>
            </a:r>
            <a:endParaRPr lang="ko-KR" altLang="en-US" b="1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국내 고급 음식점으로 분류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비즈니스 모임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사회적 교류를 위한 목적으로 방문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높은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객단가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머무는 시간이 김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점심과 저녁 영업 주력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와인을 비롯한 다양한 알코올 서비스가 제공되며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bar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 있는 것이 특징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grpSp>
        <p:nvGrpSpPr>
          <p:cNvPr id="14341" name="그룹 2">
            <a:extLst>
              <a:ext uri="{FF2B5EF4-FFF2-40B4-BE49-F238E27FC236}">
                <a16:creationId xmlns:a16="http://schemas.microsoft.com/office/drawing/2014/main" id="{F942BEFD-0898-4FF8-9A8F-C6318323B43E}"/>
              </a:ext>
            </a:extLst>
          </p:cNvPr>
          <p:cNvGrpSpPr>
            <a:grpSpLocks/>
          </p:cNvGrpSpPr>
          <p:nvPr/>
        </p:nvGrpSpPr>
        <p:grpSpPr bwMode="auto">
          <a:xfrm>
            <a:off x="922338" y="4965700"/>
            <a:ext cx="3870325" cy="1616075"/>
            <a:chOff x="844527" y="5085184"/>
            <a:chExt cx="3871489" cy="1614885"/>
          </a:xfrm>
        </p:grpSpPr>
        <p:pic>
          <p:nvPicPr>
            <p:cNvPr id="14344" name="Picture 2" descr="스카이락에 대한 이미지 검색결과">
              <a:extLst>
                <a:ext uri="{FF2B5EF4-FFF2-40B4-BE49-F238E27FC236}">
                  <a16:creationId xmlns:a16="http://schemas.microsoft.com/office/drawing/2014/main" id="{0E7A6CC7-163F-4078-A3DF-E832CD417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527" y="5085184"/>
              <a:ext cx="1440403" cy="1591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5" name="Picture 4" descr="스카이락에 대한 이미지 검색결과">
              <a:extLst>
                <a:ext uri="{FF2B5EF4-FFF2-40B4-BE49-F238E27FC236}">
                  <a16:creationId xmlns:a16="http://schemas.microsoft.com/office/drawing/2014/main" id="{E6F34A2F-5123-466C-A800-9DE7F94F40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2160" y="5751212"/>
              <a:ext cx="925174" cy="925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6" name="그림 10">
              <a:extLst>
                <a:ext uri="{FF2B5EF4-FFF2-40B4-BE49-F238E27FC236}">
                  <a16:creationId xmlns:a16="http://schemas.microsoft.com/office/drawing/2014/main" id="{E6029585-D29C-4213-BB0F-DBE2C5913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5646" y="5727529"/>
              <a:ext cx="1310370" cy="972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342" name="그림 11">
            <a:extLst>
              <a:ext uri="{FF2B5EF4-FFF2-40B4-BE49-F238E27FC236}">
                <a16:creationId xmlns:a16="http://schemas.microsoft.com/office/drawing/2014/main" id="{741130F2-589A-4AC6-BE2F-6347403DD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013" y="5229225"/>
            <a:ext cx="1985962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그림 12">
            <a:extLst>
              <a:ext uri="{FF2B5EF4-FFF2-40B4-BE49-F238E27FC236}">
                <a16:creationId xmlns:a16="http://schemas.microsoft.com/office/drawing/2014/main" id="{193D726D-82C4-4B43-99DF-9EC9FB250E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950" y="5230813"/>
            <a:ext cx="201612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F32ECA8E-2A49-492F-BA72-38D5EDB8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외식시장과 레스토랑 콘셉트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159101-3984-4929-9E14-A6D527E9FCE4}"/>
              </a:ext>
            </a:extLst>
          </p:cNvPr>
          <p:cNvSpPr/>
          <p:nvPr/>
        </p:nvSpPr>
        <p:spPr>
          <a:xfrm>
            <a:off x="517525" y="1236663"/>
            <a:ext cx="4749800" cy="3587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5"/>
              <a:defRPr/>
            </a:pPr>
            <a:r>
              <a:rPr lang="ko-KR" altLang="en-US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파인 </a:t>
            </a:r>
            <a:r>
              <a:rPr lang="ko-KR" altLang="en-US" b="1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다이닝</a:t>
            </a:r>
            <a:r>
              <a:rPr lang="ko-KR" altLang="en-US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b="1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콘셉트</a:t>
            </a:r>
            <a:endParaRPr lang="ko-KR" altLang="en-US" b="1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요리의 독창성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예술성 중요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 직원들의 전문성 중요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메뉴나 서비스의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고객화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＇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정도가 매우 높음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주요고객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음식을 즐기는 미식가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Ex)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미쉐린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스타를 받은 레스토랑들이나 특급호텔의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식음료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브랜드들이 속함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F615EC-1D12-47A9-9F4E-2683A3B573C5}"/>
              </a:ext>
            </a:extLst>
          </p:cNvPr>
          <p:cNvSpPr/>
          <p:nvPr/>
        </p:nvSpPr>
        <p:spPr>
          <a:xfrm>
            <a:off x="6453188" y="1236663"/>
            <a:ext cx="4749800" cy="3587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(6) </a:t>
            </a:r>
            <a:r>
              <a:rPr lang="ko-KR" altLang="en-US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가상 브랜드 콘셉트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배달앱상에만 존재하는 온라인 배달 전용 레스토랑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오프라인의 점포 매장이나 간판 등이 존재하지 않고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디지털 세상 속에만 존재하는 레스토랑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배달 사업 위주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Ex)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넥스트바이트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딜리버루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도어대쉬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키친유나이티드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잇브랜드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395DD49E-15B3-43AE-9EE5-A1F21B187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외식시장과 레스토랑 콘셉트</a:t>
            </a:r>
          </a:p>
        </p:txBody>
      </p:sp>
      <p:pic>
        <p:nvPicPr>
          <p:cNvPr id="16387" name="그림 3">
            <a:extLst>
              <a:ext uri="{FF2B5EF4-FFF2-40B4-BE49-F238E27FC236}">
                <a16:creationId xmlns:a16="http://schemas.microsoft.com/office/drawing/2014/main" id="{9284E4CB-AD2D-4F59-A14C-C74450E5A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1204913"/>
            <a:ext cx="6480175" cy="551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96A33F9F-D44C-4023-9DEE-0576E1686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4) </a:t>
            </a:r>
            <a:r>
              <a:rPr lang="ko-KR" altLang="en-US"/>
              <a:t>외식사업은 무엇을 판매하는가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04C45B-677B-43A3-8F05-EA1E8C1ED776}"/>
              </a:ext>
            </a:extLst>
          </p:cNvPr>
          <p:cNvSpPr/>
          <p:nvPr/>
        </p:nvSpPr>
        <p:spPr>
          <a:xfrm>
            <a:off x="815975" y="1114425"/>
            <a:ext cx="9975850" cy="218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r>
              <a:rPr lang="ko-KR" altLang="en-US" sz="1600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메뉴상품</a:t>
            </a:r>
            <a:endParaRPr lang="en-US" altLang="ko-KR" sz="1600" b="1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유형화된 판매상품으로 음식점의 </a:t>
            </a:r>
            <a:r>
              <a:rPr lang="ko-KR" altLang="en-US" sz="160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콘셉트를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나타내는데 중요한 요소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신상품 개발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=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메뉴 개발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신메뉴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개발 역량이 외식 사업 성공에 중요한 요소인 이유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경쟁사와 차별화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.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고개들에게 매력적으로 어필할 수 있는 혁신적인 메뉴개발은 서비스 품질 인식 및 고객 만족에 직접적 영향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7BECB1-76C6-4BDE-83F7-F857EE6AE13D}"/>
              </a:ext>
            </a:extLst>
          </p:cNvPr>
          <p:cNvSpPr/>
          <p:nvPr/>
        </p:nvSpPr>
        <p:spPr>
          <a:xfrm>
            <a:off x="815975" y="3346450"/>
            <a:ext cx="9975850" cy="1104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(2) </a:t>
            </a:r>
            <a:r>
              <a:rPr lang="ko-KR" altLang="en-US" sz="1600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 프로세스 </a:t>
            </a:r>
            <a:endParaRPr lang="en-US" altLang="ko-KR" sz="1600" b="1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‘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 프로세스가 곧 상품이다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’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긍정적인 고객 경험을 창출할 수 있는 혁신적인 서비스 프로세스 개발 필요 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E7CB-8445-4FE0-870B-A5F6699B48D4}"/>
              </a:ext>
            </a:extLst>
          </p:cNvPr>
          <p:cNvSpPr/>
          <p:nvPr/>
        </p:nvSpPr>
        <p:spPr>
          <a:xfrm>
            <a:off x="815975" y="4498975"/>
            <a:ext cx="9975850" cy="9350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(3) </a:t>
            </a:r>
            <a:r>
              <a:rPr lang="ko-KR" altLang="en-US" sz="1600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외식브랜드</a:t>
            </a:r>
            <a:endParaRPr lang="en-US" altLang="ko-KR" sz="1600" b="1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브랜드로 인해 강력하고 지속적이며 차별화된 우위 선점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&gt;&gt;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높은 브랜드 </a:t>
            </a:r>
            <a:r>
              <a:rPr lang="ko-KR" altLang="en-US" sz="160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에쿼티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7A3B50-836E-4DB1-A8AB-359186D544C6}"/>
              </a:ext>
            </a:extLst>
          </p:cNvPr>
          <p:cNvSpPr/>
          <p:nvPr/>
        </p:nvSpPr>
        <p:spPr>
          <a:xfrm>
            <a:off x="827088" y="5507038"/>
            <a:ext cx="9977437" cy="107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(4) </a:t>
            </a:r>
            <a:r>
              <a:rPr lang="ko-KR" altLang="en-US" sz="1600" b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좌석을 파는 사업</a:t>
            </a:r>
            <a:endParaRPr lang="en-US" altLang="ko-KR" sz="1600" b="1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수익경영관점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‘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좌석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’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을 판매하는 사업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외식기업의 영업활성화를 위한 모든 마케팅 활동은 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‘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빈 좌석을 채우기 위해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’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이루어짐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텍스트 개체 틀 3">
            <a:extLst>
              <a:ext uri="{FF2B5EF4-FFF2-40B4-BE49-F238E27FC236}">
                <a16:creationId xmlns:a16="http://schemas.microsoft.com/office/drawing/2014/main" id="{445B9638-48D8-41E3-BB34-68EA556D9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2. </a:t>
            </a:r>
            <a:r>
              <a:rPr lang="ko-KR" altLang="en-US"/>
              <a:t>외식사업의 특징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0EE88D-A61D-492B-89B0-C50362F1480E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82DBFB-1347-4E73-ACFD-215DEBA27B1B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68333685-1D45-4417-B2A4-945A83E6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피플 비즈니스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42E1BB-F3CD-44BE-9A30-9E69F5FA76AC}"/>
              </a:ext>
            </a:extLst>
          </p:cNvPr>
          <p:cNvSpPr/>
          <p:nvPr/>
        </p:nvSpPr>
        <p:spPr>
          <a:xfrm>
            <a:off x="1111250" y="2552700"/>
            <a:ext cx="8609013" cy="1576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수익은 내부고객 만족에서 비롯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서비스업에 적합한 인재 발굴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교육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및 훈련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배치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평가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보상하는 인사제도 구축 필요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한쪽 모서리가 잘린 사각형 8">
            <a:extLst>
              <a:ext uri="{FF2B5EF4-FFF2-40B4-BE49-F238E27FC236}">
                <a16:creationId xmlns:a16="http://schemas.microsoft.com/office/drawing/2014/main" id="{CEFF8E3F-0006-4559-8862-5E8AD5046D7E}"/>
              </a:ext>
            </a:extLst>
          </p:cNvPr>
          <p:cNvSpPr/>
          <p:nvPr/>
        </p:nvSpPr>
        <p:spPr>
          <a:xfrm>
            <a:off x="1111250" y="1344613"/>
            <a:ext cx="7991475" cy="958850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“</a:t>
            </a: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 조직의 서비스가 나쁜 원인은 </a:t>
            </a:r>
            <a:r>
              <a:rPr lang="en-US" altLang="ko-KR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85%</a:t>
            </a: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 시스템이 갖추어져 있지 않기 </a:t>
            </a:r>
            <a:endParaRPr lang="en-US" altLang="ko-KR" i="1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때문이며</a:t>
            </a:r>
            <a:r>
              <a:rPr lang="en-US" altLang="ko-KR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종사원의 잘못은 </a:t>
            </a:r>
            <a:r>
              <a:rPr lang="en-US" altLang="ko-KR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15%</a:t>
            </a: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에 불과하다</a:t>
            </a:r>
            <a:r>
              <a:rPr lang="en-US" altLang="ko-KR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“_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데밍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(Deming)</a:t>
            </a:r>
            <a:endParaRPr lang="ko-KR" altLang="en-US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pic>
        <p:nvPicPr>
          <p:cNvPr id="19461" name="Picture 2" descr="서비스에 대한 이미지 검색결과">
            <a:extLst>
              <a:ext uri="{FF2B5EF4-FFF2-40B4-BE49-F238E27FC236}">
                <a16:creationId xmlns:a16="http://schemas.microsoft.com/office/drawing/2014/main" id="{725A1E9D-3069-466A-B6E5-2D706056A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450" y="4375150"/>
            <a:ext cx="274320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DDE61F4F-6390-482A-8402-D28CE3ED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재방문 비즈니스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EFAC15-47C2-4CA9-BACB-1DE849B0BB9B}"/>
              </a:ext>
            </a:extLst>
          </p:cNvPr>
          <p:cNvSpPr/>
          <p:nvPr/>
        </p:nvSpPr>
        <p:spPr>
          <a:xfrm>
            <a:off x="2100263" y="2397125"/>
            <a:ext cx="7991475" cy="1860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서비스 기업의 수입은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충성고객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으로부터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재방문의 의미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경험했던 음식과 서비스에 크게 만족 했다는 것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좋은 품질 서비스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= </a:t>
            </a:r>
            <a:r>
              <a:rPr lang="en-US" altLang="ko-KR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‘</a:t>
            </a:r>
            <a:r>
              <a:rPr lang="ko-KR" altLang="en-US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고객이 원하는</a:t>
            </a:r>
            <a:r>
              <a:rPr lang="en-US" altLang="ko-KR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고객이 기대하는 것</a:t>
            </a:r>
            <a:r>
              <a:rPr lang="en-US" altLang="ko-KR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’</a:t>
            </a:r>
            <a:r>
              <a:rPr lang="ko-KR" altLang="en-US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을 제대로 전달</a:t>
            </a:r>
            <a:r>
              <a:rPr lang="ko-KR" altLang="en-US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 </a:t>
            </a:r>
            <a:endParaRPr lang="en-US" altLang="ko-KR" dirty="0">
              <a:solidFill>
                <a:srgbClr val="0070C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   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→ </a:t>
            </a:r>
            <a:r>
              <a:rPr lang="ko-KR" altLang="en-US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긍정적 경험 제공</a:t>
            </a:r>
          </a:p>
        </p:txBody>
      </p:sp>
      <p:sp>
        <p:nvSpPr>
          <p:cNvPr id="7" name="한쪽 모서리가 잘린 사각형 6">
            <a:extLst>
              <a:ext uri="{FF2B5EF4-FFF2-40B4-BE49-F238E27FC236}">
                <a16:creationId xmlns:a16="http://schemas.microsoft.com/office/drawing/2014/main" id="{3EF24AF8-6671-4603-9E51-8A851F2E32C7}"/>
              </a:ext>
            </a:extLst>
          </p:cNvPr>
          <p:cNvSpPr/>
          <p:nvPr/>
        </p:nvSpPr>
        <p:spPr>
          <a:xfrm>
            <a:off x="2100263" y="1355725"/>
            <a:ext cx="7991475" cy="787400"/>
          </a:xfrm>
          <a:prstGeom prst="snip1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한 번 온 고객이 다시 오고 싶도록 만드는 것이 외식서비스 마케팅의 핵심</a:t>
            </a:r>
            <a:r>
              <a:rPr lang="en-US" altLang="ko-KR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!</a:t>
            </a:r>
            <a:endParaRPr lang="ko-KR" altLang="en-US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pic>
        <p:nvPicPr>
          <p:cNvPr id="20485" name="Picture 2" descr="고객만족에 대한 이미지 검색결과">
            <a:extLst>
              <a:ext uri="{FF2B5EF4-FFF2-40B4-BE49-F238E27FC236}">
                <a16:creationId xmlns:a16="http://schemas.microsoft.com/office/drawing/2014/main" id="{0AA3354D-0571-4629-8917-3ACC71B12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925" y="4570413"/>
            <a:ext cx="3429000" cy="186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5B1AC561-6953-472E-9796-089305ACC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시스템 비즈니스</a:t>
            </a:r>
          </a:p>
        </p:txBody>
      </p:sp>
      <p:sp>
        <p:nvSpPr>
          <p:cNvPr id="6" name="한쪽 모서리가 잘린 사각형 5">
            <a:extLst>
              <a:ext uri="{FF2B5EF4-FFF2-40B4-BE49-F238E27FC236}">
                <a16:creationId xmlns:a16="http://schemas.microsoft.com/office/drawing/2014/main" id="{B5280DC5-C36F-4E91-8B93-DC5A7F607BD9}"/>
              </a:ext>
            </a:extLst>
          </p:cNvPr>
          <p:cNvSpPr/>
          <p:nvPr/>
        </p:nvSpPr>
        <p:spPr>
          <a:xfrm>
            <a:off x="2100263" y="1355725"/>
            <a:ext cx="7991475" cy="787400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일관된 품질의 서비스를 제공하기 위한 </a:t>
            </a:r>
            <a:r>
              <a:rPr lang="ko-KR" altLang="en-US" i="1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외식서비스</a:t>
            </a: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표준화 및 시스템화</a:t>
            </a:r>
            <a:endParaRPr lang="ko-KR" altLang="en-US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484684-9CAE-421D-AB28-28CF3B389D03}"/>
              </a:ext>
            </a:extLst>
          </p:cNvPr>
          <p:cNvSpPr/>
          <p:nvPr/>
        </p:nvSpPr>
        <p:spPr>
          <a:xfrm>
            <a:off x="2100263" y="2397125"/>
            <a:ext cx="7991475" cy="1860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시스템화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고객이 원하는 서비스의 표준을 명확히 설정하고 홀과 주방의 서비스 업무 전 과정에 적용하여 매뉴얼화하는 것부터 시작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동일한 브랜드의 여러 개 직영 점포 동시 운영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프랜차이즈가맹 사업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전개시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시스템화는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 필수 조건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해외 진출 시에도 매우 중요한 요소</a:t>
            </a:r>
          </a:p>
        </p:txBody>
      </p:sp>
      <p:pic>
        <p:nvPicPr>
          <p:cNvPr id="21509" name="Picture 2" descr="시스템화에 대한 이미지 검색결과">
            <a:extLst>
              <a:ext uri="{FF2B5EF4-FFF2-40B4-BE49-F238E27FC236}">
                <a16:creationId xmlns:a16="http://schemas.microsoft.com/office/drawing/2014/main" id="{D7D35240-06D4-4DB0-8940-D87EE4E74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1225" y="5573713"/>
            <a:ext cx="178435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D54034E3-9D04-41FD-8C55-F8533434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4) </a:t>
            </a:r>
            <a:r>
              <a:rPr lang="ko-KR" altLang="en-US"/>
              <a:t>쇼 비즈니스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2BB93E-8238-45FC-B726-B8370558AC67}"/>
              </a:ext>
            </a:extLst>
          </p:cNvPr>
          <p:cNvSpPr/>
          <p:nvPr/>
        </p:nvSpPr>
        <p:spPr>
          <a:xfrm>
            <a:off x="2224088" y="2424113"/>
            <a:ext cx="7993062" cy="1858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서비스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=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생산과 소비가 동시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완벽한 서비스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→ 매 순간 종사원들이 자신의 역할에 충실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서비스 실수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서비스 실패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→ 고객의 불만족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고객 이탈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</p:txBody>
      </p:sp>
      <p:sp>
        <p:nvSpPr>
          <p:cNvPr id="5" name="한쪽 모서리가 잘린 사각형 4">
            <a:extLst>
              <a:ext uri="{FF2B5EF4-FFF2-40B4-BE49-F238E27FC236}">
                <a16:creationId xmlns:a16="http://schemas.microsoft.com/office/drawing/2014/main" id="{251A904C-157B-4D43-9DBC-849531432628}"/>
              </a:ext>
            </a:extLst>
          </p:cNvPr>
          <p:cNvSpPr/>
          <p:nvPr/>
        </p:nvSpPr>
        <p:spPr>
          <a:xfrm>
            <a:off x="2224088" y="1381125"/>
            <a:ext cx="7993062" cy="788988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외식서비스를 제공하는 것은 생방송 쇼를 진행하는 것과 같다</a:t>
            </a:r>
            <a:endParaRPr lang="ko-KR" altLang="en-US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pic>
        <p:nvPicPr>
          <p:cNvPr id="22533" name="Picture 2" descr="관련 이미지">
            <a:extLst>
              <a:ext uri="{FF2B5EF4-FFF2-40B4-BE49-F238E27FC236}">
                <a16:creationId xmlns:a16="http://schemas.microsoft.com/office/drawing/2014/main" id="{1CBDE32C-5629-447F-88BC-AD4A94806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925" y="5340350"/>
            <a:ext cx="180022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DF5F92AE-7A93-4697-B150-D393B5B83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5) </a:t>
            </a:r>
            <a:r>
              <a:rPr lang="ko-KR" altLang="en-US"/>
              <a:t>푼돈 비즈니스 </a:t>
            </a:r>
            <a:r>
              <a:rPr lang="en-US" altLang="ko-KR"/>
              <a:t>(Penny Business)</a:t>
            </a:r>
            <a:endParaRPr lang="ko-KR" altLang="en-US"/>
          </a:p>
        </p:txBody>
      </p:sp>
      <p:sp>
        <p:nvSpPr>
          <p:cNvPr id="5" name="한쪽 모서리가 잘린 사각형 4">
            <a:extLst>
              <a:ext uri="{FF2B5EF4-FFF2-40B4-BE49-F238E27FC236}">
                <a16:creationId xmlns:a16="http://schemas.microsoft.com/office/drawing/2014/main" id="{84A45A9F-CB5B-4F07-92AC-49A1491C5613}"/>
              </a:ext>
            </a:extLst>
          </p:cNvPr>
          <p:cNvSpPr/>
          <p:nvPr/>
        </p:nvSpPr>
        <p:spPr>
          <a:xfrm>
            <a:off x="2100263" y="1587500"/>
            <a:ext cx="7991475" cy="787400"/>
          </a:xfrm>
          <a:prstGeom prst="snip1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i="1" kern="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작고 사소한 관리가 이익 증대</a:t>
            </a:r>
            <a:r>
              <a:rPr lang="en-US" altLang="ko-KR" sz="2000" i="1" kern="0" dirty="0">
                <a:solidFill>
                  <a:prstClr val="black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!</a:t>
            </a:r>
            <a:endParaRPr lang="ko-KR" altLang="en-US" sz="2000" kern="0" dirty="0">
              <a:solidFill>
                <a:prstClr val="black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pic>
        <p:nvPicPr>
          <p:cNvPr id="23556" name="그림 5">
            <a:extLst>
              <a:ext uri="{FF2B5EF4-FFF2-40B4-BE49-F238E27FC236}">
                <a16:creationId xmlns:a16="http://schemas.microsoft.com/office/drawing/2014/main" id="{056E25BF-1D4A-4924-8290-40CFD9311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2740025"/>
            <a:ext cx="7991475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A6202AC1-F013-4AF3-8F23-1CE1F37A4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6) </a:t>
            </a:r>
            <a:r>
              <a:rPr lang="ko-KR" altLang="en-US"/>
              <a:t>디테일 비즈니스</a:t>
            </a:r>
          </a:p>
        </p:txBody>
      </p:sp>
      <p:sp>
        <p:nvSpPr>
          <p:cNvPr id="4" name="한쪽 모서리가 잘린 사각형 3">
            <a:extLst>
              <a:ext uri="{FF2B5EF4-FFF2-40B4-BE49-F238E27FC236}">
                <a16:creationId xmlns:a16="http://schemas.microsoft.com/office/drawing/2014/main" id="{D59153F6-C6FA-4B3F-9A06-10811CC6E90B}"/>
              </a:ext>
            </a:extLst>
          </p:cNvPr>
          <p:cNvSpPr/>
          <p:nvPr/>
        </p:nvSpPr>
        <p:spPr>
          <a:xfrm>
            <a:off x="2100263" y="1406525"/>
            <a:ext cx="7991475" cy="788988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서비스에서 </a:t>
            </a:r>
            <a:r>
              <a:rPr lang="en-US" altLang="ko-KR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100</a:t>
            </a: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에서 </a:t>
            </a:r>
            <a:r>
              <a:rPr lang="en-US" altLang="ko-KR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1</a:t>
            </a: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을 빼면 </a:t>
            </a:r>
            <a:r>
              <a:rPr lang="en-US" altLang="ko-KR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0</a:t>
            </a:r>
            <a:endParaRPr lang="ko-KR" altLang="en-US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474AC14-C01D-46F8-8DAF-49C4A28C3436}"/>
              </a:ext>
            </a:extLst>
          </p:cNvPr>
          <p:cNvSpPr/>
          <p:nvPr/>
        </p:nvSpPr>
        <p:spPr>
          <a:xfrm>
            <a:off x="2100263" y="2449513"/>
            <a:ext cx="7991475" cy="14287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작고 사소한 서비스 실수 → 서비스 품질 평가에 절대적인 영향을 미침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사소한 것부터 철저하게 관리 및 노력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</p:txBody>
      </p:sp>
      <p:pic>
        <p:nvPicPr>
          <p:cNvPr id="24581" name="Picture 2" descr="F:\대학원\과제\외식서비스마케팅 수업자료\PPT자료(1장~3장)\1장\p34 깨진 유리창 이론.jpg">
            <a:extLst>
              <a:ext uri="{FF2B5EF4-FFF2-40B4-BE49-F238E27FC236}">
                <a16:creationId xmlns:a16="http://schemas.microsoft.com/office/drawing/2014/main" id="{F5B54DBE-1C9D-4032-AF9B-F6B23C83D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4200525"/>
            <a:ext cx="7991475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04DC68C6-37DF-450F-A275-1D7BF3F9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7) </a:t>
            </a:r>
            <a:r>
              <a:rPr lang="ko-KR" altLang="en-US"/>
              <a:t>고객 경험 비즈니스</a:t>
            </a:r>
            <a:r>
              <a:rPr lang="en-US" altLang="ko-KR"/>
              <a:t>(CX Business)</a:t>
            </a:r>
            <a:endParaRPr lang="ko-KR" altLang="en-US"/>
          </a:p>
        </p:txBody>
      </p:sp>
      <p:sp>
        <p:nvSpPr>
          <p:cNvPr id="4" name="한쪽 모서리가 잘린 사각형 3">
            <a:extLst>
              <a:ext uri="{FF2B5EF4-FFF2-40B4-BE49-F238E27FC236}">
                <a16:creationId xmlns:a16="http://schemas.microsoft.com/office/drawing/2014/main" id="{9155F182-1021-4CB6-A37D-D46B4F66C43C}"/>
              </a:ext>
            </a:extLst>
          </p:cNvPr>
          <p:cNvSpPr/>
          <p:nvPr/>
        </p:nvSpPr>
        <p:spPr>
          <a:xfrm>
            <a:off x="2100263" y="1406525"/>
            <a:ext cx="7991475" cy="788988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서비스에 대한 기억은 짧고</a:t>
            </a:r>
            <a:r>
              <a:rPr lang="en-US" altLang="ko-KR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i="1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경험에 대한 기억은 길다 </a:t>
            </a:r>
            <a:endParaRPr lang="ko-KR" altLang="en-US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BD4136-7374-437E-88A1-25322A8B5EF8}"/>
              </a:ext>
            </a:extLst>
          </p:cNvPr>
          <p:cNvSpPr/>
          <p:nvPr/>
        </p:nvSpPr>
        <p:spPr>
          <a:xfrm>
            <a:off x="2100263" y="2449513"/>
            <a:ext cx="7920037" cy="19319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잊지 못할 경험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’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과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만족스런 서비스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는 다름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고객 경험관리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’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필요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b="1" u="sng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음식이 아닌 </a:t>
            </a:r>
            <a:r>
              <a:rPr lang="en-US" altLang="ko-KR" b="1" u="sng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‘</a:t>
            </a:r>
            <a:r>
              <a:rPr lang="ko-KR" altLang="en-US" b="1" u="sng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기억에 남을 경험</a:t>
            </a:r>
            <a:r>
              <a:rPr lang="en-US" altLang="ko-KR" b="1" u="sng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’, </a:t>
            </a:r>
            <a:r>
              <a:rPr lang="ko-KR" altLang="en-US" b="1" u="sng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돈을 버는 것이 아닌 </a:t>
            </a:r>
            <a:r>
              <a:rPr lang="en-US" altLang="ko-KR" b="1" u="sng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‘</a:t>
            </a:r>
            <a:r>
              <a:rPr lang="ko-KR" altLang="en-US" b="1" u="sng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고객의 마음을 얻기 위해서</a:t>
            </a:r>
            <a:r>
              <a:rPr lang="en-US" altLang="ko-KR" b="1" u="sng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’ </a:t>
            </a:r>
            <a:r>
              <a:rPr lang="ko-KR" altLang="en-US" b="1" u="sng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하는 사업</a:t>
            </a:r>
            <a:endParaRPr lang="en-US" altLang="ko-KR" b="1" u="sng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</p:txBody>
      </p:sp>
      <p:pic>
        <p:nvPicPr>
          <p:cNvPr id="25605" name="Picture 2">
            <a:extLst>
              <a:ext uri="{FF2B5EF4-FFF2-40B4-BE49-F238E27FC236}">
                <a16:creationId xmlns:a16="http://schemas.microsoft.com/office/drawing/2014/main" id="{8F3E4E9A-EDB9-4038-A7B2-C88F291BD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338" y="5153025"/>
            <a:ext cx="1400175" cy="153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9BC7D0F2-3019-4D68-B6BF-45513BD4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8) </a:t>
            </a:r>
            <a:r>
              <a:rPr lang="ko-KR" altLang="en-US"/>
              <a:t>접점 비즈니스 </a:t>
            </a:r>
            <a:r>
              <a:rPr lang="en-US" altLang="ko-KR"/>
              <a:t>(MOT Business)</a:t>
            </a:r>
            <a:endParaRPr lang="ko-KR" altLang="en-US"/>
          </a:p>
        </p:txBody>
      </p:sp>
      <p:sp>
        <p:nvSpPr>
          <p:cNvPr id="4" name="한쪽 모서리가 잘린 사각형 3">
            <a:extLst>
              <a:ext uri="{FF2B5EF4-FFF2-40B4-BE49-F238E27FC236}">
                <a16:creationId xmlns:a16="http://schemas.microsoft.com/office/drawing/2014/main" id="{A1D1AFE3-44A8-40A9-8C7A-5002793C3B22}"/>
              </a:ext>
            </a:extLst>
          </p:cNvPr>
          <p:cNvSpPr/>
          <p:nvPr/>
        </p:nvSpPr>
        <p:spPr>
          <a:xfrm>
            <a:off x="2100263" y="1317625"/>
            <a:ext cx="7991475" cy="787400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평 미만의 작은 공간에서 서비스 품질 결정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8183A2-43E6-46DD-BFA8-48ABF5227272}"/>
              </a:ext>
            </a:extLst>
          </p:cNvPr>
          <p:cNvSpPr/>
          <p:nvPr/>
        </p:nvSpPr>
        <p:spPr>
          <a:xfrm>
            <a:off x="2100263" y="2359025"/>
            <a:ext cx="7991475" cy="2125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서비스 접점 </a:t>
            </a:r>
            <a:r>
              <a:rPr lang="en-US" altLang="ko-KR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= </a:t>
            </a:r>
            <a:r>
              <a:rPr lang="ko-KR" altLang="en-US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고객이 서비스 제공자를 만나는 지점 </a:t>
            </a:r>
            <a:r>
              <a:rPr lang="en-US" altLang="ko-KR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= </a:t>
            </a:r>
            <a:r>
              <a:rPr lang="ko-KR" altLang="en-US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진실의 순간</a:t>
            </a:r>
            <a:r>
              <a:rPr lang="en-US" altLang="ko-KR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(MOT)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대면접점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언어적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비언어적 행동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복장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외모 등이 중요한 품질 평가 요소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원격접점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서비스의 물리적 요소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기술적 프로세스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및 시스템 등이 중요한 품질 평가 요소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다양한 접점이 존재 → 구체적으로 파악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 관리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</p:txBody>
      </p:sp>
      <p:pic>
        <p:nvPicPr>
          <p:cNvPr id="26629" name="Picture 2" descr="최고 일러스트에 대한 이미지 검색결과">
            <a:extLst>
              <a:ext uri="{FF2B5EF4-FFF2-40B4-BE49-F238E27FC236}">
                <a16:creationId xmlns:a16="http://schemas.microsoft.com/office/drawing/2014/main" id="{1F7BB24B-26C2-4099-9566-143E6F9E6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5014913"/>
            <a:ext cx="22955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4" descr="관련 이미지">
            <a:extLst>
              <a:ext uri="{FF2B5EF4-FFF2-40B4-BE49-F238E27FC236}">
                <a16:creationId xmlns:a16="http://schemas.microsoft.com/office/drawing/2014/main" id="{B3C5661B-CA94-4488-A9FA-C9008FB0D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01"/>
          <a:stretch>
            <a:fillRect/>
          </a:stretch>
        </p:blipFill>
        <p:spPr bwMode="auto">
          <a:xfrm rot="-859778">
            <a:off x="6646863" y="5432425"/>
            <a:ext cx="1265237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0722C73A-46FA-4D3B-8468-4103EA60A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9) </a:t>
            </a:r>
            <a:r>
              <a:rPr lang="ko-KR" altLang="en-US"/>
              <a:t>위생안전 비즈니스</a:t>
            </a:r>
          </a:p>
        </p:txBody>
      </p:sp>
      <p:sp>
        <p:nvSpPr>
          <p:cNvPr id="4" name="한쪽 모서리가 잘린 사각형 3">
            <a:extLst>
              <a:ext uri="{FF2B5EF4-FFF2-40B4-BE49-F238E27FC236}">
                <a16:creationId xmlns:a16="http://schemas.microsoft.com/office/drawing/2014/main" id="{1C2D7C97-3520-41CE-A40E-B6F216627535}"/>
              </a:ext>
            </a:extLst>
          </p:cNvPr>
          <p:cNvSpPr/>
          <p:nvPr/>
        </p:nvSpPr>
        <p:spPr>
          <a:xfrm>
            <a:off x="2071688" y="1303338"/>
            <a:ext cx="7993062" cy="788987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식품의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신선도와 안전성은 고객의 건강과 직결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ACC422-48F9-4E49-9B8B-0FC9537A55FF}"/>
              </a:ext>
            </a:extLst>
          </p:cNvPr>
          <p:cNvSpPr/>
          <p:nvPr/>
        </p:nvSpPr>
        <p:spPr>
          <a:xfrm>
            <a:off x="631825" y="2346325"/>
            <a:ext cx="5935663" cy="3973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핵심상품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=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고객이 직접 섭취하는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음식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’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위생과 안전관리는 매우 중요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위생적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안전한 음식을 제공하는 환경을 구축하는 것이 외식사업의 기본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글로벌 표준 지향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레스토랑 위생상태 등급화 → 음식점 선택에 영향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</p:txBody>
      </p:sp>
      <p:pic>
        <p:nvPicPr>
          <p:cNvPr id="27653" name="Picture 2" descr="F:\대학원\과제\외식서비스마케팅 수업자료\PPT자료(1장~3장)\1장\그림1-8 복사.jpg">
            <a:extLst>
              <a:ext uri="{FF2B5EF4-FFF2-40B4-BE49-F238E27FC236}">
                <a16:creationId xmlns:a16="http://schemas.microsoft.com/office/drawing/2014/main" id="{09285AC3-BEBA-4F16-8C39-B1C153527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2913063"/>
            <a:ext cx="3240088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>
            <a:extLst>
              <a:ext uri="{FF2B5EF4-FFF2-40B4-BE49-F238E27FC236}">
                <a16:creationId xmlns:a16="http://schemas.microsoft.com/office/drawing/2014/main" id="{6E10912D-CBDB-4B64-A1E0-AE2198FD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10) </a:t>
            </a:r>
            <a:r>
              <a:rPr lang="ko-KR" altLang="en-US"/>
              <a:t>소셜 비즈니스 </a:t>
            </a:r>
            <a:r>
              <a:rPr lang="en-US" altLang="ko-KR"/>
              <a:t>(Social Business)</a:t>
            </a:r>
            <a:endParaRPr lang="ko-KR" altLang="en-US"/>
          </a:p>
        </p:txBody>
      </p:sp>
      <p:sp>
        <p:nvSpPr>
          <p:cNvPr id="7" name="한쪽 모서리가 잘린 사각형 6">
            <a:extLst>
              <a:ext uri="{FF2B5EF4-FFF2-40B4-BE49-F238E27FC236}">
                <a16:creationId xmlns:a16="http://schemas.microsoft.com/office/drawing/2014/main" id="{589A8565-DC58-4C0E-8F93-3F5031BDC10D}"/>
              </a:ext>
            </a:extLst>
          </p:cNvPr>
          <p:cNvSpPr/>
          <p:nvPr/>
        </p:nvSpPr>
        <p:spPr>
          <a:xfrm>
            <a:off x="2100263" y="1239838"/>
            <a:ext cx="7991475" cy="787400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식생활로 인한 소비자 건강에 대한 책임이 기업과 사회의 책임으로 확대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679DAAA-5817-4E42-800F-2E855230AABB}"/>
              </a:ext>
            </a:extLst>
          </p:cNvPr>
          <p:cNvSpPr/>
          <p:nvPr/>
        </p:nvSpPr>
        <p:spPr>
          <a:xfrm>
            <a:off x="2100263" y="2281238"/>
            <a:ext cx="7991475" cy="19875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외식사업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=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소셜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 비즈니스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외식소비자의 현명한 선택 → 착한 외식업소 지지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외식을 통해 건강 먹거리를 즐기고</a:t>
            </a:r>
            <a:r>
              <a:rPr lang="en-US" altLang="ko-KR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, </a:t>
            </a:r>
            <a:r>
              <a:rPr lang="ko-KR" altLang="en-US" b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의미 있는 소비를 경험하게 하는 것 </a:t>
            </a:r>
            <a:endParaRPr lang="en-US" altLang="ko-KR" b="1" dirty="0">
              <a:solidFill>
                <a:srgbClr val="0070C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    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itchFamily="50" charset="-127"/>
              </a:rPr>
              <a:t>→ 중요한 마케팅 포인트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itchFamily="50" charset="-127"/>
            </a:endParaRPr>
          </a:p>
        </p:txBody>
      </p:sp>
      <p:pic>
        <p:nvPicPr>
          <p:cNvPr id="28677" name="Picture 2" descr="착한 소비에 대한 이미지 검색결과">
            <a:extLst>
              <a:ext uri="{FF2B5EF4-FFF2-40B4-BE49-F238E27FC236}">
                <a16:creationId xmlns:a16="http://schemas.microsoft.com/office/drawing/2014/main" id="{D09ECC40-4883-4300-8BEF-3E2410629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8" r="10712"/>
          <a:stretch>
            <a:fillRect/>
          </a:stretch>
        </p:blipFill>
        <p:spPr bwMode="auto">
          <a:xfrm>
            <a:off x="7361238" y="4886325"/>
            <a:ext cx="273050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텍스트 개체 틀 3">
            <a:extLst>
              <a:ext uri="{FF2B5EF4-FFF2-40B4-BE49-F238E27FC236}">
                <a16:creationId xmlns:a16="http://schemas.microsoft.com/office/drawing/2014/main" id="{A47613D8-5434-4530-B86E-6996A9B01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3. </a:t>
            </a:r>
            <a:r>
              <a:rPr lang="ko-KR" altLang="en-US"/>
              <a:t>외식산업 현황과 외식소비 전망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837A2C-EF40-449C-AEE1-2A6051811E14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B3820F-232E-4522-B5BB-77B66D07F23F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755B28FB-B3AA-4AA9-A0FD-D728CFC8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외식산업 현황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9B1E73-AE78-4B79-A75C-071E483C94AC}"/>
              </a:ext>
            </a:extLst>
          </p:cNvPr>
          <p:cNvSpPr/>
          <p:nvPr/>
        </p:nvSpPr>
        <p:spPr>
          <a:xfrm>
            <a:off x="552450" y="1298575"/>
            <a:ext cx="9950450" cy="898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외식시장 규모는 지속적으로 성장세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국민소득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증가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여성경제활동인구 증가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소비패턴 변화 등으로 꾸준한 성장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B380DA-1A2A-458E-A8E7-15A5F42B72D2}"/>
              </a:ext>
            </a:extLst>
          </p:cNvPr>
          <p:cNvSpPr/>
          <p:nvPr/>
        </p:nvSpPr>
        <p:spPr>
          <a:xfrm>
            <a:off x="552450" y="2354263"/>
            <a:ext cx="9950450" cy="898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(2)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생계형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중심의 영세한 산업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국내 외식산업의 규모에 비해 외식사업체 대부분 가족경영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생계형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중심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C9B3EE-AFFD-4FFA-9AD5-35ABE4D27D8C}"/>
              </a:ext>
            </a:extLst>
          </p:cNvPr>
          <p:cNvSpPr/>
          <p:nvPr/>
        </p:nvSpPr>
        <p:spPr>
          <a:xfrm>
            <a:off x="552450" y="3411538"/>
            <a:ext cx="9950450" cy="898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(3)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높은 비중의 한식당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국내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음식점업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사업체 중 한식당이 가장 큰 비중을 차지하고 있음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.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A21D4D-962A-47F9-B5C1-FE6237EAA846}"/>
              </a:ext>
            </a:extLst>
          </p:cNvPr>
          <p:cNvSpPr/>
          <p:nvPr/>
        </p:nvSpPr>
        <p:spPr>
          <a:xfrm>
            <a:off x="552450" y="5072063"/>
            <a:ext cx="9950450" cy="898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(4)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인구 수 대비 외식업체 수 과다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인구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만명 당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외식업체수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125.4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개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(2018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기준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)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과잉공급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경쟁 치열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높은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폐업률과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 연관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0727" name="Rectangle 2">
            <a:extLst>
              <a:ext uri="{FF2B5EF4-FFF2-40B4-BE49-F238E27FC236}">
                <a16:creationId xmlns:a16="http://schemas.microsoft.com/office/drawing/2014/main" id="{FADA5E02-D09C-4745-BE51-D2A4444F2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027363"/>
            <a:ext cx="16976725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30728" name="_x280863608" descr="EMB00003eb45707">
            <a:extLst>
              <a:ext uri="{FF2B5EF4-FFF2-40B4-BE49-F238E27FC236}">
                <a16:creationId xmlns:a16="http://schemas.microsoft.com/office/drawing/2014/main" id="{E20D3DBB-71D9-4507-8126-5CE001F88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74"/>
          <a:stretch>
            <a:fillRect/>
          </a:stretch>
        </p:blipFill>
        <p:spPr bwMode="auto">
          <a:xfrm>
            <a:off x="7427913" y="3860800"/>
            <a:ext cx="4113212" cy="277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AC4586E6-E7FF-40DE-8677-E12EA50D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외식산업 현황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0E2CC1-39D4-4980-ABBA-4731793400D6}"/>
              </a:ext>
            </a:extLst>
          </p:cNvPr>
          <p:cNvSpPr/>
          <p:nvPr/>
        </p:nvSpPr>
        <p:spPr>
          <a:xfrm>
            <a:off x="552450" y="1298575"/>
            <a:ext cx="9950450" cy="3671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(5)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외식소비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행태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ko-KR" sz="20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가정 내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배달음식과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테이크아웃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음식 섭취 증가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배달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육류메뉴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치킨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⋅ 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강정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⋅ </a:t>
            </a:r>
            <a:r>
              <a:rPr lang="ko-KR" altLang="en-US" kern="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찜닭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  <a:r>
              <a:rPr lang="en-US" altLang="ko-KR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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보쌈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⋅ </a:t>
            </a:r>
            <a:r>
              <a:rPr lang="ko-KR" altLang="en-US" kern="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족발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⋅ 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삼겹살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⋅ 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곱창</a:t>
            </a:r>
            <a:r>
              <a:rPr lang="en-US" altLang="ko-KR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) </a:t>
            </a:r>
            <a:r>
              <a:rPr lang="en-US" altLang="ko-KR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중화요리</a:t>
            </a:r>
            <a:r>
              <a:rPr lang="en-US" altLang="ko-KR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피자</a:t>
            </a:r>
            <a:endParaRPr lang="en-US" altLang="ko-KR" kern="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sym typeface="Wingdings" panose="05000000000000000000" pitchFamily="2" charset="2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kern="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테이크아웃</a:t>
            </a:r>
            <a:r>
              <a:rPr lang="en-US" altLang="ko-KR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: 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김밥 및 분식류 </a:t>
            </a:r>
            <a:r>
              <a:rPr lang="en-US" altLang="ko-KR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햄버거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⋅샌드위치 ⋅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빵류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치킨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⋅ 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강정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⋅ </a:t>
            </a:r>
            <a:r>
              <a:rPr lang="ko-KR" altLang="en-US" kern="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찜닭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가족과의 외식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주로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한식음식점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고기구이 전문점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일식요리전문점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청소년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분식점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김밥전문점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피자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⋅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햄버거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⋅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샌드위치 전문점 선호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배달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치킨과 피자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테이크아웃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햄버거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⋅샌드위치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kern="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김밥 및 분식류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9B497281-1768-4D1E-A53A-1B9EFE23D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027363"/>
            <a:ext cx="16976725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70F8AF9A-07E5-4154-AD24-6DAD8401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외식소비 전망</a:t>
            </a:r>
          </a:p>
        </p:txBody>
      </p:sp>
      <p:pic>
        <p:nvPicPr>
          <p:cNvPr id="32771" name="_x280927744" descr="EMB00003eb4570e">
            <a:extLst>
              <a:ext uri="{FF2B5EF4-FFF2-40B4-BE49-F238E27FC236}">
                <a16:creationId xmlns:a16="http://schemas.microsoft.com/office/drawing/2014/main" id="{007416E3-F021-4D92-9CB8-CABE5D3D8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1397000"/>
            <a:ext cx="10985500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89D91A-69AA-444B-9513-5B4EEF3670AE}"/>
              </a:ext>
            </a:extLst>
          </p:cNvPr>
          <p:cNvSpPr/>
          <p:nvPr/>
        </p:nvSpPr>
        <p:spPr>
          <a:xfrm>
            <a:off x="2093913" y="6210300"/>
            <a:ext cx="8362950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sz="1600" kern="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그림 </a:t>
            </a:r>
            <a:r>
              <a:rPr lang="en-US" altLang="ko-KR" sz="1600" kern="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1-10] </a:t>
            </a:r>
            <a:r>
              <a:rPr lang="ko-KR" altLang="en-US" sz="1600" kern="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국내 외식트렌드의 흐름</a:t>
            </a:r>
            <a:r>
              <a:rPr lang="en-US" altLang="ko-KR" sz="1600" kern="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</a:t>
            </a:r>
            <a:r>
              <a:rPr lang="ko-KR" altLang="en-US" sz="1600" kern="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자료</a:t>
            </a:r>
            <a:r>
              <a:rPr lang="en-US" altLang="ko-KR" sz="1600" kern="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2022 </a:t>
            </a:r>
            <a:r>
              <a:rPr lang="ko-KR" altLang="en-US" sz="1600" kern="0" dirty="0" err="1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식품</a:t>
            </a:r>
            <a:r>
              <a:rPr lang="ko-KR" altLang="en-US" sz="1600" kern="0" dirty="0" err="1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⋅</a:t>
            </a:r>
            <a:r>
              <a:rPr lang="ko-KR" altLang="en-US" sz="1600" kern="0" dirty="0" err="1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외식산업전망대회</a:t>
            </a:r>
            <a:r>
              <a:rPr lang="ko-KR" altLang="en-US" sz="1600" kern="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발표 자료</a:t>
            </a:r>
            <a:r>
              <a:rPr lang="en-US" altLang="ko-KR" sz="1600" kern="0" dirty="0">
                <a:solidFill>
                  <a:srgbClr val="00206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)</a:t>
            </a:r>
            <a:endParaRPr lang="ko-KR" altLang="en-US" sz="1600" kern="0" dirty="0">
              <a:solidFill>
                <a:srgbClr val="00206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C37C8E7B-397E-4C69-9246-C4B20D3E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외식소비 전망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40C0F9-12B2-4371-BAF7-3F44776B5484}"/>
              </a:ext>
            </a:extLst>
          </p:cNvPr>
          <p:cNvSpPr/>
          <p:nvPr/>
        </p:nvSpPr>
        <p:spPr>
          <a:xfrm>
            <a:off x="552450" y="1217613"/>
            <a:ext cx="9950450" cy="1446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인 외식의 성장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1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인가구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증가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밥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혼술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혼영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혼행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혼코노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혼캠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혼펜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등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배달앱의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인분 카테고리 등장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FCFB62-7744-4E8B-8D2B-DCD05B23A2C1}"/>
              </a:ext>
            </a:extLst>
          </p:cNvPr>
          <p:cNvSpPr/>
          <p:nvPr/>
        </p:nvSpPr>
        <p:spPr>
          <a:xfrm>
            <a:off x="552450" y="2663825"/>
            <a:ext cx="9950450" cy="898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(2)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간편식의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진화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RMR,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유명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맛집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or 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쉐프들의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메뉴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식품기업들과의 골라보 제품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81D204-BEC5-435D-8F17-C5D6758FB361}"/>
              </a:ext>
            </a:extLst>
          </p:cNvPr>
          <p:cNvSpPr/>
          <p:nvPr/>
        </p:nvSpPr>
        <p:spPr>
          <a:xfrm>
            <a:off x="552450" y="3694113"/>
            <a:ext cx="9950450" cy="1316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(3) Z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세대 취향 저격 메뉴와 캠페인 증가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취향 저격 외식 서비스 캠페인 인기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EX)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스타벅스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‘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YES or No, Sandwich’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캠페인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마이셰프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X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유튜버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허챠밍의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콜라보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밀키트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상품 등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7DB443-69ED-4C0A-B948-DEE7B192291C}"/>
              </a:ext>
            </a:extLst>
          </p:cNvPr>
          <p:cNvSpPr/>
          <p:nvPr/>
        </p:nvSpPr>
        <p:spPr>
          <a:xfrm>
            <a:off x="552450" y="5091113"/>
            <a:ext cx="9950450" cy="1316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(4)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개념 있는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외식소비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증가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사회적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윤리적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도덕적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환경적 가치 소비 중시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EX)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친환경 용기 사용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일회용품 줄이기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로컬푸드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대체육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채식메뉴를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활용한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채식전문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음식점 등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3CE05126-908E-4F02-AB1B-F373EC3A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외식소비 전망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6614B2-A402-48E7-B9E4-F28A411FC9A0}"/>
              </a:ext>
            </a:extLst>
          </p:cNvPr>
          <p:cNvSpPr/>
          <p:nvPr/>
        </p:nvSpPr>
        <p:spPr>
          <a:xfrm>
            <a:off x="552450" y="1217613"/>
            <a:ext cx="9950450" cy="1446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(5)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배달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테이크아웃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서비스는 선택이 아닌 필수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One Kitchen Multi Brands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점포 증가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온라인 전용 배달 전문 레스토랑인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가상브랜드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(virtual brand)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등장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61B04C-D02F-4427-BCA1-55B35A0BC191}"/>
              </a:ext>
            </a:extLst>
          </p:cNvPr>
          <p:cNvSpPr/>
          <p:nvPr/>
        </p:nvSpPr>
        <p:spPr>
          <a:xfrm>
            <a:off x="552450" y="2736850"/>
            <a:ext cx="9950450" cy="2117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(6)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푸드테크의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진화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키오스크를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활용한 비대면 주문 결제 서비스 보편화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조리 및 서비스 인력을 대체할 수 있는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조리로봇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서빙로봇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바리스타로봇 등의 도입 증가 예상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스마트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밴딩머신을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이용한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24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시간 무인운영카페 프랜차이즈 등장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기타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: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스마트팜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푸드프린터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1385</Words>
  <Application>Microsoft Office PowerPoint</Application>
  <PresentationFormat>와이드스크린</PresentationFormat>
  <Paragraphs>185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2" baseType="lpstr">
      <vt:lpstr>함초롬돋움</vt:lpstr>
      <vt:lpstr>굴림</vt:lpstr>
      <vt:lpstr>서울남산 장체 L</vt:lpstr>
      <vt:lpstr>Wingdings</vt:lpstr>
      <vt:lpstr>Verdana</vt:lpstr>
      <vt:lpstr>서울남산 장체 M</vt:lpstr>
      <vt:lpstr>서울한강 장체 L</vt:lpstr>
      <vt:lpstr>서울남산 장체 EB</vt:lpstr>
      <vt:lpstr>Arial</vt:lpstr>
      <vt:lpstr>맑은 고딕</vt:lpstr>
      <vt:lpstr>sample</vt:lpstr>
      <vt:lpstr>PowerPoint 프레젠테이션</vt:lpstr>
      <vt:lpstr>PowerPoint 프레젠테이션</vt:lpstr>
      <vt:lpstr>1) 외식사업의 정의</vt:lpstr>
      <vt:lpstr>PowerPoint 프레젠테이션</vt:lpstr>
      <vt:lpstr>2) 외식사업의 목표</vt:lpstr>
      <vt:lpstr>2) 외식사업의 목표</vt:lpstr>
      <vt:lpstr>3) 외식시장과 레스토랑 콘셉트</vt:lpstr>
      <vt:lpstr>3) 외식시장과 레스토랑 콘셉트</vt:lpstr>
      <vt:lpstr>3) 외식시장과 레스토랑 콘셉트</vt:lpstr>
      <vt:lpstr>3) 외식시장과 레스토랑 콘셉트</vt:lpstr>
      <vt:lpstr>3) 외식시장과 레스토랑 콘셉트</vt:lpstr>
      <vt:lpstr>3) 외식시장과 레스토랑 콘셉트</vt:lpstr>
      <vt:lpstr>3) 외식시장과 레스토랑 콘셉트</vt:lpstr>
      <vt:lpstr>4) 외식사업은 무엇을 판매하는가</vt:lpstr>
      <vt:lpstr>PowerPoint 프레젠테이션</vt:lpstr>
      <vt:lpstr>1) 피플 비즈니스</vt:lpstr>
      <vt:lpstr>2) 재방문 비즈니스</vt:lpstr>
      <vt:lpstr>3) 시스템 비즈니스</vt:lpstr>
      <vt:lpstr>4) 쇼 비즈니스</vt:lpstr>
      <vt:lpstr>5) 푼돈 비즈니스 (Penny Business)</vt:lpstr>
      <vt:lpstr>6) 디테일 비즈니스</vt:lpstr>
      <vt:lpstr>7) 고객 경험 비즈니스(CX Business)</vt:lpstr>
      <vt:lpstr>8) 접점 비즈니스 (MOT Business)</vt:lpstr>
      <vt:lpstr>9) 위생안전 비즈니스</vt:lpstr>
      <vt:lpstr>10) 소셜 비즈니스 (Social Business)</vt:lpstr>
      <vt:lpstr>PowerPoint 프레젠테이션</vt:lpstr>
      <vt:lpstr>1) 외식산업 현황</vt:lpstr>
      <vt:lpstr>1) 외식산업 현황</vt:lpstr>
      <vt:lpstr>2) 외식소비 전망</vt:lpstr>
      <vt:lpstr>2) 외식소비 전망</vt:lpstr>
      <vt:lpstr>2) 외식소비 전망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홍구 강</cp:lastModifiedBy>
  <cp:revision>23</cp:revision>
  <dcterms:created xsi:type="dcterms:W3CDTF">2022-02-07T06:24:49Z</dcterms:created>
  <dcterms:modified xsi:type="dcterms:W3CDTF">2026-08-30T03:38:26Z</dcterms:modified>
</cp:coreProperties>
</file>