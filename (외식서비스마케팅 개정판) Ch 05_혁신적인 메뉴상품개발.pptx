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4"/>
  </p:notesMasterIdLst>
  <p:sldIdLst>
    <p:sldId id="278" r:id="rId2"/>
    <p:sldId id="280" r:id="rId3"/>
    <p:sldId id="259" r:id="rId4"/>
    <p:sldId id="281" r:id="rId5"/>
    <p:sldId id="279" r:id="rId6"/>
    <p:sldId id="284" r:id="rId7"/>
    <p:sldId id="282" r:id="rId8"/>
    <p:sldId id="285" r:id="rId9"/>
    <p:sldId id="287" r:id="rId10"/>
    <p:sldId id="288" r:id="rId11"/>
    <p:sldId id="290" r:id="rId12"/>
    <p:sldId id="289" r:id="rId13"/>
    <p:sldId id="304" r:id="rId14"/>
    <p:sldId id="291" r:id="rId15"/>
    <p:sldId id="292" r:id="rId16"/>
    <p:sldId id="293" r:id="rId17"/>
    <p:sldId id="314" r:id="rId18"/>
    <p:sldId id="306" r:id="rId19"/>
    <p:sldId id="294" r:id="rId20"/>
    <p:sldId id="295" r:id="rId21"/>
    <p:sldId id="296" r:id="rId22"/>
    <p:sldId id="311" r:id="rId23"/>
    <p:sldId id="315" r:id="rId24"/>
    <p:sldId id="298" r:id="rId25"/>
    <p:sldId id="299" r:id="rId26"/>
    <p:sldId id="283" r:id="rId27"/>
    <p:sldId id="300" r:id="rId28"/>
    <p:sldId id="312" r:id="rId29"/>
    <p:sldId id="301" r:id="rId30"/>
    <p:sldId id="302" r:id="rId31"/>
    <p:sldId id="303" r:id="rId32"/>
    <p:sldId id="313" r:id="rId33"/>
  </p:sldIdLst>
  <p:sldSz cx="12192000" cy="6858000"/>
  <p:notesSz cx="6858000" cy="9144000"/>
  <p:embeddedFontLst>
    <p:embeddedFont>
      <p:font typeface="08서울남산체 B" panose="02020603020101020101" pitchFamily="18" charset="-127"/>
      <p:regular r:id="rId35"/>
    </p:embeddedFont>
    <p:embeddedFont>
      <p:font typeface="08서울남산체 L" panose="02020603020101020101" pitchFamily="18" charset="-127"/>
      <p:regular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  <p:embeddedFont>
      <p:font typeface="맑은 고딕" panose="020B0503020000020004" pitchFamily="50" charset="-127"/>
      <p:regular r:id="rId41"/>
      <p:bold r:id="rId42"/>
    </p:embeddedFont>
    <p:embeddedFont>
      <p:font typeface="서울남산 장체 EB" panose="02020503020101020101" pitchFamily="18" charset="-127"/>
      <p:regular r:id="rId43"/>
    </p:embeddedFont>
    <p:embeddedFont>
      <p:font typeface="서울남산 장체 L" panose="02020503020101020101" pitchFamily="18" charset="-127"/>
      <p:regular r:id="rId44"/>
    </p:embeddedFont>
    <p:embeddedFont>
      <p:font typeface="서울남산 장체 M" panose="02020503020101020101" pitchFamily="18" charset="-127"/>
      <p:regular r:id="rId45"/>
    </p:embeddedFont>
    <p:embeddedFont>
      <p:font typeface="서울한강 장체 L" panose="02020503020101020101" pitchFamily="18" charset="-127"/>
      <p:regular r:id="rId46"/>
    </p:embeddedFont>
    <p:embeddedFont>
      <p:font typeface="함초롬바탕" panose="02030504000101010101" pitchFamily="18" charset="-127"/>
      <p:regular r:id="rId47"/>
      <p:bold r:id="rId48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1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0258" autoAdjust="0"/>
  </p:normalViewPr>
  <p:slideViewPr>
    <p:cSldViewPr snapToGrid="0">
      <p:cViewPr varScale="1">
        <p:scale>
          <a:sx n="77" d="100"/>
          <a:sy n="77" d="100"/>
        </p:scale>
        <p:origin x="183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E95FE2D-B856-4B81-8426-54EE113217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CAA14EB-2760-4816-AB7F-F575832E2C7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4EC9D1C-5322-4B96-8E91-D8B05E20F57D}" type="datetimeFigureOut">
              <a:rPr lang="ko-KR" altLang="en-US"/>
              <a:pPr>
                <a:defRPr/>
              </a:pPr>
              <a:t>2022-05-10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18569F85-20DA-44A7-9660-E874F7613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67E4F0FA-E14E-49D2-8C29-D8784B9D3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9D93CB-91C0-4007-A427-E7BC754B9D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7E4DA1-0E33-49E7-920A-4CFEC6549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99C15-0D8B-4F4D-B446-07283F8ED72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B08EDF66-B297-4242-BD0D-20D636EC7E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64C714A2-2F43-4100-A47F-3DB9496BB9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8E2BCDCC-5D98-4C44-8CF4-9B75BF6DE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26314D8-F1A0-4B31-B5C1-893A2787D272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13CB4BE2-8433-4BE3-8ECF-DC14F71F28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A9D30160-9EE2-4FCF-8A71-787A64B180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491BB426-3CD1-4E7F-8947-511CC5051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11F6BBA-0A5F-4967-8B6B-3FC2D84BE04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>
            <a:extLst>
              <a:ext uri="{FF2B5EF4-FFF2-40B4-BE49-F238E27FC236}">
                <a16:creationId xmlns:a16="http://schemas.microsoft.com/office/drawing/2014/main" id="{AA16B9D6-5F6C-49BD-B24B-D4C8F5B61E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슬라이드 노트 개체 틀 2">
            <a:extLst>
              <a:ext uri="{FF2B5EF4-FFF2-40B4-BE49-F238E27FC236}">
                <a16:creationId xmlns:a16="http://schemas.microsoft.com/office/drawing/2014/main" id="{943C85A2-1FB3-4A99-9365-CB50E83205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1268" name="슬라이드 번호 개체 틀 3">
            <a:extLst>
              <a:ext uri="{FF2B5EF4-FFF2-40B4-BE49-F238E27FC236}">
                <a16:creationId xmlns:a16="http://schemas.microsoft.com/office/drawing/2014/main" id="{D2D5C64B-302C-4BA2-AB0B-0313E5412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8E82FBC-F422-425C-8293-145002B820CA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4B82F4AC-74EB-488C-A35D-EF0C6955D0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86AC64FC-E62A-43BA-AFEB-4CF4F7AE60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2A6B2342-A288-47E8-A92A-72B51F500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AE3F230-2155-4D2F-98C7-818AA5EB6A8D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3DC42D95-3F93-4936-95F9-3B9379F6CB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9DC8F9F9-8B33-46F3-8B1A-2AD4803FFD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36AB010F-25E1-44F0-B495-371CE709C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0FC6382-CAF9-4E28-9418-48F3283A4395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>
            <a:extLst>
              <a:ext uri="{FF2B5EF4-FFF2-40B4-BE49-F238E27FC236}">
                <a16:creationId xmlns:a16="http://schemas.microsoft.com/office/drawing/2014/main" id="{A994A189-6487-4456-B40F-C46E91695F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>
            <a:extLst>
              <a:ext uri="{FF2B5EF4-FFF2-40B4-BE49-F238E27FC236}">
                <a16:creationId xmlns:a16="http://schemas.microsoft.com/office/drawing/2014/main" id="{113A0622-2330-4B7F-B8B4-4B3EB0A053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0484" name="슬라이드 번호 개체 틀 3">
            <a:extLst>
              <a:ext uri="{FF2B5EF4-FFF2-40B4-BE49-F238E27FC236}">
                <a16:creationId xmlns:a16="http://schemas.microsoft.com/office/drawing/2014/main" id="{E8CA7DB4-7C3B-4F0A-B38D-2767558CF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A59EA54-0E6C-4644-A464-A754C5AAC1EA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>
            <a:extLst>
              <a:ext uri="{FF2B5EF4-FFF2-40B4-BE49-F238E27FC236}">
                <a16:creationId xmlns:a16="http://schemas.microsoft.com/office/drawing/2014/main" id="{037F741C-BC96-4187-AB0C-CFDF8A5A46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슬라이드 노트 개체 틀 2">
            <a:extLst>
              <a:ext uri="{FF2B5EF4-FFF2-40B4-BE49-F238E27FC236}">
                <a16:creationId xmlns:a16="http://schemas.microsoft.com/office/drawing/2014/main" id="{C2A80420-6A3C-4EDF-85DF-3C14D42705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2532" name="슬라이드 번호 개체 틀 3">
            <a:extLst>
              <a:ext uri="{FF2B5EF4-FFF2-40B4-BE49-F238E27FC236}">
                <a16:creationId xmlns:a16="http://schemas.microsoft.com/office/drawing/2014/main" id="{519BA69D-F2C0-4137-9E21-F099B49D2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21949ED-5146-4689-AC9A-99924888A82F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>
            <a:extLst>
              <a:ext uri="{FF2B5EF4-FFF2-40B4-BE49-F238E27FC236}">
                <a16:creationId xmlns:a16="http://schemas.microsoft.com/office/drawing/2014/main" id="{C57161AE-8399-47A0-9969-BA9FDACD42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슬라이드 노트 개체 틀 2">
            <a:extLst>
              <a:ext uri="{FF2B5EF4-FFF2-40B4-BE49-F238E27FC236}">
                <a16:creationId xmlns:a16="http://schemas.microsoft.com/office/drawing/2014/main" id="{E80DBF8C-B0AC-4408-929C-00F0FD3428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4580" name="슬라이드 번호 개체 틀 3">
            <a:extLst>
              <a:ext uri="{FF2B5EF4-FFF2-40B4-BE49-F238E27FC236}">
                <a16:creationId xmlns:a16="http://schemas.microsoft.com/office/drawing/2014/main" id="{12D5A296-CC90-4AF0-AF46-4670649E1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5240546-EF9A-4696-875F-AF9C1B48F75C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A7180DDE-48DB-4239-A05C-B8EA555258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535D2930-B7C2-482C-81ED-6728E6D9C3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A4513847-67C4-4C2F-841F-FF654B2DE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45A6FBF-000E-478C-8DD7-B769A1CDC9E3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>
            <a:extLst>
              <a:ext uri="{FF2B5EF4-FFF2-40B4-BE49-F238E27FC236}">
                <a16:creationId xmlns:a16="http://schemas.microsoft.com/office/drawing/2014/main" id="{9655E266-D04C-441F-83C4-810048820F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슬라이드 노트 개체 틀 2">
            <a:extLst>
              <a:ext uri="{FF2B5EF4-FFF2-40B4-BE49-F238E27FC236}">
                <a16:creationId xmlns:a16="http://schemas.microsoft.com/office/drawing/2014/main" id="{51ACED44-9F75-4D0C-B91F-4AA938E4D0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8676" name="슬라이드 번호 개체 틀 3">
            <a:extLst>
              <a:ext uri="{FF2B5EF4-FFF2-40B4-BE49-F238E27FC236}">
                <a16:creationId xmlns:a16="http://schemas.microsoft.com/office/drawing/2014/main" id="{405FE709-001F-47E6-A483-C10ACAE97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8E43CBD-7C3E-4219-A3D9-EED46ECD8CD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이미지 개체 틀 1">
            <a:extLst>
              <a:ext uri="{FF2B5EF4-FFF2-40B4-BE49-F238E27FC236}">
                <a16:creationId xmlns:a16="http://schemas.microsoft.com/office/drawing/2014/main" id="{B5F3632E-B49E-427A-B7C9-A894DA21A4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슬라이드 노트 개체 틀 2">
            <a:extLst>
              <a:ext uri="{FF2B5EF4-FFF2-40B4-BE49-F238E27FC236}">
                <a16:creationId xmlns:a16="http://schemas.microsoft.com/office/drawing/2014/main" id="{DEFDF237-741F-413A-A27B-9CE65356C8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30724" name="슬라이드 번호 개체 틀 3">
            <a:extLst>
              <a:ext uri="{FF2B5EF4-FFF2-40B4-BE49-F238E27FC236}">
                <a16:creationId xmlns:a16="http://schemas.microsoft.com/office/drawing/2014/main" id="{F6B49B49-B4B4-4F45-AF8D-95304C7AC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17F041E-40E9-4C12-8DB4-7EB93F5F94A5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>
            <a:extLst>
              <a:ext uri="{FF2B5EF4-FFF2-40B4-BE49-F238E27FC236}">
                <a16:creationId xmlns:a16="http://schemas.microsoft.com/office/drawing/2014/main" id="{485A9584-B7BE-4248-8DF4-70FF9A4EEC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슬라이드 노트 개체 틀 2">
            <a:extLst>
              <a:ext uri="{FF2B5EF4-FFF2-40B4-BE49-F238E27FC236}">
                <a16:creationId xmlns:a16="http://schemas.microsoft.com/office/drawing/2014/main" id="{4A16456E-359D-4718-A46F-2390B6263E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32772" name="슬라이드 번호 개체 틀 3">
            <a:extLst>
              <a:ext uri="{FF2B5EF4-FFF2-40B4-BE49-F238E27FC236}">
                <a16:creationId xmlns:a16="http://schemas.microsoft.com/office/drawing/2014/main" id="{B6594359-83D2-42EF-AC53-13368A094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8B85EE6-3277-41AB-B7BD-EE1602A72DBF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5CD0BA0C-7FAA-42B6-9ABA-267B634527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4517E0AD-3E80-4ECB-8150-9B54382462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19757304-BB51-4888-B6E2-3B243B1CC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30A46FC-4BF1-483C-A844-EF4A2DFCAD4E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이미지 개체 틀 1">
            <a:extLst>
              <a:ext uri="{FF2B5EF4-FFF2-40B4-BE49-F238E27FC236}">
                <a16:creationId xmlns:a16="http://schemas.microsoft.com/office/drawing/2014/main" id="{FB233441-55BC-4BE2-97DF-8F0BE4F716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슬라이드 노트 개체 틀 2">
            <a:extLst>
              <a:ext uri="{FF2B5EF4-FFF2-40B4-BE49-F238E27FC236}">
                <a16:creationId xmlns:a16="http://schemas.microsoft.com/office/drawing/2014/main" id="{7D69850F-B72B-4055-8E0B-5E08B063C0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85750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6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868" name="슬라이드 번호 개체 틀 3">
            <a:extLst>
              <a:ext uri="{FF2B5EF4-FFF2-40B4-BE49-F238E27FC236}">
                <a16:creationId xmlns:a16="http://schemas.microsoft.com/office/drawing/2014/main" id="{1A85D0DB-A3C0-4AB1-9DA0-C3690A1A7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648ED0D-F6E4-4A3F-8F6F-1A765B11ED0E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이미지 개체 틀 1">
            <a:extLst>
              <a:ext uri="{FF2B5EF4-FFF2-40B4-BE49-F238E27FC236}">
                <a16:creationId xmlns:a16="http://schemas.microsoft.com/office/drawing/2014/main" id="{E7844067-41AA-4A7B-8958-B5F231A15E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슬라이드 노트 개체 틀 2">
            <a:extLst>
              <a:ext uri="{FF2B5EF4-FFF2-40B4-BE49-F238E27FC236}">
                <a16:creationId xmlns:a16="http://schemas.microsoft.com/office/drawing/2014/main" id="{A26B1EF1-968E-42D8-B7F8-2B1C7474AF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8916" name="슬라이드 번호 개체 틀 3">
            <a:extLst>
              <a:ext uri="{FF2B5EF4-FFF2-40B4-BE49-F238E27FC236}">
                <a16:creationId xmlns:a16="http://schemas.microsoft.com/office/drawing/2014/main" id="{FF4C95CA-B3C8-4E74-AE13-6C67F8473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9E3B20F-01F1-40D5-BCED-CD10331362D7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>
            <a:extLst>
              <a:ext uri="{FF2B5EF4-FFF2-40B4-BE49-F238E27FC236}">
                <a16:creationId xmlns:a16="http://schemas.microsoft.com/office/drawing/2014/main" id="{EE44BDCC-4382-4802-8C72-7E2D38B191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슬라이드 노트 개체 틀 2">
            <a:extLst>
              <a:ext uri="{FF2B5EF4-FFF2-40B4-BE49-F238E27FC236}">
                <a16:creationId xmlns:a16="http://schemas.microsoft.com/office/drawing/2014/main" id="{14635499-47C2-4627-B082-E02BA1020D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40964" name="슬라이드 번호 개체 틀 3">
            <a:extLst>
              <a:ext uri="{FF2B5EF4-FFF2-40B4-BE49-F238E27FC236}">
                <a16:creationId xmlns:a16="http://schemas.microsoft.com/office/drawing/2014/main" id="{EA844639-EEA1-4D40-A9ED-A34E3CEDE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3231FD7-19FD-48F0-B604-13714A3B3090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슬라이드 이미지 개체 틀 1">
            <a:extLst>
              <a:ext uri="{FF2B5EF4-FFF2-40B4-BE49-F238E27FC236}">
                <a16:creationId xmlns:a16="http://schemas.microsoft.com/office/drawing/2014/main" id="{6644B2E4-EF3B-4FC2-B4EC-160887F417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슬라이드 노트 개체 틀 2">
            <a:extLst>
              <a:ext uri="{FF2B5EF4-FFF2-40B4-BE49-F238E27FC236}">
                <a16:creationId xmlns:a16="http://schemas.microsoft.com/office/drawing/2014/main" id="{082A9E07-859B-4758-B7F3-AF2B83C9CD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43012" name="슬라이드 번호 개체 틀 3">
            <a:extLst>
              <a:ext uri="{FF2B5EF4-FFF2-40B4-BE49-F238E27FC236}">
                <a16:creationId xmlns:a16="http://schemas.microsoft.com/office/drawing/2014/main" id="{19A5AE48-E8D7-408C-8154-BFF3DF811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70F580F-C315-4277-AB05-BC7ECCAC7C8D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슬라이드 이미지 개체 틀 1">
            <a:extLst>
              <a:ext uri="{FF2B5EF4-FFF2-40B4-BE49-F238E27FC236}">
                <a16:creationId xmlns:a16="http://schemas.microsoft.com/office/drawing/2014/main" id="{19D3193C-B736-4847-B37A-23A065F3B6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슬라이드 노트 개체 틀 2">
            <a:extLst>
              <a:ext uri="{FF2B5EF4-FFF2-40B4-BE49-F238E27FC236}">
                <a16:creationId xmlns:a16="http://schemas.microsoft.com/office/drawing/2014/main" id="{4091C973-4F8E-4EBA-96DF-28EE815E82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7108" name="슬라이드 번호 개체 틀 3">
            <a:extLst>
              <a:ext uri="{FF2B5EF4-FFF2-40B4-BE49-F238E27FC236}">
                <a16:creationId xmlns:a16="http://schemas.microsoft.com/office/drawing/2014/main" id="{4DA8944D-F884-4503-B3E3-E68CAE483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16CC765-384F-4A3D-AF69-2202F3AA558A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슬라이드 이미지 개체 틀 1">
            <a:extLst>
              <a:ext uri="{FF2B5EF4-FFF2-40B4-BE49-F238E27FC236}">
                <a16:creationId xmlns:a16="http://schemas.microsoft.com/office/drawing/2014/main" id="{19D3193C-B736-4847-B37A-23A065F3B6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슬라이드 노트 개체 틀 2">
            <a:extLst>
              <a:ext uri="{FF2B5EF4-FFF2-40B4-BE49-F238E27FC236}">
                <a16:creationId xmlns:a16="http://schemas.microsoft.com/office/drawing/2014/main" id="{4091C973-4F8E-4EBA-96DF-28EE815E82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7108" name="슬라이드 번호 개체 틀 3">
            <a:extLst>
              <a:ext uri="{FF2B5EF4-FFF2-40B4-BE49-F238E27FC236}">
                <a16:creationId xmlns:a16="http://schemas.microsoft.com/office/drawing/2014/main" id="{4DA8944D-F884-4503-B3E3-E68CAE483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16CC765-384F-4A3D-AF69-2202F3AA558A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4978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슬라이드 이미지 개체 틀 1">
            <a:extLst>
              <a:ext uri="{FF2B5EF4-FFF2-40B4-BE49-F238E27FC236}">
                <a16:creationId xmlns:a16="http://schemas.microsoft.com/office/drawing/2014/main" id="{BFA6C590-DFBD-443B-98DE-748852EA89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슬라이드 노트 개체 틀 2">
            <a:extLst>
              <a:ext uri="{FF2B5EF4-FFF2-40B4-BE49-F238E27FC236}">
                <a16:creationId xmlns:a16="http://schemas.microsoft.com/office/drawing/2014/main" id="{7BE0BA80-DD64-439E-8001-E60265EC1A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49156" name="슬라이드 번호 개체 틀 3">
            <a:extLst>
              <a:ext uri="{FF2B5EF4-FFF2-40B4-BE49-F238E27FC236}">
                <a16:creationId xmlns:a16="http://schemas.microsoft.com/office/drawing/2014/main" id="{C9FA640A-C0F3-46AE-AB07-AD71FB4CF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7BB635E-CE46-4981-941A-C35C1256629F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슬라이드 이미지 개체 틀 1">
            <a:extLst>
              <a:ext uri="{FF2B5EF4-FFF2-40B4-BE49-F238E27FC236}">
                <a16:creationId xmlns:a16="http://schemas.microsoft.com/office/drawing/2014/main" id="{2CB5C623-B79E-44A1-B26D-647706EB3E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슬라이드 노트 개체 틀 2">
            <a:extLst>
              <a:ext uri="{FF2B5EF4-FFF2-40B4-BE49-F238E27FC236}">
                <a16:creationId xmlns:a16="http://schemas.microsoft.com/office/drawing/2014/main" id="{F8856109-9766-4705-B667-A880098638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51204" name="슬라이드 번호 개체 틀 3">
            <a:extLst>
              <a:ext uri="{FF2B5EF4-FFF2-40B4-BE49-F238E27FC236}">
                <a16:creationId xmlns:a16="http://schemas.microsoft.com/office/drawing/2014/main" id="{31632FFC-7051-44EF-A082-7EAC2022B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DE95193-84B8-45E3-8FCD-6BBAB8639713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슬라이드 이미지 개체 틀 1">
            <a:extLst>
              <a:ext uri="{FF2B5EF4-FFF2-40B4-BE49-F238E27FC236}">
                <a16:creationId xmlns:a16="http://schemas.microsoft.com/office/drawing/2014/main" id="{7B7A4BEB-C5BC-4EA6-8900-0E56490AEC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슬라이드 노트 개체 틀 2">
            <a:extLst>
              <a:ext uri="{FF2B5EF4-FFF2-40B4-BE49-F238E27FC236}">
                <a16:creationId xmlns:a16="http://schemas.microsoft.com/office/drawing/2014/main" id="{61C3D9D3-C3BA-4D83-A861-16438C90B3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54276" name="슬라이드 번호 개체 틀 3">
            <a:extLst>
              <a:ext uri="{FF2B5EF4-FFF2-40B4-BE49-F238E27FC236}">
                <a16:creationId xmlns:a16="http://schemas.microsoft.com/office/drawing/2014/main" id="{07194FD6-33F2-467D-B080-7155ACBE8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4543AFC-6FD4-46C8-A83C-8149F4550C51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슬라이드 이미지 개체 틀 1">
            <a:extLst>
              <a:ext uri="{FF2B5EF4-FFF2-40B4-BE49-F238E27FC236}">
                <a16:creationId xmlns:a16="http://schemas.microsoft.com/office/drawing/2014/main" id="{EFE1CC49-4817-4B97-A0E1-36E426809F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슬라이드 노트 개체 틀 2">
            <a:extLst>
              <a:ext uri="{FF2B5EF4-FFF2-40B4-BE49-F238E27FC236}">
                <a16:creationId xmlns:a16="http://schemas.microsoft.com/office/drawing/2014/main" id="{46285800-5F3E-4C36-ADB1-2AD03AB3B0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56324" name="슬라이드 번호 개체 틀 3">
            <a:extLst>
              <a:ext uri="{FF2B5EF4-FFF2-40B4-BE49-F238E27FC236}">
                <a16:creationId xmlns:a16="http://schemas.microsoft.com/office/drawing/2014/main" id="{93E20C0C-8937-4518-A18F-08359DCCD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6C38C74-D589-4727-B36F-D9C80C4FD797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슬라이드 이미지 개체 틀 1">
            <a:extLst>
              <a:ext uri="{FF2B5EF4-FFF2-40B4-BE49-F238E27FC236}">
                <a16:creationId xmlns:a16="http://schemas.microsoft.com/office/drawing/2014/main" id="{B6A128A2-2E85-4A4A-ADBF-F933FFE689D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슬라이드 노트 개체 틀 2">
            <a:extLst>
              <a:ext uri="{FF2B5EF4-FFF2-40B4-BE49-F238E27FC236}">
                <a16:creationId xmlns:a16="http://schemas.microsoft.com/office/drawing/2014/main" id="{1142DD0E-CA8D-4B2F-A0A7-A035AB0A0F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58372" name="슬라이드 번호 개체 틀 3">
            <a:extLst>
              <a:ext uri="{FF2B5EF4-FFF2-40B4-BE49-F238E27FC236}">
                <a16:creationId xmlns:a16="http://schemas.microsoft.com/office/drawing/2014/main" id="{4FA9786D-9586-4EFB-8359-AF07603A0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856082E-BB3B-4744-ABCC-8EB59D2CAD56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슬라이드 이미지 개체 틀 1">
            <a:extLst>
              <a:ext uri="{FF2B5EF4-FFF2-40B4-BE49-F238E27FC236}">
                <a16:creationId xmlns:a16="http://schemas.microsoft.com/office/drawing/2014/main" id="{E55DBF63-8675-4740-8D5F-8FAB53C0E7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슬라이드 노트 개체 틀 2">
            <a:extLst>
              <a:ext uri="{FF2B5EF4-FFF2-40B4-BE49-F238E27FC236}">
                <a16:creationId xmlns:a16="http://schemas.microsoft.com/office/drawing/2014/main" id="{86D5E712-DA1E-42C5-A922-5EC48CEBF2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60420" name="슬라이드 번호 개체 틀 3">
            <a:extLst>
              <a:ext uri="{FF2B5EF4-FFF2-40B4-BE49-F238E27FC236}">
                <a16:creationId xmlns:a16="http://schemas.microsoft.com/office/drawing/2014/main" id="{6A5E1392-5F71-437B-A76E-655F53A19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91128FF-717B-4442-A9D6-73CCE2C59202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슬라이드 이미지 개체 틀 1">
            <a:extLst>
              <a:ext uri="{FF2B5EF4-FFF2-40B4-BE49-F238E27FC236}">
                <a16:creationId xmlns:a16="http://schemas.microsoft.com/office/drawing/2014/main" id="{DBC0609F-AA03-461A-A4A8-D2C60CE3DE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슬라이드 노트 개체 틀 2">
            <a:extLst>
              <a:ext uri="{FF2B5EF4-FFF2-40B4-BE49-F238E27FC236}">
                <a16:creationId xmlns:a16="http://schemas.microsoft.com/office/drawing/2014/main" id="{4CC251BC-AE06-4674-BA7F-AF81553E63D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62468" name="슬라이드 번호 개체 틀 3">
            <a:extLst>
              <a:ext uri="{FF2B5EF4-FFF2-40B4-BE49-F238E27FC236}">
                <a16:creationId xmlns:a16="http://schemas.microsoft.com/office/drawing/2014/main" id="{DD3773D6-F322-4EDA-B628-80C89F9FB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3D7B7D6-DCF7-46D3-B917-72BA629CB982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슬라이드 이미지 개체 틀 1">
            <a:extLst>
              <a:ext uri="{FF2B5EF4-FFF2-40B4-BE49-F238E27FC236}">
                <a16:creationId xmlns:a16="http://schemas.microsoft.com/office/drawing/2014/main" id="{314D5CDE-0F8D-4A05-8D96-D7E258835A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슬라이드 노트 개체 틀 2">
            <a:extLst>
              <a:ext uri="{FF2B5EF4-FFF2-40B4-BE49-F238E27FC236}">
                <a16:creationId xmlns:a16="http://schemas.microsoft.com/office/drawing/2014/main" id="{BB44D037-DB58-49CC-AE43-994190BBF5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64516" name="슬라이드 번호 개체 틀 3">
            <a:extLst>
              <a:ext uri="{FF2B5EF4-FFF2-40B4-BE49-F238E27FC236}">
                <a16:creationId xmlns:a16="http://schemas.microsoft.com/office/drawing/2014/main" id="{3CE5DBC3-6759-46F6-A1B6-FFDBEF2E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053F290-7140-457A-A467-A8511305BAD6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C919EA59-6809-419F-B5B2-67958044B85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061DBE9E-6ABD-42BA-B4DA-E8A2637D2B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0AAB219C-0111-4621-A548-318A47F5F3B0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195031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AD3AF4-C449-4B38-A36D-264F281609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A230787-3FFB-4DD3-BF2E-1A33188F4B9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72870-180D-419E-872E-94008A7232E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24462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7497D02-EAB7-4152-9F9E-DC2C422630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3AC10F-807E-47B7-A998-2BD8153376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FE251-43C7-47ED-9C69-ABCE908FE40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185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4D6A82D-EBDE-4E95-B603-8C475168D1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DED4C25-F720-47AA-9F45-C392676FBB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F3D49A-3526-4180-BFBC-C73714D0A056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1595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40DAF2E-8CF4-4B78-B263-0CB6BD098C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16BA8A-C1C9-44B1-9AF3-74D68016ED0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BB0922-DA11-4C1A-9CC7-DF3965177F4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9193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BC8D4BE-0ADE-4CC2-89BD-2088AD227D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633EF0D-BDDD-42D1-A13A-E2C08B2394F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939A7-BB29-477A-9258-F1F632EF633A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50153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9B51D7B5-F41F-48D7-821F-9EFA49F447B7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4DE57A8B-F751-484C-840D-A21718DEC335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C5C7B299-C033-4028-A346-747518196EC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BC52D2ED-00BB-4349-BC37-777F7628E3F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6695FB21-F54B-4F34-A118-1C2E46452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33CD411-1A54-451F-8051-61B0474C58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06DAA38-D4C8-4C45-A257-AEACC3C428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fld id="{92CF3CF6-2F2B-4F08-AE36-448228477E7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88A72166-BF89-46A5-8886-BF3FEC13C38F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DBA385FD-B872-44E6-881F-8658D8D825B1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7AED533F-F4FB-401D-ABDF-97976943662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E6115155-CE48-4035-B2A6-4E77786D01F3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536E131B-137E-4C00-B7B5-EA009FD41B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25" r:id="rId2"/>
    <p:sldLayoutId id="2147483726" r:id="rId3"/>
    <p:sldLayoutId id="2147483727" r:id="rId4"/>
    <p:sldLayoutId id="2147483728" r:id="rId5"/>
    <p:sldLayoutId id="2147483729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M" panose="02020503020101020101" pitchFamily="18" charset="-127"/>
          <a:ea typeface="서울남산 장체 M" panose="02020503020101020101" pitchFamily="18" charset="-127"/>
          <a:cs typeface="+mn-cs"/>
        </a:defRPr>
      </a:lvl1pPr>
      <a:lvl2pPr marL="1793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www.youtube.com/watch?v=Bked6d8m_B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mailto:https://graphicriver.net/item/italian-restaurant-identity-mockup/19745961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http://recordm.co.kr/19/?q=YToxOntzOjEyOiJrZXl3b3JkX3R5cGUiO3M6MzoiYWxsIjt9&amp;bmode=view&amp;idx=4288146&amp;t=board" TargetMode="External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http://biz.heraldcorp.com/view.php?ud=20211021000789&amp;cpv=1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www.horecatrends.com/en/project-foodography-plates-that-guarantee-a-perfect-picture-of-your-food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부제목 3">
            <a:extLst>
              <a:ext uri="{FF2B5EF4-FFF2-40B4-BE49-F238E27FC236}">
                <a16:creationId xmlns:a16="http://schemas.microsoft.com/office/drawing/2014/main" id="{E4ABC289-474C-4F68-8439-B36E99EC1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hangingPunct="1"/>
            <a:r>
              <a:rPr lang="en-US" altLang="ko-KR"/>
              <a:t>Chepter 5. </a:t>
            </a:r>
            <a:r>
              <a:rPr lang="ko-KR" altLang="en-US"/>
              <a:t>외식서비스 메뉴상품 개발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텍스트 개체 틀 3">
            <a:extLst>
              <a:ext uri="{FF2B5EF4-FFF2-40B4-BE49-F238E27FC236}">
                <a16:creationId xmlns:a16="http://schemas.microsoft.com/office/drawing/2014/main" id="{C95E0A0F-BE6F-4C82-BADB-5385F3673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/>
              <a:t>1. </a:t>
            </a:r>
            <a:r>
              <a:rPr lang="ko-KR" altLang="en-US"/>
              <a:t>외식서비스 메뉴상품 개발의 목적</a:t>
            </a:r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6FC610-124F-4CE7-AFEF-04D8FA475FC9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FA17D0-931D-4773-A8C2-EB85024E0373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7369A30-4F45-45AF-BA0B-3B496F39F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381000"/>
            <a:ext cx="8940800" cy="563563"/>
          </a:xfrm>
        </p:spPr>
        <p:txBody>
          <a:bodyPr/>
          <a:lstStyle/>
          <a:p>
            <a:pPr eaLnBrk="1" hangingPunct="1"/>
            <a:r>
              <a:rPr lang="ko-KR" altLang="en-US">
                <a:latin typeface="서울남산 장체 M" pitchFamily="18" charset="-127"/>
                <a:ea typeface="서울남산 장체 M" pitchFamily="18" charset="-127"/>
              </a:rPr>
              <a:t>메뉴 상품 주요 목적</a:t>
            </a:r>
            <a:endParaRPr lang="en-US" altLang="ko-KR">
              <a:solidFill>
                <a:schemeClr val="accent1"/>
              </a:solidFill>
              <a:latin typeface="서울남산 장체 M" pitchFamily="18" charset="-127"/>
              <a:ea typeface="서울남산 장체 M" pitchFamily="18" charset="-127"/>
            </a:endParaRP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C47B21F2-D549-43DB-AEBB-EBA81C201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5" y="7223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서울남산 장체 M" pitchFamily="18" charset="-127"/>
                <a:ea typeface="서울남산 장체 M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서울남산 장체 L" pitchFamily="18" charset="-127"/>
                <a:ea typeface="서울남산 장체 L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defRPr sz="2000">
                <a:solidFill>
                  <a:schemeClr val="tx1"/>
                </a:solidFill>
                <a:latin typeface="서울남산 장체 L" pitchFamily="18" charset="-127"/>
                <a:ea typeface="서울남산 장체 L" pitchFamily="18" charset="-127"/>
              </a:defRPr>
            </a:lvl3pPr>
            <a:lvl4pPr marL="1600200" indent="-228600" latinLnBrk="1">
              <a:spcBef>
                <a:spcPct val="20000"/>
              </a:spcBef>
              <a:defRPr>
                <a:solidFill>
                  <a:schemeClr val="tx1"/>
                </a:solidFill>
                <a:latin typeface="서울남산 장체 L" pitchFamily="18" charset="-127"/>
                <a:ea typeface="서울남산 장체 L" pitchFamily="18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서울남산 장체 L" pitchFamily="18" charset="-127"/>
                <a:ea typeface="서울남산 장체 L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서울남산 장체 L" pitchFamily="18" charset="-127"/>
                <a:ea typeface="서울남산 장체 L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서울남산 장체 L" pitchFamily="18" charset="-127"/>
                <a:ea typeface="서울남산 장체 L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서울남산 장체 L" pitchFamily="18" charset="-127"/>
                <a:ea typeface="서울남산 장체 L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서울남산 장체 L" pitchFamily="18" charset="-127"/>
                <a:ea typeface="서울남산 장체 L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 b="0"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grpSp>
        <p:nvGrpSpPr>
          <p:cNvPr id="7172" name="Group 46">
            <a:extLst>
              <a:ext uri="{FF2B5EF4-FFF2-40B4-BE49-F238E27FC236}">
                <a16:creationId xmlns:a16="http://schemas.microsoft.com/office/drawing/2014/main" id="{6E3BD41C-740C-4E58-B747-9B845A8373FB}"/>
              </a:ext>
            </a:extLst>
          </p:cNvPr>
          <p:cNvGrpSpPr>
            <a:grpSpLocks/>
          </p:cNvGrpSpPr>
          <p:nvPr/>
        </p:nvGrpSpPr>
        <p:grpSpPr bwMode="auto">
          <a:xfrm>
            <a:off x="2892425" y="1925638"/>
            <a:ext cx="5287963" cy="793750"/>
            <a:chOff x="1296" y="1824"/>
            <a:chExt cx="2976" cy="432"/>
          </a:xfrm>
        </p:grpSpPr>
        <p:sp>
          <p:nvSpPr>
            <p:cNvPr id="88111" name="AutoShape 47">
              <a:extLst>
                <a:ext uri="{FF2B5EF4-FFF2-40B4-BE49-F238E27FC236}">
                  <a16:creationId xmlns:a16="http://schemas.microsoft.com/office/drawing/2014/main" id="{F504F1DB-A0FF-46BF-814D-2F579E2E2B2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7189" name="AutoShape 48">
              <a:extLst>
                <a:ext uri="{FF2B5EF4-FFF2-40B4-BE49-F238E27FC236}">
                  <a16:creationId xmlns:a16="http://schemas.microsoft.com/office/drawing/2014/main" id="{FB293F12-D8BE-4922-B319-5B645536940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itchFamily="18" charset="-127"/>
                  <a:ea typeface="서울남산 장체 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800" b="0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7190" name="Text Box 49">
              <a:extLst>
                <a:ext uri="{FF2B5EF4-FFF2-40B4-BE49-F238E27FC236}">
                  <a16:creationId xmlns:a16="http://schemas.microsoft.com/office/drawing/2014/main" id="{C8760E7A-0CBC-48C8-BF47-3598975B5AC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itchFamily="18" charset="-127"/>
                  <a:ea typeface="서울남산 장체 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</a:pPr>
              <a:r>
                <a:rPr lang="ko-KR" altLang="en-US" sz="1800"/>
                <a:t>운영 안정화와 수익 확대</a:t>
              </a:r>
              <a:endParaRPr lang="en-US" altLang="ko-KR" sz="1800"/>
            </a:p>
          </p:txBody>
        </p:sp>
        <p:sp>
          <p:nvSpPr>
            <p:cNvPr id="7191" name="Text Box 50">
              <a:extLst>
                <a:ext uri="{FF2B5EF4-FFF2-40B4-BE49-F238E27FC236}">
                  <a16:creationId xmlns:a16="http://schemas.microsoft.com/office/drawing/2014/main" id="{DBE7E36C-B6E2-43B8-9C68-506D02C9C5D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itchFamily="18" charset="-127"/>
                  <a:ea typeface="서울남산 장체 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1</a:t>
              </a:r>
            </a:p>
          </p:txBody>
        </p:sp>
      </p:grpSp>
      <p:grpSp>
        <p:nvGrpSpPr>
          <p:cNvPr id="7173" name="Group 51">
            <a:extLst>
              <a:ext uri="{FF2B5EF4-FFF2-40B4-BE49-F238E27FC236}">
                <a16:creationId xmlns:a16="http://schemas.microsoft.com/office/drawing/2014/main" id="{2EFD86AA-0563-4F67-84FE-5F4C052FC158}"/>
              </a:ext>
            </a:extLst>
          </p:cNvPr>
          <p:cNvGrpSpPr>
            <a:grpSpLocks/>
          </p:cNvGrpSpPr>
          <p:nvPr/>
        </p:nvGrpSpPr>
        <p:grpSpPr bwMode="auto">
          <a:xfrm>
            <a:off x="2892425" y="2763838"/>
            <a:ext cx="5287963" cy="793750"/>
            <a:chOff x="1296" y="1824"/>
            <a:chExt cx="2976" cy="432"/>
          </a:xfrm>
        </p:grpSpPr>
        <p:sp>
          <p:nvSpPr>
            <p:cNvPr id="88116" name="AutoShape 52">
              <a:extLst>
                <a:ext uri="{FF2B5EF4-FFF2-40B4-BE49-F238E27FC236}">
                  <a16:creationId xmlns:a16="http://schemas.microsoft.com/office/drawing/2014/main" id="{DA841D6A-4316-4F3F-84D4-9B2A84D5767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  <p:sp>
          <p:nvSpPr>
            <p:cNvPr id="7185" name="AutoShape 53">
              <a:extLst>
                <a:ext uri="{FF2B5EF4-FFF2-40B4-BE49-F238E27FC236}">
                  <a16:creationId xmlns:a16="http://schemas.microsoft.com/office/drawing/2014/main" id="{4B218CB0-C6B2-4F9D-95E1-C0466694BDA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itchFamily="18" charset="-127"/>
                  <a:ea typeface="서울남산 장체 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800" b="0"/>
            </a:p>
          </p:txBody>
        </p:sp>
        <p:sp>
          <p:nvSpPr>
            <p:cNvPr id="7186" name="Text Box 54">
              <a:extLst>
                <a:ext uri="{FF2B5EF4-FFF2-40B4-BE49-F238E27FC236}">
                  <a16:creationId xmlns:a16="http://schemas.microsoft.com/office/drawing/2014/main" id="{D803C7DA-65D3-4BBF-816A-64D76E68E74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itchFamily="18" charset="-127"/>
                  <a:ea typeface="서울남산 장체 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solidFill>
                    <a:srgbClr val="000000"/>
                  </a:solidFill>
                </a:rPr>
                <a:t>고객의 재방문 유도</a:t>
              </a:r>
              <a:endParaRPr lang="en-US" altLang="ko-KR" sz="1800">
                <a:solidFill>
                  <a:srgbClr val="000000"/>
                </a:solidFill>
              </a:endParaRPr>
            </a:p>
          </p:txBody>
        </p:sp>
        <p:sp>
          <p:nvSpPr>
            <p:cNvPr id="7187" name="Text Box 55">
              <a:extLst>
                <a:ext uri="{FF2B5EF4-FFF2-40B4-BE49-F238E27FC236}">
                  <a16:creationId xmlns:a16="http://schemas.microsoft.com/office/drawing/2014/main" id="{E1A52B45-B4A1-40F6-87D1-74C91905E8A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itchFamily="18" charset="-127"/>
                  <a:ea typeface="서울남산 장체 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7174" name="Group 56">
            <a:extLst>
              <a:ext uri="{FF2B5EF4-FFF2-40B4-BE49-F238E27FC236}">
                <a16:creationId xmlns:a16="http://schemas.microsoft.com/office/drawing/2014/main" id="{1863E243-BFB6-4AC1-8AF9-528C9A6F7F87}"/>
              </a:ext>
            </a:extLst>
          </p:cNvPr>
          <p:cNvGrpSpPr>
            <a:grpSpLocks/>
          </p:cNvGrpSpPr>
          <p:nvPr/>
        </p:nvGrpSpPr>
        <p:grpSpPr bwMode="auto">
          <a:xfrm>
            <a:off x="2892425" y="3602038"/>
            <a:ext cx="5287963" cy="793750"/>
            <a:chOff x="1296" y="1824"/>
            <a:chExt cx="2976" cy="432"/>
          </a:xfrm>
        </p:grpSpPr>
        <p:sp>
          <p:nvSpPr>
            <p:cNvPr id="88121" name="AutoShape 57">
              <a:extLst>
                <a:ext uri="{FF2B5EF4-FFF2-40B4-BE49-F238E27FC236}">
                  <a16:creationId xmlns:a16="http://schemas.microsoft.com/office/drawing/2014/main" id="{83E7A53A-A6FE-4DBD-9AD9-C424FBC8C4E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tx2">
                    <a:gamma/>
                    <a:tint val="21176"/>
                    <a:invGamma/>
                  </a:schemeClr>
                </a:gs>
                <a:gs pos="100000">
                  <a:schemeClr val="tx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  <p:sp>
          <p:nvSpPr>
            <p:cNvPr id="7181" name="AutoShape 58">
              <a:extLst>
                <a:ext uri="{FF2B5EF4-FFF2-40B4-BE49-F238E27FC236}">
                  <a16:creationId xmlns:a16="http://schemas.microsoft.com/office/drawing/2014/main" id="{F48BF290-604A-409D-973E-41303747D45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itchFamily="18" charset="-127"/>
                  <a:ea typeface="서울남산 장체 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800" b="0"/>
            </a:p>
          </p:txBody>
        </p:sp>
        <p:sp>
          <p:nvSpPr>
            <p:cNvPr id="7182" name="Text Box 59">
              <a:extLst>
                <a:ext uri="{FF2B5EF4-FFF2-40B4-BE49-F238E27FC236}">
                  <a16:creationId xmlns:a16="http://schemas.microsoft.com/office/drawing/2014/main" id="{E4392FF2-AF42-43E4-80FC-3DABAE3075A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80" y="1934"/>
              <a:ext cx="246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itchFamily="18" charset="-127"/>
                  <a:ea typeface="서울남산 장체 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solidFill>
                    <a:srgbClr val="000000"/>
                  </a:solidFill>
                </a:rPr>
                <a:t>레스토랑 콘셉트 및 진입장벽 유지</a:t>
              </a:r>
              <a:endParaRPr lang="en-US" altLang="ko-KR" sz="1800">
                <a:solidFill>
                  <a:srgbClr val="000000"/>
                </a:solidFill>
              </a:endParaRPr>
            </a:p>
          </p:txBody>
        </p:sp>
        <p:sp>
          <p:nvSpPr>
            <p:cNvPr id="7183" name="Text Box 60">
              <a:extLst>
                <a:ext uri="{FF2B5EF4-FFF2-40B4-BE49-F238E27FC236}">
                  <a16:creationId xmlns:a16="http://schemas.microsoft.com/office/drawing/2014/main" id="{B75ABF7C-BCDF-45FD-8532-37AE03F7681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itchFamily="18" charset="-127"/>
                  <a:ea typeface="서울남산 장체 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175" name="Group 61">
            <a:extLst>
              <a:ext uri="{FF2B5EF4-FFF2-40B4-BE49-F238E27FC236}">
                <a16:creationId xmlns:a16="http://schemas.microsoft.com/office/drawing/2014/main" id="{752D9D74-1916-4790-8D9C-81AE9E60B66A}"/>
              </a:ext>
            </a:extLst>
          </p:cNvPr>
          <p:cNvGrpSpPr>
            <a:grpSpLocks/>
          </p:cNvGrpSpPr>
          <p:nvPr/>
        </p:nvGrpSpPr>
        <p:grpSpPr bwMode="auto">
          <a:xfrm>
            <a:off x="2892425" y="4516438"/>
            <a:ext cx="5397500" cy="949325"/>
            <a:chOff x="1296" y="1824"/>
            <a:chExt cx="3037" cy="517"/>
          </a:xfrm>
        </p:grpSpPr>
        <p:sp>
          <p:nvSpPr>
            <p:cNvPr id="88126" name="AutoShape 62">
              <a:extLst>
                <a:ext uri="{FF2B5EF4-FFF2-40B4-BE49-F238E27FC236}">
                  <a16:creationId xmlns:a16="http://schemas.microsoft.com/office/drawing/2014/main" id="{E66B1464-E027-43F6-BD73-06043A32358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7177" name="AutoShape 63">
              <a:extLst>
                <a:ext uri="{FF2B5EF4-FFF2-40B4-BE49-F238E27FC236}">
                  <a16:creationId xmlns:a16="http://schemas.microsoft.com/office/drawing/2014/main" id="{99451689-E344-4AF2-9941-8FE9937272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itchFamily="18" charset="-127"/>
                  <a:ea typeface="서울남산 장체 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800" b="0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7178" name="Text Box 64">
              <a:extLst>
                <a:ext uri="{FF2B5EF4-FFF2-40B4-BE49-F238E27FC236}">
                  <a16:creationId xmlns:a16="http://schemas.microsoft.com/office/drawing/2014/main" id="{122F8144-D964-442D-B449-36C94A5C9AA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80" y="1934"/>
              <a:ext cx="2653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itchFamily="18" charset="-127"/>
                  <a:ea typeface="서울남산 장체 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</a:pPr>
              <a:r>
                <a:rPr lang="ko-KR" altLang="en-US" sz="1800"/>
                <a:t>신규 레스토랑 브랜드를 위한 메뉴 콘셉트 개발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ko-KR" sz="180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7179" name="Text Box 65">
              <a:extLst>
                <a:ext uri="{FF2B5EF4-FFF2-40B4-BE49-F238E27FC236}">
                  <a16:creationId xmlns:a16="http://schemas.microsoft.com/office/drawing/2014/main" id="{C60DAF96-73FF-4A54-8DD9-3697300B31F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itchFamily="18" charset="-127"/>
                  <a:ea typeface="서울남산 장체 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itchFamily="18" charset="-127"/>
                  <a:ea typeface="서울남산 장체 L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텍스트 개체 틀 3">
            <a:extLst>
              <a:ext uri="{FF2B5EF4-FFF2-40B4-BE49-F238E27FC236}">
                <a16:creationId xmlns:a16="http://schemas.microsoft.com/office/drawing/2014/main" id="{B9BF43D2-90D6-4E11-BCD4-89683CAC1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/>
              <a:t>2. </a:t>
            </a:r>
            <a:r>
              <a:rPr lang="ko-KR" altLang="en-US"/>
              <a:t>신메뉴 상품 개발 범위와 기본 전략</a:t>
            </a:r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2DE00B-6FD2-4132-A103-10EE087A1C8C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3DC399-6CDC-487D-9BF6-D3D9BAA206A8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6042CFF7-50B9-4245-95E3-C753B68C5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신메뉴 상품 개발 범위와 영역</a:t>
            </a:r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4070E449-7684-4AAC-B66A-DCFCF457A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800"/>
              <a:t>신메뉴 상품 개발이란 현재 레스토랑에서 판매하고 있지 않은 메뉴나 콘셉트를 개발하는 것으로 정의</a:t>
            </a:r>
            <a:r>
              <a:rPr lang="en-US" altLang="ko-KR" sz="1800"/>
              <a:t>.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endParaRPr lang="en-US" altLang="ko-KR" sz="180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endParaRPr lang="ko-KR" altLang="en-US" sz="180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endParaRPr lang="ko-KR" altLang="en-US" sz="2000"/>
          </a:p>
        </p:txBody>
      </p:sp>
      <p:sp>
        <p:nvSpPr>
          <p:cNvPr id="10244" name="TextBox 1">
            <a:extLst>
              <a:ext uri="{FF2B5EF4-FFF2-40B4-BE49-F238E27FC236}">
                <a16:creationId xmlns:a16="http://schemas.microsoft.com/office/drawing/2014/main" id="{6C511B1F-C67C-4F59-AEB5-494FE1D1F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1989138"/>
            <a:ext cx="35067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 sz="1400" b="1">
                <a:ea typeface="서울남산 장체 M" pitchFamily="18" charset="-127"/>
              </a:rPr>
              <a:t>[</a:t>
            </a:r>
            <a:r>
              <a:rPr lang="ko-KR" altLang="en-US" sz="1400" b="1">
                <a:ea typeface="서울남산 장체 M" pitchFamily="18" charset="-127"/>
              </a:rPr>
              <a:t>신메뉴 상품 개발의 주요 영역</a:t>
            </a:r>
            <a:r>
              <a:rPr lang="en-US" altLang="ko-KR" sz="1400" b="1">
                <a:ea typeface="서울남산 장체 M" pitchFamily="18" charset="-127"/>
              </a:rPr>
              <a:t>]</a:t>
            </a:r>
            <a:endParaRPr lang="ko-KR" altLang="en-US" sz="1400" b="1">
              <a:ea typeface="서울남산 장체 M" pitchFamily="18" charset="-127"/>
            </a:endParaRPr>
          </a:p>
        </p:txBody>
      </p:sp>
      <p:pic>
        <p:nvPicPr>
          <p:cNvPr id="5" name="_x262076480" descr="EMB000049005e28">
            <a:extLst>
              <a:ext uri="{FF2B5EF4-FFF2-40B4-BE49-F238E27FC236}">
                <a16:creationId xmlns:a16="http://schemas.microsoft.com/office/drawing/2014/main" id="{37A4ECF9-4A9E-4389-A0C0-C72E18BE3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896" y="2143125"/>
            <a:ext cx="6632028" cy="405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DFD4BDA7-F5CE-4012-9B23-FE7189AD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신메뉴 상품 개발 범위와 영역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2EBE35AE-88E2-406C-AF56-184E0B418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ko-KR" altLang="en-US" sz="2000" dirty="0"/>
              <a:t>단일 메뉴 품목의 개발</a:t>
            </a:r>
            <a:endParaRPr lang="en-US" altLang="ko-KR" sz="20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모방 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외식시장에서 성공한 메뉴를 모방하여 자신의 메뉴 상품에 포함하는 것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개선 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레스토랑이 판매하고 있는 기존 메뉴 상품을 개량하는 것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혁신 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외식 시장에서 과거에는 전혀 보지 못했던 완전히 새로운 메뉴 상품을 개발하는 것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2"/>
              <a:defRPr/>
            </a:pPr>
            <a:r>
              <a:rPr lang="ko-KR" altLang="en-US" sz="2000" dirty="0"/>
              <a:t>메뉴 믹스의 개발</a:t>
            </a:r>
            <a:endParaRPr lang="en-US" altLang="ko-KR" sz="20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특정 레스토랑이 고객에게 판매하기 위해 제공하는 모든 메뉴 품목들의 집합체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모든 메뉴들을 유사한 품목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판매목적에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따라 묶은 다수의 판매 상품 그룹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(Group)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733425" lvl="2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</a:rPr>
              <a:t>그 아래 카테고리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</a:rPr>
              <a:t>(category), 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</a:rPr>
              <a:t>개별 메뉴 품목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</a:rPr>
              <a:t>(item)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</a:rPr>
              <a:t>으로 이루어짐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마케팅적 측면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메뉴 선택의 다양성 유지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고객 이탈 방지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이익 증가 방안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b="1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텍스트 개체 틀 3">
            <a:extLst>
              <a:ext uri="{FF2B5EF4-FFF2-40B4-BE49-F238E27FC236}">
                <a16:creationId xmlns:a16="http://schemas.microsoft.com/office/drawing/2014/main" id="{84F7B0B6-5A0B-490B-B086-1BB633D92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/>
              <a:t>3. </a:t>
            </a:r>
            <a:r>
              <a:rPr lang="ko-KR" altLang="en-US"/>
              <a:t>메뉴 상품 개발 과정</a:t>
            </a:r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10A029-92BD-430B-AC22-4D3559FE0A26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ACF973-9E8F-446E-8F5F-70563E9760F1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23BC86B2-BA43-4DE0-B738-FBFCEBCB7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신메뉴 상품 개발 시 고려사항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C44EE2D4-78A7-4AD9-8913-F08097478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(1)</a:t>
            </a:r>
            <a:r>
              <a:rPr lang="ko-KR" altLang="en-US" sz="2000" dirty="0"/>
              <a:t> 레스토랑 콘셉트의 확인</a:t>
            </a:r>
            <a:endParaRPr lang="en-US" altLang="ko-KR" sz="20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고객이 수용할 만한 적정 가격에 좋은 품질의 음식을 제공하고 있는가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?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품질뿐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아니라 고객의 식사 경험에 초점을 맞추어 서비스가 진행되고 있는가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?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고객이 레스토랑의 서비스 상품과 분위기를 편안하게 즐기고 있는가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? </a:t>
            </a:r>
            <a:endParaRPr lang="ko-KR" altLang="en-US" sz="1800" b="1" dirty="0">
              <a:solidFill>
                <a:schemeClr val="tx2">
                  <a:lumMod val="7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(2) </a:t>
            </a:r>
            <a:r>
              <a:rPr lang="ko-KR" altLang="en-US" sz="2000" dirty="0" err="1"/>
              <a:t>목표고객의</a:t>
            </a:r>
            <a:r>
              <a:rPr lang="ko-KR" altLang="en-US" sz="2000" dirty="0"/>
              <a:t> 확인</a:t>
            </a:r>
            <a:endParaRPr lang="en-US" altLang="ko-KR" sz="2000" dirty="0"/>
          </a:p>
          <a:p>
            <a:pPr marL="465138" lvl="1" indent="-285750" eaLnBrk="1" hangingPunct="1">
              <a:lnSpc>
                <a:spcPct val="150000"/>
              </a:lnSpc>
              <a:spcAft>
                <a:spcPts val="600"/>
              </a:spcAft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목표로 하는 고객의 특성과 욕구에 대한 이해를 바탕으로 계획하고 결정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spcAft>
                <a:spcPts val="600"/>
              </a:spcAft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고객은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경쟁사뿐만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아니라 유사 상품 전체를 살펴보고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비교∙결정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spcAft>
                <a:spcPts val="600"/>
              </a:spcAft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고객이 원하고 기대하는 메뉴 상품은 무엇인지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책정해 놓은 가격을 지불할 의사가 있는지 파악</a:t>
            </a:r>
          </a:p>
          <a:p>
            <a:pP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20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6FB101F9-7A80-469D-A612-B98F98E6E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신메뉴 상품 개발 시 고려사항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C9FEBA02-E3F6-4EB4-B656-841990B9F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(3) </a:t>
            </a:r>
            <a:r>
              <a:rPr lang="ko-KR" altLang="en-US" sz="2000" dirty="0"/>
              <a:t>외식업체의 역량 확인</a:t>
            </a:r>
            <a:endParaRPr lang="en-US" altLang="ko-KR" sz="20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주방의 레이아웃과 규모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주방기기 및 설비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조리 및 서비스 인력의 규모와 기술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식재료의 조달과 가용성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예산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20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0AEDC389-7C5B-4584-9E5C-8A2C7108D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A82BE577-ABEC-4C9A-AC55-C071CE187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/>
              <a:defRPr/>
            </a:pPr>
            <a:r>
              <a:rPr lang="ko-KR" altLang="en-US" sz="2000" dirty="0" err="1"/>
              <a:t>메뉴상품</a:t>
            </a:r>
            <a:r>
              <a:rPr lang="ko-KR" altLang="en-US" sz="2000" dirty="0"/>
              <a:t> 개발팀 준비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ko-KR" altLang="en-US" sz="1800" dirty="0" err="1"/>
              <a:t>메뉴상품</a:t>
            </a:r>
            <a:r>
              <a:rPr lang="ko-KR" altLang="en-US" sz="1800" dirty="0"/>
              <a:t> 개발팀 구성</a:t>
            </a:r>
            <a:r>
              <a:rPr lang="en-US" altLang="ko-KR" sz="1800" dirty="0"/>
              <a:t> 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b="1" dirty="0" err="1">
                <a:solidFill>
                  <a:schemeClr val="tx2">
                    <a:lumMod val="75000"/>
                  </a:schemeClr>
                </a:solidFill>
              </a:rPr>
              <a:t>메뉴전달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 프로세스 개발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약속한 품질 전달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적절한 프로모션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spcAft>
                <a:spcPts val="1200"/>
              </a:spcAft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‘</a:t>
            </a:r>
            <a:r>
              <a:rPr lang="ko-KR" altLang="en-US" sz="1600" b="1" dirty="0" err="1">
                <a:solidFill>
                  <a:schemeClr val="tx2">
                    <a:lumMod val="75000"/>
                  </a:schemeClr>
                </a:solidFill>
              </a:rPr>
              <a:t>외식서비스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 마케팅 삼각형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‘ 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완성에 관여하는 모든 부문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조리사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서비스 담당자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경영자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마케팅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원가관리 부서의 참여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필수적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2"/>
              <a:defRPr/>
            </a:pPr>
            <a:r>
              <a:rPr lang="ko-KR" altLang="en-US" sz="1800" dirty="0"/>
              <a:t>외식업체 이미지 및 인지도 분석</a:t>
            </a:r>
            <a:endParaRPr lang="en-US" altLang="ko-KR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점포나 메뉴에 대하여 소비자들이 가지고 있는 이미지와 인지도 파악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spcAft>
                <a:spcPts val="1200"/>
              </a:spcAft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이에 부합되는 적합한 </a:t>
            </a:r>
            <a:r>
              <a:rPr lang="ko-KR" altLang="en-US" sz="1600" b="1" dirty="0" err="1">
                <a:solidFill>
                  <a:schemeClr val="tx2">
                    <a:lumMod val="75000"/>
                  </a:schemeClr>
                </a:solidFill>
              </a:rPr>
              <a:t>신메뉴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 상품개발이 이루어져야 성공 가능성이 높아짐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3"/>
              <a:defRPr/>
            </a:pPr>
            <a:r>
              <a:rPr lang="ko-KR" altLang="en-US" sz="1800" dirty="0"/>
              <a:t>시장 조사와 기회 파악</a:t>
            </a:r>
            <a:r>
              <a:rPr lang="en-US" altLang="ko-KR" sz="1800" dirty="0"/>
              <a:t> </a:t>
            </a:r>
            <a:endParaRPr lang="ko-KR" altLang="en-US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시장조사는 메뉴 상품 설계를 위한 기초 자료를 제공하는 단계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시장 내에서 업체의 위치를 파악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,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 집중하고자 하는 표적시장의 크기와 잠재성장력을 파악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메뉴 믹스를 확장하거나 축소하는 등의 수정 개발이 필요한 경우 분석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2B4E5576-779D-48FD-9701-5B9A82FBE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B28096B9-9D08-4833-89E6-488FC9DBB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4873241" cy="2246203"/>
          </a:xfrm>
        </p:spPr>
        <p:txBody>
          <a:bodyPr/>
          <a:lstStyle/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/>
              <a:defRPr/>
            </a:pPr>
            <a:r>
              <a:rPr lang="ko-KR" altLang="en-US" sz="2000" dirty="0" err="1"/>
              <a:t>메뉴상품</a:t>
            </a:r>
            <a:r>
              <a:rPr lang="ko-KR" altLang="en-US" sz="2000" dirty="0"/>
              <a:t> 개발팀 준비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600" dirty="0"/>
              <a:t>선제 전략</a:t>
            </a:r>
            <a:r>
              <a:rPr lang="en-US" altLang="ko-KR" sz="1600" dirty="0"/>
              <a:t>(proactive strategy): </a:t>
            </a:r>
            <a:r>
              <a:rPr lang="ko-KR" altLang="en-US" sz="1600" dirty="0"/>
              <a:t>경쟁자보다 먼저 신상품을 개발하는 것</a:t>
            </a:r>
            <a:endParaRPr lang="en-US" altLang="ko-KR" sz="1600" dirty="0"/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r>
              <a:rPr lang="ko-KR" altLang="en-US" sz="1600" dirty="0"/>
              <a:t>대응 전략</a:t>
            </a:r>
            <a:r>
              <a:rPr lang="en-US" altLang="ko-KR" sz="1600" dirty="0"/>
              <a:t>(reactive strategy): </a:t>
            </a:r>
            <a:r>
              <a:rPr lang="ko-KR" altLang="en-US" sz="1600" dirty="0"/>
              <a:t>경쟁업체의 신상품에 대응하여 유사하거나 좀더 개선된 제품을 개발하는 것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◦"/>
            </a:pPr>
            <a:endParaRPr lang="ko-KR" altLang="en-US" sz="16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  <p:sp>
        <p:nvSpPr>
          <p:cNvPr id="23556" name="TextBox 7">
            <a:extLst>
              <a:ext uri="{FF2B5EF4-FFF2-40B4-BE49-F238E27FC236}">
                <a16:creationId xmlns:a16="http://schemas.microsoft.com/office/drawing/2014/main" id="{68BD01D3-3BDA-4A3B-874B-D9C495464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3577" y="6137275"/>
            <a:ext cx="44243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 sz="1600" b="1" dirty="0">
                <a:ea typeface="서울남산 장체 M" pitchFamily="18" charset="-127"/>
              </a:rPr>
              <a:t>[</a:t>
            </a:r>
            <a:r>
              <a:rPr lang="ko-KR" altLang="en-US" sz="1600" b="1" dirty="0">
                <a:ea typeface="서울남산 장체 M" pitchFamily="18" charset="-127"/>
              </a:rPr>
              <a:t>시장 종류와 기술에 따른 기회영역 분석</a:t>
            </a:r>
            <a:r>
              <a:rPr lang="en-US" altLang="ko-KR" sz="1600" b="1" dirty="0">
                <a:ea typeface="서울남산 장체 M" pitchFamily="18" charset="-127"/>
              </a:rPr>
              <a:t>]</a:t>
            </a:r>
            <a:endParaRPr lang="ko-KR" altLang="en-US" sz="1600" b="1" dirty="0">
              <a:ea typeface="서울남산 장체 M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81D845A-C8C5-4053-9D9A-472CB5095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333375"/>
            <a:ext cx="4991100" cy="65246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C025EA79-47A9-40F4-B2EA-79672905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B9E3913E-8126-423A-8113-054E5FE11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메뉴 </a:t>
            </a:r>
            <a:r>
              <a:rPr lang="ko-KR" altLang="en-US" sz="2000" dirty="0" err="1"/>
              <a:t>크리에이션</a:t>
            </a:r>
            <a:endParaRPr lang="en-US" altLang="ko-KR" sz="20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ko-KR" altLang="en-US" sz="1800" dirty="0"/>
              <a:t>메뉴 아이디어 발굴</a:t>
            </a:r>
            <a:endParaRPr lang="en-US" altLang="ko-KR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신제품 아이디어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기존 제품을 개선할 수 있는 다양한 아이디어를 수집하는 것까지 포함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고객이 어디서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레스토랑의 종류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무엇을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구매할 것인가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?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그리고 원하는 것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고객 가치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은 무엇인가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?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지속적으로 실행되어야 함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733425" lvl="2" indent="-285750" eaLnBrk="1" hangingPunct="1">
              <a:lnSpc>
                <a:spcPct val="150000"/>
              </a:lnSpc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400" b="1" dirty="0">
                <a:solidFill>
                  <a:srgbClr val="FF0000"/>
                </a:solidFill>
              </a:rPr>
              <a:t>기본 기능</a:t>
            </a:r>
            <a:r>
              <a:rPr lang="en-US" altLang="ko-KR" sz="1400" b="1" dirty="0">
                <a:solidFill>
                  <a:srgbClr val="FF0000"/>
                </a:solidFill>
              </a:rPr>
              <a:t>: </a:t>
            </a:r>
            <a:r>
              <a:rPr lang="ko-KR" altLang="en-US" sz="1400" b="1" dirty="0">
                <a:solidFill>
                  <a:srgbClr val="FF0000"/>
                </a:solidFill>
              </a:rPr>
              <a:t> 메뉴 상품에서 빠질 수 없는 본질적 기능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marL="733425" lvl="2" indent="-285750" eaLnBrk="1" hangingPunct="1">
              <a:lnSpc>
                <a:spcPct val="150000"/>
              </a:lnSpc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400" b="1" dirty="0">
                <a:solidFill>
                  <a:srgbClr val="FF0000"/>
                </a:solidFill>
              </a:rPr>
              <a:t>표층 기능</a:t>
            </a:r>
            <a:r>
              <a:rPr lang="en-US" altLang="ko-KR" sz="1400" b="1" dirty="0">
                <a:solidFill>
                  <a:srgbClr val="FF0000"/>
                </a:solidFill>
              </a:rPr>
              <a:t>:</a:t>
            </a:r>
            <a:r>
              <a:rPr lang="ko-KR" altLang="en-US" sz="1400" b="1" dirty="0">
                <a:solidFill>
                  <a:srgbClr val="FF0000"/>
                </a:solidFill>
              </a:rPr>
              <a:t>  이 부분이 없어도 핵심 제품에 큰 지장은 없지만 상품의 외형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 err="1">
                <a:solidFill>
                  <a:srgbClr val="FF0000"/>
                </a:solidFill>
              </a:rPr>
              <a:t>서비스상</a:t>
            </a:r>
            <a:r>
              <a:rPr lang="ko-KR" altLang="en-US" sz="1400" b="1" dirty="0">
                <a:solidFill>
                  <a:srgbClr val="FF0000"/>
                </a:solidFill>
              </a:rPr>
              <a:t> 편리성을 더하여 </a:t>
            </a:r>
            <a:r>
              <a:rPr lang="ko-KR" altLang="en-US" sz="1400" b="1" u="sng" dirty="0">
                <a:solidFill>
                  <a:srgbClr val="FF0000"/>
                </a:solidFill>
              </a:rPr>
              <a:t>만족도</a:t>
            </a:r>
            <a:r>
              <a:rPr lang="ko-KR" altLang="en-US" sz="1400" b="1" dirty="0">
                <a:solidFill>
                  <a:srgbClr val="FF0000"/>
                </a:solidFill>
              </a:rPr>
              <a:t>에 영향을 미치는 기능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9A73344-46E6-4258-8256-FF30B11B8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840972"/>
              </p:ext>
            </p:extLst>
          </p:nvPr>
        </p:nvGraphicFramePr>
        <p:xfrm>
          <a:off x="436563" y="1873250"/>
          <a:ext cx="11023600" cy="914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023600">
                  <a:extLst>
                    <a:ext uri="{9D8B030D-6E8A-4147-A177-3AD203B41FA5}">
                      <a16:colId xmlns:a16="http://schemas.microsoft.com/office/drawing/2014/main" val="3601439169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 typeface="+mj-ea"/>
                        <a:buNone/>
                      </a:pPr>
                      <a:r>
                        <a:rPr lang="ko-KR" altLang="en-US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메뉴 아이디어 발굴 </a:t>
                      </a:r>
                      <a:r>
                        <a:rPr lang="en-US" altLang="ko-KR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400" b="0" baseline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메뉴 아이디어 </a:t>
                      </a:r>
                      <a:r>
                        <a:rPr lang="ko-KR" altLang="en-US" sz="1400" b="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스크리닝</a:t>
                      </a:r>
                      <a:r>
                        <a:rPr lang="ko-KR" altLang="en-US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  </a:t>
                      </a:r>
                      <a:r>
                        <a:rPr lang="ko-KR" altLang="en-US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메뉴 콘셉트 개발 </a:t>
                      </a:r>
                      <a:r>
                        <a:rPr lang="en-US" altLang="ko-KR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  </a:t>
                      </a:r>
                      <a:r>
                        <a:rPr lang="ko-KR" altLang="en-US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상품 프로토타이핑과 </a:t>
                      </a:r>
                      <a:r>
                        <a:rPr lang="ko-KR" altLang="en-US" sz="1400" b="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테스팅</a:t>
                      </a:r>
                      <a:r>
                        <a:rPr lang="ko-KR" altLang="en-US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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+mj-ea"/>
                        <a:buNone/>
                      </a:pPr>
                      <a:r>
                        <a:rPr lang="ko-KR" altLang="en-US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초기 신상품 출시 및 운영 </a:t>
                      </a:r>
                      <a:r>
                        <a:rPr lang="ko-KR" altLang="en-US" sz="1400" b="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테스팅</a:t>
                      </a:r>
                      <a:r>
                        <a:rPr lang="ko-KR" altLang="en-US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  </a:t>
                      </a:r>
                      <a:r>
                        <a:rPr lang="ko-KR" altLang="en-US" sz="1400" b="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신메뉴</a:t>
                      </a:r>
                      <a:r>
                        <a:rPr lang="ko-KR" altLang="en-US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 상품에 대한 마케팅 계획 수립 </a:t>
                      </a:r>
                      <a:r>
                        <a:rPr lang="en-US" altLang="ko-KR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  </a:t>
                      </a:r>
                      <a:r>
                        <a:rPr lang="ko-KR" altLang="en-US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본격적 </a:t>
                      </a:r>
                      <a:r>
                        <a:rPr lang="ko-KR" altLang="en-US" sz="1400" b="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신메뉴</a:t>
                      </a:r>
                      <a:r>
                        <a:rPr lang="ko-KR" altLang="en-US" sz="1400" b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 상품 출시와 지속적 운영 평가</a:t>
                      </a:r>
                      <a:endParaRPr lang="en-US" altLang="ko-KR" sz="1400" b="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  <a:sym typeface="Wingdings" panose="05000000000000000000" pitchFamily="2" charset="2"/>
                      </a:endParaRPr>
                    </a:p>
                  </a:txBody>
                  <a:tcPr marL="91447" marR="91447" marT="25901" marB="25901" anchor="ctr"/>
                </a:tc>
                <a:extLst>
                  <a:ext uri="{0D108BD9-81ED-4DB2-BD59-A6C34878D82A}">
                    <a16:rowId xmlns:a16="http://schemas.microsoft.com/office/drawing/2014/main" val="7630542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4EB80E41-36AF-4DC9-BBFA-A5C75E36F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545E5D57-F393-4091-9A8C-3ACC1F2BB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473367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메뉴 </a:t>
            </a:r>
            <a:r>
              <a:rPr lang="ko-KR" altLang="en-US" sz="2000" dirty="0" err="1"/>
              <a:t>크리에이션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ko-KR" altLang="en-US" sz="1800" dirty="0"/>
              <a:t>메뉴 아이디어 발굴 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dirty="0"/>
              <a:t>    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</a:rPr>
              <a:t>사례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</a:rPr>
              <a:t>) - 3D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</a:rPr>
              <a:t>프린팅을 활용한 레스토랑의 혁신 메뉴 개발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>
              <a:solidFill>
                <a:schemeClr val="tx2">
                  <a:lumMod val="75000"/>
                </a:schemeClr>
              </a:solidFill>
              <a:hlinkClick r:id="rId3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u="sng" dirty="0">
              <a:solidFill>
                <a:schemeClr val="tx2">
                  <a:lumMod val="75000"/>
                </a:schemeClr>
              </a:solidFill>
              <a:hlinkClick r:id="rId3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600" b="0" u="sng" dirty="0">
              <a:solidFill>
                <a:schemeClr val="tx2">
                  <a:lumMod val="7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  <p:grpSp>
        <p:nvGrpSpPr>
          <p:cNvPr id="27652" name="그룹 1">
            <a:extLst>
              <a:ext uri="{FF2B5EF4-FFF2-40B4-BE49-F238E27FC236}">
                <a16:creationId xmlns:a16="http://schemas.microsoft.com/office/drawing/2014/main" id="{F4DDE8F1-EE31-4D75-A644-2BAE75C86E92}"/>
              </a:ext>
            </a:extLst>
          </p:cNvPr>
          <p:cNvGrpSpPr>
            <a:grpSpLocks/>
          </p:cNvGrpSpPr>
          <p:nvPr/>
        </p:nvGrpSpPr>
        <p:grpSpPr bwMode="auto">
          <a:xfrm>
            <a:off x="682625" y="2713038"/>
            <a:ext cx="8483600" cy="2054225"/>
            <a:chOff x="779463" y="3282950"/>
            <a:chExt cx="8483600" cy="2054225"/>
          </a:xfrm>
        </p:grpSpPr>
        <p:pic>
          <p:nvPicPr>
            <p:cNvPr id="27653" name="Picture 1">
              <a:extLst>
                <a:ext uri="{FF2B5EF4-FFF2-40B4-BE49-F238E27FC236}">
                  <a16:creationId xmlns:a16="http://schemas.microsoft.com/office/drawing/2014/main" id="{26ADB7AF-A8A5-447E-98CD-D1CE5B52C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463" y="3324225"/>
              <a:ext cx="3859212" cy="201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54" name="Picture 3">
              <a:extLst>
                <a:ext uri="{FF2B5EF4-FFF2-40B4-BE49-F238E27FC236}">
                  <a16:creationId xmlns:a16="http://schemas.microsoft.com/office/drawing/2014/main" id="{EB243451-5735-4C15-AEE0-83D572080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4275" y="3324225"/>
              <a:ext cx="2012950" cy="201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55" name="Picture 5">
              <a:extLst>
                <a:ext uri="{FF2B5EF4-FFF2-40B4-BE49-F238E27FC236}">
                  <a16:creationId xmlns:a16="http://schemas.microsoft.com/office/drawing/2014/main" id="{4F4FB53C-9B86-43C4-A6B7-2AF2330A0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2825" y="3282950"/>
              <a:ext cx="1900238" cy="2054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6E9146C3-5FC5-4DC1-9DE1-E490F76C0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9E40C70A-BF03-4526-83E9-61C24C255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메뉴 </a:t>
            </a:r>
            <a:r>
              <a:rPr lang="ko-KR" altLang="en-US" sz="2000" dirty="0" err="1"/>
              <a:t>크리에이션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2"/>
              <a:defRPr/>
            </a:pPr>
            <a:r>
              <a:rPr lang="ko-KR" altLang="en-US" sz="1800" dirty="0"/>
              <a:t>메뉴 아이디어 </a:t>
            </a:r>
            <a:r>
              <a:rPr lang="ko-KR" altLang="en-US" sz="1800" dirty="0" err="1"/>
              <a:t>스크리닝</a:t>
            </a:r>
            <a:r>
              <a:rPr lang="ko-KR" altLang="en-US" sz="1800" dirty="0"/>
              <a:t> </a:t>
            </a:r>
            <a:r>
              <a:rPr lang="en-US" altLang="ko-KR" sz="1800" dirty="0"/>
              <a:t>(screening)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수집된 아이디어에 대한 평가를 진행하여 아이디어를 축소하는 단계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실행 가능성을 확인하여 우선순위를 결정하고 성공 가능성이 낮은 아이디어를 제거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다양한 부문의 평가 기준을 마련하여 아이디어에 대한 객관적 평가가 이루어지도록 해야 함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</a:rPr>
              <a:t>[ </a:t>
            </a:r>
            <a:r>
              <a:rPr lang="ko-KR" altLang="en-US" sz="1800" dirty="0"/>
              <a:t>메뉴 상품에 대한 새로운 아이디어는 어디에서 얻을 수 있을까요</a:t>
            </a:r>
            <a:r>
              <a:rPr lang="en-US" altLang="ko-KR" sz="1800" dirty="0"/>
              <a:t>? ]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외식기업 내부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고객 의견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기타 아이디어 원천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2A101B7-45E9-49B2-98B4-05770E61F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099" y="4380022"/>
            <a:ext cx="1439452" cy="17580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D4160B3F-A9E7-46B9-B714-4E875AD4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7CF5652E-99BF-4E87-875C-6FD3F6E6C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7966075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메뉴 </a:t>
            </a:r>
            <a:r>
              <a:rPr lang="ko-KR" altLang="en-US" sz="2000" dirty="0" err="1"/>
              <a:t>크리에이션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3"/>
              <a:defRPr/>
            </a:pPr>
            <a:r>
              <a:rPr lang="ko-KR" altLang="en-US" sz="1800" dirty="0"/>
              <a:t>메뉴 콘셉트 개발</a:t>
            </a: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메뉴가 어떤 요소와 특성을 갖고 있는가에 대한 묘사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고객의 욕구를 만족시킬 수 있는 특성을 가지고 있는가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?</a:t>
            </a:r>
            <a:endParaRPr lang="ko-KR" altLang="en-US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고객들에게 어떤 효용을 제공할 것이며 고객들이 얻는 만족의 특징은 무엇인지를 명확히 하는 작업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메뉴상품의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콘셉트는 레스토랑 콘셉트를 완성하는 다른 구성 요소들과의 조화를 이루어 레스토랑의 이미지와 부합되는 것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어떤 가치를 가지고 무엇을 파는 레스토랑인지를 고객들이 쉽게 인식 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정체성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독창성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endParaRPr lang="ko-KR" altLang="en-US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CDB670-B3C6-4B3F-8708-B95B8F5D7D3A}"/>
              </a:ext>
            </a:extLst>
          </p:cNvPr>
          <p:cNvSpPr/>
          <p:nvPr/>
        </p:nvSpPr>
        <p:spPr bwMode="auto">
          <a:xfrm>
            <a:off x="8808764" y="1783639"/>
            <a:ext cx="2797175" cy="3629189"/>
          </a:xfrm>
          <a:prstGeom prst="rect">
            <a:avLst/>
          </a:prstGeom>
          <a:noFill/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latinLnBrk="1">
              <a:lnSpc>
                <a:spcPct val="150000"/>
              </a:lnSpc>
              <a:defRPr/>
            </a:pPr>
            <a:r>
              <a:rPr lang="en-US" altLang="ko-KR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[</a:t>
            </a: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레스토랑 콘셉트의 다섯 가지 요소</a:t>
            </a:r>
            <a:r>
              <a:rPr lang="en-US" altLang="ko-KR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]</a:t>
            </a: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</a:t>
            </a:r>
            <a:endParaRPr lang="en-US" altLang="ko-KR" sz="1400" b="1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메뉴</a:t>
            </a:r>
            <a:endParaRPr lang="en-US" altLang="ko-KR" sz="1400" b="1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음식의 생산관리</a:t>
            </a:r>
            <a:r>
              <a:rPr lang="en-US" altLang="ko-KR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</a:t>
            </a:r>
          </a:p>
          <a:p>
            <a:pPr latinLnBrk="1">
              <a:lnSpc>
                <a:spcPct val="150000"/>
              </a:lnSpc>
              <a:defRPr/>
            </a:pP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서비스 스타일</a:t>
            </a:r>
            <a:endParaRPr lang="en-US" altLang="ko-KR" sz="1400" b="1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가격</a:t>
            </a:r>
            <a:endParaRPr lang="en-US" altLang="ko-KR" sz="1400" b="1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물리적 환경</a:t>
            </a:r>
            <a:endParaRPr lang="en-US" altLang="ko-KR" sz="1400" b="1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atinLnBrk="1">
              <a:lnSpc>
                <a:spcPct val="150000"/>
              </a:lnSpc>
              <a:defRPr/>
            </a:pPr>
            <a:endParaRPr lang="en-US" altLang="ko-KR" sz="1400" b="1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en-US" altLang="ko-KR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[</a:t>
            </a: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메뉴 </a:t>
            </a:r>
            <a:r>
              <a:rPr lang="ko-KR" altLang="en-US" sz="1400" b="1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개발시</a:t>
            </a: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고려사항</a:t>
            </a:r>
            <a:r>
              <a:rPr lang="en-US" altLang="ko-KR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]</a:t>
            </a:r>
          </a:p>
          <a:p>
            <a:pPr latinLnBrk="1">
              <a:lnSpc>
                <a:spcPct val="150000"/>
              </a:lnSpc>
              <a:defRPr/>
            </a:pP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맛의 일관성</a:t>
            </a:r>
            <a:r>
              <a:rPr lang="en-US" altLang="ko-KR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작업의 표준화</a:t>
            </a:r>
            <a:r>
              <a:rPr lang="en-US" altLang="ko-KR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조리사의 숙련도</a:t>
            </a:r>
            <a:r>
              <a:rPr lang="en-US" altLang="ko-KR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위생관리</a:t>
            </a:r>
            <a:r>
              <a:rPr lang="en-US" altLang="ko-KR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식재료 확보 용이성</a:t>
            </a:r>
            <a:r>
              <a:rPr lang="en-US" altLang="ko-KR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식재료 </a:t>
            </a:r>
            <a:r>
              <a:rPr lang="ko-KR" altLang="en-US" sz="1400" b="1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응용성</a:t>
            </a:r>
            <a:r>
              <a:rPr lang="en-US" altLang="ko-KR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sz="14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식재료 가격 등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36CD63AF-9A4C-4158-8164-9F0617F1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1A78365B-8006-4B0F-A49C-F5385D373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76338"/>
            <a:ext cx="11517312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메뉴 </a:t>
            </a:r>
            <a:r>
              <a:rPr lang="ko-KR" altLang="en-US" sz="2000" dirty="0" err="1"/>
              <a:t>크리에이션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4"/>
              <a:defRPr/>
            </a:pPr>
            <a:r>
              <a:rPr lang="ko-KR" altLang="en-US" sz="1800" dirty="0"/>
              <a:t>메뉴 프로토타이핑과 테스팅</a:t>
            </a:r>
            <a:endParaRPr lang="en-US" altLang="ko-KR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본격적인 상품을 만들기 전에 개발된 콘셉트를 모형화 또는 시각화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개발하고자 하는 상품에 대한 상품 개발 팀원들 간의 상호 이해 및 지식 교환하여 효과적으로 진행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프로토타이핑은 신상품 개발 목적에 부합하는 상품 모델이 만들어질 때까지 수정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·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보완 작업을 반복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주요 테스트 방법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790575" lvl="2" indent="-342900" eaLnBrk="1" hangingPunct="1">
              <a:lnSpc>
                <a:spcPct val="150000"/>
              </a:lnSpc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실무적 테스트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내부고객 대상 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–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새로운 상품에 대한 수용 가능성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수익성 확보 정도 예측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</a:endParaRPr>
          </a:p>
          <a:p>
            <a:pPr marL="790575" lvl="2" indent="-342900" eaLnBrk="1" hangingPunct="1">
              <a:lnSpc>
                <a:spcPct val="150000"/>
              </a:lnSpc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고객반응 테스트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시장의 수용 용이성 평가 목적 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</a:rPr>
              <a:t>/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정확한 목표고객을 테스트 대상으로 선정하는 것이 중요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9B798-2352-42C1-A8BB-711AC2830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AD71BF-2AF4-4A60-BF96-120B09DB2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133" y="1593794"/>
            <a:ext cx="4972050" cy="383857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5045BC3-798E-4843-8115-954505CEF5D5}"/>
              </a:ext>
            </a:extLst>
          </p:cNvPr>
          <p:cNvSpPr/>
          <p:nvPr/>
        </p:nvSpPr>
        <p:spPr>
          <a:xfrm>
            <a:off x="396711" y="1593794"/>
            <a:ext cx="5373468" cy="26781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[</a:t>
            </a:r>
            <a:r>
              <a:rPr lang="ko-KR" altLang="en-US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프로토타입과 시제품</a:t>
            </a: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]</a:t>
            </a:r>
          </a:p>
          <a:p>
            <a:pPr latinLnBrk="1">
              <a:lnSpc>
                <a:spcPct val="150000"/>
              </a:lnSpc>
              <a:defRPr/>
            </a:pPr>
            <a:r>
              <a:rPr lang="ko-KR" altLang="en-US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본격적인 상품 출시 전 제품을 </a:t>
            </a:r>
            <a:r>
              <a:rPr lang="ko-KR" altLang="en-US" sz="1600" b="1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시험삼아</a:t>
            </a:r>
            <a:r>
              <a:rPr lang="ko-KR" altLang="en-US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만들어본다는 의미</a:t>
            </a:r>
            <a:endParaRPr lang="en-US" altLang="ko-KR" sz="1600" b="1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ko-KR" altLang="en-US" sz="1600" b="1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유사용어</a:t>
            </a: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: </a:t>
            </a:r>
            <a:r>
              <a:rPr lang="ko-KR" altLang="en-US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시제품</a:t>
            </a: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sz="1600" b="1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목업</a:t>
            </a: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(mock-up), </a:t>
            </a:r>
            <a:r>
              <a:rPr lang="ko-KR" altLang="en-US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샘플</a:t>
            </a: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(sample) </a:t>
            </a:r>
            <a:r>
              <a:rPr lang="ko-KR" altLang="en-US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등 </a:t>
            </a:r>
            <a:endParaRPr lang="en-US" altLang="ko-KR" sz="1600" b="1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ko-KR" altLang="en-US" sz="1600" b="1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프로토타입</a:t>
            </a: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: </a:t>
            </a:r>
            <a:r>
              <a:rPr lang="ko-KR" altLang="en-US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일반적으로 상품화 이전에 핵심적 기능만 간략히 구현한 시각화 모델을 의미</a:t>
            </a:r>
            <a:endParaRPr lang="en-US" altLang="ko-KR" sz="1600" b="1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ko-KR" altLang="en-US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시제품</a:t>
            </a: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: </a:t>
            </a:r>
            <a:r>
              <a:rPr lang="ko-KR" altLang="en-US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제품 출시 전 제품의 모양이나 맛을 보기 위해 실제 제품과 똑같이 만든 것이라고 보면 된다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796E18-8222-4A6E-9A65-C4944C814E96}"/>
              </a:ext>
            </a:extLst>
          </p:cNvPr>
          <p:cNvSpPr/>
          <p:nvPr/>
        </p:nvSpPr>
        <p:spPr>
          <a:xfrm>
            <a:off x="5749158" y="5771274"/>
            <a:ext cx="6096000" cy="4159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r>
              <a:rPr lang="en-US" altLang="ko-KR" sz="1600" dirty="0">
                <a:solidFill>
                  <a:schemeClr val="tx2">
                    <a:lumMod val="75000"/>
                  </a:schemeClr>
                </a:solidFill>
                <a:ea typeface="서울남산 장체 M" panose="02020503020101020101"/>
              </a:rPr>
              <a:t>[</a:t>
            </a:r>
            <a:r>
              <a:rPr lang="ko-KR" altLang="en-US" sz="1600" dirty="0">
                <a:solidFill>
                  <a:schemeClr val="tx2">
                    <a:lumMod val="75000"/>
                  </a:schemeClr>
                </a:solidFill>
                <a:ea typeface="서울남산 장체 M" panose="02020503020101020101"/>
              </a:rPr>
              <a:t>메뉴 개발을 위한 프로토타입의 예</a:t>
            </a:r>
            <a:r>
              <a:rPr lang="en-US" altLang="ko-KR" sz="1600" dirty="0">
                <a:solidFill>
                  <a:schemeClr val="tx2">
                    <a:lumMod val="75000"/>
                  </a:schemeClr>
                </a:solidFill>
                <a:ea typeface="서울남산 장체 M" panose="02020503020101020101"/>
              </a:rPr>
              <a:t>]</a:t>
            </a:r>
            <a:endParaRPr lang="ko-KR" altLang="en-US" sz="1600" dirty="0">
              <a:solidFill>
                <a:schemeClr val="tx2">
                  <a:lumMod val="75000"/>
                </a:schemeClr>
              </a:solidFill>
              <a:ea typeface="서울남산 장체 M" panose="020205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3426906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>
            <a:extLst>
              <a:ext uri="{FF2B5EF4-FFF2-40B4-BE49-F238E27FC236}">
                <a16:creationId xmlns:a16="http://schemas.microsoft.com/office/drawing/2014/main" id="{21CA70A5-11EE-4606-83FA-085ECE62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C9DD3EE1-4126-4E47-B104-BA53548AA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17600"/>
            <a:ext cx="11517312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메뉴 </a:t>
            </a:r>
            <a:r>
              <a:rPr lang="ko-KR" altLang="en-US" sz="2000" dirty="0" err="1"/>
              <a:t>크리에이션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4"/>
              <a:defRPr/>
            </a:pPr>
            <a:r>
              <a:rPr lang="ko-KR" altLang="en-US" sz="1800" dirty="0"/>
              <a:t>메뉴 프로토타이핑 </a:t>
            </a:r>
            <a:r>
              <a:rPr lang="ko-KR" altLang="en-US" sz="1800" dirty="0" err="1"/>
              <a:t>테스팅</a:t>
            </a:r>
            <a:endParaRPr lang="en-US" altLang="ko-KR" sz="1800" dirty="0">
              <a:solidFill>
                <a:schemeClr val="tx2">
                  <a:lumMod val="7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</a:rPr>
              <a:t>                                           </a:t>
            </a:r>
            <a:endParaRPr lang="ko-KR" altLang="en-US" sz="2000" dirty="0"/>
          </a:p>
        </p:txBody>
      </p:sp>
      <p:pic>
        <p:nvPicPr>
          <p:cNvPr id="35844" name="Picture 9">
            <a:extLst>
              <a:ext uri="{FF2B5EF4-FFF2-40B4-BE49-F238E27FC236}">
                <a16:creationId xmlns:a16="http://schemas.microsoft.com/office/drawing/2014/main" id="{D65DED08-4B69-4175-9A87-484990CB4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2468563"/>
            <a:ext cx="2251075" cy="304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10">
            <a:hlinkClick r:id="rId4"/>
            <a:extLst>
              <a:ext uri="{FF2B5EF4-FFF2-40B4-BE49-F238E27FC236}">
                <a16:creationId xmlns:a16="http://schemas.microsoft.com/office/drawing/2014/main" id="{F9F98B08-563D-46A6-8C58-C99805AF3C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88" y="2557463"/>
            <a:ext cx="3854450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BFDD112-308F-485C-A310-CF20C7951C92}"/>
              </a:ext>
            </a:extLst>
          </p:cNvPr>
          <p:cNvSpPr/>
          <p:nvPr/>
        </p:nvSpPr>
        <p:spPr>
          <a:xfrm>
            <a:off x="2486025" y="5949950"/>
            <a:ext cx="6096000" cy="4159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r>
              <a:rPr lang="en-US" altLang="ko-KR" sz="1600" dirty="0">
                <a:solidFill>
                  <a:schemeClr val="tx2">
                    <a:lumMod val="75000"/>
                  </a:schemeClr>
                </a:solidFill>
                <a:ea typeface="서울남산 장체 M" panose="02020503020101020101"/>
              </a:rPr>
              <a:t>[</a:t>
            </a:r>
            <a:r>
              <a:rPr lang="ko-KR" altLang="en-US" sz="1600" dirty="0">
                <a:solidFill>
                  <a:schemeClr val="tx2">
                    <a:lumMod val="75000"/>
                  </a:schemeClr>
                </a:solidFill>
                <a:ea typeface="서울남산 장체 M" panose="02020503020101020101"/>
              </a:rPr>
              <a:t>메뉴 개발을 위한 프로토타입의 예</a:t>
            </a:r>
            <a:r>
              <a:rPr lang="en-US" altLang="ko-KR" sz="1600" dirty="0">
                <a:solidFill>
                  <a:schemeClr val="tx2">
                    <a:lumMod val="75000"/>
                  </a:schemeClr>
                </a:solidFill>
                <a:ea typeface="서울남산 장체 M" panose="02020503020101020101"/>
              </a:rPr>
              <a:t>]</a:t>
            </a:r>
            <a:endParaRPr lang="ko-KR" altLang="en-US" sz="1600" dirty="0">
              <a:solidFill>
                <a:schemeClr val="tx2">
                  <a:lumMod val="75000"/>
                </a:schemeClr>
              </a:solidFill>
              <a:ea typeface="서울남산 장체 M" panose="02020503020101020101"/>
            </a:endParaRPr>
          </a:p>
        </p:txBody>
      </p:sp>
      <p:pic>
        <p:nvPicPr>
          <p:cNvPr id="35847" name="Picture 17">
            <a:extLst>
              <a:ext uri="{FF2B5EF4-FFF2-40B4-BE49-F238E27FC236}">
                <a16:creationId xmlns:a16="http://schemas.microsoft.com/office/drawing/2014/main" id="{5A27B8FA-9798-466E-84EC-AC032E8F45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400" y="2557463"/>
            <a:ext cx="2887663" cy="231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>
            <a:extLst>
              <a:ext uri="{FF2B5EF4-FFF2-40B4-BE49-F238E27FC236}">
                <a16:creationId xmlns:a16="http://schemas.microsoft.com/office/drawing/2014/main" id="{9536E28C-FB7C-4640-8324-2818EF4C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7C9D72AB-F978-4EDC-8D91-28400ADAA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메뉴 </a:t>
            </a:r>
            <a:r>
              <a:rPr lang="ko-KR" altLang="en-US" sz="2000" dirty="0" err="1"/>
              <a:t>크리에이션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5"/>
              <a:defRPr/>
            </a:pPr>
            <a:r>
              <a:rPr lang="ko-KR" altLang="en-US" sz="1800" dirty="0"/>
              <a:t>초기 신상품 출시 및 운영 </a:t>
            </a:r>
            <a:r>
              <a:rPr lang="ko-KR" altLang="en-US" sz="1800" dirty="0" err="1"/>
              <a:t>테스팅</a:t>
            </a:r>
            <a:endParaRPr lang="ko-KR" altLang="en-US" sz="1800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신메뉴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상품 출시 초기에 실제 판매를 진행하면서 전격적인 운영의 가능성을 확인하는 단계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개발된 메뉴가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레시피대로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생산이 되고 있는지 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기획했던 의도대로 서비스되는지를 검토하고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 자체와 서비스의 품질 유지가 확보될 수 있는지 여부를 확인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테스팅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단계에서 찾지 못한 문제점들을 파악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본격적인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신메뉴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상품 출시 전 수정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·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보완이 가능한 마지막 단계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  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>
            <a:extLst>
              <a:ext uri="{FF2B5EF4-FFF2-40B4-BE49-F238E27FC236}">
                <a16:creationId xmlns:a16="http://schemas.microsoft.com/office/drawing/2014/main" id="{9F7B47F3-012F-46A4-9A1A-FD9038084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A4B70152-4A5C-4C98-9C12-FAE929D8C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메뉴 </a:t>
            </a:r>
            <a:r>
              <a:rPr lang="ko-KR" altLang="en-US" sz="2000" dirty="0" err="1"/>
              <a:t>크리에이션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6"/>
              <a:defRPr/>
            </a:pPr>
            <a:r>
              <a:rPr lang="ko-KR" altLang="en-US" sz="1800" dirty="0" err="1"/>
              <a:t>신메뉴</a:t>
            </a:r>
            <a:r>
              <a:rPr lang="ko-KR" altLang="en-US" sz="1800" dirty="0"/>
              <a:t> 상품에 대한 마케팅 계획 수립</a:t>
            </a: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가격 결정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프로모션 믹스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(promotion mix:,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광고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홍보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판촉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인적 판매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인하우스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마케팅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(in-house marketing, </a:t>
            </a:r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    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메뉴판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및 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POP,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테이블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플라이어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(table flyer)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부분에 대한 계획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실무자 교육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·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훈련과 연결되는 통합적인 마케팅 전략을 수립</a:t>
            </a:r>
          </a:p>
          <a:p>
            <a:pPr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endParaRPr lang="ko-KR" altLang="en-US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2000" dirty="0"/>
          </a:p>
        </p:txBody>
      </p:sp>
      <p:pic>
        <p:nvPicPr>
          <p:cNvPr id="39940" name="Picture 23">
            <a:hlinkClick r:id="rId3"/>
            <a:extLst>
              <a:ext uri="{FF2B5EF4-FFF2-40B4-BE49-F238E27FC236}">
                <a16:creationId xmlns:a16="http://schemas.microsoft.com/office/drawing/2014/main" id="{D48CC0EC-76AB-4F76-B176-E2E5789DA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525" y="4275138"/>
            <a:ext cx="1890713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24">
            <a:extLst>
              <a:ext uri="{FF2B5EF4-FFF2-40B4-BE49-F238E27FC236}">
                <a16:creationId xmlns:a16="http://schemas.microsoft.com/office/drawing/2014/main" id="{DC70BEA8-86CA-4505-9252-7FD8B133F2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763" y="4275138"/>
            <a:ext cx="1878012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25">
            <a:hlinkClick r:id="rId6"/>
            <a:extLst>
              <a:ext uri="{FF2B5EF4-FFF2-40B4-BE49-F238E27FC236}">
                <a16:creationId xmlns:a16="http://schemas.microsoft.com/office/drawing/2014/main" id="{51F394CE-7E1F-49A0-8B8C-ECD3ED7CFF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75138"/>
            <a:ext cx="1879600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8EFCE37-0CF9-487B-B4AD-AE03734C410C}"/>
              </a:ext>
            </a:extLst>
          </p:cNvPr>
          <p:cNvSpPr/>
          <p:nvPr/>
        </p:nvSpPr>
        <p:spPr>
          <a:xfrm>
            <a:off x="7604125" y="5426075"/>
            <a:ext cx="2509838" cy="733425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latinLnBrk="1">
              <a:lnSpc>
                <a:spcPct val="160000"/>
              </a:lnSpc>
              <a:defRPr/>
            </a:pPr>
            <a:r>
              <a:rPr lang="en-US" altLang="ko-KR" sz="1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MZ </a:t>
            </a:r>
            <a:r>
              <a:rPr lang="ko-KR" altLang="en-US" sz="1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세대를 공략하는 </a:t>
            </a:r>
            <a:endParaRPr lang="en-US" altLang="ko-KR" sz="1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 latinLnBrk="1">
              <a:lnSpc>
                <a:spcPct val="160000"/>
              </a:lnSpc>
              <a:defRPr/>
            </a:pPr>
            <a:r>
              <a:rPr lang="ko-KR" altLang="en-US" sz="1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외식 브랜드 상품 전략 </a:t>
            </a:r>
            <a:r>
              <a:rPr lang="en-US" altLang="ko-KR" sz="1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(GFFG)</a:t>
            </a:r>
            <a:endParaRPr lang="ko-KR" altLang="en-US" sz="1400" b="1" dirty="0"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제목 1">
            <a:extLst>
              <a:ext uri="{FF2B5EF4-FFF2-40B4-BE49-F238E27FC236}">
                <a16:creationId xmlns:a16="http://schemas.microsoft.com/office/drawing/2014/main" id="{9A2639D6-647E-4F67-BB8B-64BEEA3CD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50F94B8C-5B2E-4BBB-9362-F51A3652F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메뉴 </a:t>
            </a:r>
            <a:r>
              <a:rPr lang="ko-KR" altLang="en-US" sz="2000" dirty="0" err="1"/>
              <a:t>크리에이션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7"/>
              <a:defRPr/>
            </a:pPr>
            <a:r>
              <a:rPr lang="ko-KR" altLang="en-US" sz="1800" dirty="0"/>
              <a:t>본격적 </a:t>
            </a:r>
            <a:r>
              <a:rPr lang="ko-KR" altLang="en-US" sz="1800" dirty="0" err="1"/>
              <a:t>신메뉴</a:t>
            </a:r>
            <a:r>
              <a:rPr lang="ko-KR" altLang="en-US" sz="1800" dirty="0"/>
              <a:t> 상품 출시와 지속적 운영 평가</a:t>
            </a: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소비자 수용도 조사 및 이후 확산 분석 등을 포함한 사후 평가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(product Launching &amp; post-launch Testing : PLT)</a:t>
            </a: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판매과정이나 마케팅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실행과정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등을 꾸준히 모니터링함으로써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메뉴상품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개발의 적정성을 판단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초기 단계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판매 예측과 잠재 수요에 관한 분석을 통해 신상품의 판매량과 매출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장기적 이윤 등을 예측</a:t>
            </a: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사후 평가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판매에 관한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예측뿐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아니라 메뉴 믹스에서 각 메뉴 품목이 차지하는 비중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시장 점유율에 대한 분석 포함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제목 1">
            <a:extLst>
              <a:ext uri="{FF2B5EF4-FFF2-40B4-BE49-F238E27FC236}">
                <a16:creationId xmlns:a16="http://schemas.microsoft.com/office/drawing/2014/main" id="{7D032C62-C863-4BDC-9922-9E6C44C7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C7042753-1ACD-4975-8967-B9E870C97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(3) </a:t>
            </a:r>
            <a:r>
              <a:rPr lang="ko-KR" altLang="en-US" sz="2000" dirty="0"/>
              <a:t>메뉴 상품 </a:t>
            </a:r>
            <a:r>
              <a:rPr lang="ko-KR" altLang="en-US" sz="2000" dirty="0" err="1"/>
              <a:t>리뉴얼</a:t>
            </a:r>
            <a:endParaRPr lang="en-US" altLang="ko-KR" sz="2000" dirty="0"/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메뉴 리뉴얼은 메뉴 </a:t>
            </a:r>
            <a:r>
              <a:rPr lang="ko-KR" altLang="en-US" sz="16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크리에이션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프로세스처럼 새로운 콘셉트 개발 </a:t>
            </a:r>
            <a:r>
              <a:rPr lang="ko-KR" altLang="en-US" sz="16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부터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시작하기보다는 </a:t>
            </a:r>
            <a:r>
              <a:rPr lang="ko-KR" altLang="en-US" sz="1600" dirty="0">
                <a:solidFill>
                  <a:srgbClr val="FF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현재 고객에게 서비스되고 있는 메뉴의 평가를 통해 문제점을 발견하거나 개선과 업그레이드 가능성의 필요성에서 비롯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됨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endParaRPr lang="en-US" altLang="ko-KR" sz="14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ko-KR" altLang="en-US" sz="1600" dirty="0"/>
              <a:t>메뉴믹스의 조정 </a:t>
            </a:r>
            <a:r>
              <a:rPr lang="en-US" altLang="ko-KR" sz="1600" dirty="0"/>
              <a:t>: </a:t>
            </a:r>
            <a:r>
              <a:rPr lang="ko-KR" altLang="en-US" sz="1600" dirty="0"/>
              <a:t>메뉴 믹스의 확장 또는 축소 방안 </a:t>
            </a:r>
            <a:endParaRPr lang="en-US" altLang="ko-KR" sz="16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dirty="0"/>
              <a:t>메뉴 콘셉트를 고려할 것</a:t>
            </a:r>
            <a:r>
              <a:rPr lang="en-US" altLang="ko-KR" sz="1600" dirty="0"/>
              <a:t>, </a:t>
            </a:r>
            <a:r>
              <a:rPr lang="ko-KR" altLang="en-US" sz="1600" dirty="0"/>
              <a:t>레스토랑 콘셉트에 부합하는지</a:t>
            </a:r>
            <a:endParaRPr lang="en-US" altLang="ko-KR" sz="16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dirty="0"/>
              <a:t>메뉴계열과 개별 메뉴 품목의 수가 적정한지 </a:t>
            </a:r>
            <a:endParaRPr lang="en-US" altLang="ko-KR" sz="16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dirty="0"/>
              <a:t>공헌이익에 큰 메뉴인지</a:t>
            </a:r>
            <a:r>
              <a:rPr lang="en-US" altLang="ko-KR" sz="1600" dirty="0"/>
              <a:t>, </a:t>
            </a:r>
            <a:r>
              <a:rPr lang="ko-KR" altLang="en-US" sz="1600" dirty="0"/>
              <a:t>유인 상품인지 구분</a:t>
            </a:r>
            <a:endParaRPr lang="en-US" altLang="ko-KR" sz="1600" dirty="0"/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endParaRPr lang="en-US" altLang="ko-KR" sz="1600" b="1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3C405A-F5A0-4FFD-BCAF-771CE40D009A}"/>
              </a:ext>
            </a:extLst>
          </p:cNvPr>
          <p:cNvSpPr/>
          <p:nvPr/>
        </p:nvSpPr>
        <p:spPr>
          <a:xfrm>
            <a:off x="6096000" y="2805233"/>
            <a:ext cx="4929352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[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메뉴 상품의 확장을 </a:t>
            </a:r>
            <a:r>
              <a:rPr lang="ko-KR" altLang="en-US" sz="16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고려시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확인해야 할 사항]</a:t>
            </a: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L" panose="02020503020101020101" pitchFamily="18" charset="-127"/>
              <a:buChar char="◦"/>
              <a:defRPr/>
            </a:pPr>
            <a:r>
              <a:rPr lang="ko-KR" altLang="en-US" sz="1600" dirty="0">
                <a:solidFill>
                  <a:schemeClr val="tx2">
                    <a:lumMod val="75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동일 계열 메뉴 품목 추가</a:t>
            </a:r>
            <a:endParaRPr lang="en-US" altLang="ko-KR" sz="1600" dirty="0">
              <a:solidFill>
                <a:schemeClr val="tx2">
                  <a:lumMod val="75000"/>
                </a:schemeClr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L" panose="02020503020101020101" pitchFamily="18" charset="-127"/>
              <a:buChar char="◦"/>
              <a:defRPr/>
            </a:pPr>
            <a:r>
              <a:rPr lang="ko-KR" altLang="en-US" sz="1600" dirty="0">
                <a:solidFill>
                  <a:schemeClr val="tx2">
                    <a:lumMod val="75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효율적인 재료 활용이 가능한 메뉴 품목 추가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L" panose="02020503020101020101" pitchFamily="18" charset="-127"/>
              <a:buChar char="◦"/>
              <a:defRPr/>
            </a:pPr>
            <a:r>
              <a:rPr lang="ko-KR" altLang="en-US" sz="1600" dirty="0">
                <a:solidFill>
                  <a:schemeClr val="tx2">
                    <a:lumMod val="75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보유 조리기기의 활용이 가능한 메뉴 품목 추가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L" panose="02020503020101020101" pitchFamily="18" charset="-127"/>
              <a:buChar char="◦"/>
              <a:defRPr/>
            </a:pPr>
            <a:r>
              <a:rPr lang="ko-KR" altLang="en-US" sz="1600" dirty="0">
                <a:solidFill>
                  <a:schemeClr val="tx2">
                    <a:lumMod val="75000"/>
                  </a:schemeClr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메뉴 그룹 또는 카테고리의 추가</a:t>
            </a:r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endParaRPr lang="en-US" altLang="ko-KR" sz="16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7C8CB8-1949-49AC-ADB6-EC03C9F3977C}"/>
              </a:ext>
            </a:extLst>
          </p:cNvPr>
          <p:cNvSpPr/>
          <p:nvPr/>
        </p:nvSpPr>
        <p:spPr>
          <a:xfrm>
            <a:off x="766297" y="5355490"/>
            <a:ext cx="9398931" cy="1169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[</a:t>
            </a:r>
            <a:r>
              <a:rPr lang="ko-KR" altLang="en-US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고객 관점의 메뉴 </a:t>
            </a:r>
            <a:r>
              <a:rPr lang="ko-KR" altLang="en-US" sz="1600" b="1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믹스란</a:t>
            </a: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?]</a:t>
            </a:r>
          </a:p>
          <a:p>
            <a:pPr latinLnBrk="1">
              <a:lnSpc>
                <a:spcPct val="150000"/>
              </a:lnSpc>
              <a:defRPr/>
            </a:pP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* </a:t>
            </a:r>
            <a:r>
              <a:rPr lang="ko-KR" altLang="en-US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레스토랑이 가진 메뉴 상품 구색</a:t>
            </a:r>
            <a:endParaRPr lang="en-US" altLang="ko-KR" sz="1600" b="1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* </a:t>
            </a:r>
            <a:r>
              <a:rPr lang="ko-KR" altLang="en-US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고객 관점에서 메뉴 상품 구색에 문제나 불편한 점은 없는지 확인 후 메뉴 믹스 수정이 이루어 져야함</a:t>
            </a:r>
            <a:r>
              <a:rPr lang="en-US" altLang="ko-KR" sz="1600" b="1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. </a:t>
            </a:r>
            <a:endParaRPr lang="ko-KR" altLang="en-US" sz="1600" b="1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제목 1">
            <a:extLst>
              <a:ext uri="{FF2B5EF4-FFF2-40B4-BE49-F238E27FC236}">
                <a16:creationId xmlns:a16="http://schemas.microsoft.com/office/drawing/2014/main" id="{7D032C62-C863-4BDC-9922-9E6C44C7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/>
              <a:t>2) </a:t>
            </a:r>
            <a:r>
              <a:rPr lang="ko-KR" altLang="en-US" dirty="0"/>
              <a:t>메뉴상품 개발과정</a:t>
            </a:r>
          </a:p>
        </p:txBody>
      </p:sp>
      <p:pic>
        <p:nvPicPr>
          <p:cNvPr id="46084" name="Picture 33">
            <a:extLst>
              <a:ext uri="{FF2B5EF4-FFF2-40B4-BE49-F238E27FC236}">
                <a16:creationId xmlns:a16="http://schemas.microsoft.com/office/drawing/2014/main" id="{45F3F32E-04D3-4B52-B81A-BAFFC26B5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338" y="3686175"/>
            <a:ext cx="2578100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5" name="Picture 34">
            <a:extLst>
              <a:ext uri="{FF2B5EF4-FFF2-40B4-BE49-F238E27FC236}">
                <a16:creationId xmlns:a16="http://schemas.microsoft.com/office/drawing/2014/main" id="{71D7953E-46AE-47BE-AF8F-5EED10145B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425" y="3733800"/>
            <a:ext cx="2568575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6" name="Picture 35">
            <a:extLst>
              <a:ext uri="{FF2B5EF4-FFF2-40B4-BE49-F238E27FC236}">
                <a16:creationId xmlns:a16="http://schemas.microsoft.com/office/drawing/2014/main" id="{EF6EA07F-E356-4E78-97FE-2F95AD9F52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088" y="3733800"/>
            <a:ext cx="2062162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Picture 28">
            <a:extLst>
              <a:ext uri="{FF2B5EF4-FFF2-40B4-BE49-F238E27FC236}">
                <a16:creationId xmlns:a16="http://schemas.microsoft.com/office/drawing/2014/main" id="{DCF78BFE-7BA1-4E73-8B29-E2049B8FCD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4465638"/>
            <a:ext cx="2697162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2FC2F48-FFA5-477F-A06D-3E0A4CA3A41B}"/>
              </a:ext>
            </a:extLst>
          </p:cNvPr>
          <p:cNvSpPr/>
          <p:nvPr/>
        </p:nvSpPr>
        <p:spPr>
          <a:xfrm>
            <a:off x="157163" y="2887597"/>
            <a:ext cx="6096000" cy="47320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[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패스트푸드의 </a:t>
            </a:r>
            <a:r>
              <a:rPr lang="ko-KR" altLang="en-US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대체육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활용 메뉴 추가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]</a:t>
            </a:r>
            <a:endParaRPr lang="ko-KR" altLang="en-US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BF364B-FD81-4903-9C9D-17FC886A23C2}"/>
              </a:ext>
            </a:extLst>
          </p:cNvPr>
          <p:cNvSpPr/>
          <p:nvPr/>
        </p:nvSpPr>
        <p:spPr>
          <a:xfrm>
            <a:off x="157163" y="1319492"/>
            <a:ext cx="6096000" cy="95340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r>
              <a:rPr lang="en-US" altLang="ko-KR" sz="20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[</a:t>
            </a:r>
            <a:r>
              <a:rPr lang="ko-KR" altLang="en-US" sz="20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메뉴 카테고리 추가 사례</a:t>
            </a:r>
            <a:r>
              <a:rPr lang="en-US" altLang="ko-KR" sz="20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]</a:t>
            </a:r>
            <a:endParaRPr lang="ko-KR" altLang="en-US" sz="2000" b="1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L" panose="02020503020101020101" pitchFamily="18" charset="-127"/>
              <a:buChar char="◦"/>
              <a:defRPr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989504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제목 1">
            <a:extLst>
              <a:ext uri="{FF2B5EF4-FFF2-40B4-BE49-F238E27FC236}">
                <a16:creationId xmlns:a16="http://schemas.microsoft.com/office/drawing/2014/main" id="{4EED0791-EA55-45C0-AE23-4E7A92FD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553A43B7-A3FA-46EF-BD15-133F2AC5F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(3) </a:t>
            </a:r>
            <a:r>
              <a:rPr lang="ko-KR" altLang="en-US" sz="2000" dirty="0"/>
              <a:t>메뉴 상품 </a:t>
            </a:r>
            <a:r>
              <a:rPr lang="ko-KR" altLang="en-US" sz="2000" dirty="0" err="1"/>
              <a:t>리뉴얼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2"/>
              <a:defRPr/>
            </a:pPr>
            <a:r>
              <a:rPr lang="ko-KR" altLang="en-US" sz="1800" dirty="0"/>
              <a:t>메뉴 상품의 가격 조정</a:t>
            </a:r>
            <a:endParaRPr lang="en-US" altLang="ko-KR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개별 메뉴 품목의 가격 조정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 믹스 전환에 따른 상품군의 변화 등으로 인한 동일 메뉴라도 새로운 가격 제시 가능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733425" lvl="2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가격 인상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</a:endParaRPr>
          </a:p>
          <a:p>
            <a:pPr marL="733425" lvl="2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가격 인하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endParaRPr lang="en-US" altLang="ko-KR" sz="1800" b="1" dirty="0"/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endParaRPr lang="en-US" altLang="ko-KR" sz="1800" b="1" dirty="0"/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endParaRPr lang="en-US" altLang="ko-KR" sz="1800" b="1" dirty="0"/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endParaRPr lang="ko-KR" altLang="en-US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제목 1">
            <a:extLst>
              <a:ext uri="{FF2B5EF4-FFF2-40B4-BE49-F238E27FC236}">
                <a16:creationId xmlns:a16="http://schemas.microsoft.com/office/drawing/2014/main" id="{B40D8E2B-C662-4360-9624-8E188AB5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메뉴상품 개발과정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7DCD6462-DC03-4D60-B6D1-3F384A407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(3) </a:t>
            </a:r>
            <a:r>
              <a:rPr lang="ko-KR" altLang="en-US" sz="2000" dirty="0"/>
              <a:t>메뉴 상품 </a:t>
            </a:r>
            <a:r>
              <a:rPr lang="ko-KR" altLang="en-US" sz="2000" dirty="0" err="1"/>
              <a:t>리뉴얼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3"/>
              <a:defRPr/>
            </a:pPr>
            <a:r>
              <a:rPr lang="ko-KR" altLang="en-US" sz="1800" dirty="0"/>
              <a:t>메뉴 품목 품질 요소의 </a:t>
            </a:r>
            <a:r>
              <a:rPr lang="ko-KR" altLang="en-US" sz="1800" dirty="0" err="1"/>
              <a:t>리뉴얼</a:t>
            </a:r>
            <a:endParaRPr lang="en-US" altLang="ko-KR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 품목 품질 요소 중 고객의 관심과 만족도 증가에 영향을 줄 수 있는 요소 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733425" lvl="2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ko-KR" altLang="en-US" sz="1600" b="1" u="sng" dirty="0">
                <a:solidFill>
                  <a:schemeClr val="tx2">
                    <a:lumMod val="75000"/>
                  </a:schemeClr>
                </a:solidFill>
              </a:rPr>
              <a:t>메뉴의 맛과 풍미</a:t>
            </a:r>
            <a:r>
              <a:rPr lang="en-US" altLang="ko-KR" sz="1600" b="1" u="sng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600" b="1" u="sng" dirty="0">
                <a:solidFill>
                  <a:schemeClr val="tx2">
                    <a:lumMod val="75000"/>
                  </a:schemeClr>
                </a:solidFill>
              </a:rPr>
              <a:t>시각적 매력</a:t>
            </a:r>
            <a:r>
              <a:rPr lang="en-US" altLang="ko-KR" sz="1600" b="1" u="sng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600" b="1" u="sng" dirty="0">
                <a:solidFill>
                  <a:schemeClr val="tx2">
                    <a:lumMod val="75000"/>
                  </a:schemeClr>
                </a:solidFill>
              </a:rPr>
              <a:t>구조</a:t>
            </a:r>
            <a:r>
              <a:rPr lang="en-US" altLang="ko-KR" sz="1600" b="1" u="sng" dirty="0">
                <a:solidFill>
                  <a:schemeClr val="tx2">
                    <a:lumMod val="75000"/>
                  </a:schemeClr>
                </a:solidFill>
              </a:rPr>
              <a:t> , </a:t>
            </a:r>
            <a:r>
              <a:rPr lang="ko-KR" altLang="en-US" sz="1600" b="1" u="sng" dirty="0">
                <a:solidFill>
                  <a:schemeClr val="tx2">
                    <a:lumMod val="75000"/>
                  </a:schemeClr>
                </a:solidFill>
              </a:rPr>
              <a:t>형태의 변화 등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13CF937-C7F7-4197-8C4E-A0BDAB383648}"/>
              </a:ext>
            </a:extLst>
          </p:cNvPr>
          <p:cNvSpPr/>
          <p:nvPr/>
        </p:nvSpPr>
        <p:spPr>
          <a:xfrm>
            <a:off x="2401888" y="5705475"/>
            <a:ext cx="6980237" cy="4365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kern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[</a:t>
            </a:r>
            <a:r>
              <a:rPr lang="ko-KR" altLang="en-US" sz="1400" b="1" kern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식기 변화를 통한 메뉴 상품 </a:t>
            </a:r>
            <a:r>
              <a:rPr lang="ko-KR" altLang="en-US" sz="1400" b="1" kern="0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리디자인</a:t>
            </a:r>
            <a:r>
              <a:rPr lang="ko-KR" altLang="en-US" sz="1400" b="1" kern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</a:t>
            </a:r>
            <a:r>
              <a:rPr lang="en-US" altLang="ko-KR" sz="1400" b="1" kern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: </a:t>
            </a:r>
            <a:r>
              <a:rPr lang="ko-KR" altLang="en-US" sz="1400" b="1" kern="0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푸도그라피</a:t>
            </a:r>
            <a:r>
              <a:rPr lang="ko-KR" altLang="en-US" sz="1400" b="1" kern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프로젝트</a:t>
            </a:r>
            <a:r>
              <a:rPr lang="en-US" altLang="ko-KR" sz="1400" b="1" kern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(</a:t>
            </a:r>
            <a:r>
              <a:rPr lang="en-US" altLang="ko-KR" sz="1400" b="1" kern="0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foodography</a:t>
            </a:r>
            <a:r>
              <a:rPr lang="en-US" altLang="ko-KR" sz="1400" b="1" kern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project)]</a:t>
            </a:r>
            <a:endParaRPr lang="ko-KR" altLang="en-US" sz="1400" b="1" kern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pic>
        <p:nvPicPr>
          <p:cNvPr id="50181" name="Picture 37">
            <a:hlinkClick r:id="rId3"/>
            <a:extLst>
              <a:ext uri="{FF2B5EF4-FFF2-40B4-BE49-F238E27FC236}">
                <a16:creationId xmlns:a16="http://schemas.microsoft.com/office/drawing/2014/main" id="{5E4539B4-C628-44E1-8188-31C04A2210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9525" y="3375025"/>
            <a:ext cx="2459038" cy="276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BC0061C-C6D1-4FB8-85AF-DC34CA560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261" y="3809999"/>
            <a:ext cx="1445884" cy="14692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텍스트 개체 틀 3">
            <a:extLst>
              <a:ext uri="{FF2B5EF4-FFF2-40B4-BE49-F238E27FC236}">
                <a16:creationId xmlns:a16="http://schemas.microsoft.com/office/drawing/2014/main" id="{0491E8A6-BBA3-415A-B387-418B8823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/>
              <a:t>4. </a:t>
            </a:r>
            <a:r>
              <a:rPr lang="ko-KR" altLang="en-US"/>
              <a:t>신메뉴 상품의 평가와 마케팅 전략</a:t>
            </a:r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D3F744-4784-4476-9623-3721CF509A96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7A1289-CE36-41BC-AD68-EB28D85F33F8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제목 1">
            <a:extLst>
              <a:ext uri="{FF2B5EF4-FFF2-40B4-BE49-F238E27FC236}">
                <a16:creationId xmlns:a16="http://schemas.microsoft.com/office/drawing/2014/main" id="{7245F678-6BBB-4644-89F8-7B36EE202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신메뉴 상품에 대한 평가</a:t>
            </a:r>
          </a:p>
        </p:txBody>
      </p:sp>
      <p:sp>
        <p:nvSpPr>
          <p:cNvPr id="63491" name="내용 개체 틀 2">
            <a:extLst>
              <a:ext uri="{FF2B5EF4-FFF2-40B4-BE49-F238E27FC236}">
                <a16:creationId xmlns:a16="http://schemas.microsoft.com/office/drawing/2014/main" id="{FC39A229-9C7F-4ED8-B884-7BEBE6D42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48275"/>
          </a:xfrm>
        </p:spPr>
        <p:txBody>
          <a:bodyPr/>
          <a:lstStyle/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/>
              <a:defRPr/>
            </a:pPr>
            <a:r>
              <a:rPr lang="ko-KR" altLang="en-US" sz="2000" dirty="0"/>
              <a:t>메뉴 상품에 대한 업체 평가</a:t>
            </a:r>
            <a:endParaRPr lang="en-US" altLang="ko-KR" sz="2000" dirty="0"/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Tx/>
              <a:buAutoNum type="circleNumDbPlain"/>
              <a:defRPr/>
            </a:pPr>
            <a:r>
              <a:rPr lang="ko-KR" altLang="en-US" sz="1800" dirty="0"/>
              <a:t>단일 메뉴 품목의 평가</a:t>
            </a:r>
            <a:endParaRPr lang="en-US" altLang="ko-KR" sz="1800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주로 개발된 메뉴 항목에 대한 </a:t>
            </a:r>
            <a:r>
              <a:rPr lang="ko-KR" altLang="en-US" sz="1800" b="1" u="sng" dirty="0">
                <a:solidFill>
                  <a:schemeClr val="tx2">
                    <a:lumMod val="75000"/>
                  </a:schemeClr>
                </a:solidFill>
              </a:rPr>
              <a:t>레시피 계획과 운영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에 대한 평가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메뉴를 운영하기 위해서는 각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메뉴별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지침서가 되는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표준레시피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(standardized recipe)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를 확정하게 되며 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표준레시피의 요소는 각 메뉴 품목의 품질 평가의 중요한 기준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2"/>
              <a:defRPr/>
            </a:pPr>
            <a:r>
              <a:rPr lang="ko-KR" altLang="en-US" sz="1800" dirty="0"/>
              <a:t>메뉴 믹스의 평가</a:t>
            </a:r>
            <a:endParaRPr lang="en-US" altLang="ko-KR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레스토랑의 메뉴 구성에 대한 평가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콘셉트에 맞는 메뉴의 구성인지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 선택의 다양성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다양한 식재료의 활용 등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205C8B-F99D-4891-9F19-B943303D0E52}"/>
              </a:ext>
            </a:extLst>
          </p:cNvPr>
          <p:cNvSpPr/>
          <p:nvPr/>
        </p:nvSpPr>
        <p:spPr>
          <a:xfrm>
            <a:off x="8585200" y="3442988"/>
            <a:ext cx="3067050" cy="12372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just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kern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[</a:t>
            </a:r>
            <a:r>
              <a:rPr lang="ko-KR" altLang="en-US" sz="1600" b="1" kern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표준 레시피</a:t>
            </a:r>
            <a:r>
              <a:rPr lang="en-US" altLang="ko-KR" sz="1600" b="1" kern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] </a:t>
            </a:r>
            <a:r>
              <a:rPr lang="ko-KR" altLang="en-US" sz="1600" b="1" kern="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특정 메뉴 아이템이 일관된 품질로 생산될 수 있도록 반복적인 실험조리과정 을 거쳐 만들어진 레시피</a:t>
            </a: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1F1B2663-C5A3-4296-A409-76A3A9A17A16}"/>
              </a:ext>
            </a:extLst>
          </p:cNvPr>
          <p:cNvCxnSpPr>
            <a:cxnSpLocks/>
          </p:cNvCxnSpPr>
          <p:nvPr/>
        </p:nvCxnSpPr>
        <p:spPr bwMode="auto">
          <a:xfrm>
            <a:off x="6222124" y="3079531"/>
            <a:ext cx="2363076" cy="798786"/>
          </a:xfrm>
          <a:prstGeom prst="bentConnector3">
            <a:avLst>
              <a:gd name="adj1" fmla="val -259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435ACC6-1DDD-4FB1-928A-00F8E042719C}"/>
              </a:ext>
            </a:extLst>
          </p:cNvPr>
          <p:cNvCxnSpPr/>
          <p:nvPr/>
        </p:nvCxnSpPr>
        <p:spPr bwMode="auto">
          <a:xfrm>
            <a:off x="5202621" y="3058510"/>
            <a:ext cx="280626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제목 1">
            <a:extLst>
              <a:ext uri="{FF2B5EF4-FFF2-40B4-BE49-F238E27FC236}">
                <a16:creationId xmlns:a16="http://schemas.microsoft.com/office/drawing/2014/main" id="{62D0FD70-A96D-4CA5-AC8B-F4F1CE350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신메뉴 상품에 대한 평가</a:t>
            </a:r>
          </a:p>
        </p:txBody>
      </p:sp>
      <p:sp>
        <p:nvSpPr>
          <p:cNvPr id="63491" name="내용 개체 틀 2">
            <a:extLst>
              <a:ext uri="{FF2B5EF4-FFF2-40B4-BE49-F238E27FC236}">
                <a16:creationId xmlns:a16="http://schemas.microsoft.com/office/drawing/2014/main" id="{08A21609-E33F-45D7-BFEB-62BD11971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48275"/>
          </a:xfrm>
        </p:spPr>
        <p:txBody>
          <a:bodyPr/>
          <a:lstStyle/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/>
              <a:defRPr/>
            </a:pPr>
            <a:r>
              <a:rPr lang="ko-KR" altLang="en-US" sz="2000" dirty="0"/>
              <a:t>메뉴 상품에 대한 업체 평가</a:t>
            </a:r>
            <a:endParaRPr lang="en-US" altLang="ko-KR" sz="20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7DC611-F0DD-4303-AC38-811E8729072C}"/>
              </a:ext>
            </a:extLst>
          </p:cNvPr>
          <p:cNvSpPr/>
          <p:nvPr/>
        </p:nvSpPr>
        <p:spPr>
          <a:xfrm>
            <a:off x="447675" y="1851025"/>
            <a:ext cx="2409825" cy="4048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kern="0" dirty="0">
                <a:latin typeface="서울남산 장체 EB" panose="02020503020101020101" pitchFamily="18" charset="-127"/>
                <a:ea typeface="서울남산 장체 EB" panose="02020503020101020101" pitchFamily="18" charset="-127"/>
              </a:rPr>
              <a:t>[</a:t>
            </a:r>
            <a:r>
              <a:rPr lang="ko-KR" altLang="en-US" sz="1400" kern="0" dirty="0" err="1">
                <a:latin typeface="서울남산 장체 EB" panose="02020503020101020101" pitchFamily="18" charset="-127"/>
                <a:ea typeface="서울남산 장체 EB" panose="02020503020101020101" pitchFamily="18" charset="-127"/>
              </a:rPr>
              <a:t>메뉴상품에</a:t>
            </a:r>
            <a:r>
              <a:rPr lang="ko-KR" altLang="en-US" sz="1400" kern="0" dirty="0">
                <a:latin typeface="서울남산 장체 EB" panose="02020503020101020101" pitchFamily="18" charset="-127"/>
                <a:ea typeface="서울남산 장체 EB" panose="02020503020101020101" pitchFamily="18" charset="-127"/>
              </a:rPr>
              <a:t> 대한 세부 평가 항목</a:t>
            </a:r>
            <a:r>
              <a:rPr lang="en-US" altLang="ko-KR" sz="1400" kern="0" dirty="0">
                <a:latin typeface="서울남산 장체 EB" panose="02020503020101020101" pitchFamily="18" charset="-127"/>
                <a:ea typeface="서울남산 장체 EB" panose="02020503020101020101" pitchFamily="18" charset="-127"/>
              </a:rPr>
              <a:t>]</a:t>
            </a:r>
            <a:endParaRPr lang="ko-KR" altLang="en-US" sz="1400" kern="0" dirty="0">
              <a:latin typeface="서울남산 장체 EB" panose="02020503020101020101" pitchFamily="18" charset="-127"/>
              <a:ea typeface="서울남산 장체 EB" panose="020205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CC89805-4793-4558-8AA0-713F212FD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624" y="510080"/>
            <a:ext cx="5038725" cy="61531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제목 1">
            <a:extLst>
              <a:ext uri="{FF2B5EF4-FFF2-40B4-BE49-F238E27FC236}">
                <a16:creationId xmlns:a16="http://schemas.microsoft.com/office/drawing/2014/main" id="{1526479C-9807-49EF-817E-3C17BB2D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신메뉴 상품에 대한 평가</a:t>
            </a:r>
          </a:p>
        </p:txBody>
      </p:sp>
      <p:sp>
        <p:nvSpPr>
          <p:cNvPr id="65539" name="내용 개체 틀 2">
            <a:extLst>
              <a:ext uri="{FF2B5EF4-FFF2-40B4-BE49-F238E27FC236}">
                <a16:creationId xmlns:a16="http://schemas.microsoft.com/office/drawing/2014/main" id="{88429019-A699-43CE-A8C3-706C6CE6E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48275"/>
          </a:xfrm>
        </p:spPr>
        <p:txBody>
          <a:bodyPr/>
          <a:lstStyle/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 startAt="2"/>
              <a:defRPr/>
            </a:pPr>
            <a:r>
              <a:rPr lang="ko-KR" altLang="en-US" sz="2000" dirty="0"/>
              <a:t>메뉴 상품의 수익성 평가</a:t>
            </a:r>
            <a:endParaRPr lang="en-US" altLang="ko-KR" sz="2000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/>
              <a:t>어느 정도의 수익을 얻고 있는지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고객만족을 얻어내고 있는지에 대한 평가</a:t>
            </a:r>
            <a:endParaRPr lang="en-US" altLang="ko-KR" sz="1800" b="1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/>
              <a:t>메뉴의 유지와 </a:t>
            </a:r>
            <a:r>
              <a:rPr lang="ko-KR" altLang="en-US" sz="1800" b="1" dirty="0" err="1"/>
              <a:t>신메뉴</a:t>
            </a:r>
            <a:r>
              <a:rPr lang="ko-KR" altLang="en-US" sz="1800" b="1" dirty="0"/>
              <a:t> 상품의 개발 여부를 결정하게 하는 매우 중요한 부분</a:t>
            </a: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b="1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604D0C8-C0C1-4789-90E5-17E69AE96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130" y="2681507"/>
            <a:ext cx="4352925" cy="40386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457838A-6629-435E-84AA-ADF3B27C8616}"/>
              </a:ext>
            </a:extLst>
          </p:cNvPr>
          <p:cNvSpPr/>
          <p:nvPr/>
        </p:nvSpPr>
        <p:spPr>
          <a:xfrm>
            <a:off x="543967" y="2788230"/>
            <a:ext cx="6253655" cy="3959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ko-KR" sz="14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[</a:t>
            </a:r>
            <a:r>
              <a:rPr lang="ko-KR" altLang="en-US" sz="14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메뉴 상품 수익성 평가의 예</a:t>
            </a:r>
            <a:r>
              <a:rPr lang="en-US" altLang="ko-KR" sz="14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]</a:t>
            </a:r>
          </a:p>
          <a:p>
            <a:pPr latinLnBrk="1">
              <a:lnSpc>
                <a:spcPct val="150000"/>
              </a:lnSpc>
            </a:pPr>
            <a:endParaRPr lang="en-US" altLang="ko-KR" sz="1400" b="1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분석도구 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: </a:t>
            </a:r>
            <a:r>
              <a:rPr lang="ko-KR" altLang="en-US" sz="12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카사바나와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스미스의 메뉴엔지니어링</a:t>
            </a:r>
            <a:endParaRPr lang="en-US" altLang="ko-KR" sz="12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분석기준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: 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공헌이익  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/ 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판매량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선호도</a:t>
            </a:r>
            <a:r>
              <a:rPr lang="en-US" altLang="ko-KR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) : 70% rule </a:t>
            </a:r>
            <a:r>
              <a:rPr lang="ko-KR" altLang="en-US" sz="12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기준</a:t>
            </a:r>
            <a:endParaRPr lang="en-US" altLang="ko-KR" sz="12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algn="just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</a:t>
            </a:r>
            <a:endParaRPr lang="en-US" altLang="ko-KR" sz="1200" kern="0" dirty="0">
              <a:solidFill>
                <a:srgbClr val="00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algn="just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전제 메뉴 </a:t>
            </a:r>
            <a:r>
              <a:rPr lang="ko-KR" altLang="en-US" sz="1200" kern="0" dirty="0" err="1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믹스로부터</a:t>
            </a: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각 메뉴 항목의 상대적 비중을 파악하기 위해 사용</a:t>
            </a:r>
          </a:p>
          <a:p>
            <a:pPr algn="just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* 일정 기간 동안의 메뉴 전체의 판매량과 공헌이익</a:t>
            </a:r>
            <a:r>
              <a:rPr lang="en-US" altLang="ko-KR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(contribution margin:</a:t>
            </a: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판매가격</a:t>
            </a:r>
            <a:r>
              <a:rPr lang="en-US" altLang="ko-KR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-</a:t>
            </a: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직접비</a:t>
            </a:r>
            <a:r>
              <a:rPr lang="en-US" altLang="ko-KR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식재료 원가</a:t>
            </a:r>
            <a:r>
              <a:rPr lang="en-US" altLang="ko-KR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))</a:t>
            </a: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을 파악하고 각 품목의 단위당 공헌이익과 판매량에 따른 구성비</a:t>
            </a:r>
            <a:r>
              <a:rPr lang="en-US" altLang="ko-KR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(menu mix %, </a:t>
            </a: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인기도</a:t>
            </a:r>
            <a:r>
              <a:rPr lang="en-US" altLang="ko-KR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를 분석하여 기존 메뉴 상품 및 신상품의 가격 결정을 포함한 마케팅 전략을 세우는 데 이용됨</a:t>
            </a:r>
            <a:r>
              <a:rPr lang="en-US" altLang="ko-KR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algn="just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* 분석대상의 아이템수가 많아야 의미 있는 분석이 가능함</a:t>
            </a:r>
            <a:r>
              <a:rPr lang="en-US" altLang="ko-KR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algn="just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* 일품메뉴를 주로 취급하는 레스토랑 분석에 적합</a:t>
            </a:r>
          </a:p>
          <a:p>
            <a:pPr algn="just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*단점</a:t>
            </a:r>
            <a:r>
              <a:rPr lang="en-US" altLang="ko-KR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식재료비 원가를 제외한 다른 비용이 고려되지 않음</a:t>
            </a:r>
            <a:r>
              <a:rPr lang="en-US" altLang="ko-KR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algn="just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각 메뉴 항목의 판매가격 결정전략 또는 판촉과 같은 외적 변수의 고려가 없음</a:t>
            </a:r>
            <a:r>
              <a:rPr lang="en-US" altLang="ko-KR" sz="1200" kern="0" dirty="0">
                <a:solidFill>
                  <a:srgbClr val="0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r>
              <a:rPr lang="en-US" altLang="ko-KR" sz="1200" kern="0" dirty="0">
                <a:solidFill>
                  <a:srgbClr val="000000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</a:rPr>
              <a:t> 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08서울남산체 L" panose="02020603020101020101" pitchFamily="18" charset="-127"/>
              <a:ea typeface="08서울남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제목 1">
            <a:extLst>
              <a:ext uri="{FF2B5EF4-FFF2-40B4-BE49-F238E27FC236}">
                <a16:creationId xmlns:a16="http://schemas.microsoft.com/office/drawing/2014/main" id="{175EC41E-3394-460F-8520-EE1FCC02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신메뉴 상품에 대한 평가</a:t>
            </a:r>
          </a:p>
        </p:txBody>
      </p:sp>
      <p:sp>
        <p:nvSpPr>
          <p:cNvPr id="67587" name="내용 개체 틀 2">
            <a:extLst>
              <a:ext uri="{FF2B5EF4-FFF2-40B4-BE49-F238E27FC236}">
                <a16:creationId xmlns:a16="http://schemas.microsoft.com/office/drawing/2014/main" id="{B753F129-C086-4467-9779-AE22352D2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48275"/>
          </a:xfrm>
        </p:spPr>
        <p:txBody>
          <a:bodyPr/>
          <a:lstStyle/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 startAt="3"/>
              <a:defRPr/>
            </a:pPr>
            <a:r>
              <a:rPr lang="ko-KR" altLang="en-US" sz="2000" dirty="0"/>
              <a:t>고객 관점의 </a:t>
            </a:r>
            <a:r>
              <a:rPr lang="ko-KR" altLang="en-US" sz="2000" dirty="0" err="1"/>
              <a:t>메뉴상품</a:t>
            </a:r>
            <a:r>
              <a:rPr lang="ko-KR" altLang="en-US" sz="2000" dirty="0"/>
              <a:t> 품질 평가</a:t>
            </a:r>
            <a:endParaRPr lang="en-US" altLang="ko-KR" sz="2000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고객의 요구와 필요를 충족시켜 줄 수 있는지의 여부를 평가하는 것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일관성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(consistency),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다양성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차별성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 서비스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가격 적절성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품질 우수성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(superiority)</a:t>
            </a:r>
          </a:p>
          <a:p>
            <a:pPr lvl="1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defRPr/>
            </a:pPr>
            <a:endParaRPr lang="ko-KR" altLang="en-US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b="1" dirty="0">
              <a:solidFill>
                <a:schemeClr val="tx2">
                  <a:lumMod val="7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D95FCD-B214-40E0-BE7D-1391AB84C1C2}"/>
              </a:ext>
            </a:extLst>
          </p:cNvPr>
          <p:cNvSpPr/>
          <p:nvPr/>
        </p:nvSpPr>
        <p:spPr>
          <a:xfrm>
            <a:off x="571500" y="2757488"/>
            <a:ext cx="2532063" cy="43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>
                <a:latin typeface="서울남산 장체 EB" panose="02020503020101020101" pitchFamily="18" charset="-127"/>
                <a:ea typeface="서울남산 장체 EB" panose="02020503020101020101" pitchFamily="18" charset="-127"/>
              </a:rPr>
              <a:t>[ </a:t>
            </a:r>
            <a:r>
              <a:rPr lang="ko-KR" altLang="en-US" sz="1600" kern="0" dirty="0">
                <a:latin typeface="서울남산 장체 EB" panose="02020503020101020101" pitchFamily="18" charset="-127"/>
                <a:ea typeface="서울남산 장체 EB" panose="02020503020101020101" pitchFamily="18" charset="-127"/>
              </a:rPr>
              <a:t>고객 관점 메뉴 평가 항목 </a:t>
            </a:r>
            <a:r>
              <a:rPr lang="en-US" altLang="ko-KR" sz="1600" kern="0" dirty="0">
                <a:latin typeface="서울남산 장체 EB" panose="02020503020101020101" pitchFamily="18" charset="-127"/>
                <a:ea typeface="서울남산 장체 EB" panose="02020503020101020101" pitchFamily="18" charset="-127"/>
              </a:rPr>
              <a:t>]</a:t>
            </a:r>
            <a:endParaRPr lang="ko-KR" altLang="en-US" sz="1600" kern="0" dirty="0">
              <a:latin typeface="서울남산 장체 EB" panose="02020503020101020101" pitchFamily="18" charset="-127"/>
              <a:ea typeface="서울남산 장체 EB" panose="020205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6CBC57-BBE9-4F4F-B98B-6084B8196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844" y="2975768"/>
            <a:ext cx="6076036" cy="388223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제목 1">
            <a:extLst>
              <a:ext uri="{FF2B5EF4-FFF2-40B4-BE49-F238E27FC236}">
                <a16:creationId xmlns:a16="http://schemas.microsoft.com/office/drawing/2014/main" id="{240030D1-DC1E-4E93-A89F-B3942671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939337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 상품 평가 결과에 따른 메뉴상품 기획 및 운영 전략방안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AD317F1F-5367-4864-8E78-6CF92F493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440362"/>
          </a:xfrm>
        </p:spPr>
        <p:txBody>
          <a:bodyPr/>
          <a:lstStyle/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/>
              <a:defRPr/>
            </a:pPr>
            <a:r>
              <a:rPr lang="ko-KR" altLang="en-US" sz="2000" dirty="0"/>
              <a:t>메뉴 프로모션 </a:t>
            </a:r>
            <a:r>
              <a:rPr lang="en-US" altLang="ko-KR" dirty="0"/>
              <a:t>(menu promotion) </a:t>
            </a:r>
            <a:endParaRPr lang="en-US" altLang="ko-KR" sz="2000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 상품에 대한 인기가 적다고 판단될 때 사용 하는 방법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블랙보드 메뉴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.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미니 테이블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스탠딩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메뉴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포스터 부착 등의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인하우스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마케팅 실시와 동시에 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SNS,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홈페이지등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홍보</a:t>
            </a:r>
            <a:endParaRPr lang="en-US" altLang="ko-KR" sz="2000" b="1" dirty="0">
              <a:solidFill>
                <a:schemeClr val="tx2">
                  <a:lumMod val="75000"/>
                </a:schemeClr>
              </a:solidFill>
            </a:endParaRP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/>
              <a:defRPr/>
            </a:pPr>
            <a:r>
              <a:rPr lang="ko-KR" altLang="en-US" sz="2000" dirty="0"/>
              <a:t>메뉴 </a:t>
            </a:r>
            <a:r>
              <a:rPr lang="ko-KR" altLang="en-US" sz="2000" dirty="0" err="1"/>
              <a:t>리플레이싱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en-US" altLang="ko-KR" dirty="0"/>
              <a:t>menu replacing)</a:t>
            </a: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판매가 저조하다고 평가된 경우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메뉴판에서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개선이 필요한 메뉴 상품의 위치를 변경해보는 것</a:t>
            </a:r>
            <a:endParaRPr lang="en-US" altLang="ko-KR" sz="2000" dirty="0"/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/>
              <a:defRPr/>
            </a:pPr>
            <a:r>
              <a:rPr lang="ko-KR" altLang="en-US" sz="2000" dirty="0"/>
              <a:t>메뉴 프레젠테이션 </a:t>
            </a:r>
            <a:r>
              <a:rPr lang="en-US" altLang="ko-KR" sz="2000" dirty="0"/>
              <a:t>(</a:t>
            </a:r>
            <a:r>
              <a:rPr lang="en-US" altLang="ko-KR" dirty="0"/>
              <a:t>menu presentation)</a:t>
            </a: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내외부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고객의 피드백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미스터리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쇼퍼의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평가 등의 결과로 이루어지는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메뉴상품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개선방법</a:t>
            </a:r>
            <a:endParaRPr lang="en-US" altLang="ko-KR" sz="2000" dirty="0"/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/>
              <a:defRPr/>
            </a:pPr>
            <a:r>
              <a:rPr lang="ko-KR" altLang="en-US" sz="2000" dirty="0"/>
              <a:t>레시피 수정 및 메뉴 원가 조정</a:t>
            </a:r>
            <a:r>
              <a:rPr lang="en-US" altLang="ko-KR" sz="2000" dirty="0"/>
              <a:t>(</a:t>
            </a:r>
            <a:r>
              <a:rPr lang="en-US" altLang="ko-KR" dirty="0"/>
              <a:t>recipes modification &amp;menu re-costing)</a:t>
            </a:r>
          </a:p>
          <a:p>
            <a:pPr marL="522288" lvl="1" indent="-34290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 생산 부분의 변동으로 인한 조정</a:t>
            </a:r>
            <a:endParaRPr lang="en-US" altLang="ko-KR" sz="20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제목 1">
            <a:extLst>
              <a:ext uri="{FF2B5EF4-FFF2-40B4-BE49-F238E27FC236}">
                <a16:creationId xmlns:a16="http://schemas.microsoft.com/office/drawing/2014/main" id="{882AF01D-E99B-4831-AD7E-E84B58E32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4107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메뉴 상품 평가 결과에 따른 메뉴상품 기획 및 운영 전략방안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9E85BC98-6215-42EF-A970-2D98DE41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13" y="1185863"/>
            <a:ext cx="11517312" cy="52768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2000" dirty="0"/>
              <a:t>(5) </a:t>
            </a:r>
            <a:r>
              <a:rPr lang="ko-KR" altLang="en-US" sz="2000" dirty="0"/>
              <a:t>메뉴 </a:t>
            </a:r>
            <a:r>
              <a:rPr lang="ko-KR" altLang="en-US" sz="2000" dirty="0" err="1"/>
              <a:t>리포지셔닝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en-US" altLang="ko-KR" dirty="0"/>
              <a:t>menu re-positioning)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L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메뉴의 제거 또는 유지 결정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메뉴명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판매 가격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1800" b="1" dirty="0" err="1">
                <a:solidFill>
                  <a:schemeClr val="tx2">
                    <a:lumMod val="75000"/>
                  </a:schemeClr>
                </a:solidFill>
              </a:rPr>
              <a:t>메뉴판의</a:t>
            </a: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 디자인 등 다양한 메뉴 요소들의 변화를 포함</a:t>
            </a:r>
            <a:endParaRPr lang="en-US" altLang="ko-KR" sz="1800" b="1" dirty="0">
              <a:solidFill>
                <a:schemeClr val="tx2">
                  <a:lumMod val="7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L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 유지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(menu retention)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L" panose="02020503020101020101" pitchFamily="18" charset="-127"/>
              <a:buChar char="◦"/>
              <a:defRPr/>
            </a:pPr>
            <a:r>
              <a:rPr lang="ko-KR" altLang="en-US" sz="1800" b="1" dirty="0">
                <a:solidFill>
                  <a:schemeClr val="tx2">
                    <a:lumMod val="75000"/>
                  </a:schemeClr>
                </a:solidFill>
              </a:rPr>
              <a:t>메뉴 제거</a:t>
            </a:r>
            <a:r>
              <a:rPr lang="en-US" altLang="ko-KR" sz="1800" b="1" dirty="0">
                <a:solidFill>
                  <a:schemeClr val="tx2">
                    <a:lumMod val="75000"/>
                  </a:schemeClr>
                </a:solidFill>
              </a:rPr>
              <a:t>menu eliminating)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서울남산 장체 L" panose="02020503020101020101" pitchFamily="18" charset="-127"/>
              <a:buChar char="◦"/>
              <a:defRPr/>
            </a:pPr>
            <a:endParaRPr lang="ko-KR" altLang="en-US" sz="1800" b="1" dirty="0">
              <a:solidFill>
                <a:schemeClr val="tx2">
                  <a:lumMod val="7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2C65110-6013-467A-8BDC-AC4D4FA3D95C}"/>
              </a:ext>
            </a:extLst>
          </p:cNvPr>
          <p:cNvGraphicFramePr>
            <a:graphicFrameLocks noGrp="1"/>
          </p:cNvGraphicFramePr>
          <p:nvPr/>
        </p:nvGraphicFramePr>
        <p:xfrm>
          <a:off x="481013" y="3606800"/>
          <a:ext cx="9823450" cy="2819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40954">
                  <a:extLst>
                    <a:ext uri="{9D8B030D-6E8A-4147-A177-3AD203B41FA5}">
                      <a16:colId xmlns:a16="http://schemas.microsoft.com/office/drawing/2014/main" val="3414794802"/>
                    </a:ext>
                  </a:extLst>
                </a:gridCol>
                <a:gridCol w="4982496">
                  <a:extLst>
                    <a:ext uri="{9D8B030D-6E8A-4147-A177-3AD203B41FA5}">
                      <a16:colId xmlns:a16="http://schemas.microsoft.com/office/drawing/2014/main" val="3177461281"/>
                    </a:ext>
                  </a:extLst>
                </a:gridCol>
              </a:tblGrid>
              <a:tr h="1040775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[</a:t>
                      </a:r>
                      <a:r>
                        <a:rPr lang="ko-KR" altLang="en-US" sz="1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메뉴 업데이트와 </a:t>
                      </a:r>
                      <a:r>
                        <a:rPr lang="ko-KR" altLang="en-US" sz="1400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고정메뉴</a:t>
                      </a:r>
                      <a:r>
                        <a:rPr lang="ko-KR" altLang="en-US" sz="1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 운영</a:t>
                      </a:r>
                      <a:r>
                        <a:rPr lang="en-US" altLang="ko-KR" sz="1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]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꾸준한 메뉴 업데이트를 추구하고</a:t>
                      </a:r>
                      <a:r>
                        <a:rPr lang="ko-KR" altLang="en-US" sz="14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 있는 </a:t>
                      </a:r>
                      <a:r>
                        <a:rPr lang="ko-KR" alt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 레스토랑의경우라도 대표메뉴는 품질의 일관성을 유지하여 </a:t>
                      </a:r>
                      <a:endParaRPr lang="en-US" altLang="ko-KR" sz="1400" dirty="0">
                        <a:solidFill>
                          <a:schemeClr val="tx2">
                            <a:lumMod val="75000"/>
                          </a:schemeClr>
                        </a:solidFill>
                        <a:latin typeface="서울남산 장체 EB" panose="02020503020101020101" pitchFamily="18" charset="-127"/>
                        <a:ea typeface="서울남산 장체 EB" panose="0202050302010102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레스토랑의 </a:t>
                      </a:r>
                      <a:r>
                        <a:rPr lang="ko-KR" altLang="en-US" sz="14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충성고객의</a:t>
                      </a:r>
                      <a:r>
                        <a:rPr lang="ko-KR" alt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 신뢰를 가져갈 수 있도록 하는 것이 좋음</a:t>
                      </a:r>
                    </a:p>
                  </a:txBody>
                  <a:tcPr marL="91431" marR="91431" marT="47097" marB="47097"/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198900"/>
                  </a:ext>
                </a:extLst>
              </a:tr>
              <a:tr h="1778625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dirty="0" err="1"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메뉴개선과</a:t>
                      </a:r>
                      <a:r>
                        <a:rPr lang="ko-KR" altLang="en-US" sz="1400" dirty="0"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 개발을 통한 </a:t>
                      </a:r>
                      <a:r>
                        <a:rPr lang="ko-KR" altLang="en-US" sz="1400" dirty="0" err="1"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엡데이트</a:t>
                      </a:r>
                      <a:r>
                        <a:rPr lang="ko-KR" altLang="en-US" sz="1400" dirty="0"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 효과</a:t>
                      </a:r>
                      <a:endParaRPr lang="en-US" altLang="ko-KR" sz="1400" dirty="0">
                        <a:latin typeface="서울남산 장체 EB" panose="02020503020101020101" pitchFamily="18" charset="-127"/>
                        <a:ea typeface="서울남산 장체 EB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지속적인 </a:t>
                      </a:r>
                      <a:r>
                        <a:rPr lang="ko-KR" altLang="en-US" sz="14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외식트렌드</a:t>
                      </a:r>
                      <a:r>
                        <a:rPr lang="ko-KR" alt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 반영</a:t>
                      </a:r>
                      <a:endParaRPr lang="en-US" altLang="ko-KR" sz="1400" dirty="0">
                        <a:solidFill>
                          <a:schemeClr val="tx2">
                            <a:lumMod val="75000"/>
                          </a:schemeClr>
                        </a:solidFill>
                        <a:latin typeface="서울남산 장체 EB" panose="02020503020101020101" pitchFamily="18" charset="-127"/>
                        <a:ea typeface="서울남산 장체 EB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식재료 </a:t>
                      </a:r>
                      <a:r>
                        <a:rPr lang="ko-KR" altLang="en-US" sz="14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가용여부나</a:t>
                      </a:r>
                      <a:r>
                        <a:rPr lang="ko-KR" alt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 식자재 원가 변화에 적용</a:t>
                      </a:r>
                      <a:endParaRPr lang="en-US" altLang="ko-KR" sz="1400" dirty="0">
                        <a:solidFill>
                          <a:schemeClr val="tx2">
                            <a:lumMod val="75000"/>
                          </a:schemeClr>
                        </a:solidFill>
                        <a:latin typeface="서울남산 장체 EB" panose="02020503020101020101" pitchFamily="18" charset="-127"/>
                        <a:ea typeface="서울남산 장체 EB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계절 재료를 활용한 특별 메뉴 어필</a:t>
                      </a:r>
                      <a:endParaRPr lang="en-US" altLang="ko-KR" sz="1400" dirty="0">
                        <a:solidFill>
                          <a:schemeClr val="tx2">
                            <a:lumMod val="75000"/>
                          </a:schemeClr>
                        </a:solidFill>
                        <a:latin typeface="서울남산 장체 EB" panose="02020503020101020101" pitchFamily="18" charset="-127"/>
                        <a:ea typeface="서울남산 장체 EB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고객 </a:t>
                      </a:r>
                      <a:r>
                        <a:rPr lang="ko-KR" altLang="en-US" sz="14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니즈</a:t>
                      </a:r>
                      <a:r>
                        <a:rPr lang="ko-KR" alt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 변화에 대응</a:t>
                      </a:r>
                    </a:p>
                  </a:txBody>
                  <a:tcPr marL="91431" marR="91431" marT="47097" marB="47097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ko-KR" altLang="en-US" sz="1400" dirty="0" err="1"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고정메뉴</a:t>
                      </a:r>
                      <a:r>
                        <a:rPr lang="ko-KR" altLang="en-US" sz="1400" dirty="0"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 유지의 효과</a:t>
                      </a:r>
                      <a:endParaRPr lang="en-US" altLang="ko-KR" sz="1400" dirty="0">
                        <a:latin typeface="서울남산 장체 EB" panose="02020503020101020101" pitchFamily="18" charset="-127"/>
                        <a:ea typeface="서울남산 장체 EB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새로운 메뉴에 대한</a:t>
                      </a:r>
                      <a:r>
                        <a:rPr lang="ko-KR" altLang="en-US" sz="14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 훈련 시간 감소</a:t>
                      </a:r>
                      <a:endParaRPr lang="en-US" altLang="ko-KR" sz="1400" baseline="0" dirty="0">
                        <a:solidFill>
                          <a:schemeClr val="tx2">
                            <a:lumMod val="75000"/>
                          </a:schemeClr>
                        </a:solidFill>
                        <a:latin typeface="서울남산 장체 EB" panose="02020503020101020101" pitchFamily="18" charset="-127"/>
                        <a:ea typeface="서울남산 장체 EB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레스토랑 신뢰 유지</a:t>
                      </a:r>
                      <a:endParaRPr lang="en-US" altLang="ko-KR" sz="1400" baseline="0" dirty="0">
                        <a:solidFill>
                          <a:schemeClr val="tx2">
                            <a:lumMod val="75000"/>
                          </a:schemeClr>
                        </a:solidFill>
                        <a:latin typeface="서울남산 장체 EB" panose="02020503020101020101" pitchFamily="18" charset="-127"/>
                        <a:ea typeface="서울남산 장체 EB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서울남산 장체 EB" panose="02020503020101020101" pitchFamily="18" charset="-127"/>
                          <a:ea typeface="서울남산 장체 EB" panose="02020503020101020101" pitchFamily="18" charset="-127"/>
                        </a:rPr>
                        <a:t>마케팅 비용 및 노력 절감</a:t>
                      </a:r>
                      <a:endParaRPr lang="en-US" altLang="ko-KR" sz="1400" baseline="0" dirty="0">
                        <a:solidFill>
                          <a:schemeClr val="tx2">
                            <a:lumMod val="75000"/>
                          </a:schemeClr>
                        </a:solidFill>
                        <a:latin typeface="서울남산 장체 EB" panose="02020503020101020101" pitchFamily="18" charset="-127"/>
                        <a:ea typeface="서울남산 장체 EB" panose="02020503020101020101" pitchFamily="18" charset="-127"/>
                      </a:endParaRPr>
                    </a:p>
                  </a:txBody>
                  <a:tcPr marL="91431" marR="91431" marT="47097" marB="47097"/>
                </a:tc>
                <a:extLst>
                  <a:ext uri="{0D108BD9-81ED-4DB2-BD59-A6C34878D82A}">
                    <a16:rowId xmlns:a16="http://schemas.microsoft.com/office/drawing/2014/main" val="25008194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1954</Words>
  <Application>Microsoft Office PowerPoint</Application>
  <PresentationFormat>와이드스크린</PresentationFormat>
  <Paragraphs>325</Paragraphs>
  <Slides>32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5" baseType="lpstr">
      <vt:lpstr>굴림</vt:lpstr>
      <vt:lpstr>08서울남산체 L</vt:lpstr>
      <vt:lpstr>Wingdings</vt:lpstr>
      <vt:lpstr>08서울남산체 B</vt:lpstr>
      <vt:lpstr>서울남산 장체 M</vt:lpstr>
      <vt:lpstr>맑은 고딕</vt:lpstr>
      <vt:lpstr>함초롬바탕</vt:lpstr>
      <vt:lpstr>서울한강 장체 L</vt:lpstr>
      <vt:lpstr>서울남산 장체 L</vt:lpstr>
      <vt:lpstr>서울남산 장체 EB</vt:lpstr>
      <vt:lpstr>Verdana</vt:lpstr>
      <vt:lpstr>Arial</vt:lpstr>
      <vt:lpstr>sample</vt:lpstr>
      <vt:lpstr>PowerPoint 프레젠테이션</vt:lpstr>
      <vt:lpstr>PowerPoint 프레젠테이션</vt:lpstr>
      <vt:lpstr>메뉴 상품 주요 목적</vt:lpstr>
      <vt:lpstr>PowerPoint 프레젠테이션</vt:lpstr>
      <vt:lpstr>1) 신메뉴 상품 개발 범위와 영역</vt:lpstr>
      <vt:lpstr>1) 신메뉴 상품 개발 범위와 영역</vt:lpstr>
      <vt:lpstr>PowerPoint 프레젠테이션</vt:lpstr>
      <vt:lpstr>1) 신메뉴 상품 개발 시 고려사항</vt:lpstr>
      <vt:lpstr>1) 신메뉴 상품 개발 시 고려사항</vt:lpstr>
      <vt:lpstr>2) 메뉴상품 개발과정</vt:lpstr>
      <vt:lpstr>2) 메뉴상품 개발과정</vt:lpstr>
      <vt:lpstr>2) 메뉴상품 개발과정</vt:lpstr>
      <vt:lpstr>2) 메뉴상품 개발과정</vt:lpstr>
      <vt:lpstr>2) 메뉴상품 개발과정</vt:lpstr>
      <vt:lpstr>2) 메뉴상품 개발과정</vt:lpstr>
      <vt:lpstr>2) 메뉴상품 개발과정</vt:lpstr>
      <vt:lpstr>PowerPoint 프레젠테이션</vt:lpstr>
      <vt:lpstr>2) 메뉴상품 개발과정</vt:lpstr>
      <vt:lpstr>2) 메뉴상품 개발과정</vt:lpstr>
      <vt:lpstr>2) 메뉴상품 개발과정</vt:lpstr>
      <vt:lpstr>2) 메뉴상품 개발과정</vt:lpstr>
      <vt:lpstr>2) 메뉴상품 개발과정</vt:lpstr>
      <vt:lpstr>2) 메뉴상품 개발과정</vt:lpstr>
      <vt:lpstr>2) 메뉴상품 개발과정</vt:lpstr>
      <vt:lpstr>2) 메뉴상품 개발과정</vt:lpstr>
      <vt:lpstr>PowerPoint 프레젠테이션</vt:lpstr>
      <vt:lpstr>1) 신메뉴 상품에 대한 평가</vt:lpstr>
      <vt:lpstr>1) 신메뉴 상품에 대한 평가</vt:lpstr>
      <vt:lpstr>1) 신메뉴 상품에 대한 평가</vt:lpstr>
      <vt:lpstr>1) 신메뉴 상품에 대한 평가</vt:lpstr>
      <vt:lpstr>2) 메뉴 상품 평가 결과에 따른 메뉴상품 기획 및 운영 전략방안</vt:lpstr>
      <vt:lpstr>2) 메뉴 상품 평가 결과에 따른 메뉴상품 기획 및 운영 전략방안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Windows 사용자</cp:lastModifiedBy>
  <cp:revision>83</cp:revision>
  <dcterms:created xsi:type="dcterms:W3CDTF">2022-02-07T06:24:49Z</dcterms:created>
  <dcterms:modified xsi:type="dcterms:W3CDTF">2022-05-10T13:31:36Z</dcterms:modified>
</cp:coreProperties>
</file>