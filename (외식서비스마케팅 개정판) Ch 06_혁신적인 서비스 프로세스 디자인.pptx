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6"/>
  </p:notesMasterIdLst>
  <p:sldIdLst>
    <p:sldId id="278" r:id="rId2"/>
    <p:sldId id="280" r:id="rId3"/>
    <p:sldId id="351" r:id="rId4"/>
    <p:sldId id="279" r:id="rId5"/>
    <p:sldId id="296" r:id="rId6"/>
    <p:sldId id="353" r:id="rId7"/>
    <p:sldId id="297" r:id="rId8"/>
    <p:sldId id="291" r:id="rId9"/>
    <p:sldId id="307" r:id="rId10"/>
    <p:sldId id="304" r:id="rId11"/>
    <p:sldId id="305" r:id="rId12"/>
    <p:sldId id="306" r:id="rId13"/>
    <p:sldId id="355" r:id="rId14"/>
    <p:sldId id="281" r:id="rId15"/>
    <p:sldId id="357" r:id="rId16"/>
    <p:sldId id="311" r:id="rId17"/>
    <p:sldId id="313" r:id="rId18"/>
    <p:sldId id="361" r:id="rId19"/>
    <p:sldId id="359" r:id="rId20"/>
    <p:sldId id="362" r:id="rId21"/>
    <p:sldId id="317" r:id="rId22"/>
    <p:sldId id="285" r:id="rId23"/>
    <p:sldId id="363" r:id="rId24"/>
    <p:sldId id="287" r:id="rId25"/>
    <p:sldId id="324" r:id="rId26"/>
    <p:sldId id="376" r:id="rId27"/>
    <p:sldId id="318" r:id="rId28"/>
    <p:sldId id="364" r:id="rId29"/>
    <p:sldId id="319" r:id="rId30"/>
    <p:sldId id="326" r:id="rId31"/>
    <p:sldId id="365" r:id="rId32"/>
    <p:sldId id="327" r:id="rId33"/>
    <p:sldId id="328" r:id="rId34"/>
    <p:sldId id="331" r:id="rId35"/>
    <p:sldId id="368" r:id="rId36"/>
    <p:sldId id="329" r:id="rId37"/>
    <p:sldId id="333" r:id="rId38"/>
    <p:sldId id="369" r:id="rId39"/>
    <p:sldId id="334" r:id="rId40"/>
    <p:sldId id="338" r:id="rId41"/>
    <p:sldId id="374" r:id="rId42"/>
    <p:sldId id="375" r:id="rId43"/>
    <p:sldId id="341" r:id="rId44"/>
    <p:sldId id="342" r:id="rId45"/>
    <p:sldId id="295" r:id="rId46"/>
    <p:sldId id="343" r:id="rId47"/>
    <p:sldId id="379" r:id="rId48"/>
    <p:sldId id="344" r:id="rId49"/>
    <p:sldId id="349" r:id="rId50"/>
    <p:sldId id="350" r:id="rId51"/>
    <p:sldId id="288" r:id="rId52"/>
    <p:sldId id="290" r:id="rId53"/>
    <p:sldId id="284" r:id="rId54"/>
    <p:sldId id="389" r:id="rId55"/>
  </p:sldIdLst>
  <p:sldSz cx="12192000" cy="6858000"/>
  <p:notesSz cx="6858000" cy="9144000"/>
  <p:embeddedFontLst>
    <p:embeddedFont>
      <p:font typeface="Arial Unicode MS" panose="020B0600000101010101" charset="-127"/>
      <p:regular r:id="rId57"/>
    </p:embeddedFont>
    <p:embeddedFont>
      <p:font typeface="08서울남산체 B" panose="02020603020101020101" pitchFamily="18" charset="-127"/>
      <p:regular r:id="rId58"/>
    </p:embeddedFont>
    <p:embeddedFont>
      <p:font typeface="08서울남산체 M" panose="02020603020101020101" pitchFamily="18" charset="-127"/>
      <p:regular r:id="rId59"/>
    </p:embeddedFont>
    <p:embeddedFont>
      <p:font typeface="Verdana" panose="020B0604030504040204" pitchFamily="34" charset="0"/>
      <p:regular r:id="rId60"/>
      <p:bold r:id="rId61"/>
      <p:italic r:id="rId62"/>
      <p:boldItalic r:id="rId63"/>
    </p:embeddedFont>
    <p:embeddedFont>
      <p:font typeface="맑은 고딕" panose="020B0503020000020004" pitchFamily="50" charset="-127"/>
      <p:regular r:id="rId64"/>
      <p:bold r:id="rId65"/>
    </p:embeddedFont>
    <p:embeddedFont>
      <p:font typeface="서울남산 장체 EB" panose="02020503020101020101" pitchFamily="18" charset="-127"/>
      <p:regular r:id="rId66"/>
    </p:embeddedFont>
    <p:embeddedFont>
      <p:font typeface="서울남산 장체 L" panose="02020503020101020101" pitchFamily="18" charset="-127"/>
      <p:regular r:id="rId67"/>
    </p:embeddedFont>
    <p:embeddedFont>
      <p:font typeface="서울남산 장체 M" panose="02020503020101020101" pitchFamily="18" charset="-127"/>
      <p:regular r:id="rId68"/>
    </p:embeddedFont>
    <p:embeddedFont>
      <p:font typeface="서울한강 장체 L" panose="02020503020101020101" pitchFamily="18" charset="-127"/>
      <p:regular r:id="rId69"/>
    </p:embeddedFont>
    <p:embeddedFont>
      <p:font typeface="함초롬돋움" panose="02030504000101010101" pitchFamily="18" charset="-127"/>
      <p:regular r:id="rId70"/>
      <p:bold r:id="rId71"/>
    </p:embeddedFont>
    <p:embeddedFont>
      <p:font typeface="함초롬바탕" panose="02030504000101010101" pitchFamily="18" charset="-127"/>
      <p:regular r:id="rId72"/>
      <p:bold r:id="rId7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39" autoAdjust="0"/>
    <p:restoredTop sz="72248" autoAdjust="0"/>
  </p:normalViewPr>
  <p:slideViewPr>
    <p:cSldViewPr snapToGrid="0" showGuides="1">
      <p:cViewPr varScale="1">
        <p:scale>
          <a:sx n="79" d="100"/>
          <a:sy n="79" d="100"/>
        </p:scale>
        <p:origin x="209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73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2CBB9-4A5B-4165-8B09-8477FE296C11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B3DB4-D385-4485-B184-BAAE808E3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66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38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DAF59362-AAEC-438D-9E40-FF26D7C124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C4BCAED-39FD-4529-A8D0-C927A2B1FE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A3F10358-8FCB-48D9-844C-654E1FD3A133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92110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BE9C6-17D0-47CB-A0EF-045D87100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9769EA-A453-40FE-A799-4C4E9A9D24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7D478-249C-47C8-B0AE-AC9ECA1D2C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994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A6CFC8-92DA-41C2-B453-EB4021597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5F5179-55EE-4E7E-B50F-C7660EED23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49D4F-3A8E-4D8E-9F58-49E042BE84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005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256D-F4FB-4955-B253-70764EDB7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5C741B7-C50E-4E9F-9844-13B7883CD1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40F6A-8F97-41BC-80EE-8A494F2C15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09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26E936-95BF-4B4A-B805-FFC00A959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D5A9FD-AF5F-4CE9-9EBA-2193EF3CCA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85870-8A47-4BC3-8417-C3B9023B61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03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0EED7E-D655-435A-B542-3ADE24937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7A5C33-4BE0-463A-9685-3EA65632F3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ED25-E065-4097-9741-8ADF60B19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58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F58C9D69-E12C-4263-846F-773DC50B354D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2C28487A-F298-475C-A204-79FC43F054C6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D4052D8F-ED52-42CD-858F-7929983A2B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A4849AFE-A46E-4EFA-89A2-7EE328D572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F49D34DD-136D-4EC6-8EC1-0CDE95C34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66E1FE4-1A59-45AD-BBE5-3AF2455B8F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3B4B30-C6E8-48B1-950F-799A5A77C5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8C3877AD-CFFB-4271-B326-AA3E8B4CDD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2549C1DD-2084-4511-B637-633F41C867D0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A26CEC47-651E-44F7-BA60-614E9E825F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6EBAFB4A-C0AC-40A0-A76E-39A39F6D89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60F49F54-34F0-42C7-BAD1-2FF0A3338EA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2071A01C-7DE0-447B-9DEA-A9E5BE07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indent="2778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indent="46672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indent="744538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3">
            <a:extLst>
              <a:ext uri="{FF2B5EF4-FFF2-40B4-BE49-F238E27FC236}">
                <a16:creationId xmlns:a16="http://schemas.microsoft.com/office/drawing/2014/main" id="{024AFDAE-10E1-4D39-A3BC-F1D6DFEA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latinLnBrk="0" hangingPunct="1"/>
            <a:r>
              <a:rPr lang="en-US" altLang="ko-KR"/>
              <a:t>Chapter 6.</a:t>
            </a:r>
          </a:p>
          <a:p>
            <a:pPr eaLnBrk="1" latinLnBrk="0" hangingPunct="1"/>
            <a:r>
              <a:rPr lang="ko-KR" altLang="en-US"/>
              <a:t>외식서비스 프로세스 디자인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텍스트 개체 틀 3">
            <a:extLst>
              <a:ext uri="{FF2B5EF4-FFF2-40B4-BE49-F238E27FC236}">
                <a16:creationId xmlns:a16="http://schemas.microsoft.com/office/drawing/2014/main" id="{D19AC77A-C39D-4EF9-A975-CC4EB131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/>
              <a:t>1. </a:t>
            </a:r>
            <a:r>
              <a:rPr lang="ko-KR" altLang="en-US"/>
              <a:t>외식서비스 프로세스 개발의 이해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E0F6A-BAF9-4B4B-A640-21244752849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04E37F-209B-4DF1-8F78-144694E42AB3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5" name="그룹 1">
            <a:extLst>
              <a:ext uri="{FF2B5EF4-FFF2-40B4-BE49-F238E27FC236}">
                <a16:creationId xmlns:a16="http://schemas.microsoft.com/office/drawing/2014/main" id="{E95F91BE-8785-4100-A072-EA193FCF7D33}"/>
              </a:ext>
            </a:extLst>
          </p:cNvPr>
          <p:cNvGrpSpPr>
            <a:grpSpLocks/>
          </p:cNvGrpSpPr>
          <p:nvPr/>
        </p:nvGrpSpPr>
        <p:grpSpPr bwMode="auto">
          <a:xfrm>
            <a:off x="5764627" y="4863548"/>
            <a:ext cx="6169025" cy="1524000"/>
            <a:chOff x="3657600" y="1905000"/>
            <a:chExt cx="6169035" cy="1524000"/>
          </a:xfrm>
        </p:grpSpPr>
        <p:grpSp>
          <p:nvGrpSpPr>
            <p:cNvPr id="6" name="Group 46">
              <a:extLst>
                <a:ext uri="{FF2B5EF4-FFF2-40B4-BE49-F238E27FC236}">
                  <a16:creationId xmlns:a16="http://schemas.microsoft.com/office/drawing/2014/main" id="{97E66591-FB06-44BB-BD40-EB97FD6AF4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1905000"/>
              <a:ext cx="5781675" cy="685800"/>
              <a:chOff x="1296" y="1824"/>
              <a:chExt cx="3642" cy="432"/>
            </a:xfrm>
          </p:grpSpPr>
          <p:sp>
            <p:nvSpPr>
              <p:cNvPr id="14" name="AutoShape 47">
                <a:extLst>
                  <a:ext uri="{FF2B5EF4-FFF2-40B4-BE49-F238E27FC236}">
                    <a16:creationId xmlns:a16="http://schemas.microsoft.com/office/drawing/2014/main" id="{97A888CD-609A-4488-9335-6EEEDC278CB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2">
                      <a:gamma/>
                      <a:tint val="21176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5" name="AutoShape 48">
                <a:extLst>
                  <a:ext uri="{FF2B5EF4-FFF2-40B4-BE49-F238E27FC236}">
                    <a16:creationId xmlns:a16="http://schemas.microsoft.com/office/drawing/2014/main" id="{37798ED5-A153-4E18-B37E-DC47534523D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2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6" name="Text Box 49">
                <a:extLst>
                  <a:ext uri="{FF2B5EF4-FFF2-40B4-BE49-F238E27FC236}">
                    <a16:creationId xmlns:a16="http://schemas.microsoft.com/office/drawing/2014/main" id="{416525DE-E0D3-446F-B2CA-9B01C8E7A6F3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21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서비스 프로세스와 고객 경험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7" name="Text Box 50">
                <a:extLst>
                  <a:ext uri="{FF2B5EF4-FFF2-40B4-BE49-F238E27FC236}">
                    <a16:creationId xmlns:a16="http://schemas.microsoft.com/office/drawing/2014/main" id="{BFA8DE86-3FB7-4F19-B9D0-A104B14200E5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1</a:t>
                </a: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19CA5739-6418-4CF9-8FDC-2A5B0E13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2743200"/>
              <a:ext cx="6169035" cy="685800"/>
              <a:chOff x="1296" y="1824"/>
              <a:chExt cx="3886" cy="432"/>
            </a:xfrm>
          </p:grpSpPr>
          <p:sp>
            <p:nvSpPr>
              <p:cNvPr id="10" name="AutoShape 52">
                <a:extLst>
                  <a:ext uri="{FF2B5EF4-FFF2-40B4-BE49-F238E27FC236}">
                    <a16:creationId xmlns:a16="http://schemas.microsoft.com/office/drawing/2014/main" id="{FA7F309B-BB7E-4C99-8D40-E76E4A653AE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1">
                      <a:gamma/>
                      <a:tint val="21176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1" name="AutoShape 53">
                <a:extLst>
                  <a:ext uri="{FF2B5EF4-FFF2-40B4-BE49-F238E27FC236}">
                    <a16:creationId xmlns:a16="http://schemas.microsoft.com/office/drawing/2014/main" id="{7B8459EB-38C3-4039-8AA8-33F61367CB4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1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2" name="Text Box 54">
                <a:extLst>
                  <a:ext uri="{FF2B5EF4-FFF2-40B4-BE49-F238E27FC236}">
                    <a16:creationId xmlns:a16="http://schemas.microsoft.com/office/drawing/2014/main" id="{11BC9C02-0D03-49DC-9A2D-54DA6D651BA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외식서비스 프로세스 디자인의 기본 고려사항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3" name="Text Box 55">
                <a:extLst>
                  <a:ext uri="{FF2B5EF4-FFF2-40B4-BE49-F238E27FC236}">
                    <a16:creationId xmlns:a16="http://schemas.microsoft.com/office/drawing/2014/main" id="{8BF7A260-1043-4767-A301-CF37322377A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2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서비스 프로세스 개발의 이해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외식서비스는 고객이 외식상품을 경험하게 되는 일련의 과정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각 단계마다 다양한 사람</a:t>
            </a:r>
            <a:r>
              <a:rPr lang="en-US" altLang="ko-KR" sz="1800" dirty="0"/>
              <a:t>, </a:t>
            </a:r>
            <a:r>
              <a:rPr lang="ko-KR" altLang="en-US" sz="1800" dirty="0"/>
              <a:t>과정 그리고 유형적 요소들이 필요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/>
              <a:t>이러한 요소로 이루어진 복수의 단계들이 촘촘히 이어져 서비스 프로세스를 이루게 됨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/>
              <a:t>이를 따르는 고객에게 총체적인 외식경험을 제공</a:t>
            </a:r>
            <a:r>
              <a:rPr lang="en-US" altLang="ko-KR" sz="1800" dirty="0"/>
              <a:t> </a:t>
            </a:r>
            <a:endParaRPr lang="ko-KR" alt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프로세스 개발이 어려운 이유 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서비스는 일련의 과정으로 이루어지며 과정의 시작부터 끝까지 각 요소들이 유연하게 연결되어야 완성될 수 있어 개발 소요시간이 많이 들기 때문</a:t>
            </a:r>
            <a:endParaRPr lang="en-US" altLang="ko-KR" sz="18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이와 같은 서비스 프로세스 개발에 있어서의 복잡성에 대한 인지는 </a:t>
            </a:r>
            <a:r>
              <a:rPr lang="ko-KR" altLang="en-US" sz="1800" dirty="0">
                <a:solidFill>
                  <a:srgbClr val="FF0000"/>
                </a:solidFill>
              </a:rPr>
              <a:t>‘서비스 </a:t>
            </a:r>
            <a:r>
              <a:rPr lang="ko-KR" altLang="en-US" sz="1800" dirty="0" err="1">
                <a:solidFill>
                  <a:srgbClr val="FF0000"/>
                </a:solidFill>
              </a:rPr>
              <a:t>디자인’</a:t>
            </a:r>
            <a:r>
              <a:rPr lang="ko-KR" altLang="en-US" sz="1800" dirty="0" err="1"/>
              <a:t>이라는</a:t>
            </a:r>
            <a:r>
              <a:rPr lang="ko-KR" altLang="en-US" sz="1800" dirty="0"/>
              <a:t> 분야를 생겨나게 함</a:t>
            </a:r>
            <a:r>
              <a:rPr lang="en-US" altLang="ko-KR" sz="1800" dirty="0"/>
              <a:t>.</a:t>
            </a:r>
          </a:p>
          <a:p>
            <a:pPr marL="733425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기존의 서비스 디자인은 제품 디자인과 같이 교통</a:t>
            </a:r>
            <a:r>
              <a:rPr lang="en-US" altLang="ko-KR" sz="1600" dirty="0"/>
              <a:t>, </a:t>
            </a:r>
            <a:r>
              <a:rPr lang="ko-KR" altLang="en-US" sz="1600" dirty="0"/>
              <a:t>교육</a:t>
            </a:r>
            <a:r>
              <a:rPr lang="en-US" altLang="ko-KR" sz="1600" dirty="0"/>
              <a:t>, </a:t>
            </a:r>
            <a:r>
              <a:rPr lang="ko-KR" altLang="en-US" sz="1600" dirty="0"/>
              <a:t>보건 등 공공서비스 산업에 주로 적용되었으나 최근에 와서는 분야에 제한 없이 서비스 계획과 설계가 필요한 모든 조직으로 확장되어 고객에게 유의미한 경험을 할 수 있도록 돕는 활동과 분야를 모두 포함하고 있으며 외식서비스 설계에도 많이 적용되고 있음</a:t>
            </a:r>
            <a:endParaRPr lang="en-US" altLang="ko-KR" sz="1600" dirty="0"/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7030A0"/>
                </a:solidFill>
                <a:highlight>
                  <a:srgbClr val="FFFF00"/>
                </a:highlight>
              </a:rPr>
              <a:t>뉴 서비스 프로세스 디자인</a:t>
            </a:r>
            <a:r>
              <a:rPr lang="en-US" altLang="ko-KR" sz="1800" dirty="0">
                <a:solidFill>
                  <a:srgbClr val="7030A0"/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800" dirty="0">
                <a:solidFill>
                  <a:srgbClr val="7030A0"/>
                </a:solidFill>
                <a:highlight>
                  <a:srgbClr val="FFFF00"/>
                </a:highlight>
              </a:rPr>
              <a:t>완전히 새로운 서비스 프로세스의 개발</a:t>
            </a:r>
            <a:r>
              <a:rPr lang="en-US" altLang="ko-KR" sz="1800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</a:p>
          <a:p>
            <a:pPr marL="46513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7030A0"/>
                </a:solidFill>
                <a:highlight>
                  <a:srgbClr val="FFFF00"/>
                </a:highlight>
              </a:rPr>
              <a:t>서비스 프로세스 리디자인</a:t>
            </a:r>
            <a:r>
              <a:rPr lang="en-US" altLang="ko-KR" sz="1800" dirty="0">
                <a:solidFill>
                  <a:srgbClr val="7030A0"/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800" dirty="0">
                <a:solidFill>
                  <a:srgbClr val="7030A0"/>
                </a:solidFill>
                <a:highlight>
                  <a:srgbClr val="FFFF00"/>
                </a:highlight>
              </a:rPr>
              <a:t>서비스 프로세스 개선 부분</a:t>
            </a:r>
          </a:p>
        </p:txBody>
      </p:sp>
    </p:spTree>
    <p:extLst>
      <p:ext uri="{BB962C8B-B14F-4D97-AF65-F5344CB8AC3E}">
        <p14:creationId xmlns:p14="http://schemas.microsoft.com/office/powerpoint/2010/main" val="411037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/>
              <a:t>서비스 프로세스와 고객 경험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0A52CB51-0D10-4161-B630-BC98D034E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서비스 프로세스는 외식업체</a:t>
            </a:r>
            <a:r>
              <a:rPr lang="en-US" altLang="ko-KR" sz="2000" dirty="0"/>
              <a:t>-</a:t>
            </a:r>
            <a:r>
              <a:rPr lang="ko-KR" altLang="en-US" sz="2000" dirty="0"/>
              <a:t>고객 간의 끊임없는 상호작용으로 만들어지는 것</a:t>
            </a:r>
            <a:r>
              <a:rPr lang="en-US" altLang="ko-KR" sz="2000" dirty="0"/>
              <a:t>.</a:t>
            </a:r>
          </a:p>
          <a:p>
            <a:pPr eaLnBrk="1" latinLnBrk="0" hangingPunct="1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서비스를 제공받는 과정에서 발생되는 경험이 고객들의 마음속에 각인되어 외식서비스에 대한 전반적 품질 평가로 이어지게 됨</a:t>
            </a:r>
            <a:r>
              <a:rPr lang="en-US" altLang="ko-KR" sz="2000" dirty="0"/>
              <a:t>.</a:t>
            </a:r>
          </a:p>
          <a:p>
            <a:pPr eaLnBrk="1" latinLnBrk="0" hangingPunct="1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외식서비스 프로세스는 고객에게 외식업체 브랜드 이미지를 확고히 하고</a:t>
            </a:r>
            <a:r>
              <a:rPr lang="en-US" altLang="ko-KR" sz="2000" dirty="0"/>
              <a:t>, </a:t>
            </a:r>
            <a:r>
              <a:rPr lang="ko-KR" altLang="en-US" sz="2000" dirty="0"/>
              <a:t>외식업체 평가의 기준이 되는 중요한 무형적 상품</a:t>
            </a:r>
            <a:r>
              <a:rPr lang="en-US" altLang="ko-KR" sz="2000" dirty="0"/>
              <a:t>.</a:t>
            </a:r>
          </a:p>
          <a:p>
            <a:pPr eaLnBrk="1" latinLnBrk="0" hangingPunct="1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고객 경험을 충족시키기 위한 서비스 프로세스를 개발하기 위해서는</a:t>
            </a:r>
            <a:r>
              <a:rPr lang="en-US" altLang="ko-KR" sz="2000" dirty="0"/>
              <a:t>: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/>
              <a:t> </a:t>
            </a:r>
            <a:r>
              <a:rPr lang="ko-KR" altLang="en-US" sz="1800" dirty="0"/>
              <a:t>서비스 경험에 영향을 주는 서비스의 구성요소들</a:t>
            </a:r>
            <a:r>
              <a:rPr lang="en-US" altLang="ko-KR" sz="1800" dirty="0"/>
              <a:t>(</a:t>
            </a:r>
            <a:r>
              <a:rPr lang="ko-KR" altLang="en-US" sz="1800" dirty="0">
                <a:highlight>
                  <a:srgbClr val="FFFF00"/>
                </a:highlight>
              </a:rPr>
              <a:t>서비스 패키지</a:t>
            </a:r>
            <a:r>
              <a:rPr lang="en-US" altLang="ko-KR" sz="1800" dirty="0">
                <a:highlight>
                  <a:srgbClr val="FFFF00"/>
                </a:highlight>
              </a:rPr>
              <a:t>, service package</a:t>
            </a:r>
            <a:r>
              <a:rPr lang="en-US" altLang="ko-KR" sz="1800" dirty="0"/>
              <a:t>)</a:t>
            </a:r>
            <a:r>
              <a:rPr lang="ko-KR" altLang="en-US" sz="1800" dirty="0"/>
              <a:t>에 대한 관리 필요</a:t>
            </a:r>
            <a:endParaRPr lang="en-US" altLang="ko-KR" sz="1800" dirty="0"/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1800" dirty="0"/>
              <a:t> </a:t>
            </a:r>
            <a:r>
              <a:rPr lang="ko-KR" altLang="en-US" sz="1800" dirty="0"/>
              <a:t>고객들이 느끼는 서비스의 종류가 무엇인지 구분할 수 있어야 함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9A7A20C9-AAB5-4608-B71E-9254BBE16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/>
              <a:t>서비스 프로세스와 고객 경험</a:t>
            </a:r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28DDD806-EA0F-41F1-8A6A-07EE3A3D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  <a:defRPr/>
            </a:pPr>
            <a:r>
              <a:rPr lang="ko-KR" altLang="en-US" dirty="0"/>
              <a:t>서비스를 이루고 있는 </a:t>
            </a:r>
            <a:r>
              <a:rPr lang="en-US" altLang="ko-KR" dirty="0"/>
              <a:t>5</a:t>
            </a:r>
            <a:r>
              <a:rPr lang="ko-KR" altLang="en-US" dirty="0"/>
              <a:t>가지 구성요소</a:t>
            </a:r>
            <a:endParaRPr lang="en-US" altLang="ko-KR" dirty="0"/>
          </a:p>
          <a:p>
            <a:pPr lvl="1" eaLnBrk="1" latinLnBrk="0" hangingPunct="1">
              <a:buFont typeface="Arial" panose="020B0604020202020204" pitchFamily="34" charset="0"/>
              <a:buChar char="•"/>
              <a:defRPr/>
            </a:pPr>
            <a:endParaRPr lang="en-US" altLang="ko-KR" sz="2000" dirty="0"/>
          </a:p>
          <a:p>
            <a:pPr marL="357188" lvl="1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highlight>
                  <a:srgbClr val="FFFF00"/>
                </a:highlight>
              </a:rPr>
              <a:t>서비스 지원 시설 및 설비</a:t>
            </a:r>
            <a:r>
              <a:rPr lang="en-US" altLang="ko-KR" sz="1800" dirty="0">
                <a:highlight>
                  <a:srgbClr val="FFFF00"/>
                </a:highlight>
              </a:rPr>
              <a:t>(supporting facility)</a:t>
            </a:r>
            <a:r>
              <a:rPr lang="en-US" altLang="ko-KR" sz="1800" dirty="0"/>
              <a:t>: </a:t>
            </a:r>
            <a:r>
              <a:rPr lang="ko-KR" altLang="en-US" sz="1800" dirty="0"/>
              <a:t>서비스 상품을 제공하기 전에 반드시 갖추어야 하는 물리적 자원들</a:t>
            </a:r>
            <a:endParaRPr lang="en-US" altLang="ko-KR" sz="1800" dirty="0"/>
          </a:p>
          <a:p>
            <a:pPr marL="625475" lvl="2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예 </a:t>
            </a:r>
            <a:r>
              <a:rPr lang="en-US" altLang="ko-KR" sz="1400" dirty="0"/>
              <a:t>: </a:t>
            </a:r>
            <a:r>
              <a:rPr lang="ko-KR" altLang="en-US" sz="1400" dirty="0"/>
              <a:t>레스토랑 외관 및 인테리어</a:t>
            </a:r>
            <a:r>
              <a:rPr lang="en-US" altLang="ko-KR" sz="1400" dirty="0"/>
              <a:t>, </a:t>
            </a:r>
            <a:r>
              <a:rPr lang="ko-KR" altLang="en-US" sz="1400" dirty="0"/>
              <a:t>위치</a:t>
            </a:r>
            <a:r>
              <a:rPr lang="en-US" altLang="ko-KR" sz="1400" dirty="0"/>
              <a:t>, </a:t>
            </a:r>
            <a:r>
              <a:rPr lang="ko-KR" altLang="en-US" sz="1400" dirty="0"/>
              <a:t>주방시설 등</a:t>
            </a:r>
            <a:r>
              <a:rPr lang="en-US" altLang="ko-KR" sz="1400" dirty="0"/>
              <a:t>)</a:t>
            </a:r>
          </a:p>
          <a:p>
            <a:pPr marL="357188" lvl="1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highlight>
                  <a:srgbClr val="FFFF00"/>
                </a:highlight>
              </a:rPr>
              <a:t>서비스 촉진 상품</a:t>
            </a:r>
            <a:r>
              <a:rPr lang="en-US" altLang="ko-KR" sz="1800" dirty="0">
                <a:highlight>
                  <a:srgbClr val="FFFF00"/>
                </a:highlight>
              </a:rPr>
              <a:t>(facilitating goods)</a:t>
            </a:r>
            <a:r>
              <a:rPr lang="en-US" altLang="ko-KR" sz="1800" dirty="0"/>
              <a:t>: </a:t>
            </a:r>
            <a:r>
              <a:rPr lang="ko-KR" altLang="en-US" sz="1800" dirty="0"/>
              <a:t>고객들에게 구매되는 유형적 또는 무형적 상품의 특징 </a:t>
            </a:r>
            <a:endParaRPr lang="en-US" altLang="ko-KR" sz="1800" dirty="0"/>
          </a:p>
          <a:p>
            <a:pPr marL="625475" lvl="2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예 </a:t>
            </a:r>
            <a:r>
              <a:rPr lang="en-US" altLang="ko-KR" sz="1400" dirty="0"/>
              <a:t>: </a:t>
            </a:r>
            <a:r>
              <a:rPr lang="ko-KR" altLang="en-US" sz="1400" dirty="0"/>
              <a:t>메뉴 상품의 일관된 특징</a:t>
            </a:r>
            <a:r>
              <a:rPr lang="en-US" altLang="ko-KR" sz="1400" dirty="0"/>
              <a:t>, </a:t>
            </a:r>
            <a:r>
              <a:rPr lang="ko-KR" altLang="en-US" sz="1400" dirty="0"/>
              <a:t>양</a:t>
            </a:r>
            <a:r>
              <a:rPr lang="en-US" altLang="ko-KR" sz="1400" dirty="0"/>
              <a:t>, </a:t>
            </a:r>
            <a:r>
              <a:rPr lang="ko-KR" altLang="en-US" sz="1400" dirty="0"/>
              <a:t>메뉴 또는 서비스 선택 범위</a:t>
            </a:r>
            <a:r>
              <a:rPr lang="en-US" altLang="ko-KR" sz="1400" dirty="0"/>
              <a:t>)</a:t>
            </a:r>
          </a:p>
          <a:p>
            <a:pPr marL="357188" lvl="1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highlight>
                  <a:srgbClr val="FFFF00"/>
                </a:highlight>
              </a:rPr>
              <a:t>명시적 서비스</a:t>
            </a:r>
            <a:r>
              <a:rPr lang="en-US" altLang="ko-KR" sz="1800" dirty="0">
                <a:highlight>
                  <a:srgbClr val="FFFF00"/>
                </a:highlight>
              </a:rPr>
              <a:t>(explicit service): </a:t>
            </a:r>
            <a:r>
              <a:rPr lang="ko-KR" altLang="en-US" sz="1800" dirty="0"/>
              <a:t>고객이 본인의 감각에 의해 직접적으로 느낄 수 있는 </a:t>
            </a:r>
            <a:r>
              <a:rPr lang="ko-KR" altLang="en-US" sz="1800" dirty="0" err="1"/>
              <a:t>외식서비스</a:t>
            </a:r>
            <a:r>
              <a:rPr lang="ko-KR" altLang="en-US" sz="1800" dirty="0"/>
              <a:t> 상품의 핵심적인 외재적 또는 내재적 특성 </a:t>
            </a:r>
            <a:endParaRPr lang="en-US" altLang="ko-KR" sz="1800" dirty="0"/>
          </a:p>
          <a:p>
            <a:pPr marL="625475" lvl="2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예 </a:t>
            </a:r>
            <a:r>
              <a:rPr lang="en-US" altLang="ko-KR" sz="1400" dirty="0"/>
              <a:t>: </a:t>
            </a:r>
            <a:r>
              <a:rPr lang="ko-KR" altLang="en-US" sz="1400" dirty="0"/>
              <a:t>음식의 품질</a:t>
            </a:r>
            <a:r>
              <a:rPr lang="en-US" altLang="ko-KR" sz="1400" dirty="0"/>
              <a:t>, </a:t>
            </a:r>
            <a:r>
              <a:rPr lang="ko-KR" altLang="en-US" sz="1400" dirty="0"/>
              <a:t>종사원의 태도</a:t>
            </a:r>
            <a:r>
              <a:rPr lang="en-US" altLang="ko-KR" sz="1400" dirty="0"/>
              <a:t>, </a:t>
            </a:r>
            <a:r>
              <a:rPr lang="ko-KR" altLang="en-US" sz="1400" dirty="0"/>
              <a:t>레스토랑의 청결</a:t>
            </a:r>
            <a:r>
              <a:rPr lang="en-US" altLang="ko-KR" sz="1400" dirty="0"/>
              <a:t>, </a:t>
            </a:r>
            <a:r>
              <a:rPr lang="ko-KR" altLang="en-US" sz="1400" dirty="0"/>
              <a:t>신속한 서비스 등</a:t>
            </a:r>
            <a:r>
              <a:rPr lang="en-US" altLang="ko-KR" sz="1400" dirty="0"/>
              <a:t>)</a:t>
            </a:r>
          </a:p>
          <a:p>
            <a:pPr marL="357188" lvl="1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highlight>
                  <a:srgbClr val="FFFF00"/>
                </a:highlight>
              </a:rPr>
              <a:t>암묵적 서비스</a:t>
            </a:r>
            <a:r>
              <a:rPr lang="en-US" altLang="ko-KR" sz="1800" dirty="0">
                <a:highlight>
                  <a:srgbClr val="FFFF00"/>
                </a:highlight>
              </a:rPr>
              <a:t>(implicit service) </a:t>
            </a:r>
            <a:r>
              <a:rPr lang="en-US" altLang="ko-KR" sz="1800" dirty="0"/>
              <a:t>: </a:t>
            </a:r>
            <a:r>
              <a:rPr lang="ko-KR" altLang="en-US" sz="1800" dirty="0"/>
              <a:t>고객이 잠재적으로 느끼게 되는 심리적 혜택이나 외재적 특성</a:t>
            </a:r>
            <a:endParaRPr lang="en-US" altLang="ko-KR" sz="1800" dirty="0"/>
          </a:p>
          <a:p>
            <a:pPr marL="625475" lvl="2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예 </a:t>
            </a:r>
            <a:r>
              <a:rPr lang="en-US" altLang="ko-KR" sz="1400" dirty="0"/>
              <a:t>: </a:t>
            </a:r>
            <a:r>
              <a:rPr lang="ko-KR" altLang="en-US" sz="1400" dirty="0"/>
              <a:t>서비스의 태도</a:t>
            </a:r>
            <a:r>
              <a:rPr lang="en-US" altLang="ko-KR" sz="1400" dirty="0"/>
              <a:t>, </a:t>
            </a:r>
            <a:r>
              <a:rPr lang="ko-KR" altLang="en-US" sz="1400" dirty="0"/>
              <a:t>분위기</a:t>
            </a:r>
            <a:r>
              <a:rPr lang="en-US" altLang="ko-KR" sz="1400" dirty="0"/>
              <a:t>, </a:t>
            </a:r>
            <a:r>
              <a:rPr lang="ko-KR" altLang="en-US" sz="1400" dirty="0"/>
              <a:t>대기시간</a:t>
            </a:r>
            <a:r>
              <a:rPr lang="en-US" altLang="ko-KR" sz="1400" dirty="0"/>
              <a:t>, </a:t>
            </a:r>
            <a:r>
              <a:rPr lang="ko-KR" altLang="en-US" sz="1400" dirty="0"/>
              <a:t>편리성 등</a:t>
            </a:r>
            <a:r>
              <a:rPr lang="en-US" altLang="ko-KR" sz="1400" dirty="0"/>
              <a:t>)</a:t>
            </a:r>
          </a:p>
          <a:p>
            <a:pPr marL="357188" lvl="1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highlight>
                  <a:srgbClr val="FFFF00"/>
                </a:highlight>
              </a:rPr>
              <a:t>정보</a:t>
            </a:r>
            <a:r>
              <a:rPr lang="en-US" altLang="ko-KR" sz="1800" dirty="0">
                <a:highlight>
                  <a:srgbClr val="FFFF00"/>
                </a:highlight>
              </a:rPr>
              <a:t>(information): </a:t>
            </a:r>
            <a:r>
              <a:rPr lang="ko-KR" altLang="en-US" sz="1800" dirty="0"/>
              <a:t>고객별 서비스나 효율적인 서비스를  제공할 수 있도록 구축되는 고객 관련 정보 및 운영 관련 정보 </a:t>
            </a:r>
            <a:endParaRPr lang="en-US" altLang="ko-KR" sz="1800" dirty="0"/>
          </a:p>
          <a:p>
            <a:pPr marL="625475" lvl="2" indent="-8572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예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고객카드를</a:t>
            </a:r>
            <a:r>
              <a:rPr lang="ko-KR" altLang="en-US" sz="1400" dirty="0"/>
              <a:t> 통한 </a:t>
            </a:r>
            <a:r>
              <a:rPr lang="ko-KR" altLang="en-US" sz="1400" dirty="0" err="1"/>
              <a:t>고객방문</a:t>
            </a:r>
            <a:r>
              <a:rPr lang="ko-KR" altLang="en-US" sz="1400" dirty="0"/>
              <a:t> 기록</a:t>
            </a:r>
            <a:r>
              <a:rPr lang="en-US" altLang="ko-KR" sz="1400" dirty="0"/>
              <a:t>, </a:t>
            </a:r>
            <a:r>
              <a:rPr lang="ko-KR" altLang="en-US" sz="1400" dirty="0"/>
              <a:t>외식업체의 메뉴 판매 기록 등</a:t>
            </a:r>
            <a:r>
              <a:rPr lang="en-US" altLang="ko-KR" sz="1400" dirty="0"/>
              <a:t>).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F33CB-B3D2-4259-AFF2-2C72D1EF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9E1D29-274F-40C4-9D51-DB3AFB8EA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28" y="1627462"/>
            <a:ext cx="7540144" cy="388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4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8FBF21D4-8914-4C95-BBD6-B3E3255C6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/>
              <a:t>서비스 프로세스와 고객 경험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A071CCBE-1469-47D3-B713-6C2B5BA55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외식서비스를 제공받는 고객들은 서비스 패키지의 다양한 혼합 </a:t>
            </a:r>
            <a:r>
              <a:rPr lang="ko-KR" altLang="en-US" sz="2000" b="0" dirty="0" err="1"/>
              <a:t>형태로서의</a:t>
            </a:r>
            <a:r>
              <a:rPr lang="ko-KR" altLang="en-US" sz="2000" b="0" dirty="0"/>
              <a:t> 상품을 통한 총체적 경험으로 외식에 대한 만족도를 평가하게 됨</a:t>
            </a:r>
            <a:r>
              <a:rPr lang="en-US" altLang="ko-KR" sz="20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명시적 서비스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암묵적 서비스 요소가 포함된 서비스 프로세스를 통한 차별화 시도가 필요함</a:t>
            </a:r>
            <a:r>
              <a:rPr lang="en-US" altLang="ko-KR" sz="20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고객 관점에서 보았을 때 외식업체 내외부의 디자인과 시설 수준에서부터 레스토랑에 어울리는 종사원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주변 고객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분위기 및 브랜드 등 외식서비스를 경험하는 모든 순간이 관심의 대상이고 만족의 요소가 됨</a:t>
            </a:r>
            <a:r>
              <a:rPr lang="en-US" altLang="ko-KR" sz="2000" b="0" dirty="0"/>
              <a:t>.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외식서비스 상품은 외식업체의 콘셉트에 따라 고객들이 원하는 바가 다를 수 있음</a:t>
            </a:r>
            <a:r>
              <a:rPr lang="en-US" altLang="ko-KR" sz="20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고객의 관점의 외식서비스프로세스 디자인의 주된 목적</a:t>
            </a:r>
            <a:endParaRPr lang="en-US" altLang="ko-KR" sz="2000" b="0" dirty="0"/>
          </a:p>
          <a:p>
            <a:pPr marL="357188" lvl="1" indent="-177800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 서비스 경험을 통해 매력적이고 유익한 가치를 얻을 수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서비스 공급자의 관점에서는 효과적이고 효율적인 서비스  </a:t>
            </a:r>
            <a:r>
              <a:rPr lang="ko-KR" altLang="en-US" sz="1800" dirty="0" err="1"/>
              <a:t>인터렉션을</a:t>
            </a:r>
            <a:r>
              <a:rPr lang="ko-KR" altLang="en-US" sz="1800" dirty="0"/>
              <a:t> 만들어 이익을 가져다 줄 수 있도록 하는 것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01CE1B93-066C-448B-9D0B-696C5CC6F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외식서비스 프로세스 디자인의 기본 고려사항</a:t>
            </a:r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F23D6E97-0872-4715-B453-64FCAAC59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6374364" cy="5248275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외식서비스는 </a:t>
            </a:r>
            <a:r>
              <a:rPr lang="ko-KR" altLang="en-US" sz="2000" b="0" dirty="0" err="1"/>
              <a:t>유∙무형</a:t>
            </a:r>
            <a:r>
              <a:rPr lang="ko-KR" altLang="en-US" sz="2000" b="0" dirty="0"/>
              <a:t> 요소가 혼합된 상품이 고객에게 제공되며 경쟁자와의 차별화를 위해서 무형적 상품요소 개발의 중요성이 더욱더 강조되고 있음</a:t>
            </a:r>
            <a:r>
              <a:rPr lang="en-US" altLang="ko-KR" sz="20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서비스 프로세스 디자인의 구성</a:t>
            </a:r>
            <a:endParaRPr lang="en-US" altLang="ko-KR" sz="2000" b="0" dirty="0"/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전반부</a:t>
            </a:r>
            <a:r>
              <a:rPr lang="en-US" altLang="ko-KR" sz="2000" dirty="0"/>
              <a:t>: </a:t>
            </a:r>
            <a:r>
              <a:rPr lang="ko-KR" altLang="en-US" sz="2000" dirty="0"/>
              <a:t>고객의 니즈를 탐색</a:t>
            </a:r>
            <a:endParaRPr lang="en-US" altLang="ko-KR" sz="2000" dirty="0"/>
          </a:p>
          <a:p>
            <a:pPr lvl="2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dirty="0"/>
              <a:t>고객의 숨은 니즈를 파악하고 새로운 서비스에 대한 충분한 인사이트를 얻기 위해 정성적 조사를 포함한 다양한 고객 니즈 탐색 접근 방법이 필요함</a:t>
            </a:r>
            <a:r>
              <a:rPr lang="en-US" altLang="ko-KR" sz="1600" b="0" dirty="0"/>
              <a:t>.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후반부</a:t>
            </a:r>
            <a:r>
              <a:rPr lang="en-US" altLang="ko-KR" sz="2000" dirty="0"/>
              <a:t>: </a:t>
            </a:r>
            <a:r>
              <a:rPr lang="ko-KR" altLang="en-US" sz="2000" dirty="0"/>
              <a:t>콘셉트 개발을 위한 프로토타이핑 진행</a:t>
            </a:r>
            <a:endParaRPr lang="en-US" altLang="ko-KR" sz="2000" dirty="0"/>
          </a:p>
          <a:p>
            <a:pPr lvl="2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dirty="0"/>
              <a:t>고객 중심의 해결책이 나올 수 있도록 다양한 프로토타입을 활용한 서비스 콘셉트의 시각화에 중심을 둠</a:t>
            </a:r>
            <a:r>
              <a:rPr lang="en-US" altLang="ko-KR" sz="1600" b="0" dirty="0"/>
              <a:t>. </a:t>
            </a:r>
            <a:endParaRPr lang="ko-KR" altLang="en-US" sz="1600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1D8347C-7E32-4542-9953-11DC9F16E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059" y="3848100"/>
            <a:ext cx="49911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501D5827-1A9A-429B-B06A-38DB6E53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외식서비스 프로세스 디자인의 기본 고려사항</a:t>
            </a:r>
          </a:p>
        </p:txBody>
      </p:sp>
      <p:sp>
        <p:nvSpPr>
          <p:cNvPr id="10243" name="내용 개체 틀 4">
            <a:extLst>
              <a:ext uri="{FF2B5EF4-FFF2-40B4-BE49-F238E27FC236}">
                <a16:creationId xmlns:a16="http://schemas.microsoft.com/office/drawing/2014/main" id="{466214B6-9109-43E7-B551-6261EA0DC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2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 err="1"/>
              <a:t>내∙외부</a:t>
            </a:r>
            <a:r>
              <a:rPr lang="ko-KR" altLang="en-US" sz="2000" dirty="0"/>
              <a:t> 고객 중심의 공동 창작 </a:t>
            </a:r>
            <a:endParaRPr lang="en-US" altLang="ko-KR" sz="20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외식서비스에서 종사원은 서비스를 수행하고 제공하고 있기 때문에 서비스 그 자체라고 말할 수 있음</a:t>
            </a:r>
            <a:r>
              <a:rPr lang="en-US" altLang="ko-KR" sz="1800" dirty="0"/>
              <a:t>.</a:t>
            </a:r>
          </a:p>
          <a:p>
            <a:pPr marL="717550" lvl="2" indent="-271463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서비스를 수행하게 될 종사원의 아이디어나 의견은 매우 중요하며 실제 고객들이 원하는 것이 무엇인지 정확히 파악하고 있음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고객들은 외식서비스에 있어 자연스럽게 전달과정과 공동 생산에 참여하게 됨</a:t>
            </a:r>
            <a:r>
              <a:rPr lang="en-US" altLang="ko-KR" sz="1800" dirty="0"/>
              <a:t>. 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자신들이 현재 서비스 프로세스 경험에 대해 더 필요한 사항이나 불편 사항들에 대해 직접적으로 의견을 제시하거나 새로운 서비스를 디자인하는 데 있어서도 </a:t>
            </a:r>
            <a:r>
              <a:rPr lang="ko-KR" altLang="en-US" sz="1400" dirty="0" err="1"/>
              <a:t>직∙간접적으로</a:t>
            </a:r>
            <a:r>
              <a:rPr lang="ko-KR" altLang="en-US" sz="1400" dirty="0"/>
              <a:t> 많은 아이디어를 제공할 수 있음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다양한 이해관계자가 아이디어를 모아 서비스 프로세스 디자인에 응용하는 것이 중요함</a:t>
            </a:r>
            <a:r>
              <a:rPr lang="en-US" altLang="ko-KR" sz="1800" dirty="0"/>
              <a:t>. 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이해관계자</a:t>
            </a:r>
            <a:r>
              <a:rPr lang="en-US" altLang="ko-KR" sz="1600" dirty="0"/>
              <a:t>: </a:t>
            </a:r>
            <a:r>
              <a:rPr lang="ko-KR" altLang="en-US" sz="1600" dirty="0"/>
              <a:t>고객</a:t>
            </a:r>
            <a:r>
              <a:rPr lang="en-US" altLang="ko-KR" sz="1600" dirty="0"/>
              <a:t>, </a:t>
            </a:r>
            <a:r>
              <a:rPr lang="ko-KR" altLang="en-US" sz="1600" dirty="0"/>
              <a:t>종사원</a:t>
            </a:r>
            <a:r>
              <a:rPr lang="en-US" altLang="ko-KR" sz="1600" dirty="0"/>
              <a:t>, </a:t>
            </a:r>
            <a:r>
              <a:rPr lang="ko-KR" altLang="en-US" sz="1600" dirty="0"/>
              <a:t>경영자</a:t>
            </a:r>
            <a:r>
              <a:rPr lang="en-US" altLang="ko-KR" sz="1600" dirty="0"/>
              <a:t>,</a:t>
            </a:r>
            <a:r>
              <a:rPr lang="ko-KR" altLang="en-US" sz="1600" dirty="0"/>
              <a:t>주방종사원 등 </a:t>
            </a:r>
            <a:endParaRPr lang="en-US" altLang="ko-KR" sz="16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공동 창작의 이점</a:t>
            </a:r>
            <a:endParaRPr lang="en-US" altLang="ko-KR" sz="18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서비스 </a:t>
            </a:r>
            <a:r>
              <a:rPr lang="ko-KR" altLang="en-US" sz="1400" dirty="0" err="1"/>
              <a:t>제공시</a:t>
            </a:r>
            <a:r>
              <a:rPr lang="ko-KR" altLang="en-US" sz="1400" dirty="0"/>
              <a:t> 이해 관계자 간의 상호작용을 향상시킴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내</a:t>
            </a:r>
            <a:r>
              <a:rPr lang="ko-KR" altLang="en-US" sz="14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⋅</a:t>
            </a:r>
            <a:r>
              <a:rPr lang="ko-KR" altLang="en-US" sz="1400" dirty="0" err="1"/>
              <a:t>외부</a:t>
            </a:r>
            <a:r>
              <a:rPr lang="ko-KR" altLang="en-US" sz="1400" dirty="0"/>
              <a:t> 고객 동시 만족 향상</a:t>
            </a:r>
            <a:endParaRPr lang="en-US" altLang="ko-KR" sz="14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고객의 서비스 개발 참여로 서비스 제공자와 동반자적 관계 형성</a:t>
            </a:r>
            <a:r>
              <a:rPr lang="en-US" altLang="ko-KR" sz="1400" dirty="0"/>
              <a:t>, </a:t>
            </a:r>
            <a:r>
              <a:rPr lang="ko-KR" altLang="en-US" sz="1400" dirty="0"/>
              <a:t>서비스에 가치를 높일 수 있는 기회를 획득할 수 있음</a:t>
            </a:r>
            <a:r>
              <a:rPr lang="en-US" altLang="ko-KR" sz="1400" dirty="0"/>
              <a:t>. 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고객의 공유 의식</a:t>
            </a:r>
            <a:r>
              <a:rPr lang="en-US" altLang="ko-KR" sz="1400" dirty="0"/>
              <a:t>, </a:t>
            </a:r>
            <a:r>
              <a:rPr lang="ko-KR" altLang="en-US" sz="1400" dirty="0"/>
              <a:t>충성도가 높아짐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고객과 장기적인 관계로 발전할 수 있음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  <a:endParaRPr lang="en-US" altLang="ko-KR" sz="14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35BFAF1A-3070-423E-B5C3-097CBEF4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외식서비스 프로세스 디자인의 기본 고려사항</a:t>
            </a:r>
          </a:p>
        </p:txBody>
      </p:sp>
      <p:sp>
        <p:nvSpPr>
          <p:cNvPr id="11267" name="내용 개체 틀 4">
            <a:extLst>
              <a:ext uri="{FF2B5EF4-FFF2-40B4-BE49-F238E27FC236}">
                <a16:creationId xmlns:a16="http://schemas.microsoft.com/office/drawing/2014/main" id="{7F24999B-936A-4434-AD95-61D655B35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200000"/>
              </a:lnSpc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서비스 흐름의 배열과 터치 포인트 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서비스 과정은 여러 접점</a:t>
            </a:r>
            <a:r>
              <a:rPr lang="en-US" altLang="ko-KR" sz="1800" dirty="0"/>
              <a:t>(</a:t>
            </a:r>
            <a:r>
              <a:rPr lang="ko-KR" altLang="en-US" sz="1800" dirty="0"/>
              <a:t>터치 포인트</a:t>
            </a:r>
            <a:r>
              <a:rPr lang="en-US" altLang="ko-KR" sz="1800" dirty="0"/>
              <a:t>, touch point)</a:t>
            </a:r>
            <a:r>
              <a:rPr lang="ko-KR" altLang="en-US" sz="1800" dirty="0"/>
              <a:t>과 그때의 상호작용으로 이루어져 있음</a:t>
            </a:r>
            <a:r>
              <a:rPr lang="en-US" altLang="ko-KR" sz="1800" dirty="0"/>
              <a:t>. 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상호작용이 일어나는 서비스 접점</a:t>
            </a:r>
            <a:r>
              <a:rPr lang="en-US" altLang="ko-KR" sz="1800" dirty="0"/>
              <a:t>:  </a:t>
            </a:r>
          </a:p>
          <a:p>
            <a:pPr lvl="2" indent="180975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사람과 사람</a:t>
            </a:r>
            <a:r>
              <a:rPr lang="en-US" altLang="ko-KR" sz="1600" dirty="0"/>
              <a:t>, </a:t>
            </a:r>
            <a:r>
              <a:rPr lang="ko-KR" altLang="en-US" sz="1600" dirty="0"/>
              <a:t>사람과 기기</a:t>
            </a:r>
            <a:r>
              <a:rPr lang="en-US" altLang="ko-KR" sz="1600" dirty="0"/>
              <a:t>, </a:t>
            </a:r>
            <a:r>
              <a:rPr lang="ko-KR" altLang="en-US" sz="1600" dirty="0"/>
              <a:t>판매 촉진을 위한 다양한 인쇄물이나 온라인 미디어 등을 통한 다른 고객의 평가에 따라서도 간접적으로 발생할 수도 있음</a:t>
            </a:r>
            <a:r>
              <a:rPr lang="en-US" altLang="ko-KR" sz="1600" dirty="0"/>
              <a:t>. </a:t>
            </a:r>
          </a:p>
          <a:p>
            <a:pPr lvl="2" indent="180975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 </a:t>
            </a:r>
            <a:r>
              <a:rPr lang="ko-KR" altLang="en-US" sz="1600" dirty="0">
                <a:highlight>
                  <a:srgbClr val="FFFF00"/>
                </a:highlight>
              </a:rPr>
              <a:t>서비스 모멘트</a:t>
            </a:r>
            <a:r>
              <a:rPr lang="en-US" altLang="ko-KR" sz="1600" dirty="0">
                <a:highlight>
                  <a:srgbClr val="FFFF00"/>
                </a:highlight>
              </a:rPr>
              <a:t>(service moment), </a:t>
            </a:r>
            <a:r>
              <a:rPr lang="ko-KR" altLang="en-US" sz="1600" dirty="0">
                <a:highlight>
                  <a:srgbClr val="FFFF00"/>
                </a:highlight>
              </a:rPr>
              <a:t>또는 진실의 순간</a:t>
            </a:r>
            <a:r>
              <a:rPr lang="en-US" altLang="ko-KR" sz="1600" dirty="0">
                <a:highlight>
                  <a:srgbClr val="FFFF00"/>
                </a:highlight>
              </a:rPr>
              <a:t>(moment of truth: MOT)</a:t>
            </a:r>
            <a:r>
              <a:rPr lang="ko-KR" altLang="en-US" sz="1600" dirty="0"/>
              <a:t>이라고 부름</a:t>
            </a:r>
            <a:r>
              <a:rPr lang="en-US" altLang="ko-KR" sz="1600" dirty="0"/>
              <a:t>. </a:t>
            </a:r>
            <a:endParaRPr lang="ko-KR" altLang="en-US" sz="16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서비스 과정 구성</a:t>
            </a:r>
            <a:r>
              <a:rPr lang="en-US" altLang="ko-KR" sz="1800" dirty="0"/>
              <a:t>: </a:t>
            </a:r>
            <a:r>
              <a:rPr lang="ko-KR" altLang="en-US" sz="1800" dirty="0"/>
              <a:t>사전 서비스 기간 </a:t>
            </a:r>
            <a:r>
              <a:rPr lang="en-US" altLang="ko-KR" sz="1800" dirty="0"/>
              <a:t>- </a:t>
            </a:r>
            <a:r>
              <a:rPr lang="ko-KR" altLang="en-US" sz="1800" dirty="0"/>
              <a:t>서비스를 경험하게 되는 실제 서비스 기간</a:t>
            </a:r>
            <a:r>
              <a:rPr lang="en-US" altLang="ko-KR" sz="1800" dirty="0"/>
              <a:t>- </a:t>
            </a:r>
            <a:r>
              <a:rPr lang="ko-KR" altLang="en-US" sz="1800" dirty="0"/>
              <a:t>사후 서비스 기간</a:t>
            </a:r>
            <a:endParaRPr lang="en-US" altLang="ko-KR" sz="18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서비스 프로세스 디자인에서는 고객과 만나는 모든 터치 포인트를 정교하게 디자인하여 각각의 접점에서 외식업체가 전달하고자 하는 서비스의 내용이 고객에게 명확히 전달될 수 있도록 구상해야 함</a:t>
            </a:r>
            <a:r>
              <a:rPr lang="en-US" altLang="ko-KR" sz="1600" dirty="0"/>
              <a:t>.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서비스 접점</a:t>
            </a:r>
            <a:r>
              <a:rPr lang="en-US" altLang="ko-KR" sz="1600" dirty="0"/>
              <a:t>: </a:t>
            </a:r>
            <a:r>
              <a:rPr lang="ko-KR" altLang="en-US" sz="1600" dirty="0"/>
              <a:t>고객의 서비스 경험 </a:t>
            </a:r>
            <a:r>
              <a:rPr lang="en-US" altLang="ko-KR" sz="1600" dirty="0"/>
              <a:t>+ </a:t>
            </a:r>
            <a:r>
              <a:rPr lang="ko-KR" altLang="en-US" sz="1600" dirty="0"/>
              <a:t>조직 후방의 지원 프로세스 시스템으로 이루어짐 </a:t>
            </a: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ym typeface="Wingdings" panose="05000000000000000000" pitchFamily="2" charset="2"/>
              </a:rPr>
              <a:t>두 부분의 서비스 흐름이 원활하도록 디자인 되어야 함</a:t>
            </a:r>
            <a:r>
              <a:rPr lang="en-US" altLang="ko-KR" sz="1600" dirty="0">
                <a:sym typeface="Wingdings" panose="05000000000000000000" pitchFamily="2" charset="2"/>
              </a:rPr>
              <a:t>. 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61073C1D-3A0B-44F4-BF75-074C98D8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외식서비스 프로세스 디자인의 기본 고려사항</a:t>
            </a:r>
          </a:p>
        </p:txBody>
      </p:sp>
      <p:sp>
        <p:nvSpPr>
          <p:cNvPr id="12291" name="내용 개체 틀 4">
            <a:extLst>
              <a:ext uri="{FF2B5EF4-FFF2-40B4-BE49-F238E27FC236}">
                <a16:creationId xmlns:a16="http://schemas.microsoft.com/office/drawing/2014/main" id="{08F05818-5C45-482F-9FE5-495875B25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sz="2000" dirty="0"/>
              <a:t>(3) </a:t>
            </a:r>
            <a:r>
              <a:rPr lang="ko-KR" altLang="en-US" sz="2000" dirty="0"/>
              <a:t>서비스에 대한 증거의 확보</a:t>
            </a:r>
          </a:p>
          <a:p>
            <a:pPr lvl="1" indent="1778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보이지 않는 무형의 서비스를 고객이 경험 하도록 하기 위해서는 </a:t>
            </a:r>
            <a:r>
              <a:rPr lang="ko-KR" altLang="en-US" sz="1800" dirty="0">
                <a:highlight>
                  <a:srgbClr val="FFFF00"/>
                </a:highlight>
              </a:rPr>
              <a:t>외부 자극</a:t>
            </a:r>
            <a:r>
              <a:rPr lang="ko-KR" altLang="en-US" sz="1800" dirty="0"/>
              <a:t>이 필요함</a:t>
            </a:r>
            <a:r>
              <a:rPr lang="en-US" altLang="ko-KR" sz="1800" dirty="0"/>
              <a:t>.</a:t>
            </a:r>
          </a:p>
          <a:p>
            <a:pPr lvl="2" indent="177800" latinLnBrk="0">
              <a:lnSpc>
                <a:spcPct val="150000"/>
              </a:lnSpc>
              <a:buFontTx/>
              <a:buChar char="•"/>
            </a:pPr>
            <a:r>
              <a:rPr lang="ko-KR" altLang="en-US" sz="1600" dirty="0"/>
              <a:t>서비스에 대한 이미지를 만들어 내고 </a:t>
            </a:r>
            <a:r>
              <a:rPr lang="ko-KR" altLang="en-US" sz="1600" dirty="0" err="1"/>
              <a:t>시각화하여</a:t>
            </a:r>
            <a:r>
              <a:rPr lang="ko-KR" altLang="en-US" sz="1600" dirty="0"/>
              <a:t> 무형성을 극복하고 고객의 기대를 설정하기 위해 유형적 증거들을 만들어 내야 함</a:t>
            </a:r>
            <a:r>
              <a:rPr lang="en-US" altLang="ko-KR" sz="1600" dirty="0"/>
              <a:t>. </a:t>
            </a:r>
            <a:endParaRPr lang="en-US" altLang="ko-KR" sz="1400" dirty="0"/>
          </a:p>
          <a:p>
            <a:pPr lvl="1" indent="1778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유형적 증거는 </a:t>
            </a:r>
            <a:r>
              <a:rPr lang="ko-KR" altLang="en-US" sz="1800" dirty="0" err="1"/>
              <a:t>서비스스케이프</a:t>
            </a:r>
            <a:r>
              <a:rPr lang="en-US" altLang="ko-KR" sz="1800" dirty="0"/>
              <a:t>(</a:t>
            </a:r>
            <a:r>
              <a:rPr lang="en-US" altLang="ko-KR" sz="1800" dirty="0" err="1"/>
              <a:t>servicescape</a:t>
            </a:r>
            <a:r>
              <a:rPr lang="en-US" altLang="ko-KR" sz="1800" dirty="0"/>
              <a:t>)</a:t>
            </a:r>
            <a:r>
              <a:rPr lang="ko-KR" altLang="en-US" sz="1800" dirty="0"/>
              <a:t>로 불리는 물리적 환경과 기타 고객이 외식업체와의 상호작용을 하면서 보게 되는 기타 유형 요소들을 포함함</a:t>
            </a:r>
            <a:r>
              <a:rPr lang="en-US" altLang="ko-KR" sz="1800" dirty="0"/>
              <a:t>.</a:t>
            </a:r>
          </a:p>
          <a:p>
            <a:pPr lvl="1" indent="1778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증거는</a:t>
            </a:r>
            <a:r>
              <a:rPr lang="en-US" altLang="ko-KR" sz="1800" dirty="0"/>
              <a:t>,</a:t>
            </a:r>
          </a:p>
          <a:p>
            <a:pPr lvl="2" indent="177800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 </a:t>
            </a:r>
            <a:r>
              <a:rPr lang="ko-KR" altLang="en-US" sz="1600" dirty="0"/>
              <a:t>서비스의 내용과 접점에 따라 필요한 장면을 만들 수 있도록 공간과 순서를 고려해서 디자인되어야 하며 </a:t>
            </a:r>
            <a:endParaRPr lang="en-US" altLang="ko-KR" sz="1600" dirty="0"/>
          </a:p>
          <a:p>
            <a:pPr lvl="2" indent="177800" latinLnBrk="0">
              <a:lnSpc>
                <a:spcPct val="150000"/>
              </a:lnSpc>
              <a:buFontTx/>
              <a:buChar char="•"/>
            </a:pPr>
            <a:r>
              <a:rPr lang="ko-KR" altLang="en-US" sz="1600" dirty="0"/>
              <a:t>고객이 잘 볼 수 없는 후방 서비스 과정을 인식 할 수 있도록 설계하여 고객의 서비스 경험을 향상시키도록 해야함</a:t>
            </a:r>
            <a:r>
              <a:rPr lang="en-US" altLang="ko-KR" sz="1600" dirty="0"/>
              <a:t>. </a:t>
            </a:r>
            <a:endParaRPr lang="ko-KR" altLang="en-US" sz="1600" dirty="0"/>
          </a:p>
          <a:p>
            <a:pPr latinLnBrk="0"/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38B8D4-FDD8-46A2-857A-C0625735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595" y="4726471"/>
            <a:ext cx="3750917" cy="1868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D55DF9FC-FB06-435B-9E80-6BCC55F9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외식서비스 프로세스 디자인의 기본 고려사항</a:t>
            </a:r>
          </a:p>
        </p:txBody>
      </p:sp>
      <p:sp>
        <p:nvSpPr>
          <p:cNvPr id="13315" name="내용 개체 틀 4">
            <a:extLst>
              <a:ext uri="{FF2B5EF4-FFF2-40B4-BE49-F238E27FC236}">
                <a16:creationId xmlns:a16="http://schemas.microsoft.com/office/drawing/2014/main" id="{E53AEB55-DECB-4B98-94D1-D8C1800D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11657012" cy="5248275"/>
          </a:xfrm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dirty="0"/>
              <a:t>(4) </a:t>
            </a:r>
            <a:r>
              <a:rPr lang="ko-KR" altLang="en-US" sz="2000" dirty="0"/>
              <a:t>총체적 관점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서비스 </a:t>
            </a:r>
            <a:r>
              <a:rPr lang="en-US" altLang="ko-KR" sz="1800" dirty="0"/>
              <a:t>(</a:t>
            </a:r>
            <a:r>
              <a:rPr lang="ko-KR" altLang="en-US" sz="1800" dirty="0"/>
              <a:t>리</a:t>
            </a:r>
            <a:r>
              <a:rPr lang="en-US" altLang="ko-KR" sz="1800" dirty="0"/>
              <a:t>)</a:t>
            </a:r>
            <a:r>
              <a:rPr lang="ko-KR" altLang="en-US" sz="1800" dirty="0"/>
              <a:t>디자인의 시작</a:t>
            </a:r>
            <a:endParaRPr lang="en-US" altLang="ko-KR" sz="1800" dirty="0"/>
          </a:p>
          <a:p>
            <a:pPr lvl="2" indent="180975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고객 문제를 구체적으로 고민하는 것에서 시작</a:t>
            </a:r>
            <a:endParaRPr lang="en-US" altLang="ko-KR" sz="1400" dirty="0"/>
          </a:p>
          <a:p>
            <a:pPr marL="450850" lvl="2" indent="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  고객이 진정으로 원하고 필요로 하는 것을 찾아내기 위해서는 문제를 정의하는 첫 번째 과정부터 다양하고 새로운 관점에서 생각해보고자 노력해야 함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‘</a:t>
            </a:r>
            <a:r>
              <a:rPr lang="ko-KR" altLang="en-US" sz="1800" dirty="0" err="1">
                <a:solidFill>
                  <a:srgbClr val="7030A0"/>
                </a:solidFill>
                <a:highlight>
                  <a:srgbClr val="FFFF00"/>
                </a:highlight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콘텍스트</a:t>
            </a:r>
            <a:r>
              <a:rPr lang="en-US" altLang="ko-KR" sz="1800" dirty="0">
                <a:solidFill>
                  <a:srgbClr val="7030A0"/>
                </a:solidFill>
                <a:highlight>
                  <a:srgbClr val="FFFF00"/>
                </a:highlight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(context)</a:t>
            </a:r>
            <a:r>
              <a:rPr lang="en-US" altLang="ko-KR" sz="1800" dirty="0"/>
              <a:t>’</a:t>
            </a:r>
            <a:r>
              <a:rPr lang="ko-KR" altLang="en-US" sz="1800" dirty="0"/>
              <a:t>를 염두에 두어야 함</a:t>
            </a:r>
            <a:r>
              <a:rPr lang="en-US" altLang="ko-KR" sz="1800" dirty="0"/>
              <a:t>. 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정성적 접근을 통해 고객 가치의 차이를 만드는 부분을 고민하고 서비스 프로세스에 반영할 때 고객에게 인상 깊은 경험을 제공할 수 있음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각각의 서비스 접점은 서비스가 이루어지는 외식업체의 전체 환경을 고려해 디자인되어야 함</a:t>
            </a:r>
            <a:r>
              <a:rPr lang="en-US" altLang="ko-KR" sz="1800" dirty="0"/>
              <a:t>.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기본 서비스 </a:t>
            </a:r>
            <a:r>
              <a:rPr lang="ko-KR" altLang="en-US" sz="1800" dirty="0" err="1"/>
              <a:t>흐름뿐</a:t>
            </a:r>
            <a:r>
              <a:rPr lang="ko-KR" altLang="en-US" sz="1800" dirty="0"/>
              <a:t> 아니라 대안으로 선택 가능한 터치포인트와 접근방법도 생각해 보아야 함</a:t>
            </a:r>
            <a:r>
              <a:rPr lang="en-US" altLang="ko-KR" sz="1800" dirty="0"/>
              <a:t>.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서비스의 순서는 여러 관점에서 반복적으로 평가되고 개선될 필요가 있음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AC1C1-56A4-4875-A125-0B79A00E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DFDC199-86E9-4FAF-8067-6E5638B68E67}"/>
              </a:ext>
            </a:extLst>
          </p:cNvPr>
          <p:cNvGrpSpPr/>
          <p:nvPr/>
        </p:nvGrpSpPr>
        <p:grpSpPr>
          <a:xfrm>
            <a:off x="2744832" y="1509101"/>
            <a:ext cx="6702336" cy="4113101"/>
            <a:chOff x="3619500" y="2581275"/>
            <a:chExt cx="4924425" cy="289484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48EA213-B5B0-4B14-B16B-5C9A3700F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075" y="2581275"/>
              <a:ext cx="4895850" cy="16954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300AAC6-98F3-44DA-942F-C62A4A5298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309"/>
            <a:stretch/>
          </p:blipFill>
          <p:spPr>
            <a:xfrm>
              <a:off x="3619500" y="4075044"/>
              <a:ext cx="4924425" cy="1401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092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텍스트 개체 틀 3">
            <a:extLst>
              <a:ext uri="{FF2B5EF4-FFF2-40B4-BE49-F238E27FC236}">
                <a16:creationId xmlns:a16="http://schemas.microsoft.com/office/drawing/2014/main" id="{55E0D41E-B433-48C0-8EF4-B71E6063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/>
              <a:t>2. </a:t>
            </a:r>
            <a:r>
              <a:rPr lang="ko-KR" altLang="en-US"/>
              <a:t>외식서비스 프로세스 개발 수준과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83A278-AE7F-4EE7-A955-038237BDDAE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BB001-53F6-42C3-B73D-465A883C494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5" name="그룹 1">
            <a:extLst>
              <a:ext uri="{FF2B5EF4-FFF2-40B4-BE49-F238E27FC236}">
                <a16:creationId xmlns:a16="http://schemas.microsoft.com/office/drawing/2014/main" id="{7DAB58E1-F2A9-4349-AB2C-4B24A45026AD}"/>
              </a:ext>
            </a:extLst>
          </p:cNvPr>
          <p:cNvGrpSpPr>
            <a:grpSpLocks/>
          </p:cNvGrpSpPr>
          <p:nvPr/>
        </p:nvGrpSpPr>
        <p:grpSpPr bwMode="auto">
          <a:xfrm>
            <a:off x="5675175" y="4903305"/>
            <a:ext cx="6169025" cy="1524000"/>
            <a:chOff x="3657600" y="1905000"/>
            <a:chExt cx="6169035" cy="1524000"/>
          </a:xfrm>
        </p:grpSpPr>
        <p:grpSp>
          <p:nvGrpSpPr>
            <p:cNvPr id="6" name="Group 46">
              <a:extLst>
                <a:ext uri="{FF2B5EF4-FFF2-40B4-BE49-F238E27FC236}">
                  <a16:creationId xmlns:a16="http://schemas.microsoft.com/office/drawing/2014/main" id="{7EFF83B9-DBE9-4D5A-968F-1B7D30513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1905000"/>
              <a:ext cx="5781675" cy="685800"/>
              <a:chOff x="1296" y="1824"/>
              <a:chExt cx="3642" cy="432"/>
            </a:xfrm>
          </p:grpSpPr>
          <p:sp>
            <p:nvSpPr>
              <p:cNvPr id="14" name="AutoShape 47">
                <a:extLst>
                  <a:ext uri="{FF2B5EF4-FFF2-40B4-BE49-F238E27FC236}">
                    <a16:creationId xmlns:a16="http://schemas.microsoft.com/office/drawing/2014/main" id="{0F518945-6BBC-4711-A443-62F3266076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2">
                      <a:gamma/>
                      <a:tint val="21176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5" name="AutoShape 48">
                <a:extLst>
                  <a:ext uri="{FF2B5EF4-FFF2-40B4-BE49-F238E27FC236}">
                    <a16:creationId xmlns:a16="http://schemas.microsoft.com/office/drawing/2014/main" id="{0559BB4D-D1EE-462A-B18F-1D5F9AF61F0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2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6" name="Text Box 49">
                <a:extLst>
                  <a:ext uri="{FF2B5EF4-FFF2-40B4-BE49-F238E27FC236}">
                    <a16:creationId xmlns:a16="http://schemas.microsoft.com/office/drawing/2014/main" id="{5242B11E-9A4F-49D8-BFDC-644D812F7061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21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외식서비스 프로세스 개발 수준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7" name="Text Box 50">
                <a:extLst>
                  <a:ext uri="{FF2B5EF4-FFF2-40B4-BE49-F238E27FC236}">
                    <a16:creationId xmlns:a16="http://schemas.microsoft.com/office/drawing/2014/main" id="{48BB839A-D3E0-4A2C-A870-0996E8556D5C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1</a:t>
                </a: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9FA121F6-D26B-4ACD-B9B2-9194D827B6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2743200"/>
              <a:ext cx="6169035" cy="685800"/>
              <a:chOff x="1296" y="1824"/>
              <a:chExt cx="3886" cy="432"/>
            </a:xfrm>
          </p:grpSpPr>
          <p:sp>
            <p:nvSpPr>
              <p:cNvPr id="10" name="AutoShape 52">
                <a:extLst>
                  <a:ext uri="{FF2B5EF4-FFF2-40B4-BE49-F238E27FC236}">
                    <a16:creationId xmlns:a16="http://schemas.microsoft.com/office/drawing/2014/main" id="{7D233B5A-5D3D-4EC4-956C-740D54C46C3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1">
                      <a:gamma/>
                      <a:tint val="21176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1" name="AutoShape 53">
                <a:extLst>
                  <a:ext uri="{FF2B5EF4-FFF2-40B4-BE49-F238E27FC236}">
                    <a16:creationId xmlns:a16="http://schemas.microsoft.com/office/drawing/2014/main" id="{406528D6-10A3-4A6D-B6CD-28EFB27F90E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1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2" name="Text Box 54">
                <a:extLst>
                  <a:ext uri="{FF2B5EF4-FFF2-40B4-BE49-F238E27FC236}">
                    <a16:creationId xmlns:a16="http://schemas.microsoft.com/office/drawing/2014/main" id="{92CD3ECE-5C9C-4D18-A101-8786A8C274FF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서비스 프로세스 개발 영역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3" name="Text Box 55">
                <a:extLst>
                  <a:ext uri="{FF2B5EF4-FFF2-40B4-BE49-F238E27FC236}">
                    <a16:creationId xmlns:a16="http://schemas.microsoft.com/office/drawing/2014/main" id="{4D3DB44B-2832-4D87-94FE-5DCED93CB32B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2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44A17-3B7E-4FFF-8E2B-75CA5820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71FC2-E841-4808-8A14-6BCA3896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6"/>
            <a:ext cx="11517312" cy="484118"/>
          </a:xfrm>
        </p:spPr>
        <p:txBody>
          <a:bodyPr/>
          <a:lstStyle/>
          <a:p>
            <a:r>
              <a:rPr lang="en-US" altLang="ko-KR" sz="2000" dirty="0"/>
              <a:t>[</a:t>
            </a:r>
            <a:r>
              <a:rPr lang="ko-KR" altLang="en-US" sz="2000" dirty="0"/>
              <a:t>외식</a:t>
            </a:r>
            <a:r>
              <a:rPr lang="en-US" altLang="ko-KR" sz="2000" dirty="0"/>
              <a:t> </a:t>
            </a:r>
            <a:r>
              <a:rPr lang="ko-KR" altLang="en-US" sz="2000" dirty="0"/>
              <a:t>경험의 과정 변환</a:t>
            </a:r>
            <a:r>
              <a:rPr lang="en-US" altLang="ko-KR" sz="2000" dirty="0"/>
              <a:t>]</a:t>
            </a:r>
            <a:endParaRPr lang="ko-KR" altLang="en-US" sz="1200" b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A5890A-A3B0-4343-AF9B-EC1CAA59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950554"/>
            <a:ext cx="8099286" cy="3356941"/>
          </a:xfrm>
          <a:prstGeom prst="rect">
            <a:avLst/>
          </a:prstGeom>
        </p:spPr>
      </p:pic>
      <p:pic>
        <p:nvPicPr>
          <p:cNvPr id="7" name="그래픽 6" descr="돋보기">
            <a:extLst>
              <a:ext uri="{FF2B5EF4-FFF2-40B4-BE49-F238E27FC236}">
                <a16:creationId xmlns:a16="http://schemas.microsoft.com/office/drawing/2014/main" id="{3F9B4FAA-28B8-4670-80B4-2512BBE16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2069" y="3051313"/>
            <a:ext cx="457200" cy="457200"/>
          </a:xfrm>
          <a:prstGeom prst="rect">
            <a:avLst/>
          </a:prstGeom>
        </p:spPr>
      </p:pic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02093513-B5E9-4C35-B064-E5AB5F6C3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4921" y="3051313"/>
            <a:ext cx="457200" cy="457200"/>
          </a:xfrm>
          <a:prstGeom prst="rect">
            <a:avLst/>
          </a:prstGeom>
        </p:spPr>
      </p:pic>
      <p:pic>
        <p:nvPicPr>
          <p:cNvPr id="11" name="그래픽 10" descr="돋보기">
            <a:extLst>
              <a:ext uri="{FF2B5EF4-FFF2-40B4-BE49-F238E27FC236}">
                <a16:creationId xmlns:a16="http://schemas.microsoft.com/office/drawing/2014/main" id="{C2B213DC-E1D6-4C8B-9EEE-489D39CF4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8407" y="3051313"/>
            <a:ext cx="457200" cy="45720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289EE8-4053-4F30-8C33-6F6E63364014}"/>
              </a:ext>
            </a:extLst>
          </p:cNvPr>
          <p:cNvSpPr/>
          <p:nvPr/>
        </p:nvSpPr>
        <p:spPr bwMode="auto">
          <a:xfrm>
            <a:off x="2936393" y="4174435"/>
            <a:ext cx="4498077" cy="1023730"/>
          </a:xfrm>
          <a:prstGeom prst="roundRect">
            <a:avLst/>
          </a:prstGeom>
          <a:solidFill>
            <a:srgbClr val="FFFF00">
              <a:alpha val="902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575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476499D5-661A-4BBD-818A-3004B2946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/>
              <a:t>서비스 프로세스 개발 수준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841D3008-986F-467B-8343-5B8844D7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(1)</a:t>
            </a:r>
            <a:r>
              <a:rPr lang="ko-KR" altLang="en-US" sz="2000" dirty="0"/>
              <a:t> 뉴 서비스 프로세스</a:t>
            </a:r>
            <a:r>
              <a:rPr lang="en-US" altLang="ko-KR" sz="2000" dirty="0"/>
              <a:t>(new service process) </a:t>
            </a:r>
            <a:r>
              <a:rPr lang="ko-KR" altLang="en-US" sz="2000" dirty="0"/>
              <a:t>디자인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이제까지 고객이 경험하지 못했던 서비스를 개발하는 것</a:t>
            </a:r>
            <a:r>
              <a:rPr lang="en-US" altLang="ko-KR" sz="1800" dirty="0"/>
              <a:t>.</a:t>
            </a:r>
          </a:p>
          <a:p>
            <a:pPr lvl="1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고객들에게 긍정적 영향을 미칠 수 있는 새로운 프로세스 개발을 포함함</a:t>
            </a:r>
            <a:r>
              <a:rPr lang="en-US" altLang="ko-KR" sz="1800" dirty="0"/>
              <a:t>.</a:t>
            </a:r>
          </a:p>
          <a:p>
            <a:pPr lvl="1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확장된 서비스 접점에서의 고객 만족을 이끌어 내기 위한 창조적인 서비스 프로세스 개발을 포함하고 있음</a:t>
            </a:r>
            <a:r>
              <a:rPr lang="en-US" altLang="ko-KR" sz="1800" dirty="0"/>
              <a:t>. </a:t>
            </a:r>
            <a:endParaRPr lang="ko-KR" altLang="en-US" sz="14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en-US" altLang="ko-KR" sz="20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(2)</a:t>
            </a:r>
            <a:r>
              <a:rPr lang="ko-KR" altLang="en-US" sz="2000" dirty="0"/>
              <a:t> 서비스 프로세스 리디자인</a:t>
            </a:r>
            <a:r>
              <a:rPr lang="en-US" altLang="ko-KR" sz="2000" dirty="0"/>
              <a:t>(service process redesign)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기존에 운영되고 있던 서비스 흐름의 개선을 의미함</a:t>
            </a:r>
            <a:r>
              <a:rPr lang="en-US" altLang="ko-KR" sz="1800" dirty="0"/>
              <a:t>.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적합한 서비스 디자인 도구들을 이용하여 현재 이용되고 있는 서비스 단계의 요소들을 검토하여 문제점이 발견된 부분의 조정</a:t>
            </a:r>
            <a:r>
              <a:rPr lang="en-US" altLang="ko-KR" sz="1800" dirty="0"/>
              <a:t>, </a:t>
            </a:r>
            <a:r>
              <a:rPr lang="ko-KR" altLang="en-US" sz="1800" dirty="0"/>
              <a:t>제거 등을 통해 전체 </a:t>
            </a:r>
            <a:r>
              <a:rPr lang="ko-KR" altLang="en-US" sz="1800" dirty="0" err="1"/>
              <a:t>외식서비스</a:t>
            </a:r>
            <a:r>
              <a:rPr lang="ko-KR" altLang="en-US" sz="1800" dirty="0"/>
              <a:t> 흐름이 기존보다 유연하게 이어지도록 하는 데 중점을 둠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이러한 개발 수준을 나누는 이유는 개발의 중점 요소가 되는 부분이 어디인지를 정확히 파악하고 개발의 목적과 목표를 벗어나지 않기 위함임</a:t>
            </a:r>
            <a:r>
              <a:rPr lang="en-US" altLang="ko-KR" sz="1800" dirty="0"/>
              <a:t>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6D83E50F-A9B5-43E9-A907-F547C1F9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서비스 프로세스 개발 영역</a:t>
            </a:r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5A3CCDD9-255C-44E8-BF59-0CF4034DE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10350016" cy="5248275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(1)</a:t>
            </a:r>
            <a:r>
              <a:rPr lang="ko-KR" altLang="en-US" sz="2000" dirty="0"/>
              <a:t> 외식서비스 프로세스 플로우</a:t>
            </a:r>
            <a:r>
              <a:rPr lang="en-US" altLang="ko-KR" sz="2000" dirty="0"/>
              <a:t>(flow) </a:t>
            </a:r>
            <a:r>
              <a:rPr lang="ko-KR" altLang="en-US" sz="2000" dirty="0"/>
              <a:t>디자인</a:t>
            </a:r>
          </a:p>
          <a:p>
            <a:pPr lvl="1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고객 관점 또는 운영 관점에서 필요한 서비스 흐름을 개발하거나 조정하는 </a:t>
            </a:r>
            <a:endParaRPr lang="en-US" altLang="ko-KR" sz="1800" dirty="0"/>
          </a:p>
          <a:p>
            <a:pPr marL="808038" lvl="1" indent="-628650" eaLnBrk="1" latinLnBrk="0" hangingPunct="1">
              <a:lnSpc>
                <a:spcPct val="150000"/>
              </a:lnSpc>
              <a:defRPr/>
            </a:pPr>
            <a:r>
              <a:rPr lang="en-US" altLang="ko-KR" sz="1800" b="1" i="1" dirty="0"/>
              <a:t>     </a:t>
            </a:r>
            <a:r>
              <a:rPr lang="en-US" altLang="ko-KR" sz="1400" b="1" i="1" dirty="0"/>
              <a:t>Ex) </a:t>
            </a:r>
            <a:r>
              <a:rPr lang="ko-KR" altLang="en-US" sz="1400" dirty="0"/>
              <a:t>방문 식사만 가능하던 레스토랑에서 배달 서비스를 추가하여 새로운 </a:t>
            </a:r>
            <a:r>
              <a:rPr lang="ko-KR" altLang="en-US" sz="1400" dirty="0" err="1"/>
              <a:t>외식서비스</a:t>
            </a:r>
            <a:r>
              <a:rPr lang="ko-KR" altLang="en-US" sz="1400" dirty="0"/>
              <a:t> 프로세스를 만드는 것</a:t>
            </a:r>
            <a:r>
              <a:rPr lang="en-US" altLang="ko-KR" sz="1400" dirty="0"/>
              <a:t>,</a:t>
            </a:r>
            <a:r>
              <a:rPr lang="ko-KR" altLang="en-US" sz="1400" dirty="0"/>
              <a:t> 지불 과정에 새로운 지불 방법을 추가하여 서비스를 개선하는 것</a:t>
            </a:r>
            <a:endParaRPr lang="en-US" altLang="ko-KR" sz="14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20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(2)</a:t>
            </a:r>
            <a:r>
              <a:rPr lang="ko-KR" altLang="en-US" sz="2000" dirty="0"/>
              <a:t> 메뉴 제공 프로세스의 품질 유지 및 향상 </a:t>
            </a:r>
          </a:p>
          <a:p>
            <a:pPr lvl="1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메뉴 품질</a:t>
            </a:r>
            <a:endParaRPr lang="en-US" altLang="ko-KR" sz="1800" dirty="0"/>
          </a:p>
          <a:p>
            <a:pPr lvl="2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전체 </a:t>
            </a:r>
            <a:r>
              <a:rPr lang="ko-KR" altLang="en-US" sz="1400" dirty="0" err="1"/>
              <a:t>외식서비스</a:t>
            </a:r>
            <a:r>
              <a:rPr lang="ko-KR" altLang="en-US" sz="1400" dirty="0"/>
              <a:t> 경험 만족도에서 가장 중요 부분을 차지</a:t>
            </a:r>
            <a:endParaRPr lang="en-US" altLang="ko-KR" sz="1400" dirty="0"/>
          </a:p>
          <a:p>
            <a:pPr lvl="2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메뉴 품질 유지를 위한 메뉴 제공 프로세스의 디자인 부분도 중요한 서비스 프로세스 개발 </a:t>
            </a:r>
            <a:r>
              <a:rPr lang="ko-KR" altLang="en-US" sz="1400" dirty="0" err="1"/>
              <a:t>영역임</a:t>
            </a:r>
            <a:r>
              <a:rPr lang="en-US" altLang="ko-KR" sz="1400" dirty="0"/>
              <a:t>.</a:t>
            </a:r>
          </a:p>
          <a:p>
            <a:pPr lvl="2" indent="0" eaLnBrk="1" latinLnBrk="0" hangingPunct="1">
              <a:lnSpc>
                <a:spcPct val="150000"/>
              </a:lnSpc>
              <a:defRPr/>
            </a:pPr>
            <a:endParaRPr lang="en-US" altLang="ko-KR" sz="1400" dirty="0"/>
          </a:p>
          <a:p>
            <a:pPr marL="714375" lvl="2" indent="-266700" eaLnBrk="1" latinLnBrk="0" hangingPunct="1">
              <a:lnSpc>
                <a:spcPct val="150000"/>
              </a:lnSpc>
              <a:defRPr/>
            </a:pPr>
            <a:r>
              <a:rPr lang="en-US" altLang="ko-KR" sz="1400" b="1" i="1" dirty="0"/>
              <a:t>Ex) </a:t>
            </a:r>
            <a:r>
              <a:rPr lang="ko-KR" altLang="en-US" sz="1400" dirty="0"/>
              <a:t>배달서비스 과정 중 메뉴의 </a:t>
            </a:r>
            <a:r>
              <a:rPr lang="ko-KR" altLang="en-US" sz="1400" dirty="0" err="1"/>
              <a:t>적온을</a:t>
            </a:r>
            <a:r>
              <a:rPr lang="ko-KR" altLang="en-US" sz="1400" dirty="0"/>
              <a:t> 유지하기 위해 고안된 도미노피자의 </a:t>
            </a:r>
            <a:r>
              <a:rPr lang="en-US" altLang="ko-KR" sz="1400" dirty="0"/>
              <a:t>DXP </a:t>
            </a:r>
            <a:r>
              <a:rPr lang="ko-KR" altLang="en-US" sz="1400" dirty="0"/>
              <a:t>차량을 이용한 배달</a:t>
            </a:r>
            <a:r>
              <a:rPr lang="en-US" altLang="ko-KR" sz="1400" dirty="0"/>
              <a:t>, </a:t>
            </a:r>
            <a:r>
              <a:rPr lang="ko-KR" altLang="en-US" sz="1400" dirty="0"/>
              <a:t>고객에게나 일정한 품질을 제공하기 위한 맥도날드의 </a:t>
            </a:r>
            <a:r>
              <a:rPr lang="ko-KR" altLang="en-US" sz="1400" dirty="0" err="1"/>
              <a:t>표준레시피</a:t>
            </a:r>
            <a:r>
              <a:rPr lang="ko-KR" altLang="en-US" sz="1400" dirty="0"/>
              <a:t> 활용과 생산과정 매뉴얼화</a:t>
            </a:r>
            <a:r>
              <a:rPr lang="en-US" altLang="ko-KR" sz="1400" dirty="0"/>
              <a:t>, </a:t>
            </a:r>
            <a:r>
              <a:rPr lang="ko-KR" altLang="en-US" sz="1400" dirty="0"/>
              <a:t>일정한 양의 음식을 제공하기 위한 </a:t>
            </a:r>
            <a:r>
              <a:rPr lang="ko-KR" altLang="en-US" sz="1400" dirty="0" err="1"/>
              <a:t>서빙</a:t>
            </a:r>
            <a:r>
              <a:rPr lang="ko-KR" altLang="en-US" sz="1400" dirty="0"/>
              <a:t> 도구 개발</a:t>
            </a:r>
            <a:endParaRPr lang="ko-KR" altLang="en-US" sz="16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20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C6748E-2314-402D-BCA9-DED4B98A8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562" y="1377190"/>
            <a:ext cx="112395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6DC3CEC5-E00C-4FE9-B5C3-F4E15963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서비스 프로세스 개발 영역</a:t>
            </a: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E74E3841-A1A2-4A8F-A117-06CCFC3D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(3) </a:t>
            </a:r>
            <a:r>
              <a:rPr lang="ko-KR" altLang="en-US" sz="2000" dirty="0"/>
              <a:t> 차별화된 외식서비스를 위한 물리적 공간 디자인 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외식공간</a:t>
            </a:r>
            <a:r>
              <a:rPr lang="en-US" altLang="ko-KR" sz="1800" dirty="0"/>
              <a:t>:</a:t>
            </a:r>
            <a:r>
              <a:rPr lang="ko-KR" altLang="en-US" sz="1800" dirty="0"/>
              <a:t> 고객들이 외식경험을 함으로써 가치와 의미가 만들어지는 특정 공간을 말함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고객이 레스토랑을 하나의 상품으로 인식하도록 하여 고객 요구를 반영한 장소를 디자인함으로써 외식서비스 상품에 대한 가치를 높이고 고객 유치를 극대화 해야 함</a:t>
            </a:r>
            <a:r>
              <a:rPr lang="en-US" altLang="ko-KR" sz="1800" dirty="0"/>
              <a:t>.</a:t>
            </a:r>
            <a:r>
              <a:rPr lang="en-US" altLang="ko-KR" sz="2000" dirty="0"/>
              <a:t> </a:t>
            </a:r>
          </a:p>
          <a:p>
            <a:pPr marL="0" indent="0" eaLnBrk="1" latinLnBrk="0" hangingPunct="1">
              <a:lnSpc>
                <a:spcPct val="150000"/>
              </a:lnSpc>
            </a:pPr>
            <a:endParaRPr lang="en-US" altLang="ko-KR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A56494-CEBC-44EE-914F-C48BA9E40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3914775"/>
            <a:ext cx="1895475" cy="1866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D6F5CE-FDFB-4ACA-BCBC-E74F03FA8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267" y="3400425"/>
            <a:ext cx="49625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30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6DC3CEC5-E00C-4FE9-B5C3-F4E15963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서비스 프로세스 개발 영역</a:t>
            </a: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E74E3841-A1A2-4A8F-A117-06CCFC3D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(4)</a:t>
            </a:r>
            <a:r>
              <a:rPr lang="ko-KR" altLang="en-US" sz="2000" dirty="0"/>
              <a:t> 외식서비스 상품 제공 시간 관리 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긴 대기 시간은 외식서비스에서 고객 불만이 많이 발생하는 요인임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메뉴의 주문</a:t>
            </a:r>
            <a:r>
              <a:rPr lang="en-US" altLang="ko-KR" sz="1800" dirty="0"/>
              <a:t>, </a:t>
            </a:r>
            <a:r>
              <a:rPr lang="ko-KR" altLang="en-US" sz="1800" dirty="0"/>
              <a:t>제공</a:t>
            </a:r>
            <a:r>
              <a:rPr lang="en-US" altLang="ko-KR" sz="1800" dirty="0"/>
              <a:t>, </a:t>
            </a:r>
            <a:r>
              <a:rPr lang="ko-KR" altLang="en-US" sz="1800" dirty="0"/>
              <a:t>지불을 위해 기다리는 시간이 필요 이상으로 </a:t>
            </a:r>
            <a:r>
              <a:rPr lang="ko-KR" altLang="en-US" sz="1800" dirty="0" err="1"/>
              <a:t>길어진다거나</a:t>
            </a:r>
            <a:r>
              <a:rPr lang="en-US" altLang="ko-KR" sz="1800" dirty="0"/>
              <a:t>, </a:t>
            </a:r>
            <a:r>
              <a:rPr lang="ko-KR" altLang="en-US" sz="1800" dirty="0"/>
              <a:t>배달 음식의 배달 지연 등이 외식서비스 상품 품질의 부정적 평가 원인으로 많이 지적됨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서비스에 필요한 절대적 시간만이 아닌 </a:t>
            </a:r>
            <a:r>
              <a:rPr lang="ko-KR" altLang="en-US" sz="1800" dirty="0">
                <a:solidFill>
                  <a:srgbClr val="FF0000"/>
                </a:solidFill>
              </a:rPr>
              <a:t>심리적 대기시간</a:t>
            </a:r>
            <a:r>
              <a:rPr lang="ko-KR" altLang="en-US" sz="1800" dirty="0"/>
              <a:t>과도 연관이 있음</a:t>
            </a:r>
            <a:r>
              <a:rPr lang="en-US" altLang="ko-KR" sz="1800" dirty="0"/>
              <a:t>.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8591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6DC3CEC5-E00C-4FE9-B5C3-F4E15963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서비스 프로세스 개발 영역</a:t>
            </a: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E74E3841-A1A2-4A8F-A117-06CCFC3D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(4)</a:t>
            </a:r>
            <a:r>
              <a:rPr lang="ko-KR" altLang="en-US" sz="2000" dirty="0"/>
              <a:t> 외식서비스 상품 제공 시간 관리 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긴 대기 시간은 외식서비스에서 고객 불만이 많이 발생하는 요인임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메뉴의 주문</a:t>
            </a:r>
            <a:r>
              <a:rPr lang="en-US" altLang="ko-KR" sz="1800" dirty="0"/>
              <a:t>, </a:t>
            </a:r>
            <a:r>
              <a:rPr lang="ko-KR" altLang="en-US" sz="1800" dirty="0"/>
              <a:t>제공</a:t>
            </a:r>
            <a:r>
              <a:rPr lang="en-US" altLang="ko-KR" sz="1800" dirty="0"/>
              <a:t>, </a:t>
            </a:r>
            <a:r>
              <a:rPr lang="ko-KR" altLang="en-US" sz="1800" dirty="0"/>
              <a:t>지불을 위해 기다리는 시간이 필요 이상으로 </a:t>
            </a:r>
            <a:r>
              <a:rPr lang="ko-KR" altLang="en-US" sz="1800" dirty="0" err="1"/>
              <a:t>길어진다거나</a:t>
            </a:r>
            <a:r>
              <a:rPr lang="en-US" altLang="ko-KR" sz="1800" dirty="0"/>
              <a:t>, </a:t>
            </a:r>
            <a:r>
              <a:rPr lang="ko-KR" altLang="en-US" sz="1800" dirty="0"/>
              <a:t>배달 음식의 배달 지연 등이 외식서비스 상품 품질의 부정적 평가 원인으로 많이 지적됨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서비스에 필요한 절대적 시간만이 아닌 </a:t>
            </a:r>
            <a:r>
              <a:rPr lang="ko-KR" altLang="en-US" sz="1800" dirty="0">
                <a:solidFill>
                  <a:srgbClr val="FF0000"/>
                </a:solidFill>
              </a:rPr>
              <a:t>심리적 대기시간</a:t>
            </a:r>
            <a:r>
              <a:rPr lang="ko-KR" altLang="en-US" sz="1800" dirty="0"/>
              <a:t>과도 연관이 있음</a:t>
            </a:r>
            <a:r>
              <a:rPr lang="en-US" altLang="ko-KR" sz="1800" dirty="0"/>
              <a:t>. </a:t>
            </a: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42E1B95-98F1-4F74-B59D-6603C20C8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17" y="3810000"/>
            <a:ext cx="4953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22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531AC851-8F21-45CA-8B50-B87CAF86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서비스 프로세스 개발 영역</a:t>
            </a:r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5228A502-B157-4D77-9CAB-1B963B2A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(5)</a:t>
            </a:r>
            <a:r>
              <a:rPr lang="ko-KR" altLang="en-US" sz="2000" dirty="0"/>
              <a:t> 외식서비스 경험을 위한 가상공간과 프로세스 디자인 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기존 프로모션 믹스 전략</a:t>
            </a:r>
            <a:r>
              <a:rPr lang="en-US" altLang="ko-KR" sz="1800" dirty="0"/>
              <a:t>: </a:t>
            </a:r>
          </a:p>
          <a:p>
            <a:pPr marL="625475" lvl="2" indent="-177800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온라인 </a:t>
            </a:r>
            <a:r>
              <a:rPr lang="en-US" altLang="ko-KR" sz="1400" dirty="0"/>
              <a:t>SNS, </a:t>
            </a:r>
            <a:r>
              <a:rPr lang="ko-KR" altLang="en-US" sz="1400" dirty="0"/>
              <a:t>모바일 앱 등 첨단 기술과의 결합으로 새로운 형태의 프로모션 믹스로 개발되고 있음</a:t>
            </a:r>
            <a:endParaRPr lang="en-US" altLang="ko-KR" sz="1400" dirty="0"/>
          </a:p>
          <a:p>
            <a:pPr marL="625475" lvl="2" indent="-177800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이는 고객들이 외식업체에 대한 유용한 정보</a:t>
            </a:r>
            <a:r>
              <a:rPr lang="en-US" altLang="ko-KR" sz="1400" dirty="0"/>
              <a:t>(</a:t>
            </a:r>
            <a:r>
              <a:rPr lang="ko-KR" altLang="en-US" sz="1400" dirty="0"/>
              <a:t>이벤트 할인</a:t>
            </a:r>
            <a:r>
              <a:rPr lang="en-US" altLang="ko-KR" sz="1400" dirty="0"/>
              <a:t>, </a:t>
            </a:r>
            <a:r>
              <a:rPr lang="ko-KR" altLang="en-US" sz="1400" dirty="0"/>
              <a:t>쿠폰 등</a:t>
            </a:r>
            <a:r>
              <a:rPr lang="en-US" altLang="ko-KR" sz="1400" dirty="0"/>
              <a:t>)</a:t>
            </a:r>
            <a:r>
              <a:rPr lang="ko-KR" altLang="en-US" sz="1400" dirty="0"/>
              <a:t>를 획득하는 경로의 변경</a:t>
            </a:r>
            <a:r>
              <a:rPr lang="en-US" altLang="ko-KR" sz="1400" dirty="0"/>
              <a:t>, </a:t>
            </a:r>
            <a:r>
              <a:rPr lang="ko-KR" altLang="en-US" sz="1400" dirty="0"/>
              <a:t>체험에 대한 개념을 전환시키고 있음</a:t>
            </a:r>
            <a:r>
              <a:rPr lang="en-US" altLang="ko-KR" sz="14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최근 서비스와 연결된 기술 중심 마케팅에 대한 키워드는 ‘</a:t>
            </a:r>
            <a:r>
              <a:rPr lang="ko-KR" altLang="en-US" sz="1800" dirty="0" err="1"/>
              <a:t>개인을</a:t>
            </a:r>
            <a:r>
              <a:rPr lang="ko-KR" altLang="en-US" sz="1800" dirty="0"/>
              <a:t> 위한’</a:t>
            </a:r>
            <a:r>
              <a:rPr lang="en-US" altLang="ko-KR" sz="1800" dirty="0"/>
              <a:t>, ‘</a:t>
            </a:r>
            <a:r>
              <a:rPr lang="ko-KR" altLang="en-US" sz="1800" dirty="0"/>
              <a:t>연결을 위한’</a:t>
            </a:r>
            <a:r>
              <a:rPr lang="en-US" altLang="ko-KR" sz="1800" dirty="0"/>
              <a:t>, ‘</a:t>
            </a:r>
            <a:r>
              <a:rPr lang="ko-KR" altLang="en-US" sz="1800" dirty="0"/>
              <a:t>경험을 위한’ 등으로 표현될 수 있음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개인의 지리적 정보나 라이프스타일 등 개인화된 정보를 토대로 </a:t>
            </a:r>
            <a:r>
              <a:rPr lang="en-US" altLang="ko-KR" sz="1800" dirty="0"/>
              <a:t>AI</a:t>
            </a:r>
            <a:r>
              <a:rPr lang="ko-KR" altLang="en-US" sz="1800" dirty="0"/>
              <a:t>가 맞춤 정보를 제공</a:t>
            </a:r>
            <a:r>
              <a:rPr lang="en-US" altLang="ko-KR" sz="1800" dirty="0"/>
              <a:t>.</a:t>
            </a:r>
          </a:p>
          <a:p>
            <a:pPr marL="357188" lvl="1" indent="-1778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증강현실</a:t>
            </a:r>
            <a:r>
              <a:rPr lang="en-US" altLang="ko-KR" sz="1800" dirty="0"/>
              <a:t>(AR), </a:t>
            </a:r>
            <a:r>
              <a:rPr lang="ko-KR" altLang="en-US" sz="1800" dirty="0"/>
              <a:t>가상현실</a:t>
            </a:r>
            <a:r>
              <a:rPr lang="en-US" altLang="ko-KR" sz="1800" dirty="0"/>
              <a:t>(VR) </a:t>
            </a:r>
            <a:r>
              <a:rPr lang="ko-KR" altLang="en-US" sz="1800" dirty="0"/>
              <a:t>기술 활용</a:t>
            </a:r>
            <a:endParaRPr lang="en-US" altLang="ko-KR" sz="1800" dirty="0"/>
          </a:p>
          <a:p>
            <a:pPr marL="625475" lvl="2" indent="-177800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실제 서비스를 이용하기 전 감각적으로 체험하고 브랜드에 몰입하게 </a:t>
            </a:r>
            <a:r>
              <a:rPr lang="ko-KR" altLang="en-US" sz="1400" dirty="0" err="1"/>
              <a:t>해줌</a:t>
            </a:r>
            <a:endParaRPr lang="en-US" altLang="ko-KR" sz="1400" dirty="0"/>
          </a:p>
          <a:p>
            <a:pPr marL="625475" lvl="2" indent="-177800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고객의 프로필에 맞춘 선호 제품을 추천하는 예측 마케팅 등에 적용</a:t>
            </a:r>
            <a:endParaRPr lang="ko-KR" altLang="en-US" sz="1600" dirty="0"/>
          </a:p>
          <a:p>
            <a:pPr marL="0" indent="0" eaLnBrk="1" latinLnBrk="0" hangingPunct="1">
              <a:lnSpc>
                <a:spcPct val="150000"/>
              </a:lnSpc>
            </a:pP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D0988A-EF86-4F29-8C8B-3C10117F4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001" y="3932168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텍스트 개체 틀 3">
            <a:extLst>
              <a:ext uri="{FF2B5EF4-FFF2-40B4-BE49-F238E27FC236}">
                <a16:creationId xmlns:a16="http://schemas.microsoft.com/office/drawing/2014/main" id="{FF324CC6-386C-47B4-962C-1A73013D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/>
              <a:t>3. </a:t>
            </a:r>
            <a:r>
              <a:rPr lang="ko-KR" altLang="en-US"/>
              <a:t>외식서비스 프로세스 디자인 절차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7BAE7D-4448-4DED-AA41-A453AEFF4AF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EE0101-D47B-4C84-8321-38EF136351D0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5" name="그룹 1">
            <a:extLst>
              <a:ext uri="{FF2B5EF4-FFF2-40B4-BE49-F238E27FC236}">
                <a16:creationId xmlns:a16="http://schemas.microsoft.com/office/drawing/2014/main" id="{EE6D84F7-9696-43AB-BA9D-19BF0A3B41AD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3310559"/>
            <a:ext cx="6169025" cy="3276600"/>
            <a:chOff x="3657600" y="1905005"/>
            <a:chExt cx="6169035" cy="3276595"/>
          </a:xfrm>
        </p:grpSpPr>
        <p:grpSp>
          <p:nvGrpSpPr>
            <p:cNvPr id="6" name="Group 46">
              <a:extLst>
                <a:ext uri="{FF2B5EF4-FFF2-40B4-BE49-F238E27FC236}">
                  <a16:creationId xmlns:a16="http://schemas.microsoft.com/office/drawing/2014/main" id="{BB3919A3-CB73-451A-A024-DB8C0CB3E4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1905005"/>
              <a:ext cx="6169025" cy="685801"/>
              <a:chOff x="1296" y="1824"/>
              <a:chExt cx="3886" cy="432"/>
            </a:xfrm>
          </p:grpSpPr>
          <p:sp>
            <p:nvSpPr>
              <p:cNvPr id="24" name="AutoShape 47">
                <a:extLst>
                  <a:ext uri="{FF2B5EF4-FFF2-40B4-BE49-F238E27FC236}">
                    <a16:creationId xmlns:a16="http://schemas.microsoft.com/office/drawing/2014/main" id="{DC2CFFCE-8DE3-4A99-96E8-0EBFE7FE017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2">
                      <a:gamma/>
                      <a:tint val="21176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25" name="AutoShape 48">
                <a:extLst>
                  <a:ext uri="{FF2B5EF4-FFF2-40B4-BE49-F238E27FC236}">
                    <a16:creationId xmlns:a16="http://schemas.microsoft.com/office/drawing/2014/main" id="{DE62540D-CCBE-4E3D-BFBB-4BC36EF321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2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26" name="Text Box 49">
                <a:extLst>
                  <a:ext uri="{FF2B5EF4-FFF2-40B4-BE49-F238E27FC236}">
                    <a16:creationId xmlns:a16="http://schemas.microsoft.com/office/drawing/2014/main" id="{575A783F-4397-4C0F-90EA-B3EE286A1380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문제</a:t>
                </a:r>
                <a:r>
                  <a:rPr lang="en-US" altLang="ko-KR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.</a:t>
                </a:r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니즈 발견단계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27" name="Text Box 50">
                <a:extLst>
                  <a:ext uri="{FF2B5EF4-FFF2-40B4-BE49-F238E27FC236}">
                    <a16:creationId xmlns:a16="http://schemas.microsoft.com/office/drawing/2014/main" id="{B4A69FCD-EEB3-4B11-BB1F-C5B12FA3ABDC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1</a:t>
                </a: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0F9D4181-929C-406E-9392-16D87307A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2743200"/>
              <a:ext cx="6169035" cy="685800"/>
              <a:chOff x="1296" y="1824"/>
              <a:chExt cx="3886" cy="432"/>
            </a:xfrm>
          </p:grpSpPr>
          <p:sp>
            <p:nvSpPr>
              <p:cNvPr id="20" name="AutoShape 52">
                <a:extLst>
                  <a:ext uri="{FF2B5EF4-FFF2-40B4-BE49-F238E27FC236}">
                    <a16:creationId xmlns:a16="http://schemas.microsoft.com/office/drawing/2014/main" id="{947D1FDE-168B-4A80-881E-BDD60D594BA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1">
                      <a:gamma/>
                      <a:tint val="21176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21" name="AutoShape 53">
                <a:extLst>
                  <a:ext uri="{FF2B5EF4-FFF2-40B4-BE49-F238E27FC236}">
                    <a16:creationId xmlns:a16="http://schemas.microsoft.com/office/drawing/2014/main" id="{9C8A8E25-C5E1-4CB6-948C-A93C46C1298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1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22" name="Text Box 54">
                <a:extLst>
                  <a:ext uri="{FF2B5EF4-FFF2-40B4-BE49-F238E27FC236}">
                    <a16:creationId xmlns:a16="http://schemas.microsoft.com/office/drawing/2014/main" id="{791CBC6D-335B-4F66-916C-153504CFF17A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문제</a:t>
                </a:r>
                <a:r>
                  <a:rPr lang="en-US" altLang="ko-KR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.</a:t>
                </a:r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니즈 정의단계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23" name="Text Box 55">
                <a:extLst>
                  <a:ext uri="{FF2B5EF4-FFF2-40B4-BE49-F238E27FC236}">
                    <a16:creationId xmlns:a16="http://schemas.microsoft.com/office/drawing/2014/main" id="{D830330B-A1B5-444B-A5BD-FAB32AAA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2</a:t>
                </a:r>
              </a:p>
            </p:txBody>
          </p:sp>
        </p:grpSp>
        <p:grpSp>
          <p:nvGrpSpPr>
            <p:cNvPr id="10" name="Group 56">
              <a:extLst>
                <a:ext uri="{FF2B5EF4-FFF2-40B4-BE49-F238E27FC236}">
                  <a16:creationId xmlns:a16="http://schemas.microsoft.com/office/drawing/2014/main" id="{30CBD548-BA9A-41B7-A2B8-E25BB7EA0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3581400"/>
              <a:ext cx="6169035" cy="685800"/>
              <a:chOff x="1296" y="1824"/>
              <a:chExt cx="3886" cy="432"/>
            </a:xfrm>
          </p:grpSpPr>
          <p:sp>
            <p:nvSpPr>
              <p:cNvPr id="16" name="AutoShape 57">
                <a:extLst>
                  <a:ext uri="{FF2B5EF4-FFF2-40B4-BE49-F238E27FC236}">
                    <a16:creationId xmlns:a16="http://schemas.microsoft.com/office/drawing/2014/main" id="{6BD2DFD3-21EB-4455-BB53-C35800A3783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tx2">
                      <a:gamma/>
                      <a:tint val="21176"/>
                      <a:invGamma/>
                    </a:schemeClr>
                  </a:gs>
                  <a:gs pos="100000">
                    <a:schemeClr val="tx2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7" name="AutoShape 58">
                <a:extLst>
                  <a:ext uri="{FF2B5EF4-FFF2-40B4-BE49-F238E27FC236}">
                    <a16:creationId xmlns:a16="http://schemas.microsoft.com/office/drawing/2014/main" id="{4F798B8C-524E-4BDA-93E5-668B3AE0C53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hlink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8" name="Text Box 59">
                <a:extLst>
                  <a:ext uri="{FF2B5EF4-FFF2-40B4-BE49-F238E27FC236}">
                    <a16:creationId xmlns:a16="http://schemas.microsoft.com/office/drawing/2014/main" id="{03AC59C4-19F2-4C0D-8E04-C724E0450920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아이디어 확장단계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9" name="Text Box 60">
                <a:extLst>
                  <a:ext uri="{FF2B5EF4-FFF2-40B4-BE49-F238E27FC236}">
                    <a16:creationId xmlns:a16="http://schemas.microsoft.com/office/drawing/2014/main" id="{507B9245-C4F3-4143-BAAC-0FA06D0341E9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3</a:t>
                </a:r>
              </a:p>
            </p:txBody>
          </p:sp>
        </p:grpSp>
        <p:grpSp>
          <p:nvGrpSpPr>
            <p:cNvPr id="11" name="Group 61">
              <a:extLst>
                <a:ext uri="{FF2B5EF4-FFF2-40B4-BE49-F238E27FC236}">
                  <a16:creationId xmlns:a16="http://schemas.microsoft.com/office/drawing/2014/main" id="{5FE21941-6C82-46CE-B81E-F3779D5E0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4495800"/>
              <a:ext cx="6169035" cy="685800"/>
              <a:chOff x="1296" y="1824"/>
              <a:chExt cx="3886" cy="432"/>
            </a:xfrm>
          </p:grpSpPr>
          <p:sp>
            <p:nvSpPr>
              <p:cNvPr id="12" name="AutoShape 62">
                <a:extLst>
                  <a:ext uri="{FF2B5EF4-FFF2-40B4-BE49-F238E27FC236}">
                    <a16:creationId xmlns:a16="http://schemas.microsoft.com/office/drawing/2014/main" id="{868C2FAB-20E0-4667-9989-91323766F30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folHlink">
                      <a:gamma/>
                      <a:tint val="21176"/>
                      <a:invGamma/>
                    </a:schemeClr>
                  </a:gs>
                  <a:gs pos="100000">
                    <a:schemeClr val="folHlink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3" name="AutoShape 63">
                <a:extLst>
                  <a:ext uri="{FF2B5EF4-FFF2-40B4-BE49-F238E27FC236}">
                    <a16:creationId xmlns:a16="http://schemas.microsoft.com/office/drawing/2014/main" id="{0405E100-5012-4127-B92A-61D7C62F42F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folHlink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4" name="Text Box 64">
                <a:extLst>
                  <a:ext uri="{FF2B5EF4-FFF2-40B4-BE49-F238E27FC236}">
                    <a16:creationId xmlns:a16="http://schemas.microsoft.com/office/drawing/2014/main" id="{D98786D3-DCAE-48D7-9B2A-6267FCCD50C4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서비스 전달단계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5" name="Text Box 65">
                <a:extLst>
                  <a:ext uri="{FF2B5EF4-FFF2-40B4-BE49-F238E27FC236}">
                    <a16:creationId xmlns:a16="http://schemas.microsoft.com/office/drawing/2014/main" id="{32B1CD1D-3CEC-4C44-BE63-4E8F914E64DA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F849F-7249-420F-A165-260B763F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3382AC-8A98-40EE-80F0-57F303AA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984" y="1168055"/>
            <a:ext cx="6447390" cy="517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00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AAC64C6C-76C3-4D55-B2B6-B0463875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발견단계</a:t>
            </a:r>
            <a:r>
              <a:rPr lang="en-US" altLang="ko-KR" dirty="0"/>
              <a:t>: </a:t>
            </a:r>
            <a:r>
              <a:rPr lang="ko-KR" altLang="en-US" sz="2000" dirty="0"/>
              <a:t>고객 및 상황 조사를 통한 서비스 프로세스 니즈 발견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A019C3D6-C2D1-4366-A6CF-2FD12BD7D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고객들도 잘 알지 못하는 숨겨진 </a:t>
            </a:r>
            <a:r>
              <a:rPr lang="ko-KR" altLang="en-US" sz="1800" b="0" dirty="0" err="1"/>
              <a:t>니즈</a:t>
            </a:r>
            <a:r>
              <a:rPr lang="en-US" altLang="ko-KR" sz="1800" b="0" dirty="0"/>
              <a:t>(unmet needs)</a:t>
            </a:r>
            <a:r>
              <a:rPr lang="ko-KR" altLang="en-US" sz="1800" b="0" dirty="0"/>
              <a:t>를 찾아내어 이를 해결하는 것이 중요</a:t>
            </a:r>
            <a:endParaRPr lang="en-US" altLang="ko-KR" sz="18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고객을 면밀히 관찰하고 분석하는 과정은 그 결과를 바탕으로 정확한 </a:t>
            </a:r>
            <a:r>
              <a:rPr lang="ko-KR" altLang="en-US" sz="1800" b="0" dirty="0" err="1"/>
              <a:t>인사이트를</a:t>
            </a:r>
            <a:r>
              <a:rPr lang="ko-KR" altLang="en-US" sz="1800" b="0" dirty="0"/>
              <a:t> 얻는다는 점에서 매우 중요한 단계임</a:t>
            </a:r>
            <a:r>
              <a:rPr lang="en-US" altLang="ko-KR" sz="18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외식업체가 가진 </a:t>
            </a:r>
            <a:r>
              <a:rPr lang="ko-KR" altLang="en-US" sz="1800" b="0" dirty="0" err="1"/>
              <a:t>내외부</a:t>
            </a:r>
            <a:r>
              <a:rPr lang="ko-KR" altLang="en-US" sz="1800" b="0" dirty="0"/>
              <a:t> 분석을 통하여 고객의 </a:t>
            </a:r>
            <a:r>
              <a:rPr lang="ko-KR" altLang="en-US" sz="1800" b="0" dirty="0" err="1"/>
              <a:t>니즈와</a:t>
            </a:r>
            <a:r>
              <a:rPr lang="ko-KR" altLang="en-US" sz="1800" b="0" dirty="0"/>
              <a:t> 업계의 트렌드를 파악하여 서비스 프로세스 디자인 필요성을 확인하여 개발 방향을 설정하는 준비 단계임</a:t>
            </a:r>
            <a:r>
              <a:rPr lang="en-US" altLang="ko-KR" sz="1800" b="0" dirty="0"/>
              <a:t>.</a:t>
            </a:r>
          </a:p>
          <a:p>
            <a:pPr marL="536575" lvl="1" indent="-17938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/>
              <a:t>혁신 서비스 디자인이나 서비스 </a:t>
            </a:r>
            <a:r>
              <a:rPr lang="ko-KR" altLang="en-US" sz="1600" dirty="0" err="1"/>
              <a:t>리디자인의</a:t>
            </a:r>
            <a:r>
              <a:rPr lang="ko-KR" altLang="en-US" sz="1600" dirty="0"/>
              <a:t> 필요성은 고객의 요구나 기존 서비스 프로세스의 문제점의 부각 등을 통해 제기될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기업의 비전과 미션의 검토를 통해 전략적 목표에 도달하기 위해 의도적으로 설정되기도 함</a:t>
            </a:r>
            <a:r>
              <a:rPr lang="en-US" altLang="ko-KR" sz="1600" dirty="0"/>
              <a:t>.</a:t>
            </a:r>
            <a:r>
              <a:rPr lang="en-US" altLang="ko-KR" sz="1800" dirty="0"/>
              <a:t>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업계 환경이나 트렌드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경쟁자의 새로운 서비스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내부 종사자의 아이디어 제시 등이 시작점이 될 수도 있음</a:t>
            </a:r>
            <a:r>
              <a:rPr lang="en-US" altLang="ko-KR" sz="1800" b="0" dirty="0"/>
              <a:t>.</a:t>
            </a:r>
            <a:endParaRPr lang="ko-KR" altLang="en-US" sz="18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발견단계에서는 기존 서비스 프로세스 문제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새로운 기회와 고객의 요구를 명확하게 규명해야 하기 때문에 고객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자사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경쟁사에 대한 다양한 정보 수집과 이해관계자에 대한 이해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현장 조사 등을 통해 충분한 </a:t>
            </a:r>
            <a:r>
              <a:rPr lang="ko-KR" altLang="en-US" sz="1800" b="0" dirty="0" err="1"/>
              <a:t>인사이트를</a:t>
            </a:r>
            <a:r>
              <a:rPr lang="ko-KR" altLang="en-US" sz="1800" b="0" dirty="0"/>
              <a:t> 제공할 수 있어야 함</a:t>
            </a:r>
            <a:r>
              <a:rPr lang="en-US" altLang="ko-KR" sz="1800" b="0" dirty="0"/>
              <a:t>. </a:t>
            </a:r>
            <a:endParaRPr lang="ko-KR" altLang="en-US" sz="1800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1800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5697FEAF-067A-4599-8C28-258EB9868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dirty="0"/>
              <a:t>(1) 2</a:t>
            </a:r>
            <a:r>
              <a:rPr lang="ko-KR" altLang="en-US" sz="2000" dirty="0"/>
              <a:t>차 조사와 정량적 소비자조사를 통한 정보 수집 </a:t>
            </a:r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온오프라인을 통한 관련 사례조사</a:t>
            </a:r>
            <a:r>
              <a:rPr lang="en-US" altLang="ko-KR" sz="2000" dirty="0"/>
              <a:t>, </a:t>
            </a:r>
            <a:r>
              <a:rPr lang="ko-KR" altLang="en-US" sz="2000" dirty="0"/>
              <a:t>연구보고서</a:t>
            </a:r>
            <a:r>
              <a:rPr lang="en-US" altLang="ko-KR" sz="2000" dirty="0"/>
              <a:t>, </a:t>
            </a:r>
            <a:r>
              <a:rPr lang="ko-KR" altLang="en-US" sz="2000" dirty="0"/>
              <a:t>통계 정보 등 다양한 자료를 중심으로 실행</a:t>
            </a:r>
            <a:endParaRPr lang="en-US" altLang="ko-KR" sz="2000" dirty="0"/>
          </a:p>
          <a:p>
            <a:pPr lvl="1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수집해야 하는 정보</a:t>
            </a:r>
            <a:endParaRPr lang="en-US" altLang="ko-KR" sz="2000" dirty="0"/>
          </a:p>
          <a:p>
            <a:pPr lvl="2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전반적인 시장 환경의 변화</a:t>
            </a:r>
            <a:r>
              <a:rPr lang="en-US" altLang="ko-KR" sz="1600" dirty="0"/>
              <a:t>, </a:t>
            </a:r>
          </a:p>
          <a:p>
            <a:pPr lvl="2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우리 서비스에 대한 시장의 평가</a:t>
            </a:r>
            <a:r>
              <a:rPr lang="en-US" altLang="ko-KR" sz="1600" dirty="0"/>
              <a:t>, </a:t>
            </a:r>
          </a:p>
          <a:p>
            <a:pPr lvl="2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경쟁사의 동향</a:t>
            </a:r>
            <a:r>
              <a:rPr lang="en-US" altLang="ko-KR" sz="1600" dirty="0"/>
              <a:t>, </a:t>
            </a:r>
          </a:p>
          <a:p>
            <a:pPr lvl="2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/>
              <a:t>대체제</a:t>
            </a:r>
            <a:r>
              <a:rPr lang="ko-KR" altLang="en-US" sz="1600" dirty="0"/>
              <a:t> 출현 여부 등이며</a:t>
            </a:r>
            <a:r>
              <a:rPr lang="en-US" altLang="ko-KR" sz="1600" dirty="0"/>
              <a:t>, 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/>
              <a:t> 2</a:t>
            </a:r>
            <a:r>
              <a:rPr lang="ko-KR" altLang="en-US" sz="2000" dirty="0"/>
              <a:t>차 조사와 함께 고객들의 </a:t>
            </a:r>
            <a:r>
              <a:rPr lang="ko-KR" altLang="en-US" sz="2000" dirty="0" err="1"/>
              <a:t>외식서비스</a:t>
            </a:r>
            <a:r>
              <a:rPr lang="ko-KR" altLang="en-US" sz="2000" dirty="0"/>
              <a:t> 상품 이용 현황과 일반적으로 나타나는 소비자 행동과 인식에 대한 정보는 설문조사와 같은 정량적 소비자 조사를 통해 얻을 수 있음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450850" lvl="1" indent="-27146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발견 단계에는 소비자 대상의 조사 이외에 관련자 및 전문가 대상의 정성 조사가 유용함</a:t>
            </a:r>
            <a:r>
              <a:rPr lang="en-US" altLang="ko-KR" sz="200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DAD7E5-525E-4CD1-AB82-3A85CDF3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발견단계</a:t>
            </a:r>
            <a:r>
              <a:rPr lang="en-US" altLang="ko-KR" dirty="0"/>
              <a:t>: </a:t>
            </a:r>
            <a:r>
              <a:rPr lang="ko-KR" altLang="en-US" sz="2000" dirty="0"/>
              <a:t>고객 및 상황 조사를 통한 서비스 프로세스 니즈 발견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D407D-F8AA-4BF6-8B27-898B6B9A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0D6151-03B4-4D24-B16F-E27D0D420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63" y="1726095"/>
            <a:ext cx="6491473" cy="413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56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CEA040E8-BD02-42EF-9341-C125E5ADF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이해관계자 파악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서비스 프로세스를 직접 담당하고 경험하는 종사원과 고객뿐만 아니라 후방에서 지원하고 있는 관계자들을 총체적으로 파악함</a:t>
            </a:r>
            <a:endParaRPr lang="en-US" altLang="ko-KR" sz="20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새로운 서비스가 실행되었을 때 일관된 서비스가 진행될 수 있도록 하는 것이 매우 중요함</a:t>
            </a:r>
            <a:r>
              <a:rPr lang="en-US" altLang="ko-KR" sz="1600" dirty="0"/>
              <a:t>. 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이해관계자 지도</a:t>
            </a:r>
            <a:r>
              <a:rPr lang="en-US" altLang="ko-KR" sz="2000" dirty="0"/>
              <a:t>(stakeholder‘s map)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각 그룹이 특정 서비스 프로세스에서 중요하게 여기는 문제의 개요를 파악하고 </a:t>
            </a:r>
            <a:r>
              <a:rPr lang="ko-KR" altLang="en-US" sz="1600" dirty="0" err="1"/>
              <a:t>신서비스</a:t>
            </a:r>
            <a:r>
              <a:rPr lang="ko-KR" altLang="en-US" sz="1600" dirty="0"/>
              <a:t> 개발이나 서비스 개선에 있어 그들의 중요도나 영향력을 예측해 볼 수 있음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450850" indent="-271463" latinLnBrk="0">
              <a:lnSpc>
                <a:spcPct val="150000"/>
              </a:lnSpc>
              <a:defRPr/>
            </a:pPr>
            <a:endParaRPr lang="ko-KR" altLang="en-US" sz="2000" dirty="0"/>
          </a:p>
          <a:p>
            <a:pPr marL="450850" indent="-271463" eaLnBrk="1" latinLnBrk="0" hangingPunct="1">
              <a:lnSpc>
                <a:spcPct val="150000"/>
              </a:lnSpc>
              <a:defRPr/>
            </a:pPr>
            <a:endParaRPr lang="ko-KR" altLang="en-US" sz="2000" dirty="0"/>
          </a:p>
        </p:txBody>
      </p:sp>
      <p:sp>
        <p:nvSpPr>
          <p:cNvPr id="24579" name="제목 1">
            <a:extLst>
              <a:ext uri="{FF2B5EF4-FFF2-40B4-BE49-F238E27FC236}">
                <a16:creationId xmlns:a16="http://schemas.microsoft.com/office/drawing/2014/main" id="{AE2B20DC-2035-4242-9B4C-E7DB962E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9698037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발견단계</a:t>
            </a:r>
            <a:r>
              <a:rPr lang="en-US" altLang="ko-KR" dirty="0"/>
              <a:t>: </a:t>
            </a:r>
            <a:r>
              <a:rPr lang="ko-KR" altLang="en-US" sz="2000" dirty="0"/>
              <a:t>고객 및 상황 조사를 통한 서비스 프로세스 니즈 발견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5375FD-2615-4BD7-88AE-06B8DAAE5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323" y="4061792"/>
            <a:ext cx="497205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3EC15-69D1-45B1-B5F3-1C30E334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F61116-E179-412C-89A3-71AC3127E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871" y="1434754"/>
            <a:ext cx="5924637" cy="452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70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3A93FF90-33EF-49A8-8845-B1DF16D27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defRPr/>
            </a:pPr>
            <a:r>
              <a:rPr lang="en-US" altLang="ko-KR" sz="2000" b="0" dirty="0"/>
              <a:t>(3) </a:t>
            </a:r>
            <a:r>
              <a:rPr lang="ko-KR" altLang="en-US" sz="2000" b="0" dirty="0"/>
              <a:t>현장 조사 </a:t>
            </a:r>
            <a:endParaRPr lang="en-US" altLang="ko-KR" sz="2000" b="0" dirty="0"/>
          </a:p>
          <a:p>
            <a:pPr marL="0" indent="0" eaLnBrk="1" latinLnBrk="0" hangingPunct="1">
              <a:defRPr/>
            </a:pPr>
            <a:endParaRPr lang="ko-KR" altLang="en-US" sz="2000" b="0" dirty="0"/>
          </a:p>
          <a:p>
            <a:pPr marL="0" indent="0" eaLnBrk="1" latinLnBrk="0" hangingPunct="1">
              <a:defRPr/>
            </a:pPr>
            <a:r>
              <a:rPr lang="ko-KR" altLang="en-US" sz="1800" b="0" dirty="0"/>
              <a:t>① 현장에서의 소비자 관찰과 </a:t>
            </a:r>
            <a:r>
              <a:rPr lang="ko-KR" altLang="en-US" sz="1800" b="0" dirty="0" err="1"/>
              <a:t>조사인터뷰</a:t>
            </a:r>
            <a:r>
              <a:rPr lang="ko-KR" altLang="en-US" sz="1800" b="0" dirty="0"/>
              <a:t> </a:t>
            </a:r>
          </a:p>
          <a:p>
            <a:pPr marL="357188" lvl="1" indent="-177800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주로 현장에서 직접 소비자를 만나 이야기하고 관찰을 중심으로 진행하며 데스크리서치로는 알 수 없는 소비자들의 숨겨진 </a:t>
            </a:r>
            <a:r>
              <a:rPr lang="ko-KR" altLang="en-US" sz="1800" dirty="0" err="1"/>
              <a:t>니즈를</a:t>
            </a:r>
            <a:r>
              <a:rPr lang="ko-KR" altLang="en-US" sz="1800" dirty="0"/>
              <a:t> 탐색함</a:t>
            </a:r>
            <a:r>
              <a:rPr lang="en-US" altLang="ko-KR" sz="1800" dirty="0"/>
              <a:t>. </a:t>
            </a:r>
          </a:p>
          <a:p>
            <a:pPr marL="357188" lvl="1" indent="-177800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고객 관찰에 이용될 수 있는 방법</a:t>
            </a:r>
            <a:r>
              <a:rPr lang="en-US" altLang="ko-KR" sz="1800" dirty="0"/>
              <a:t>: </a:t>
            </a:r>
            <a:r>
              <a:rPr lang="ko-KR" altLang="en-US" sz="1800" dirty="0" err="1"/>
              <a:t>섀도잉</a:t>
            </a:r>
            <a:r>
              <a:rPr lang="en-US" altLang="ko-KR" sz="1800" dirty="0"/>
              <a:t>(shadowing), </a:t>
            </a:r>
            <a:r>
              <a:rPr lang="ko-KR" altLang="en-US" sz="1800" dirty="0"/>
              <a:t>서비스 사파리</a:t>
            </a:r>
            <a:r>
              <a:rPr lang="en-US" altLang="ko-KR" sz="1800" dirty="0"/>
              <a:t>(service safari)</a:t>
            </a:r>
            <a:endParaRPr lang="en-US" altLang="ko-KR" sz="1600" dirty="0"/>
          </a:p>
          <a:p>
            <a:pPr lvl="1" indent="0" eaLnBrk="1" latinLnBrk="0" hangingPunct="1">
              <a:defRPr/>
            </a:pPr>
            <a:endParaRPr lang="en-US" altLang="ko-KR" sz="1800" dirty="0"/>
          </a:p>
          <a:p>
            <a:pPr lvl="1" indent="0" eaLnBrk="1" latinLnBrk="0" hangingPunct="1">
              <a:defRPr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소비자 관찰과 조사의 자세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  <a:endParaRPr lang="ko-KR" altLang="en-US" sz="1800" dirty="0">
              <a:solidFill>
                <a:srgbClr val="7030A0"/>
              </a:solidFill>
            </a:endParaRP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</a:rPr>
              <a:t>심층적인 소비자 태도와 행동의 이해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눈에 보이는 소비자 행태의 숨은 의미를 탐색할 것</a:t>
            </a: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</a:rPr>
              <a:t>철저한 소비자 관점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개인의 전문성 등을 배제하고 소비자 입장으로 바라볼 것</a:t>
            </a: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</a:rPr>
              <a:t>다양한 관점의 폭넓은 수용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예상과 기대에 어긋나더라도 현장에서의 새로운 관점을 수용하는 자세를 가질 것</a:t>
            </a: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 err="1">
                <a:solidFill>
                  <a:srgbClr val="7030A0"/>
                </a:solidFill>
              </a:rPr>
              <a:t>콘텍스트와</a:t>
            </a:r>
            <a:r>
              <a:rPr lang="ko-KR" altLang="en-US" sz="1400" dirty="0">
                <a:solidFill>
                  <a:srgbClr val="7030A0"/>
                </a:solidFill>
              </a:rPr>
              <a:t> 전제조건의 탐구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상품 이용시의 환경을 함께 관찰하고 동일한 환경에서 이용되는 대안을 비교해 볼 것 </a:t>
            </a: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</a:rPr>
              <a:t>소비자 행태에 대한 느낌과 감정 관찰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소비자의 말 뿐만 아니라 보디랭귀지나 표정 등을 관찰하여 언어적 표현 뒤에 숨어있는 감정을 알아낼 것</a:t>
            </a: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</a:rPr>
              <a:t>소비자 관찰에 대한 자세한 기록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관찰 동안 소비자의 행동</a:t>
            </a:r>
            <a:r>
              <a:rPr lang="en-US" altLang="ko-KR" sz="1400" dirty="0">
                <a:solidFill>
                  <a:srgbClr val="7030A0"/>
                </a:solidFill>
              </a:rPr>
              <a:t>, </a:t>
            </a:r>
            <a:r>
              <a:rPr lang="ko-KR" altLang="en-US" sz="1400" dirty="0">
                <a:solidFill>
                  <a:srgbClr val="7030A0"/>
                </a:solidFill>
              </a:rPr>
              <a:t>감정</a:t>
            </a:r>
            <a:r>
              <a:rPr lang="en-US" altLang="ko-KR" sz="1400" dirty="0">
                <a:solidFill>
                  <a:srgbClr val="7030A0"/>
                </a:solidFill>
              </a:rPr>
              <a:t>, </a:t>
            </a:r>
            <a:r>
              <a:rPr lang="ko-KR" altLang="en-US" sz="1400" dirty="0">
                <a:solidFill>
                  <a:srgbClr val="7030A0"/>
                </a:solidFill>
              </a:rPr>
              <a:t>환경 및 새롭게 알게 된 사실들을 꼼꼼히 기록하여 소비자 기대와 만족 기준에 대한 단서를 찾아낼 것</a:t>
            </a:r>
          </a:p>
          <a:p>
            <a:pPr marL="536575" lvl="2" indent="-179388" eaLnBrk="1" latinLnBrk="0" hangingPunct="1"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</a:rPr>
              <a:t>관찰 방법에 대한 유연한 적용</a:t>
            </a:r>
            <a:r>
              <a:rPr lang="en-US" altLang="ko-KR" sz="1400" dirty="0">
                <a:solidFill>
                  <a:srgbClr val="7030A0"/>
                </a:solidFill>
              </a:rPr>
              <a:t>: </a:t>
            </a:r>
            <a:r>
              <a:rPr lang="ko-KR" altLang="en-US" sz="1400" dirty="0">
                <a:solidFill>
                  <a:srgbClr val="7030A0"/>
                </a:solidFill>
              </a:rPr>
              <a:t>조사의 주제와 방향</a:t>
            </a:r>
            <a:r>
              <a:rPr lang="en-US" altLang="ko-KR" sz="1400" dirty="0">
                <a:solidFill>
                  <a:srgbClr val="7030A0"/>
                </a:solidFill>
              </a:rPr>
              <a:t>, </a:t>
            </a:r>
            <a:r>
              <a:rPr lang="ko-KR" altLang="en-US" sz="1400" dirty="0">
                <a:solidFill>
                  <a:srgbClr val="7030A0"/>
                </a:solidFill>
              </a:rPr>
              <a:t>소비자의 특성에 따라 관찰 도구나 접근법을 달리 활용할 것</a:t>
            </a:r>
            <a:endParaRPr lang="en-US" altLang="ko-KR" sz="1600" dirty="0">
              <a:solidFill>
                <a:srgbClr val="7030A0"/>
              </a:solidFill>
            </a:endParaRPr>
          </a:p>
        </p:txBody>
      </p:sp>
      <p:sp>
        <p:nvSpPr>
          <p:cNvPr id="25603" name="제목 1">
            <a:extLst>
              <a:ext uri="{FF2B5EF4-FFF2-40B4-BE49-F238E27FC236}">
                <a16:creationId xmlns:a16="http://schemas.microsoft.com/office/drawing/2014/main" id="{A26438A6-D099-4B79-9BA4-B951DAEB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발견단계</a:t>
            </a:r>
            <a:r>
              <a:rPr lang="en-US" altLang="ko-KR" dirty="0"/>
              <a:t>: </a:t>
            </a:r>
            <a:r>
              <a:rPr lang="ko-KR" altLang="en-US" sz="2000" dirty="0"/>
              <a:t>고객 및 상황 조사를 통한 서비스 프로세스 니즈 발견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20755520-3849-4B35-BE2B-F8D7DB5D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b="0" dirty="0"/>
              <a:t>(3) </a:t>
            </a:r>
            <a:r>
              <a:rPr lang="ko-KR" altLang="en-US" sz="2000" b="0" dirty="0"/>
              <a:t>현장 조사 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2000" b="0" dirty="0"/>
              <a:t>② 현장 소비자 관찰과 조사의 대상 </a:t>
            </a:r>
            <a:endParaRPr lang="en-US" altLang="ko-KR" sz="2000" b="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현장에서 문제점은 다수의 일반 고객들보다 </a:t>
            </a:r>
            <a:r>
              <a:rPr lang="ko-KR" altLang="en-US" sz="1600" dirty="0" err="1"/>
              <a:t>니즈의</a:t>
            </a:r>
            <a:r>
              <a:rPr lang="ko-KR" altLang="en-US" sz="1600" dirty="0"/>
              <a:t> 수준이 높거나 생각지도 못한 이유나 방법으로 제품을 활용 또는 거부하는</a:t>
            </a:r>
            <a:r>
              <a:rPr lang="ko-KR" altLang="en-US" sz="1600" dirty="0">
                <a:highlight>
                  <a:srgbClr val="FFFF00"/>
                </a:highlight>
              </a:rPr>
              <a:t> ‘극단적 사용자</a:t>
            </a:r>
            <a:r>
              <a:rPr lang="en-US" altLang="ko-KR" sz="1600" dirty="0">
                <a:highlight>
                  <a:srgbClr val="FFFF00"/>
                </a:highlight>
              </a:rPr>
              <a:t>(extreme user)</a:t>
            </a:r>
            <a:r>
              <a:rPr lang="en-US" altLang="ko-KR" sz="1600" dirty="0"/>
              <a:t>’</a:t>
            </a:r>
            <a:r>
              <a:rPr lang="ko-KR" altLang="en-US" sz="1600" dirty="0"/>
              <a:t>들의 생각과 행동에서 많이 발견할 수 있음</a:t>
            </a:r>
            <a:r>
              <a:rPr lang="en-US" altLang="ko-KR" sz="1600" dirty="0"/>
              <a:t>.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특정 분야 </a:t>
            </a:r>
            <a:r>
              <a:rPr lang="ko-KR" altLang="en-US" sz="1600" dirty="0" err="1"/>
              <a:t>트랜드</a:t>
            </a:r>
            <a:r>
              <a:rPr lang="ko-KR" altLang="en-US" sz="1600" dirty="0"/>
              <a:t> 변화에 민감하게 반응하여 새로운 상품에 대한 수용이 빠르고 평가를 내리는 ‘</a:t>
            </a:r>
            <a:r>
              <a:rPr lang="ko-KR" altLang="en-US" sz="1600" dirty="0" err="1">
                <a:highlight>
                  <a:srgbClr val="FFFF00"/>
                </a:highlight>
              </a:rPr>
              <a:t>얼리어답터</a:t>
            </a:r>
            <a:r>
              <a:rPr lang="en-US" altLang="ko-KR" sz="1600" dirty="0">
                <a:highlight>
                  <a:srgbClr val="FFFF00"/>
                </a:highlight>
              </a:rPr>
              <a:t>(early adaptor)</a:t>
            </a:r>
            <a:r>
              <a:rPr lang="en-US" altLang="ko-KR" sz="1600" dirty="0"/>
              <a:t>’ </a:t>
            </a:r>
            <a:r>
              <a:rPr lang="ko-KR" altLang="en-US" sz="1600" dirty="0"/>
              <a:t>소비자들도 좋은 조사 대상임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현장의 소비자 조사</a:t>
            </a:r>
            <a:r>
              <a:rPr lang="en-US" altLang="ko-KR" sz="1600" dirty="0"/>
              <a:t>: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설문조사와 같은 정량 조사와는 다르게 소규모로 이루어짐</a:t>
            </a:r>
            <a:endParaRPr lang="en-US" altLang="ko-KR" sz="14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소비자 행동에 대한 관찰은 최소한 </a:t>
            </a:r>
            <a:r>
              <a:rPr lang="en-US" altLang="ko-KR" sz="1400" dirty="0"/>
              <a:t>1</a:t>
            </a:r>
            <a:r>
              <a:rPr lang="ko-KR" altLang="en-US" sz="1400" dirty="0"/>
              <a:t>명 이상</a:t>
            </a:r>
            <a:r>
              <a:rPr lang="en-US" altLang="ko-KR" sz="1400" dirty="0"/>
              <a:t>, </a:t>
            </a:r>
            <a:r>
              <a:rPr lang="ko-KR" altLang="en-US" sz="1400" dirty="0"/>
              <a:t>인터뷰는 </a:t>
            </a:r>
            <a:r>
              <a:rPr lang="en-US" altLang="ko-KR" sz="1400" dirty="0"/>
              <a:t>6-8</a:t>
            </a:r>
            <a:r>
              <a:rPr lang="ko-KR" altLang="en-US" sz="1400" dirty="0"/>
              <a:t>명 정도 운영하는 것이 바람직함</a:t>
            </a:r>
            <a:r>
              <a:rPr lang="en-US" altLang="ko-KR" sz="1400" dirty="0"/>
              <a:t>.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인터뷰 후반부에는 해결하고자 하는 문제에 대해 공감을 하고 해결책에 좋은 </a:t>
            </a:r>
            <a:r>
              <a:rPr lang="ko-KR" altLang="en-US" sz="1600" dirty="0" err="1"/>
              <a:t>인사이트를</a:t>
            </a:r>
            <a:r>
              <a:rPr lang="ko-KR" altLang="en-US" sz="1600" dirty="0"/>
              <a:t> 줄 수 있는 외식업체에 관심이 많거나 트렌드에 민감한 소비자의 참여가 중요함</a:t>
            </a:r>
            <a:r>
              <a:rPr lang="en-US" altLang="ko-KR" sz="1600" dirty="0"/>
              <a:t>.</a:t>
            </a:r>
            <a:endParaRPr lang="ko-KR" altLang="en-US" sz="1800" dirty="0"/>
          </a:p>
        </p:txBody>
      </p:sp>
      <p:sp>
        <p:nvSpPr>
          <p:cNvPr id="26627" name="제목 1">
            <a:extLst>
              <a:ext uri="{FF2B5EF4-FFF2-40B4-BE49-F238E27FC236}">
                <a16:creationId xmlns:a16="http://schemas.microsoft.com/office/drawing/2014/main" id="{BC229D07-7395-453F-B004-C0A4202B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발견단계</a:t>
            </a:r>
            <a:r>
              <a:rPr lang="en-US" altLang="ko-KR" dirty="0"/>
              <a:t>: </a:t>
            </a:r>
            <a:r>
              <a:rPr lang="ko-KR" altLang="en-US" sz="2000" dirty="0"/>
              <a:t>고객 및 상황 조사를 통한 서비스 프로세스 니즈 발견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F58E5-9783-4C99-970F-A43F3F1D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0050DA-BD65-49CC-A271-1C7AE4675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988" y="2378558"/>
            <a:ext cx="7094024" cy="2968695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7D4CBB4-6ADA-4045-AED0-DBBFB8006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11517312" cy="344971"/>
          </a:xfrm>
        </p:spPr>
        <p:txBody>
          <a:bodyPr/>
          <a:lstStyle/>
          <a:p>
            <a:r>
              <a:rPr lang="en-US" altLang="ko-KR" sz="2000" dirty="0"/>
              <a:t>[</a:t>
            </a:r>
            <a:r>
              <a:rPr lang="ko-KR" altLang="en-US" sz="2000" dirty="0"/>
              <a:t>소비자 인터뷰를 위한 적정 참여 인원</a:t>
            </a:r>
            <a:r>
              <a:rPr lang="en-US" altLang="ko-KR" sz="2000" dirty="0"/>
              <a:t>]</a:t>
            </a:r>
            <a:endParaRPr lang="ko-KR" alt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144417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F8B9BD90-002F-4DE5-9C84-A40DC66F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정의단계</a:t>
            </a:r>
            <a:r>
              <a:rPr lang="en-US" altLang="ko-KR" dirty="0"/>
              <a:t>: </a:t>
            </a:r>
            <a:r>
              <a:rPr lang="ko-KR" altLang="en-US" sz="2000" dirty="0"/>
              <a:t>서비스 프로세스상의 문제점과 니즈 분석</a:t>
            </a:r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1AC0A9D0-9B03-41BC-B3C5-BB08BB14D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수집 자료 정리를 통한 인사이트 찾기</a:t>
            </a:r>
            <a:endParaRPr lang="en-US" altLang="ko-KR" sz="2000" b="0" dirty="0"/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정의 단계에서는 </a:t>
            </a:r>
            <a:r>
              <a:rPr lang="ko-KR" altLang="en-US" sz="1800" dirty="0" err="1"/>
              <a:t>모아놓은</a:t>
            </a:r>
            <a:r>
              <a:rPr lang="ko-KR" altLang="en-US" sz="1800" dirty="0"/>
              <a:t> 자료를 분석하여 새로운 관점과 의미를 찾아 인사이트를 정의함</a:t>
            </a:r>
            <a:r>
              <a:rPr lang="en-US" altLang="ko-KR" sz="1800" dirty="0"/>
              <a:t>. </a:t>
            </a:r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고객의 숨은 니즈를 찾는 것에 집중해야 함</a:t>
            </a:r>
            <a:endParaRPr lang="en-US" altLang="ko-KR" sz="1800" dirty="0"/>
          </a:p>
          <a:p>
            <a:pPr marL="803275" lvl="2" indent="-357188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하나의 관찰 내용이라도 여러 가지 관점으로 소비자의 행동과 반응이 나타나게 되는 </a:t>
            </a:r>
            <a:r>
              <a:rPr lang="ko-KR" altLang="en-US" sz="1400" dirty="0" err="1"/>
              <a:t>콘텍스트와</a:t>
            </a:r>
            <a:r>
              <a:rPr lang="ko-KR" altLang="en-US" sz="1400" dirty="0"/>
              <a:t> 동기</a:t>
            </a:r>
            <a:r>
              <a:rPr lang="en-US" altLang="ko-KR" sz="1400" dirty="0"/>
              <a:t>, </a:t>
            </a:r>
            <a:r>
              <a:rPr lang="ko-KR" altLang="en-US" sz="1400" dirty="0"/>
              <a:t>그들이 가지고 싶어 하는 가치를 분석할 수 있어야 함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highlight>
                  <a:srgbClr val="FFFF00"/>
                </a:highlight>
              </a:rPr>
              <a:t>친화도 분석</a:t>
            </a:r>
            <a:r>
              <a:rPr lang="en-US" altLang="ko-KR" sz="1800" dirty="0">
                <a:highlight>
                  <a:srgbClr val="FFFF00"/>
                </a:highlight>
              </a:rPr>
              <a:t>(affinity diagram)</a:t>
            </a:r>
            <a:r>
              <a:rPr lang="en-US" altLang="ko-KR" sz="1800" dirty="0"/>
              <a:t> :</a:t>
            </a:r>
            <a:r>
              <a:rPr lang="ko-KR" altLang="en-US" sz="1800" dirty="0"/>
              <a:t>수집한 사전 정보와 경험을 기반으로 도출된 아이디어와 핵심 주제어 등을 </a:t>
            </a:r>
            <a:r>
              <a:rPr lang="ko-KR" altLang="en-US" sz="1800" dirty="0" err="1"/>
              <a:t>포스트잇에</a:t>
            </a:r>
            <a:r>
              <a:rPr lang="ko-KR" altLang="en-US" sz="1800" dirty="0"/>
              <a:t> 옮겨 적고 이를 유사한 특성에 따라 </a:t>
            </a:r>
            <a:r>
              <a:rPr lang="ko-KR" altLang="en-US" sz="1800" dirty="0" err="1"/>
              <a:t>그룹핑하여</a:t>
            </a:r>
            <a:r>
              <a:rPr lang="ko-KR" altLang="en-US" sz="1800" dirty="0"/>
              <a:t> 생각을 </a:t>
            </a:r>
            <a:r>
              <a:rPr lang="ko-KR" altLang="en-US" sz="1800" dirty="0" err="1"/>
              <a:t>구조화하면서</a:t>
            </a:r>
            <a:r>
              <a:rPr lang="ko-KR" altLang="en-US" sz="1800" dirty="0"/>
              <a:t> 핵심 개념을 도출해 내는 활동</a:t>
            </a:r>
            <a:endParaRPr lang="en-US" altLang="ko-KR" sz="1800" dirty="0"/>
          </a:p>
          <a:p>
            <a:pPr marL="803275" lvl="2" indent="-357188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고객의 선호나 특정 활동이 유사한 흐름</a:t>
            </a:r>
            <a:r>
              <a:rPr lang="en-US" altLang="ko-KR" sz="1400" dirty="0"/>
              <a:t>, </a:t>
            </a:r>
            <a:r>
              <a:rPr lang="ko-KR" altLang="en-US" sz="1400" dirty="0"/>
              <a:t>반복적으로 나타나는 불만</a:t>
            </a:r>
            <a:r>
              <a:rPr lang="en-US" altLang="ko-KR" sz="1400" dirty="0"/>
              <a:t>, </a:t>
            </a:r>
            <a:r>
              <a:rPr lang="ko-KR" altLang="en-US" sz="1400" dirty="0"/>
              <a:t>유사한 소비자 유형</a:t>
            </a:r>
            <a:r>
              <a:rPr lang="en-US" altLang="ko-KR" sz="1400" dirty="0"/>
              <a:t>, </a:t>
            </a:r>
            <a:r>
              <a:rPr lang="ko-KR" altLang="en-US" sz="1400" dirty="0"/>
              <a:t>서비스 이용 과정의 단계별 구성</a:t>
            </a:r>
            <a:r>
              <a:rPr lang="en-US" altLang="ko-KR" sz="1400" dirty="0"/>
              <a:t>, </a:t>
            </a:r>
            <a:r>
              <a:rPr lang="ko-KR" altLang="en-US" sz="1400" dirty="0"/>
              <a:t>기존 사용용도와 다른 새로운 용도의 상품 사용</a:t>
            </a:r>
            <a:r>
              <a:rPr lang="en-US" altLang="ko-KR" sz="1400" dirty="0"/>
              <a:t>, </a:t>
            </a:r>
            <a:r>
              <a:rPr lang="ko-KR" altLang="en-US" sz="1400" dirty="0"/>
              <a:t>유행을 반영한 소비자 행동 등 특정 패턴을 찾아내는데 초점을 두고 진행</a:t>
            </a:r>
            <a:endParaRPr lang="en-US" altLang="ko-KR" sz="1400" dirty="0"/>
          </a:p>
          <a:p>
            <a:pPr marL="803275" lvl="2" indent="-357188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이 과정에서 소비자의 진정한 니즈나 새로운 서비스 기회를 찾아낼 수 있음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12AD7D95-0184-4373-AE49-1CD97740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정의단계</a:t>
            </a:r>
            <a:r>
              <a:rPr lang="en-US" altLang="ko-KR" dirty="0"/>
              <a:t>: </a:t>
            </a:r>
            <a:r>
              <a:rPr lang="ko-KR" altLang="en-US" sz="2000" dirty="0"/>
              <a:t>서비스 프로세스상의 문제점과 니즈 분석</a:t>
            </a: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28133A05-7E09-4575-B7E1-2063221CF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b="0"/>
              <a:t>(2) </a:t>
            </a:r>
            <a:r>
              <a:rPr lang="ko-KR" altLang="en-US" sz="2000" b="0"/>
              <a:t>고객 모델링</a:t>
            </a:r>
            <a:endParaRPr lang="en-US" altLang="ko-KR" sz="2000" b="0"/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지금까지 도출한 분석 결과들을 가지고 우리의 서비스를 이용할 주요 고객을 대표할 만한 가상의 인물 페르소나</a:t>
            </a:r>
            <a:r>
              <a:rPr lang="en-US" altLang="ko-KR" sz="1800"/>
              <a:t>(persona)</a:t>
            </a:r>
            <a:r>
              <a:rPr lang="ko-KR" altLang="en-US" sz="1800"/>
              <a:t>를 만들어 서비스 개선과 새로운 기회 영역의 발견</a:t>
            </a:r>
            <a:r>
              <a:rPr lang="en-US" altLang="ko-KR" sz="1800"/>
              <a:t>, </a:t>
            </a:r>
            <a:r>
              <a:rPr lang="ko-KR" altLang="en-US" sz="1800"/>
              <a:t>차별화 할 수 있는 가치와 경험을 확인하고자 하는데 사용함</a:t>
            </a:r>
            <a:r>
              <a:rPr lang="en-US" altLang="ko-KR" sz="1800"/>
              <a:t>. </a:t>
            </a:r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페르소나</a:t>
            </a:r>
            <a:endParaRPr lang="en-US" altLang="ko-KR" sz="1800"/>
          </a:p>
          <a:p>
            <a:pPr marL="803275" lvl="2" indent="-357188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/>
              <a:t>전통적 비즈니스 기반 의 인구통계적 분석보다는 실제 사람들의 요구와 필요에 초점을 맞추어 특성을 반영할 수 있어야 함</a:t>
            </a:r>
            <a:r>
              <a:rPr lang="en-US" altLang="ko-KR" sz="1400"/>
              <a:t>.</a:t>
            </a:r>
          </a:p>
          <a:p>
            <a:pPr marL="803275" lvl="2" indent="-357188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400"/>
              <a:t>효과적인 페르소나는 개발 후 개인정보</a:t>
            </a:r>
            <a:r>
              <a:rPr lang="en-US" altLang="ko-KR" sz="1400"/>
              <a:t>(</a:t>
            </a:r>
            <a:r>
              <a:rPr lang="ko-KR" altLang="en-US" sz="1400"/>
              <a:t>이름</a:t>
            </a:r>
            <a:r>
              <a:rPr lang="en-US" altLang="ko-KR" sz="1400"/>
              <a:t>, </a:t>
            </a:r>
            <a:r>
              <a:rPr lang="ko-KR" altLang="en-US" sz="1400"/>
              <a:t>나이</a:t>
            </a:r>
            <a:r>
              <a:rPr lang="en-US" altLang="ko-KR" sz="1400"/>
              <a:t>, </a:t>
            </a:r>
            <a:r>
              <a:rPr lang="ko-KR" altLang="en-US" sz="1400"/>
              <a:t>학력</a:t>
            </a:r>
            <a:r>
              <a:rPr lang="en-US" altLang="ko-KR" sz="1400"/>
              <a:t>, </a:t>
            </a:r>
            <a:r>
              <a:rPr lang="ko-KR" altLang="en-US" sz="1400"/>
              <a:t>성별 등</a:t>
            </a:r>
            <a:r>
              <a:rPr lang="en-US" altLang="ko-KR" sz="1400"/>
              <a:t>), </a:t>
            </a:r>
            <a:r>
              <a:rPr lang="ko-KR" altLang="en-US" sz="1400"/>
              <a:t>인물의 특성</a:t>
            </a:r>
            <a:r>
              <a:rPr lang="en-US" altLang="ko-KR" sz="1400"/>
              <a:t>(</a:t>
            </a:r>
            <a:r>
              <a:rPr lang="ko-KR" altLang="en-US" sz="1400"/>
              <a:t>행동적</a:t>
            </a:r>
            <a:r>
              <a:rPr lang="en-US" altLang="ko-KR" sz="1400"/>
              <a:t>·</a:t>
            </a:r>
            <a:r>
              <a:rPr lang="ko-KR" altLang="en-US" sz="1400"/>
              <a:t>심리적 개성 등</a:t>
            </a:r>
            <a:r>
              <a:rPr lang="en-US" altLang="ko-KR" sz="1400"/>
              <a:t>), </a:t>
            </a:r>
            <a:r>
              <a:rPr lang="ko-KR" altLang="en-US" sz="1400"/>
              <a:t>인물의 목표와 경험 동기 및 목표</a:t>
            </a:r>
            <a:r>
              <a:rPr lang="en-US" altLang="ko-KR" sz="1400"/>
              <a:t>, </a:t>
            </a:r>
            <a:r>
              <a:rPr lang="ko-KR" altLang="en-US" sz="1400"/>
              <a:t>상황 설명이 함께 제시될 수 있어야 함</a:t>
            </a:r>
            <a:r>
              <a:rPr lang="en-US" altLang="ko-KR" sz="1400"/>
              <a:t>.</a:t>
            </a:r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개발하고자 하는 서비스의 종류나 범위에 따라 여러 개의 페르소나를 설정하기도 함</a:t>
            </a:r>
            <a:r>
              <a:rPr lang="en-US" altLang="ko-KR" sz="1800"/>
              <a:t>.</a:t>
            </a:r>
          </a:p>
          <a:p>
            <a:pPr marL="536575" lvl="1" indent="-357188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고객의 수준이나 처해 있는 특정 상황에 따라 페르소나를 다르게 설정하면 다른 니즈를 지닌 고객들을 위하여 다양한 서비스를 개발하는 데 도움을 줄 수 있음</a:t>
            </a:r>
            <a:r>
              <a:rPr lang="en-US" altLang="ko-KR" sz="1800"/>
              <a:t>.</a:t>
            </a:r>
            <a:endParaRPr lang="ko-KR" altLang="en-US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F4B0CD18-F55B-46C5-A562-B1CD6439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정의단계</a:t>
            </a:r>
            <a:r>
              <a:rPr lang="en-US" altLang="ko-KR" dirty="0"/>
              <a:t>: </a:t>
            </a:r>
            <a:r>
              <a:rPr lang="ko-KR" altLang="en-US" sz="2000" dirty="0"/>
              <a:t>서비스 프로세스상의 문제점과 니즈 분석</a:t>
            </a:r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88936E36-3132-4E28-A098-ACF9F7D05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고객 모델링</a:t>
            </a:r>
          </a:p>
          <a:p>
            <a:pPr lvl="1" latinLnBrk="0"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서비스 프로세스 디자인에서 페르소나 활용의 중요성</a:t>
            </a:r>
            <a:r>
              <a:rPr lang="en-US" altLang="ko-KR" sz="2000" dirty="0"/>
              <a:t>:</a:t>
            </a:r>
            <a:endParaRPr lang="ko-KR" altLang="en-US" sz="2000" dirty="0"/>
          </a:p>
          <a:p>
            <a:pPr marL="900113" lvl="2" indent="-449263" latinLnBrk="0">
              <a:lnSpc>
                <a:spcPct val="150000"/>
              </a:lnSpc>
              <a:buFontTx/>
              <a:buChar char="•"/>
              <a:defRPr/>
            </a:pPr>
            <a:r>
              <a:rPr lang="ko-KR" altLang="en-US" sz="1600" dirty="0"/>
              <a:t>서비스 </a:t>
            </a:r>
            <a:r>
              <a:rPr lang="en-US" altLang="ko-KR" sz="1600" dirty="0"/>
              <a:t>(</a:t>
            </a:r>
            <a:r>
              <a:rPr lang="ko-KR" altLang="en-US" sz="1600" dirty="0"/>
              <a:t>리</a:t>
            </a:r>
            <a:r>
              <a:rPr lang="en-US" altLang="ko-KR" sz="1600" dirty="0"/>
              <a:t>)</a:t>
            </a:r>
            <a:r>
              <a:rPr lang="ko-KR" altLang="en-US" sz="1600" dirty="0"/>
              <a:t>디자인은 명확한 </a:t>
            </a:r>
            <a:r>
              <a:rPr lang="ko-KR" altLang="en-US" sz="1600" dirty="0" err="1"/>
              <a:t>니즈를</a:t>
            </a:r>
            <a:r>
              <a:rPr lang="ko-KR" altLang="en-US" sz="1600" dirty="0"/>
              <a:t> 가진 공감할 수 있는 특정 고객 중심으로 개발되므로 이를 대표할 만한 </a:t>
            </a:r>
            <a:r>
              <a:rPr lang="ko-KR" altLang="en-US" sz="1600" dirty="0" err="1"/>
              <a:t>고객군의</a:t>
            </a:r>
            <a:r>
              <a:rPr lang="ko-KR" altLang="en-US" sz="1600" dirty="0"/>
              <a:t> 설정이 필요함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900113" lvl="2" indent="-449263" latinLnBrk="0">
              <a:lnSpc>
                <a:spcPct val="150000"/>
              </a:lnSpc>
              <a:buFontTx/>
              <a:buChar char="•"/>
              <a:defRPr/>
            </a:pPr>
            <a:r>
              <a:rPr lang="ko-KR" altLang="en-US" sz="1600" dirty="0"/>
              <a:t>페르소나는 직접 관찰한 소비자의 행동 패턴과 동기를 바탕으로 만들어지므로 실질적이고 구체적인 사항들이 반영되어 현재 서비스에 대한 개선</a:t>
            </a:r>
            <a:r>
              <a:rPr lang="en-US" altLang="ko-KR" sz="1600" dirty="0"/>
              <a:t> </a:t>
            </a:r>
            <a:r>
              <a:rPr lang="ko-KR" altLang="en-US" sz="1600" dirty="0"/>
              <a:t>및</a:t>
            </a:r>
            <a:r>
              <a:rPr lang="en-US" altLang="ko-KR" sz="1600" dirty="0"/>
              <a:t> </a:t>
            </a:r>
            <a:r>
              <a:rPr lang="ko-KR" altLang="en-US" sz="1600" dirty="0"/>
              <a:t>새로운 서비스 개발 영역 발견에 유용함</a:t>
            </a:r>
            <a:r>
              <a:rPr lang="en-US" altLang="ko-KR" sz="1600" dirty="0"/>
              <a:t>. </a:t>
            </a:r>
            <a:endParaRPr lang="ko-KR" altLang="en-US" sz="1600" dirty="0"/>
          </a:p>
          <a:p>
            <a:pPr lvl="2" latinLnBrk="0">
              <a:lnSpc>
                <a:spcPct val="150000"/>
              </a:lnSpc>
              <a:buFontTx/>
              <a:buChar char="•"/>
              <a:defRPr/>
            </a:pPr>
            <a:r>
              <a:rPr lang="ko-KR" altLang="en-US" sz="1600" dirty="0"/>
              <a:t>차별화 할 수 있는 가치와 경험의 확인에 쓰일 수 있음</a:t>
            </a:r>
            <a:r>
              <a:rPr lang="en-US" altLang="ko-KR" sz="1600" dirty="0"/>
              <a:t>. </a:t>
            </a:r>
            <a:endParaRPr lang="ko-KR" altLang="en-US" sz="1600" dirty="0"/>
          </a:p>
          <a:p>
            <a:pPr lvl="2" latinLnBrk="0">
              <a:lnSpc>
                <a:spcPct val="150000"/>
              </a:lnSpc>
              <a:buFontTx/>
              <a:buChar char="•"/>
              <a:defRPr/>
            </a:pPr>
            <a:r>
              <a:rPr lang="ko-KR" altLang="en-US" sz="1600" dirty="0"/>
              <a:t>서비스 </a:t>
            </a:r>
            <a:r>
              <a:rPr lang="en-US" altLang="ko-KR" sz="1600" dirty="0"/>
              <a:t>(</a:t>
            </a:r>
            <a:r>
              <a:rPr lang="ko-KR" altLang="en-US" sz="1600" dirty="0"/>
              <a:t>리</a:t>
            </a:r>
            <a:r>
              <a:rPr lang="en-US" altLang="ko-KR" sz="1600" dirty="0"/>
              <a:t>)</a:t>
            </a:r>
            <a:r>
              <a:rPr lang="ko-KR" altLang="en-US" sz="1600" dirty="0"/>
              <a:t>디자인 개발 과정 중 고객의 존재를 항상 상기시키며 개발팀에 공감이 바탕이 되는 의사소통을 할 수 있음</a:t>
            </a:r>
            <a:r>
              <a:rPr lang="en-US" altLang="ko-KR" sz="1600" dirty="0"/>
              <a:t>. </a:t>
            </a:r>
            <a:endParaRPr lang="ko-KR" altLang="en-US" sz="1600" dirty="0"/>
          </a:p>
          <a:p>
            <a:pPr lvl="2" latinLnBrk="0">
              <a:lnSpc>
                <a:spcPct val="150000"/>
              </a:lnSpc>
              <a:buFontTx/>
              <a:buChar char="•"/>
              <a:defRPr/>
            </a:pPr>
            <a:r>
              <a:rPr lang="ko-KR" altLang="en-US" sz="1600" dirty="0"/>
              <a:t>페르소나의 특징에 맞춘 적절한 아이디어 및 해결책 제시 및 평가에 용이함</a:t>
            </a:r>
            <a:r>
              <a:rPr lang="en-US" altLang="ko-KR" sz="1600" dirty="0"/>
              <a:t>.</a:t>
            </a:r>
            <a:endParaRPr lang="ko-KR" altLang="en-US" dirty="0"/>
          </a:p>
          <a:p>
            <a:pPr marL="0" indent="0" eaLnBrk="1" latinLnBrk="0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6D765-6136-4D8F-8EA8-EE086943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B7B57C-5A5C-4C82-9AB2-DB3A47F4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447800"/>
            <a:ext cx="5248275" cy="1828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549C90-464B-4C9A-9468-3F9104DB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808" y="1612624"/>
            <a:ext cx="50863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66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64259C28-4226-4636-BA68-5D3CC78F0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정의단계</a:t>
            </a:r>
            <a:r>
              <a:rPr lang="en-US" altLang="ko-KR" dirty="0"/>
              <a:t>: </a:t>
            </a:r>
            <a:r>
              <a:rPr lang="ko-KR" altLang="en-US" sz="2000" dirty="0"/>
              <a:t>서비스 프로세스상의 문제점과 니즈 분석</a:t>
            </a:r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B7A5BA8D-9A97-41DD-9364-571F3A7FA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/>
            <a:r>
              <a:rPr lang="en-US" altLang="ko-KR" sz="2000"/>
              <a:t>(3) </a:t>
            </a:r>
            <a:r>
              <a:rPr lang="ko-KR" altLang="en-US" sz="2000"/>
              <a:t>고객 경험 </a:t>
            </a:r>
            <a:r>
              <a:rPr lang="ko-KR" altLang="en-US" sz="1800"/>
              <a:t>시각화하기</a:t>
            </a:r>
            <a:r>
              <a:rPr lang="en-US" altLang="ko-KR" sz="2000"/>
              <a:t> </a:t>
            </a:r>
            <a:endParaRPr lang="ko-KR" altLang="en-US" sz="2000"/>
          </a:p>
          <a:p>
            <a:pPr lvl="1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/>
              <a:t>서비스 프로세스를 상품화하기 위해서는</a:t>
            </a:r>
            <a:r>
              <a:rPr lang="en-US" altLang="ko-KR" sz="2000"/>
              <a:t>;</a:t>
            </a:r>
          </a:p>
          <a:p>
            <a:pPr lvl="2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600"/>
              <a:t>서비스와 관련된 상황분석</a:t>
            </a:r>
            <a:endParaRPr lang="en-US" altLang="ko-KR" sz="1600"/>
          </a:p>
          <a:p>
            <a:pPr lvl="2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600"/>
              <a:t>고객에 대한 분석</a:t>
            </a:r>
            <a:endParaRPr lang="en-US" altLang="ko-KR" sz="1600"/>
          </a:p>
          <a:p>
            <a:pPr lvl="2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600"/>
              <a:t>고객 경험 시각화 하는 것이 중요</a:t>
            </a:r>
            <a:endParaRPr lang="en-US" altLang="ko-KR" sz="1600"/>
          </a:p>
          <a:p>
            <a:pPr lvl="2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600"/>
              <a:t>고객의 서비스 경험 과정 중 어떤 문제점이 있고 또 기회가 있는 부분이 있는지 확인하는 과정</a:t>
            </a:r>
            <a:endParaRPr lang="en-US" altLang="ko-KR" sz="1600"/>
          </a:p>
          <a:p>
            <a:pPr lvl="2" eaLnBrk="1" latinLnBrk="0" hangingPunct="1">
              <a:lnSpc>
                <a:spcPct val="150000"/>
              </a:lnSpc>
              <a:buFontTx/>
              <a:buChar char="•"/>
            </a:pPr>
            <a:r>
              <a:rPr lang="ko-KR" altLang="en-US" sz="1600"/>
              <a:t>활용 되는 시각화 도구</a:t>
            </a:r>
            <a:r>
              <a:rPr lang="en-US" altLang="ko-KR" sz="1600"/>
              <a:t>: </a:t>
            </a:r>
            <a:r>
              <a:rPr lang="ko-KR" altLang="en-US" sz="1600"/>
              <a:t>고객 경험의 전체 여정을 나타내는 시각화 도구</a:t>
            </a:r>
            <a:endParaRPr lang="en-US" altLang="ko-KR" sz="1600"/>
          </a:p>
          <a:p>
            <a:pPr lvl="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고객여정지도</a:t>
            </a:r>
            <a:r>
              <a:rPr lang="en-US" altLang="ko-KR" sz="1600"/>
              <a:t>(customer journey map), </a:t>
            </a:r>
          </a:p>
          <a:p>
            <a:pPr lvl="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서비스청사진</a:t>
            </a:r>
            <a:r>
              <a:rPr lang="en-US" altLang="ko-KR" sz="1600"/>
              <a:t>(service blueprint)</a:t>
            </a:r>
            <a:endParaRPr lang="ko-KR" altLang="en-US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C4E01DE0-EBA2-4EF7-91C2-9887EE63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문제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/>
              <a:t>니즈 정의단계</a:t>
            </a:r>
            <a:r>
              <a:rPr lang="en-US" altLang="ko-KR"/>
              <a:t>: </a:t>
            </a:r>
            <a:r>
              <a:rPr lang="ko-KR" altLang="en-US" sz="2000"/>
              <a:t>서비스 프로세스상의 문제점과 니즈 분석</a:t>
            </a:r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825A4FD4-1278-4215-8E0F-D20D976BC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고객 경험 시각화하기</a:t>
            </a:r>
            <a:r>
              <a:rPr lang="en-US" altLang="ko-KR" sz="2000" dirty="0"/>
              <a:t> </a:t>
            </a:r>
            <a:endParaRPr lang="ko-KR" altLang="en-US" sz="2000" dirty="0"/>
          </a:p>
          <a:p>
            <a:pPr latinLnBrk="0">
              <a:lnSpc>
                <a:spcPct val="150000"/>
              </a:lnSpc>
              <a:defRPr/>
            </a:pPr>
            <a:r>
              <a:rPr lang="ko-KR" altLang="en-US" sz="2000" dirty="0"/>
              <a:t>① 고객여정지도 </a:t>
            </a:r>
            <a:r>
              <a:rPr lang="en-US" altLang="ko-KR" sz="2000" dirty="0"/>
              <a:t>(customer journey map)</a:t>
            </a:r>
            <a:endParaRPr lang="ko-KR" altLang="en-US" sz="2000" dirty="0"/>
          </a:p>
          <a:p>
            <a:pPr marL="714375" lvl="1" indent="-357188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서비스 과정에서 고객이 서비스와 상호작용을 하게 되는 터치포인트를 찾아낸 후</a:t>
            </a:r>
            <a:r>
              <a:rPr lang="en-US" altLang="ko-KR" sz="1800" dirty="0"/>
              <a:t>, </a:t>
            </a:r>
            <a:r>
              <a:rPr lang="ko-KR" altLang="en-US" sz="1800" dirty="0"/>
              <a:t>이들을 서비스 과정의 흐름대로 연결하고 고객의 경험에 따른 감정을 이해하기 쉬운 방식으로 시간과 공간의 흐름에 따라 표현한 그래프</a:t>
            </a:r>
            <a:r>
              <a:rPr lang="en-US" altLang="ko-KR" sz="1800" dirty="0"/>
              <a:t>.</a:t>
            </a:r>
          </a:p>
          <a:p>
            <a:pPr marL="714375" lvl="1" indent="-357188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페르소나를 활용하여 서비스 이용과정뿐만 아니라 하루의 일과를 통해 얻는 경험</a:t>
            </a:r>
            <a:r>
              <a:rPr lang="en-US" altLang="ko-KR" sz="1800" dirty="0"/>
              <a:t>, </a:t>
            </a:r>
            <a:r>
              <a:rPr lang="ko-KR" altLang="en-US" sz="1800" dirty="0"/>
              <a:t>생각</a:t>
            </a:r>
            <a:r>
              <a:rPr lang="en-US" altLang="ko-KR" sz="1800" dirty="0"/>
              <a:t>, </a:t>
            </a:r>
            <a:r>
              <a:rPr lang="ko-KR" altLang="en-US" sz="1800" dirty="0"/>
              <a:t>행동의 패턴 등을 탐색하고 서비스 경험과 어떻게 연결되는지를 분석해볼 수 있는 도구임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714375" lvl="1" indent="-357188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고객 인터뷰 및 설문지</a:t>
            </a:r>
            <a:r>
              <a:rPr lang="en-US" altLang="ko-KR" sz="1800" dirty="0"/>
              <a:t>, </a:t>
            </a:r>
            <a:r>
              <a:rPr lang="ko-KR" altLang="en-US" sz="1800" dirty="0"/>
              <a:t>고객 불만사항 리스트</a:t>
            </a:r>
            <a:r>
              <a:rPr lang="en-US" altLang="ko-KR" sz="1800" dirty="0"/>
              <a:t>, </a:t>
            </a:r>
            <a:r>
              <a:rPr lang="ko-KR" altLang="en-US" sz="1800" dirty="0"/>
              <a:t>소셜 미디어 청취 등 개발 과정에 수집했던 모든 자료를 활용</a:t>
            </a:r>
          </a:p>
          <a:p>
            <a:pPr marL="714375" lvl="1" indent="-357188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highlight>
                  <a:srgbClr val="FFFF00"/>
                </a:highlight>
              </a:rPr>
              <a:t>고객이 경험하는 서비스 </a:t>
            </a:r>
            <a:r>
              <a:rPr lang="ko-KR" altLang="en-US" sz="1800" dirty="0" err="1">
                <a:highlight>
                  <a:srgbClr val="FFFF00"/>
                </a:highlight>
              </a:rPr>
              <a:t>터치포인트</a:t>
            </a:r>
            <a:r>
              <a:rPr lang="ko-KR" altLang="en-US" sz="1800" dirty="0">
                <a:highlight>
                  <a:srgbClr val="FFFF00"/>
                </a:highlight>
              </a:rPr>
              <a:t> 탐색 → 터치포인트를 연결한 </a:t>
            </a:r>
            <a:r>
              <a:rPr lang="ko-KR" altLang="en-US" sz="1800" dirty="0" err="1">
                <a:highlight>
                  <a:srgbClr val="FFFF00"/>
                </a:highlight>
              </a:rPr>
              <a:t>여정지도</a:t>
            </a:r>
            <a:r>
              <a:rPr lang="ko-KR" altLang="en-US" sz="1800" dirty="0">
                <a:highlight>
                  <a:srgbClr val="FFFF00"/>
                </a:highlight>
              </a:rPr>
              <a:t> 만들기 → 여정의 흐름에 따른 </a:t>
            </a:r>
            <a:r>
              <a:rPr lang="ko-KR" altLang="en-US" sz="1800" dirty="0" err="1">
                <a:highlight>
                  <a:srgbClr val="FFFF00"/>
                </a:highlight>
              </a:rPr>
              <a:t>공감지도</a:t>
            </a:r>
            <a:r>
              <a:rPr lang="en-US" altLang="ko-KR" sz="1800" dirty="0">
                <a:highlight>
                  <a:srgbClr val="FFFF00"/>
                </a:highlight>
              </a:rPr>
              <a:t>(empathy map) </a:t>
            </a:r>
            <a:r>
              <a:rPr lang="ko-KR" altLang="en-US" sz="1800" dirty="0">
                <a:highlight>
                  <a:srgbClr val="FFFF00"/>
                </a:highlight>
              </a:rPr>
              <a:t>순서</a:t>
            </a:r>
            <a:r>
              <a:rPr lang="ko-KR" altLang="en-US" sz="1800" dirty="0"/>
              <a:t>로 작성됨</a:t>
            </a:r>
            <a:r>
              <a:rPr lang="en-US" altLang="ko-KR" sz="1800" dirty="0"/>
              <a:t>.</a:t>
            </a:r>
            <a:endParaRPr lang="en-US" altLang="ko-KR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B8665-1188-498C-A58E-C75287A4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_x493655792" descr="EMB00005c3011aa">
            <a:extLst>
              <a:ext uri="{FF2B5EF4-FFF2-40B4-BE49-F238E27FC236}">
                <a16:creationId xmlns:a16="http://schemas.microsoft.com/office/drawing/2014/main" id="{746BCDA8-E19A-4AF3-BCCF-A27068476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144" y="1670854"/>
            <a:ext cx="5794513" cy="470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7634FAF-5834-4ADB-B237-4D60D8377F21}"/>
              </a:ext>
            </a:extLst>
          </p:cNvPr>
          <p:cNvSpPr/>
          <p:nvPr/>
        </p:nvSpPr>
        <p:spPr>
          <a:xfrm>
            <a:off x="279522" y="1217909"/>
            <a:ext cx="43322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ko-KR" sz="160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60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바탕" panose="02030604000101010101" pitchFamily="18" charset="-127"/>
              </a:rPr>
              <a:t>고객여정지도 </a:t>
            </a:r>
            <a:r>
              <a:rPr lang="en-US" altLang="ko-KR" sz="160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바탕" panose="02030604000101010101" pitchFamily="18" charset="-127"/>
              </a:rPr>
              <a:t>(customer journey map)] </a:t>
            </a:r>
            <a:r>
              <a:rPr lang="ko-KR" altLang="en-US" sz="160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바탕" panose="02030604000101010101" pitchFamily="18" charset="-127"/>
              </a:rPr>
              <a:t>작성절차</a:t>
            </a:r>
          </a:p>
        </p:txBody>
      </p:sp>
    </p:spTree>
    <p:extLst>
      <p:ext uri="{BB962C8B-B14F-4D97-AF65-F5344CB8AC3E}">
        <p14:creationId xmlns:p14="http://schemas.microsoft.com/office/powerpoint/2010/main" val="3867601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8DB3FDA2-1B2E-4B4E-9A94-01EB3BEEE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 err="1"/>
              <a:t>문제</a:t>
            </a:r>
            <a:r>
              <a:rPr lang="ko-KR" altLang="en-US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 dirty="0" err="1"/>
              <a:t>니즈</a:t>
            </a:r>
            <a:r>
              <a:rPr lang="ko-KR" altLang="en-US" dirty="0"/>
              <a:t> 정의단계</a:t>
            </a:r>
            <a:r>
              <a:rPr lang="en-US" altLang="ko-KR" dirty="0"/>
              <a:t>: </a:t>
            </a:r>
            <a:r>
              <a:rPr lang="ko-KR" altLang="en-US" sz="2000" dirty="0"/>
              <a:t>서비스 프로세스상의 문제점과 니즈 분석</a:t>
            </a:r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56B42884-C37D-4E91-A12A-1B7506054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en-US" altLang="ko-KR" sz="1800" dirty="0"/>
              <a:t>(3) </a:t>
            </a:r>
            <a:r>
              <a:rPr lang="ko-KR" altLang="en-US" sz="1800" dirty="0"/>
              <a:t>고객 경험 시각화하기</a:t>
            </a:r>
            <a:r>
              <a:rPr lang="en-US" altLang="ko-KR" sz="1800" dirty="0"/>
              <a:t> </a:t>
            </a:r>
            <a:endParaRPr lang="ko-KR" altLang="en-US" sz="18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r>
              <a:rPr lang="ko-KR" altLang="en-US" sz="1800" dirty="0"/>
              <a:t>② 서비스청사진 </a:t>
            </a:r>
            <a:r>
              <a:rPr lang="en-US" altLang="ko-KR" sz="1800" dirty="0"/>
              <a:t>(service</a:t>
            </a:r>
            <a:r>
              <a:rPr lang="ko-KR" altLang="en-US" sz="1800" dirty="0"/>
              <a:t> </a:t>
            </a:r>
            <a:r>
              <a:rPr lang="en-US" altLang="ko-KR" sz="1800" dirty="0"/>
              <a:t>blueprint)</a:t>
            </a:r>
            <a:endParaRPr lang="ko-KR" altLang="en-US" sz="18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</a:t>
            </a:r>
            <a:r>
              <a:rPr lang="en-US" altLang="ko-KR" sz="1600" dirty="0"/>
              <a:t>, </a:t>
            </a:r>
            <a:r>
              <a:rPr lang="ko-KR" altLang="en-US" sz="1600" dirty="0"/>
              <a:t>서비스 제공자</a:t>
            </a:r>
            <a:r>
              <a:rPr lang="en-US" altLang="ko-KR" sz="1600" dirty="0"/>
              <a:t>, </a:t>
            </a:r>
            <a:r>
              <a:rPr lang="ko-KR" altLang="en-US" sz="1600" dirty="0"/>
              <a:t>그 외 서비스 관련 이해 관계자들이 서비스 전달 과정에서 각각 수행하는 역할에 초점을 맞추어 서비스 접점과 서비스 전달에 필요한 단계와 요소를 자세하게 도식화하여 서비스 전반을 이해하도록 묘사한 흐름도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혁신 서비스 개발에서는 서비스 디자인 초기에 새로 개발될 서비스의 다양한 측면을 검토하기 위해 서비스 청사진 초안이 만들어진 후 서비스 실행단계에서 새로운 아이디어가 더해지면 그에 따라 확장되고 더욱 상세하게 작성됨</a:t>
            </a:r>
            <a:r>
              <a:rPr lang="en-US" altLang="ko-KR" sz="1600" dirty="0"/>
              <a:t>.</a:t>
            </a:r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/>
              <a:t>전방영역</a:t>
            </a:r>
            <a:r>
              <a:rPr lang="en-US" altLang="ko-KR" sz="1600" dirty="0"/>
              <a:t>(onstage): </a:t>
            </a:r>
            <a:r>
              <a:rPr lang="ko-KR" altLang="en-US" sz="1600" dirty="0"/>
              <a:t>실제 고객들이 경험하고 볼 수 있는 가시영역으로서 고객들이 경험하는 서비스 여정을 보여줌</a:t>
            </a:r>
            <a:endParaRPr lang="en-US" altLang="ko-KR" sz="1600" dirty="0"/>
          </a:p>
          <a:p>
            <a:pPr marL="7191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/>
              <a:t>후방영역</a:t>
            </a:r>
            <a:r>
              <a:rPr lang="en-US" altLang="ko-KR" sz="1600" dirty="0"/>
              <a:t>(backstage): </a:t>
            </a:r>
            <a:r>
              <a:rPr lang="ko-KR" altLang="en-US" sz="1600" dirty="0"/>
              <a:t>고객들의 눈에 보이지는 않지만 서비스 제공을 위해 반드시 필요한 부분을 표시함</a:t>
            </a:r>
            <a:endParaRPr lang="en-US" altLang="ko-KR" sz="1600" dirty="0"/>
          </a:p>
          <a:p>
            <a:pPr marL="447674" lvl="2" indent="0" latinLnBrk="0">
              <a:lnSpc>
                <a:spcPct val="150000"/>
              </a:lnSpc>
              <a:defRPr/>
            </a:pPr>
            <a:r>
              <a:rPr lang="en-US" altLang="ko-KR" sz="1400" dirty="0">
                <a:sym typeface="Wingdings" panose="05000000000000000000" pitchFamily="2" charset="2"/>
              </a:rPr>
              <a:t>    </a:t>
            </a:r>
            <a:r>
              <a:rPr lang="ko-KR" altLang="en-US" sz="1400" dirty="0"/>
              <a:t>이 두 영역은 ‘가시성 라인</a:t>
            </a:r>
            <a:r>
              <a:rPr lang="en-US" altLang="ko-KR" sz="1400" dirty="0"/>
              <a:t>(line of visibility)’</a:t>
            </a:r>
            <a:r>
              <a:rPr lang="ko-KR" altLang="en-US" sz="1400" dirty="0"/>
              <a:t>으로 구분됨 </a:t>
            </a:r>
            <a:endParaRPr lang="en-US" altLang="ko-KR" sz="1400" dirty="0"/>
          </a:p>
          <a:p>
            <a:pPr marL="627062" lvl="3" indent="0" latinLnBrk="0">
              <a:lnSpc>
                <a:spcPct val="150000"/>
              </a:lnSpc>
              <a:defRPr/>
            </a:pPr>
            <a:r>
              <a:rPr lang="en-US" altLang="ko-KR" sz="1400" dirty="0">
                <a:sym typeface="Wingdings" panose="05000000000000000000" pitchFamily="2" charset="2"/>
              </a:rPr>
              <a:t></a:t>
            </a:r>
            <a:r>
              <a:rPr lang="ko-KR" altLang="en-US" sz="1400" dirty="0"/>
              <a:t>전방영역에서 어떤 행동이 고객에게 보여지고 인식되어야 하는지 결정하는 데 중요한 역할을 함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CFFF9345-8966-478D-93CF-0B32C101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문제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∙</a:t>
            </a:r>
            <a:r>
              <a:rPr lang="ko-KR" altLang="en-US"/>
              <a:t>니즈 정의단계</a:t>
            </a:r>
            <a:r>
              <a:rPr lang="en-US" altLang="ko-KR"/>
              <a:t>: </a:t>
            </a:r>
            <a:r>
              <a:rPr lang="ko-KR" altLang="en-US" sz="2000"/>
              <a:t>서비스 프로세스상의 문제점과 니즈 분석</a:t>
            </a:r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B50F3995-0045-4808-AE49-F24969A6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/>
              <a:t>(3) </a:t>
            </a:r>
            <a:r>
              <a:rPr lang="ko-KR" altLang="en-US" sz="2000" dirty="0"/>
              <a:t>고객 경험 시각화하기</a:t>
            </a:r>
            <a:r>
              <a:rPr lang="en-US" altLang="ko-KR" sz="2000" dirty="0"/>
              <a:t> </a:t>
            </a:r>
            <a:endParaRPr lang="ko-KR" altLang="en-US" sz="20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ko-KR" altLang="en-US" sz="2000" dirty="0"/>
              <a:t>② 서비스청사진 </a:t>
            </a:r>
            <a:r>
              <a:rPr lang="en-US" altLang="ko-KR" sz="2000" dirty="0"/>
              <a:t>(service blueprint)</a:t>
            </a:r>
            <a:endParaRPr lang="ko-KR" altLang="en-US" sz="20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highlight>
                  <a:srgbClr val="FFFF00"/>
                </a:highlight>
              </a:rPr>
              <a:t>후방영역</a:t>
            </a:r>
            <a:r>
              <a:rPr lang="en-US" altLang="ko-KR" sz="1600" dirty="0">
                <a:highlight>
                  <a:srgbClr val="FFFF00"/>
                </a:highlight>
              </a:rPr>
              <a:t>:</a:t>
            </a:r>
          </a:p>
          <a:p>
            <a:pPr marL="717550" lvl="2" indent="-271463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전방영역에서 고객들이 만족할 만한 서비스 경험을 얻을 수 있도록 비가시적 영역에서의 후방서비스 제공자 역할과 현장 접점 직원과의 상호관계</a:t>
            </a:r>
            <a:r>
              <a:rPr lang="en-US" altLang="ko-KR" sz="1400" dirty="0"/>
              <a:t>, </a:t>
            </a:r>
            <a:r>
              <a:rPr lang="ko-KR" altLang="en-US" sz="1400" dirty="0"/>
              <a:t>서비스 실행과 전달 측면을 검토하고 반영하도록 해야함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highlight>
                  <a:srgbClr val="FFFF00"/>
                </a:highlight>
              </a:rPr>
              <a:t>물리적 증거</a:t>
            </a:r>
            <a:r>
              <a:rPr lang="en-US" altLang="ko-KR" sz="1600" dirty="0">
                <a:highlight>
                  <a:srgbClr val="FFFF00"/>
                </a:highlight>
              </a:rPr>
              <a:t>:</a:t>
            </a:r>
            <a:r>
              <a:rPr lang="en-US" altLang="ko-KR" sz="1600" dirty="0"/>
              <a:t> </a:t>
            </a:r>
            <a:r>
              <a:rPr lang="ko-KR" altLang="en-US" sz="1400" dirty="0"/>
              <a:t>서비스의 품질을 짐작하게 하는 레스토랑의 모든 물리적</a:t>
            </a:r>
            <a:r>
              <a:rPr lang="en-US" altLang="ko-KR" sz="1400" dirty="0"/>
              <a:t>, </a:t>
            </a:r>
            <a:r>
              <a:rPr lang="ko-KR" altLang="en-US" sz="1400" dirty="0"/>
              <a:t>유형적인 부분으로 인테리어와 테이블</a:t>
            </a:r>
            <a:r>
              <a:rPr lang="en-US" altLang="ko-KR" sz="1400" dirty="0"/>
              <a:t>, </a:t>
            </a:r>
            <a:r>
              <a:rPr lang="ko-KR" altLang="en-US" sz="1400" dirty="0"/>
              <a:t>멤버십 카드</a:t>
            </a:r>
            <a:r>
              <a:rPr lang="en-US" altLang="ko-KR" sz="1400" dirty="0"/>
              <a:t>, </a:t>
            </a:r>
            <a:r>
              <a:rPr lang="ko-KR" altLang="en-US" sz="1400" dirty="0"/>
              <a:t>종사원의 복장 등 고객에게 보여지는 모든 것이 포함됨</a:t>
            </a:r>
            <a:r>
              <a:rPr lang="en-US" altLang="ko-KR" sz="1200" dirty="0"/>
              <a:t>.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완성된 서비스 청사진</a:t>
            </a:r>
            <a:r>
              <a:rPr lang="en-US" altLang="ko-KR" sz="1600" dirty="0"/>
              <a:t>:</a:t>
            </a:r>
          </a:p>
          <a:p>
            <a:pPr marL="717550" lvl="2" indent="-271463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가시적 서비스 구성 요소 뿐만 아니라 </a:t>
            </a:r>
            <a:r>
              <a:rPr lang="ko-KR" altLang="en-US" sz="1400" dirty="0" err="1"/>
              <a:t>비가시</a:t>
            </a:r>
            <a:r>
              <a:rPr lang="ko-KR" altLang="en-US" sz="1400" dirty="0"/>
              <a:t> 영역에서 고객이 서비스를 경험하는 과정에 따라 어떤 요소들이 어떻게 상호작용을 하는지를 전체적 관점에서 살펴볼 수 있도록 </a:t>
            </a:r>
            <a:r>
              <a:rPr lang="ko-KR" altLang="en-US" sz="1400" dirty="0" err="1"/>
              <a:t>도와줌</a:t>
            </a:r>
            <a:r>
              <a:rPr lang="en-US" altLang="ko-KR" sz="1400" dirty="0"/>
              <a:t>.</a:t>
            </a:r>
          </a:p>
          <a:p>
            <a:pPr marL="717550" lvl="2" indent="-271463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전방영역의 고객과 종사원의 상호작용 도중 일어날 수 있는 실패 가능성을 확인하게 </a:t>
            </a:r>
            <a:r>
              <a:rPr lang="ko-KR" altLang="en-US" sz="1400" dirty="0" err="1"/>
              <a:t>해줌</a:t>
            </a:r>
            <a:endParaRPr lang="en-US" altLang="ko-KR" sz="1400" dirty="0"/>
          </a:p>
          <a:p>
            <a:pPr marL="717550" lvl="2" indent="-271463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고객이 서비스 과정으로부터 기대하는 것이 무엇인지도 명확히 알 수 있게 </a:t>
            </a:r>
            <a:r>
              <a:rPr lang="ko-KR" altLang="en-US" sz="1400" dirty="0" err="1"/>
              <a:t>해줌</a:t>
            </a:r>
            <a:r>
              <a:rPr lang="en-US" altLang="ko-KR" sz="1400" dirty="0"/>
              <a:t>.</a:t>
            </a:r>
          </a:p>
          <a:p>
            <a:pPr marL="4508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서비스 청사진은 서비스 개선이나 변경에 따라 재구성해야 하며 지속적으로 검토하고 수정하며 실제 서비스 적용에 도움이 될 수 있게 활용하는 것이 중요함</a:t>
            </a:r>
            <a:r>
              <a:rPr lang="en-US" altLang="ko-KR" sz="1600" dirty="0"/>
              <a:t>.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9AD6B-8B29-4418-8761-AB7912A6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D16018-9EAF-4797-898A-7B3F876A4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64"/>
          <a:stretch/>
        </p:blipFill>
        <p:spPr>
          <a:xfrm>
            <a:off x="4111136" y="1472649"/>
            <a:ext cx="5886939" cy="4699552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AC272B30-1A8D-4FA4-A374-BA850633D586}"/>
              </a:ext>
            </a:extLst>
          </p:cNvPr>
          <p:cNvSpPr txBox="1"/>
          <p:nvPr/>
        </p:nvSpPr>
        <p:spPr>
          <a:xfrm>
            <a:off x="271534" y="1123025"/>
            <a:ext cx="3400260" cy="218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lang="en-US" altLang="ko-KR" sz="1600" spc="-114" dirty="0">
                <a:latin typeface="08서울남산체 M" panose="02020603020101020101" pitchFamily="18" charset="-127"/>
                <a:ea typeface="08서울남산체 M" panose="02020603020101020101" pitchFamily="18" charset="-127"/>
                <a:cs typeface="Arial Unicode MS"/>
              </a:rPr>
              <a:t>[</a:t>
            </a:r>
            <a:r>
              <a:rPr lang="ko-KR" altLang="en-US" sz="1600" spc="-114" dirty="0">
                <a:latin typeface="08서울남산체 M" panose="02020603020101020101" pitchFamily="18" charset="-127"/>
                <a:ea typeface="08서울남산체 M" panose="02020603020101020101" pitchFamily="18" charset="-127"/>
                <a:cs typeface="Arial Unicode MS"/>
              </a:rPr>
              <a:t>서비스청사진의 구성요소</a:t>
            </a:r>
            <a:r>
              <a:rPr lang="en-US" altLang="ko-KR" sz="1600" spc="-114" dirty="0">
                <a:latin typeface="08서울남산체 M" panose="02020603020101020101" pitchFamily="18" charset="-127"/>
                <a:ea typeface="08서울남산체 M" panose="02020603020101020101" pitchFamily="18" charset="-127"/>
                <a:cs typeface="Arial Unicode MS"/>
              </a:rPr>
              <a:t>]</a:t>
            </a:r>
            <a:endParaRPr sz="1600" dirty="0">
              <a:latin typeface="08서울남산체 M" panose="02020603020101020101" pitchFamily="18" charset="-127"/>
              <a:ea typeface="08서울남산체 M" panose="02020603020101020101" pitchFamily="18" charset="-127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989336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9AD6B-8B29-4418-8761-AB7912A6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AC272B30-1A8D-4FA4-A374-BA850633D586}"/>
              </a:ext>
            </a:extLst>
          </p:cNvPr>
          <p:cNvSpPr txBox="1"/>
          <p:nvPr/>
        </p:nvSpPr>
        <p:spPr>
          <a:xfrm>
            <a:off x="271534" y="1123025"/>
            <a:ext cx="3400260" cy="218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lang="en-US" altLang="ko-KR" sz="1600" spc="-114" dirty="0">
                <a:latin typeface="08서울남산체 M" panose="02020603020101020101" pitchFamily="18" charset="-127"/>
                <a:ea typeface="08서울남산체 M" panose="02020603020101020101" pitchFamily="18" charset="-127"/>
                <a:cs typeface="Arial Unicode MS"/>
              </a:rPr>
              <a:t>[</a:t>
            </a:r>
            <a:r>
              <a:rPr lang="ko-KR" altLang="en-US" sz="1600" spc="-114" dirty="0">
                <a:latin typeface="08서울남산체 M" panose="02020603020101020101" pitchFamily="18" charset="-127"/>
                <a:ea typeface="08서울남산체 M" panose="02020603020101020101" pitchFamily="18" charset="-127"/>
                <a:cs typeface="Arial Unicode MS"/>
              </a:rPr>
              <a:t>서비스청사진의 작성절차</a:t>
            </a:r>
            <a:r>
              <a:rPr lang="en-US" altLang="ko-KR" sz="1600" spc="-114" dirty="0">
                <a:latin typeface="08서울남산체 M" panose="02020603020101020101" pitchFamily="18" charset="-127"/>
                <a:ea typeface="08서울남산체 M" panose="02020603020101020101" pitchFamily="18" charset="-127"/>
                <a:cs typeface="Arial Unicode MS"/>
              </a:rPr>
              <a:t>]</a:t>
            </a:r>
            <a:endParaRPr sz="1600" dirty="0">
              <a:latin typeface="08서울남산체 M" panose="02020603020101020101" pitchFamily="18" charset="-127"/>
              <a:ea typeface="08서울남산체 M" panose="02020603020101020101" pitchFamily="18" charset="-127"/>
              <a:cs typeface="Arial Unicode MS"/>
            </a:endParaRPr>
          </a:p>
        </p:txBody>
      </p:sp>
      <p:pic>
        <p:nvPicPr>
          <p:cNvPr id="6" name="_x493656832" descr="EMB00005c3011b0">
            <a:extLst>
              <a:ext uri="{FF2B5EF4-FFF2-40B4-BE49-F238E27FC236}">
                <a16:creationId xmlns:a16="http://schemas.microsoft.com/office/drawing/2014/main" id="{92C05CA4-74DF-43C6-AF0F-9626B2323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87" y="1431235"/>
            <a:ext cx="4541582" cy="535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_x493655792" descr="EMB00005c3011b3">
            <a:extLst>
              <a:ext uri="{FF2B5EF4-FFF2-40B4-BE49-F238E27FC236}">
                <a16:creationId xmlns:a16="http://schemas.microsoft.com/office/drawing/2014/main" id="{D9639873-4D4C-4352-83E3-AF1145E10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388" y="1431235"/>
            <a:ext cx="50895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31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E2DD0DF2-89D6-4C5A-9C4F-2D530F6C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3) </a:t>
            </a:r>
            <a:r>
              <a:rPr lang="ko-KR" altLang="en-US" dirty="0"/>
              <a:t>아이디어 확장단계</a:t>
            </a:r>
            <a:r>
              <a:rPr lang="en-US" altLang="ko-KR" dirty="0"/>
              <a:t>: </a:t>
            </a:r>
            <a:r>
              <a:rPr lang="ko-KR" altLang="en-US" sz="2000" dirty="0"/>
              <a:t>아이디어 개발과 콘셉트화</a:t>
            </a: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06996411-F78F-4FD7-AFB3-E6BBFDB79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7716147" cy="5248275"/>
          </a:xfrm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dirty="0"/>
              <a:t>(1) </a:t>
            </a:r>
            <a:r>
              <a:rPr lang="ko-KR" altLang="en-US" sz="2000" dirty="0" err="1"/>
              <a:t>아이데이션</a:t>
            </a:r>
            <a:endParaRPr lang="ko-KR" altLang="en-US" sz="2000" dirty="0"/>
          </a:p>
          <a:p>
            <a:pPr marL="6286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서비스 프로세스 디자인을 위한 실효성 있는 적합한 아이디어를 구체화시킴</a:t>
            </a:r>
            <a:endParaRPr lang="en-US" altLang="ko-KR" sz="1800" dirty="0"/>
          </a:p>
          <a:p>
            <a:pPr marL="6286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활용 도구</a:t>
            </a:r>
            <a:endParaRPr lang="en-US" altLang="ko-KR" sz="1800" dirty="0"/>
          </a:p>
          <a:p>
            <a:pPr marL="8969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마인드 </a:t>
            </a:r>
            <a:r>
              <a:rPr lang="ko-KR" altLang="en-US" sz="1400" dirty="0" err="1"/>
              <a:t>맵핑</a:t>
            </a:r>
            <a:r>
              <a:rPr lang="en-US" altLang="ko-KR" sz="1400" dirty="0"/>
              <a:t>(mind mapping), </a:t>
            </a:r>
            <a:r>
              <a:rPr lang="ko-KR" altLang="en-US" sz="1400" dirty="0"/>
              <a:t>여섯 색깔 모자 기법</a:t>
            </a:r>
            <a:r>
              <a:rPr lang="en-US" altLang="ko-KR" sz="1400" dirty="0"/>
              <a:t>(Six thinking hats)</a:t>
            </a:r>
            <a:r>
              <a:rPr lang="ko-KR" altLang="en-US" sz="1400" dirty="0"/>
              <a:t>등 아이디어 발상 기법 등을 활용한 체계적인 </a:t>
            </a:r>
            <a:r>
              <a:rPr lang="ko-KR" altLang="en-US" sz="1400" dirty="0" err="1"/>
              <a:t>브레인스토밍</a:t>
            </a:r>
            <a:r>
              <a:rPr lang="en-US" altLang="ko-KR" sz="1400" dirty="0"/>
              <a:t>(brainstorming)</a:t>
            </a:r>
            <a:r>
              <a:rPr lang="ko-KR" altLang="en-US" sz="1400" dirty="0"/>
              <a:t>이 필요함</a:t>
            </a:r>
            <a:r>
              <a:rPr lang="en-US" altLang="ko-KR" sz="1400" dirty="0"/>
              <a:t>. </a:t>
            </a:r>
          </a:p>
          <a:p>
            <a:pPr marL="6286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여러 방법들의 활용은 서비스 개발팀의 토론을 활성화하고 진지한 사고를 유도하여 </a:t>
            </a:r>
            <a:r>
              <a:rPr lang="ko-KR" altLang="en-US" sz="1800" dirty="0" err="1"/>
              <a:t>당면문제에</a:t>
            </a:r>
            <a:r>
              <a:rPr lang="ko-KR" altLang="en-US" sz="1800" dirty="0"/>
              <a:t> 대한 좀 더 나은 아이디어의 선택과 보완에 도움을 줌</a:t>
            </a:r>
            <a:r>
              <a:rPr lang="en-US" altLang="ko-KR" sz="1800" dirty="0"/>
              <a:t>. </a:t>
            </a:r>
          </a:p>
          <a:p>
            <a:pPr marL="6286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아이디어를 충분히 도출한 후에는 우선순위를 정하고 상품화 가능한 아이디어를 선택함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628650" lvl="1" indent="-27146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아이디어의 우선순위 결정과 선택도 소비자의 </a:t>
            </a:r>
            <a:r>
              <a:rPr lang="ko-KR" altLang="en-US" sz="1800" dirty="0" err="1"/>
              <a:t>니즈와</a:t>
            </a:r>
            <a:r>
              <a:rPr lang="ko-KR" altLang="en-US" sz="1800" dirty="0"/>
              <a:t> 가치에 부합하는지를 기준으로 결정하는 것이 바람직함</a:t>
            </a:r>
            <a:r>
              <a:rPr lang="en-US" altLang="ko-KR" sz="1800" dirty="0"/>
              <a:t>.</a:t>
            </a:r>
          </a:p>
          <a:p>
            <a:pPr marL="628650" lvl="1" indent="-27146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실행에 있어서 제약 사항이나 문제점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실행주체에</a:t>
            </a:r>
            <a:r>
              <a:rPr lang="ko-KR" altLang="en-US" sz="1800" dirty="0"/>
              <a:t> 대해서도 생각해야 함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628650" indent="-271463" eaLnBrk="1" latinLnBrk="0" hangingPunct="1">
              <a:lnSpc>
                <a:spcPct val="150000"/>
              </a:lnSpc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D580ED16-5112-409E-B3D8-A6A8D3E1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 dirty="0"/>
              <a:t>아이디어 확장단계</a:t>
            </a:r>
            <a:r>
              <a:rPr lang="en-US" altLang="ko-KR" dirty="0"/>
              <a:t>: </a:t>
            </a:r>
            <a:r>
              <a:rPr lang="ko-KR" altLang="en-US" sz="2000" dirty="0"/>
              <a:t>아이디어 개발과 콘셉트화</a:t>
            </a: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E72C0B17-DADA-44C1-964D-2A18F6CCB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7427912" cy="5248275"/>
          </a:xfrm>
        </p:spPr>
        <p:txBody>
          <a:bodyPr/>
          <a:lstStyle/>
          <a:p>
            <a:pPr latinLnBrk="0">
              <a:defRPr/>
            </a:pPr>
            <a:r>
              <a:rPr lang="en-US" altLang="ko-KR" sz="2000" dirty="0"/>
              <a:t>(2) </a:t>
            </a:r>
            <a:r>
              <a:rPr lang="ko-KR" altLang="en-US" sz="2000" dirty="0" err="1"/>
              <a:t>콘셉트화</a:t>
            </a:r>
            <a:r>
              <a:rPr lang="ko-KR" altLang="en-US" sz="2000" dirty="0"/>
              <a:t> </a:t>
            </a:r>
          </a:p>
          <a:p>
            <a:pPr marL="628650" lvl="1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/>
              <a:t>선정된 아이디어는 구체적인 형태와 전달 방법을 반영하여 </a:t>
            </a:r>
            <a:r>
              <a:rPr lang="ko-KR" altLang="en-US" sz="1800" dirty="0" err="1"/>
              <a:t>콘셉트화</a:t>
            </a:r>
            <a:r>
              <a:rPr lang="ko-KR" altLang="en-US" sz="1800" dirty="0"/>
              <a:t> 하게 됨</a:t>
            </a:r>
            <a:r>
              <a:rPr lang="en-US" altLang="ko-KR" sz="1800" dirty="0"/>
              <a:t>.</a:t>
            </a:r>
          </a:p>
          <a:p>
            <a:pPr marL="8969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콘셉트</a:t>
            </a:r>
            <a:r>
              <a:rPr lang="en-US" altLang="ko-KR" sz="1400" dirty="0"/>
              <a:t>: </a:t>
            </a:r>
            <a:r>
              <a:rPr lang="ko-KR" altLang="en-US" sz="1400" dirty="0"/>
              <a:t>서비스 프로세스 전략을 드러내는 주된 개념과 의도를 정리한 것</a:t>
            </a:r>
            <a:endParaRPr lang="en-US" altLang="ko-KR" sz="1400" dirty="0"/>
          </a:p>
          <a:p>
            <a:pPr marL="8969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서비스에 부여하고자 하는 차별화 포인트가 콘셉트를 통해 명확히 보이고 정리되어야 함</a:t>
            </a:r>
            <a:r>
              <a:rPr lang="en-US" altLang="ko-KR" sz="1400" dirty="0"/>
              <a:t>.</a:t>
            </a:r>
          </a:p>
          <a:p>
            <a:pPr marL="8969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  <a:highlight>
                  <a:srgbClr val="FFFF00"/>
                </a:highlight>
              </a:rPr>
              <a:t>포인트 콘셉트</a:t>
            </a:r>
            <a:r>
              <a:rPr lang="en-US" altLang="ko-KR" sz="1400" dirty="0">
                <a:solidFill>
                  <a:srgbClr val="7030A0"/>
                </a:solidFill>
                <a:highlight>
                  <a:srgbClr val="FFFF00"/>
                </a:highlight>
              </a:rPr>
              <a:t>(point concept) : </a:t>
            </a:r>
            <a:r>
              <a:rPr lang="ko-KR" altLang="en-US" sz="1400" dirty="0">
                <a:solidFill>
                  <a:srgbClr val="7030A0"/>
                </a:solidFill>
                <a:highlight>
                  <a:srgbClr val="FFFF00"/>
                </a:highlight>
              </a:rPr>
              <a:t>서비스 아이디어가 일부 서비스 접점에서의 문제를 해결하는 것에 초점</a:t>
            </a:r>
            <a:endParaRPr lang="en-US" altLang="ko-KR" sz="1400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 marL="896937" lvl="2" indent="-271463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7030A0"/>
                </a:solidFill>
                <a:highlight>
                  <a:srgbClr val="FFFF00"/>
                </a:highlight>
              </a:rPr>
              <a:t>시스템 콘셉트</a:t>
            </a:r>
            <a:r>
              <a:rPr lang="en-US" altLang="ko-KR" sz="1400" dirty="0">
                <a:solidFill>
                  <a:srgbClr val="7030A0"/>
                </a:solidFill>
                <a:highlight>
                  <a:srgbClr val="FFFF00"/>
                </a:highlight>
              </a:rPr>
              <a:t>(system concept) : </a:t>
            </a:r>
            <a:r>
              <a:rPr lang="ko-KR" altLang="en-US" sz="1400" dirty="0">
                <a:solidFill>
                  <a:srgbClr val="7030A0"/>
                </a:solidFill>
                <a:highlight>
                  <a:srgbClr val="FFFF00"/>
                </a:highlight>
              </a:rPr>
              <a:t>서비스 전체 프로세스의 개선이나 개발을 위한 통합된 형태 콘셉트</a:t>
            </a:r>
          </a:p>
          <a:p>
            <a:pPr marL="628650" lvl="1" indent="-27146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dirty="0" err="1"/>
              <a:t>콘셉트화</a:t>
            </a:r>
            <a:r>
              <a:rPr lang="ko-KR" altLang="en-US" sz="1800" dirty="0"/>
              <a:t> 활동의 시각화 자료의 활용</a:t>
            </a:r>
            <a:endParaRPr lang="en-US" altLang="ko-KR" sz="1800" dirty="0"/>
          </a:p>
          <a:p>
            <a:pPr marL="896937" lvl="2" indent="-27146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콘셉트 스케치</a:t>
            </a:r>
            <a:r>
              <a:rPr lang="en-US" altLang="ko-KR" sz="1400" dirty="0"/>
              <a:t>(concept sketch) :</a:t>
            </a:r>
            <a:r>
              <a:rPr lang="ko-KR" altLang="en-US" sz="1400" dirty="0"/>
              <a:t> 서비스 아이디어를 어떻게 구현할지 시각적으로 구체화하는 과정이라면 콘셉트 시나리오는 고객이 현실 상황에서 콘셉트를 어떻게 경험할지를 보여주는 과정임</a:t>
            </a:r>
            <a:r>
              <a:rPr lang="en-US" altLang="ko-KR" sz="1400" dirty="0"/>
              <a:t>.</a:t>
            </a:r>
          </a:p>
          <a:p>
            <a:pPr marL="896937" lvl="2" indent="-27146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/>
              <a:t>콘셉트 시나리오</a:t>
            </a:r>
            <a:r>
              <a:rPr lang="en-US" altLang="ko-KR" sz="1400" dirty="0"/>
              <a:t>(concept scenario)</a:t>
            </a:r>
          </a:p>
          <a:p>
            <a:pPr marL="0" indent="0" eaLnBrk="1" latinLnBrk="0" hangingPunct="1">
              <a:defRPr/>
            </a:pP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7C53C0-C9A9-450C-A24F-7BC878A07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632" y="3429000"/>
            <a:ext cx="3607836" cy="311094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DA8D775F-8C92-4830-9699-8D750254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서비스 전달단계</a:t>
            </a:r>
            <a:r>
              <a:rPr lang="en-US" altLang="ko-KR" dirty="0"/>
              <a:t>: </a:t>
            </a:r>
            <a:r>
              <a:rPr lang="ko-KR" altLang="en-US" sz="2000" dirty="0"/>
              <a:t>프로토타입 개발과 신서비스 전달</a:t>
            </a:r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4B535EBF-26E8-4316-808E-948ECEBF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서비스 콘셉트를 현실화하여 이해관계자의 적극적인 참여를 유도함으로써 본격적인 고객 서비스 방법을 마지막으로 개선하는 아이디어의 현실화를 위한 프로토타이핑 중심의 </a:t>
            </a:r>
            <a:r>
              <a:rPr lang="ko-KR" altLang="en-US" sz="2000" b="0" dirty="0" err="1"/>
              <a:t>작업단계</a:t>
            </a:r>
            <a:r>
              <a:rPr lang="en-US" altLang="ko-KR" sz="20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외식업체가 가진 자원의 여건이나 개발 시간의 제약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서비스 프로세스 </a:t>
            </a:r>
            <a:r>
              <a:rPr lang="en-US" altLang="ko-KR" sz="2000" b="0" dirty="0"/>
              <a:t>(</a:t>
            </a:r>
            <a:r>
              <a:rPr lang="ko-KR" altLang="en-US" sz="2000" b="0" dirty="0"/>
              <a:t>리</a:t>
            </a:r>
            <a:r>
              <a:rPr lang="en-US" altLang="ko-KR" sz="2000" b="0" dirty="0"/>
              <a:t>)</a:t>
            </a:r>
            <a:r>
              <a:rPr lang="ko-KR" altLang="en-US" sz="2000" b="0" dirty="0"/>
              <a:t>디자인의 중요성 등 상황에 따라 다양한 프로토타이핑 방법</a:t>
            </a:r>
            <a:r>
              <a:rPr lang="en-US" altLang="ko-KR" sz="2000" b="0" dirty="0"/>
              <a:t>(</a:t>
            </a:r>
            <a:r>
              <a:rPr lang="ko-KR" altLang="en-US" sz="2000" b="0" dirty="0"/>
              <a:t>그림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일러스트레이션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이야기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스토리보드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역할극 등</a:t>
            </a:r>
            <a:r>
              <a:rPr lang="en-US" altLang="ko-KR" sz="2000" b="0" dirty="0"/>
              <a:t>)</a:t>
            </a:r>
            <a:r>
              <a:rPr lang="ko-KR" altLang="en-US" sz="2000" b="0" dirty="0"/>
              <a:t>이 활용될 수 있음</a:t>
            </a:r>
            <a:r>
              <a:rPr lang="en-US" altLang="ko-KR" sz="2000" b="0" dirty="0"/>
              <a:t>.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 err="1"/>
              <a:t>외식서비스</a:t>
            </a:r>
            <a:r>
              <a:rPr lang="ko-KR" altLang="en-US" sz="2000" b="0" dirty="0"/>
              <a:t> 프로세스에 대한 프로토타이핑</a:t>
            </a:r>
            <a:endParaRPr lang="en-US" altLang="ko-KR" sz="2000" b="0" dirty="0"/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시각 요소 이외에 다양한 감각 요소를 고려할 필요가 있음</a:t>
            </a:r>
            <a:r>
              <a:rPr lang="en-US" altLang="ko-KR" sz="1800" dirty="0"/>
              <a:t>.</a:t>
            </a:r>
          </a:p>
          <a:p>
            <a:pPr marL="450850" lvl="1" indent="-271463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프로세스 흐름 안에서 </a:t>
            </a:r>
            <a:r>
              <a:rPr lang="ko-KR" altLang="en-US" sz="1800" dirty="0" err="1"/>
              <a:t>유형적∙무형적</a:t>
            </a:r>
            <a:r>
              <a:rPr lang="ko-KR" altLang="en-US" sz="1800" dirty="0"/>
              <a:t> 요소들을 어떻게 녹여내어 고객으로 하여금 긍정적 경험을 유도할 것인지 함께 고민되어야 함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E23F6B67-F529-4DFF-B3E4-6A720497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/>
              <a:t>서비스 전달단계</a:t>
            </a:r>
            <a:r>
              <a:rPr lang="en-US" altLang="ko-KR"/>
              <a:t>: </a:t>
            </a:r>
            <a:r>
              <a:rPr lang="ko-KR" altLang="en-US" sz="2000"/>
              <a:t>프로토타입 개발과 신서비스 전달</a:t>
            </a:r>
          </a:p>
        </p:txBody>
      </p:sp>
      <p:sp>
        <p:nvSpPr>
          <p:cNvPr id="37891" name="내용 개체 틀 2">
            <a:extLst>
              <a:ext uri="{FF2B5EF4-FFF2-40B4-BE49-F238E27FC236}">
                <a16:creationId xmlns:a16="http://schemas.microsoft.com/office/drawing/2014/main" id="{F8BBA024-0621-4D27-854A-0230BB71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11517312" cy="2601153"/>
          </a:xfrm>
        </p:spPr>
        <p:txBody>
          <a:bodyPr/>
          <a:lstStyle/>
          <a:p>
            <a:pPr latinLnBrk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/>
              <a:t>스토리 중심의 프로토타이핑</a:t>
            </a:r>
          </a:p>
          <a:p>
            <a:pPr latinLnBrk="0">
              <a:lnSpc>
                <a:spcPct val="150000"/>
              </a:lnSpc>
            </a:pPr>
            <a:r>
              <a:rPr lang="ko-KR" altLang="en-US" sz="2000" dirty="0"/>
              <a:t>① 서비스 시나리오</a:t>
            </a:r>
            <a:endParaRPr lang="en-US" altLang="ko-KR" sz="2000" dirty="0"/>
          </a:p>
          <a:p>
            <a:pPr marL="450850" lvl="1" indent="-179388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등장인물을 포함하여 서비스를 이용하면서 겪는 경험 과정을 순서대로 전개함</a:t>
            </a:r>
            <a:r>
              <a:rPr lang="en-US" altLang="ko-KR" sz="1800" dirty="0"/>
              <a:t>.</a:t>
            </a:r>
          </a:p>
          <a:p>
            <a:pPr marL="450850" lvl="1" indent="-179388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페르소나를 주인공으로 하여 시나리오를 작성하며 제안된 서비스 아이디어를 주인공이 어떻게 이용하는지</a:t>
            </a:r>
            <a:r>
              <a:rPr lang="en-US" altLang="ko-KR" sz="1800" dirty="0"/>
              <a:t>, </a:t>
            </a:r>
            <a:r>
              <a:rPr lang="ko-KR" altLang="en-US" sz="1800" dirty="0"/>
              <a:t>이용한 후 어떤 경험 변화가 생길 수 있는지에 대해 충분히 표현되도록 함</a:t>
            </a:r>
            <a:r>
              <a:rPr lang="en-US" altLang="ko-KR" sz="1800" dirty="0"/>
              <a:t>.</a:t>
            </a:r>
            <a:endParaRPr lang="ko-KR" altLang="en-US" sz="2000" dirty="0"/>
          </a:p>
          <a:p>
            <a:pPr latinLnBrk="0">
              <a:lnSpc>
                <a:spcPct val="150000"/>
              </a:lnSpc>
            </a:pPr>
            <a:endParaRPr lang="en-US" altLang="ko-KR" sz="2000" dirty="0"/>
          </a:p>
          <a:p>
            <a:pPr latinLnBrk="0">
              <a:lnSpc>
                <a:spcPct val="150000"/>
              </a:lnSpc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E23F6B67-F529-4DFF-B3E4-6A720497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서비스 전달단계</a:t>
            </a:r>
            <a:r>
              <a:rPr lang="en-US" altLang="ko-KR" dirty="0"/>
              <a:t>: </a:t>
            </a:r>
            <a:r>
              <a:rPr lang="ko-KR" altLang="en-US" sz="2000" dirty="0"/>
              <a:t>프로토타입 개발과 신서비스 전달</a:t>
            </a:r>
          </a:p>
        </p:txBody>
      </p:sp>
      <p:sp>
        <p:nvSpPr>
          <p:cNvPr id="37891" name="내용 개체 틀 2">
            <a:extLst>
              <a:ext uri="{FF2B5EF4-FFF2-40B4-BE49-F238E27FC236}">
                <a16:creationId xmlns:a16="http://schemas.microsoft.com/office/drawing/2014/main" id="{F8BBA024-0621-4D27-854A-0230BB71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6"/>
            <a:ext cx="4995104" cy="2869510"/>
          </a:xfrm>
        </p:spPr>
        <p:txBody>
          <a:bodyPr/>
          <a:lstStyle/>
          <a:p>
            <a:pPr latinLnBrk="0">
              <a:lnSpc>
                <a:spcPct val="150000"/>
              </a:lnSpc>
            </a:pPr>
            <a:r>
              <a:rPr lang="en-US" altLang="ko-KR" sz="2000" dirty="0"/>
              <a:t>(1) </a:t>
            </a:r>
            <a:r>
              <a:rPr lang="ko-KR" altLang="en-US" sz="2000" dirty="0"/>
              <a:t>스토리 중심의 프로토타이핑</a:t>
            </a:r>
          </a:p>
          <a:p>
            <a:pPr latinLnBrk="0">
              <a:lnSpc>
                <a:spcPct val="150000"/>
              </a:lnSpc>
            </a:pPr>
            <a:r>
              <a:rPr lang="ko-KR" altLang="en-US" sz="2000" dirty="0"/>
              <a:t>② 스토리보드</a:t>
            </a:r>
            <a:endParaRPr lang="en-US" altLang="ko-KR" sz="2000" dirty="0"/>
          </a:p>
          <a:p>
            <a:pPr marL="450850" lvl="1" indent="-179388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콘셉트와 문제 해결 과정을 단계별로 묘사하여 이미지로 시각화 하는 과정임</a:t>
            </a:r>
            <a:r>
              <a:rPr lang="en-US" altLang="ko-KR" sz="1800" dirty="0"/>
              <a:t>. </a:t>
            </a:r>
          </a:p>
          <a:p>
            <a:pPr marL="450850" lvl="1" indent="-179388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사진이나 그림 등을 이용한 이미지 중심으로 제작됨</a:t>
            </a:r>
            <a:endParaRPr lang="en-US" altLang="ko-KR" sz="1800" dirty="0"/>
          </a:p>
          <a:p>
            <a:pPr marL="450850" lvl="1" indent="-179388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 문제</a:t>
            </a:r>
            <a:r>
              <a:rPr lang="en-US" altLang="ko-KR" sz="1800" dirty="0"/>
              <a:t>(</a:t>
            </a:r>
            <a:r>
              <a:rPr lang="ko-KR" altLang="en-US" sz="1800" dirty="0"/>
              <a:t>니즈</a:t>
            </a:r>
            <a:r>
              <a:rPr lang="en-US" altLang="ko-KR" sz="1800" dirty="0"/>
              <a:t>/</a:t>
            </a:r>
            <a:r>
              <a:rPr lang="ko-KR" altLang="en-US" sz="1800" dirty="0"/>
              <a:t>불편</a:t>
            </a:r>
            <a:r>
              <a:rPr lang="en-US" altLang="ko-KR" sz="1800" dirty="0"/>
              <a:t>) </a:t>
            </a:r>
            <a:r>
              <a:rPr lang="ko-KR" altLang="en-US" sz="1800" dirty="0"/>
              <a:t>소개</a:t>
            </a:r>
            <a:r>
              <a:rPr lang="en-US" altLang="ko-KR" sz="1800" dirty="0"/>
              <a:t>, </a:t>
            </a:r>
            <a:r>
              <a:rPr lang="ko-KR" altLang="en-US" sz="1800" dirty="0"/>
              <a:t>문제 발생 상황과 해결 아이디어 적용 모습</a:t>
            </a:r>
            <a:r>
              <a:rPr lang="en-US" altLang="ko-KR" sz="1800" dirty="0"/>
              <a:t>, </a:t>
            </a:r>
            <a:r>
              <a:rPr lang="ko-KR" altLang="en-US" sz="1800" dirty="0"/>
              <a:t>긍정적 경험 변화 내용 등 </a:t>
            </a:r>
            <a:r>
              <a:rPr lang="en-US" altLang="ko-KR" sz="1800" dirty="0"/>
              <a:t>3~6</a:t>
            </a:r>
            <a:r>
              <a:rPr lang="ko-KR" altLang="en-US" sz="1800" dirty="0"/>
              <a:t>개 장면으로 요약하여 제시함</a:t>
            </a:r>
            <a:r>
              <a:rPr lang="en-US" altLang="ko-KR" sz="1800" dirty="0"/>
              <a:t>.</a:t>
            </a:r>
            <a:endParaRPr lang="ko-KR" altLang="en-US" sz="2000" dirty="0"/>
          </a:p>
          <a:p>
            <a:pPr latinLnBrk="0">
              <a:lnSpc>
                <a:spcPct val="150000"/>
              </a:lnSpc>
            </a:pPr>
            <a:endParaRPr lang="ko-KR" altLang="en-US" sz="2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982707C-D0EA-49E6-8A44-4AA231122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410" y="1202319"/>
            <a:ext cx="4460392" cy="261752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777BBCC-F35F-4BDF-BE8F-F68DA2726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733" y="3819843"/>
            <a:ext cx="4319069" cy="295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98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1F062266-0B48-41E7-8A0F-8A1FB238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서비스 전달단계</a:t>
            </a:r>
            <a:r>
              <a:rPr lang="en-US" altLang="ko-KR" dirty="0"/>
              <a:t>: </a:t>
            </a:r>
            <a:r>
              <a:rPr lang="ko-KR" altLang="en-US" sz="2000" dirty="0"/>
              <a:t>프로토타입 개발과 신서비스 전달</a:t>
            </a:r>
          </a:p>
        </p:txBody>
      </p:sp>
      <p:sp>
        <p:nvSpPr>
          <p:cNvPr id="38915" name="내용 개체 틀 2">
            <a:extLst>
              <a:ext uri="{FF2B5EF4-FFF2-40B4-BE49-F238E27FC236}">
                <a16:creationId xmlns:a16="http://schemas.microsoft.com/office/drawing/2014/main" id="{33435D63-9E0C-4D3B-9FB5-C4AA48741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</a:pPr>
            <a:r>
              <a:rPr lang="en-US" altLang="ko-KR" sz="2000"/>
              <a:t>(2) </a:t>
            </a:r>
            <a:r>
              <a:rPr lang="ko-KR" altLang="en-US" sz="2000"/>
              <a:t>서비스 </a:t>
            </a:r>
            <a:r>
              <a:rPr lang="ko-KR" altLang="en-US" sz="1800"/>
              <a:t>현실화</a:t>
            </a:r>
            <a:r>
              <a:rPr lang="ko-KR" altLang="en-US" sz="2000"/>
              <a:t> 중심의 프로토타이핑</a:t>
            </a:r>
            <a:endParaRPr lang="en-US" altLang="ko-KR" sz="2000"/>
          </a:p>
          <a:p>
            <a:pPr latinLnBrk="0">
              <a:lnSpc>
                <a:spcPct val="150000"/>
              </a:lnSpc>
            </a:pPr>
            <a:endParaRPr lang="ko-KR" altLang="en-US" sz="2000"/>
          </a:p>
          <a:p>
            <a:pPr marL="628650" lvl="1" indent="-271463" latinLnBrk="0">
              <a:buFont typeface="Arial" panose="020B0604020202020204" pitchFamily="34" charset="0"/>
              <a:buChar char="•"/>
            </a:pPr>
            <a:r>
              <a:rPr lang="ko-KR" altLang="en-US" sz="2000"/>
              <a:t>모형이나 시연 등을 활용하여 서비스 흐름을 한 눈에 볼 수 있음</a:t>
            </a:r>
            <a:endParaRPr lang="en-US" altLang="ko-KR" sz="2000"/>
          </a:p>
          <a:p>
            <a:pPr marL="628650" lvl="1" indent="-271463" latinLnBrk="0">
              <a:buFont typeface="Arial" panose="020B0604020202020204" pitchFamily="34" charset="0"/>
              <a:buChar char="•"/>
            </a:pPr>
            <a:r>
              <a:rPr lang="ko-KR" altLang="en-US" sz="2000"/>
              <a:t>직접 체험을 하면서 아이디어의 실행 과정 중 발생할 수 있는 문제점에 대한 사전 방지 등에 도움이 됨</a:t>
            </a:r>
            <a:r>
              <a:rPr lang="en-US" altLang="ko-KR" sz="2000"/>
              <a:t>. </a:t>
            </a:r>
          </a:p>
          <a:p>
            <a:pPr marL="628650" lvl="1" indent="-271463" latinLnBrk="0">
              <a:buFont typeface="Arial" panose="020B0604020202020204" pitchFamily="34" charset="0"/>
              <a:buChar char="•"/>
            </a:pPr>
            <a:r>
              <a:rPr lang="ko-KR" altLang="en-US" sz="2000"/>
              <a:t>내부 진행 점검</a:t>
            </a:r>
            <a:r>
              <a:rPr lang="en-US" altLang="ko-KR" sz="2000"/>
              <a:t>, </a:t>
            </a:r>
            <a:r>
              <a:rPr lang="ko-KR" altLang="en-US" sz="2000"/>
              <a:t>초기 시현</a:t>
            </a:r>
            <a:r>
              <a:rPr lang="en-US" altLang="ko-KR" sz="2000"/>
              <a:t>, </a:t>
            </a:r>
            <a:r>
              <a:rPr lang="ko-KR" altLang="en-US" sz="2000"/>
              <a:t>최종 피드백 등에 활용될 수 있음</a:t>
            </a:r>
            <a:endParaRPr lang="en-US" altLang="ko-KR" sz="2000"/>
          </a:p>
          <a:p>
            <a:pPr marL="628650" lvl="1" indent="-271463" latinLnBrk="0">
              <a:buFont typeface="Arial" panose="020B0604020202020204" pitchFamily="34" charset="0"/>
              <a:buChar char="•"/>
            </a:pPr>
            <a:r>
              <a:rPr lang="ko-KR" altLang="en-US" sz="2000"/>
              <a:t>비용과 기간을 고려해 활용을 결정함</a:t>
            </a:r>
            <a:r>
              <a:rPr lang="en-US" altLang="ko-KR" sz="2000"/>
              <a:t>. </a:t>
            </a:r>
            <a:endParaRPr lang="ko-KR" altLang="en-US" sz="2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ADC9E90C-4197-445A-A608-E5A04381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서비스 전달단계</a:t>
            </a:r>
            <a:r>
              <a:rPr lang="en-US" altLang="ko-KR" dirty="0"/>
              <a:t>: </a:t>
            </a:r>
            <a:r>
              <a:rPr lang="ko-KR" altLang="en-US" sz="2000" dirty="0"/>
              <a:t>프로토타입 개발과 신서비스 전달</a:t>
            </a:r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F2C0110B-2FB7-46FE-95C7-448DEB8E6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</a:pPr>
            <a:r>
              <a:rPr lang="en-US" altLang="ko-KR" sz="2000"/>
              <a:t>(2) </a:t>
            </a:r>
            <a:r>
              <a:rPr lang="ko-KR" altLang="en-US" sz="2000"/>
              <a:t>서비스 현실화 중심의 프로토타이핑</a:t>
            </a:r>
            <a:endParaRPr lang="en-US" altLang="ko-KR" sz="2000"/>
          </a:p>
          <a:p>
            <a:pPr latinLnBrk="0">
              <a:lnSpc>
                <a:spcPct val="150000"/>
              </a:lnSpc>
            </a:pPr>
            <a:r>
              <a:rPr lang="ko-KR" altLang="en-US" sz="2000"/>
              <a:t>① 서비스 모형</a:t>
            </a:r>
            <a:r>
              <a:rPr lang="en-US" altLang="ko-KR" sz="2000"/>
              <a:t>(desktop workthrough)</a:t>
            </a:r>
            <a:endParaRPr lang="ko-KR" altLang="en-US" sz="2000"/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작은 크기의 프로토타입으로 서비스 환경을 축소한 </a:t>
            </a:r>
            <a:r>
              <a:rPr lang="en-US" altLang="ko-KR" sz="1800"/>
              <a:t>3D </a:t>
            </a:r>
            <a:r>
              <a:rPr lang="ko-KR" altLang="en-US" sz="1800"/>
              <a:t>모형을 만드는 것임</a:t>
            </a:r>
            <a:r>
              <a:rPr lang="en-US" altLang="ko-KR" sz="1800"/>
              <a:t>.</a:t>
            </a:r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레고나 종이인형과 같이 단순한 모형을 사용하여 서비스 상황을 실제처럼 재현함</a:t>
            </a:r>
            <a:r>
              <a:rPr lang="en-US" altLang="ko-KR" sz="1800"/>
              <a:t>.</a:t>
            </a:r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/>
              <a:t>서비스 모형을 이용하면 구체적 서비스 상황에 대한 반복적 분석이 가능하고</a:t>
            </a:r>
            <a:r>
              <a:rPr lang="en-US" altLang="ko-KR" sz="1800"/>
              <a:t>, </a:t>
            </a:r>
            <a:r>
              <a:rPr lang="ko-KR" altLang="en-US" sz="1800"/>
              <a:t>서비스 디자인에 참여자들이 한 사람들이 미래 서비스에 기대하는 점을 공유할 수 있도록 해줌</a:t>
            </a:r>
            <a:r>
              <a:rPr lang="en-US" altLang="ko-KR" sz="1800"/>
              <a:t>. </a:t>
            </a:r>
            <a:endParaRPr lang="ko-KR" altLang="en-US" sz="2000"/>
          </a:p>
          <a:p>
            <a:pPr latinLnBrk="0">
              <a:lnSpc>
                <a:spcPct val="150000"/>
              </a:lnSpc>
            </a:pP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D146C79-2BDC-46C4-9E6F-130D463B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021" y="3800475"/>
            <a:ext cx="318135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F2704F01-097A-44EB-8F52-468818593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4) </a:t>
            </a:r>
            <a:r>
              <a:rPr lang="ko-KR" altLang="en-US" dirty="0"/>
              <a:t>서비스 전달단계</a:t>
            </a:r>
            <a:r>
              <a:rPr lang="en-US" altLang="ko-KR" dirty="0"/>
              <a:t>: </a:t>
            </a:r>
            <a:r>
              <a:rPr lang="ko-KR" altLang="en-US" sz="2000" dirty="0"/>
              <a:t>프로토타입 개발과 신서비스 전달</a:t>
            </a:r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7CB4BDD5-7245-4F13-A844-44400FFB8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076325"/>
            <a:ext cx="6215338" cy="5248275"/>
          </a:xfrm>
        </p:spPr>
        <p:txBody>
          <a:bodyPr/>
          <a:lstStyle/>
          <a:p>
            <a:pPr latinLnBrk="0">
              <a:lnSpc>
                <a:spcPct val="150000"/>
              </a:lnSpc>
            </a:pPr>
            <a:r>
              <a:rPr lang="en-US" altLang="ko-KR" sz="2000" dirty="0"/>
              <a:t>(2) </a:t>
            </a:r>
            <a:r>
              <a:rPr lang="ko-KR" altLang="en-US" sz="2000" dirty="0"/>
              <a:t>서비스 현실화 중심의 프로토타이핑</a:t>
            </a:r>
            <a:endParaRPr lang="en-US" altLang="ko-KR" sz="2000" dirty="0"/>
          </a:p>
          <a:p>
            <a:pPr latinLnBrk="0">
              <a:lnSpc>
                <a:spcPct val="150000"/>
              </a:lnSpc>
            </a:pPr>
            <a:r>
              <a:rPr lang="ko-KR" altLang="en-US" sz="2000" dirty="0"/>
              <a:t>② 서비스 시연 </a:t>
            </a:r>
            <a:r>
              <a:rPr lang="en-US" altLang="ko-KR" sz="2000" dirty="0"/>
              <a:t>(service staging)</a:t>
            </a:r>
            <a:endParaRPr lang="ko-KR" altLang="en-US" sz="2000" dirty="0"/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서비스 시나리오를 실제로 경험해 보는 것</a:t>
            </a:r>
            <a:endParaRPr lang="en-US" altLang="ko-KR" sz="1800" dirty="0"/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고객 경험에 초점을 두고 서비스를 직접 체험해보며 어떤 요소가 필요하고 고객이 어떤 상황에 놓이게 될지 이해하고 점검함</a:t>
            </a:r>
            <a:r>
              <a:rPr lang="en-US" altLang="ko-KR" sz="1800" dirty="0"/>
              <a:t>. </a:t>
            </a:r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실제 크기의 </a:t>
            </a:r>
            <a:r>
              <a:rPr lang="ko-KR" altLang="en-US" sz="1800" dirty="0" err="1"/>
              <a:t>목업</a:t>
            </a:r>
            <a:r>
              <a:rPr lang="en-US" altLang="ko-KR" sz="1800" dirty="0"/>
              <a:t>(mock up)</a:t>
            </a:r>
            <a:r>
              <a:rPr lang="ko-KR" altLang="en-US" sz="1800" dirty="0"/>
              <a:t>의 활용</a:t>
            </a:r>
            <a:r>
              <a:rPr lang="en-US" altLang="ko-KR" sz="1800" dirty="0"/>
              <a:t>, </a:t>
            </a:r>
            <a:r>
              <a:rPr lang="ko-KR" altLang="en-US" sz="1800" dirty="0"/>
              <a:t>공간 재현</a:t>
            </a:r>
            <a:r>
              <a:rPr lang="en-US" altLang="ko-KR" sz="1800" dirty="0"/>
              <a:t>, </a:t>
            </a:r>
            <a:r>
              <a:rPr lang="ko-KR" altLang="en-US" sz="1800" dirty="0"/>
              <a:t>역할극 등 다양한 요소의 조합으로 시도해 볼 수 있음</a:t>
            </a:r>
            <a:r>
              <a:rPr lang="en-US" altLang="ko-KR" sz="1800" dirty="0"/>
              <a:t>. </a:t>
            </a:r>
          </a:p>
          <a:p>
            <a:pPr marL="714375" lvl="1" indent="-263525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확인 포인트</a:t>
            </a:r>
            <a:r>
              <a:rPr lang="en-US" altLang="ko-KR" sz="1800" dirty="0"/>
              <a:t>: </a:t>
            </a:r>
          </a:p>
          <a:p>
            <a:pPr marL="981075" lvl="2" indent="-263525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제공하고자 하는 가치가 제대로 전달되는지</a:t>
            </a:r>
            <a:r>
              <a:rPr lang="en-US" altLang="ko-KR" sz="1400" dirty="0"/>
              <a:t>, </a:t>
            </a:r>
          </a:p>
          <a:p>
            <a:pPr marL="981075" lvl="2" indent="-263525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 err="1"/>
              <a:t>포로토타입에서</a:t>
            </a:r>
            <a:r>
              <a:rPr lang="ko-KR" altLang="en-US" sz="1400" dirty="0"/>
              <a:t> 긍정적 또는 부정적으로 평가된 부분은 무엇인지</a:t>
            </a:r>
            <a:r>
              <a:rPr lang="en-US" altLang="ko-KR" sz="1400" dirty="0"/>
              <a:t>, </a:t>
            </a:r>
          </a:p>
          <a:p>
            <a:pPr marL="981075" lvl="2" indent="-263525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더 강조하거나 개선해야 하는 부분은 없는지</a:t>
            </a:r>
            <a:r>
              <a:rPr lang="en-US" altLang="ko-KR" sz="1400" dirty="0"/>
              <a:t>, </a:t>
            </a:r>
          </a:p>
          <a:p>
            <a:pPr marL="981075" lvl="2" indent="-263525" latinLnBrk="0">
              <a:lnSpc>
                <a:spcPct val="150000"/>
              </a:lnSpc>
              <a:buFontTx/>
              <a:buChar char="•"/>
            </a:pPr>
            <a:r>
              <a:rPr lang="ko-KR" altLang="en-US" sz="1400" dirty="0"/>
              <a:t>서비스 프로세스에서 추가로 진행해야 할 부분이 있는지 등</a:t>
            </a:r>
            <a:endParaRPr lang="ko-KR" altLang="en-US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CD2B719-A1B0-46DA-A22A-8C721E1ED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231" y="1242391"/>
            <a:ext cx="2489856" cy="186802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87A79E6-59FA-4F50-AA2C-956A483D5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091" y="3496780"/>
            <a:ext cx="2366135" cy="28278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텍스트 개체 틀 3">
            <a:extLst>
              <a:ext uri="{FF2B5EF4-FFF2-40B4-BE49-F238E27FC236}">
                <a16:creationId xmlns:a16="http://schemas.microsoft.com/office/drawing/2014/main" id="{09FFA8FC-ACAE-443E-8DC3-96DB5E9E3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/>
              <a:t>4. </a:t>
            </a:r>
            <a:r>
              <a:rPr lang="ko-KR" altLang="en-US"/>
              <a:t>서비스 프로세스 개발 마무리와 실행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4E3908-0A97-403F-BE12-9AFADC3498C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C55AF3-3AA6-4C2C-8A58-D35D5FC75E7E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5" name="그룹 1">
            <a:extLst>
              <a:ext uri="{FF2B5EF4-FFF2-40B4-BE49-F238E27FC236}">
                <a16:creationId xmlns:a16="http://schemas.microsoft.com/office/drawing/2014/main" id="{B57B5AB1-1D5C-43E6-BAC6-111C26B9CE79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694582"/>
            <a:ext cx="6169025" cy="1524000"/>
            <a:chOff x="3657600" y="1905000"/>
            <a:chExt cx="6169035" cy="1524000"/>
          </a:xfrm>
        </p:grpSpPr>
        <p:grpSp>
          <p:nvGrpSpPr>
            <p:cNvPr id="6" name="Group 46">
              <a:extLst>
                <a:ext uri="{FF2B5EF4-FFF2-40B4-BE49-F238E27FC236}">
                  <a16:creationId xmlns:a16="http://schemas.microsoft.com/office/drawing/2014/main" id="{AA20D072-4981-445D-B87C-221D51838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1905000"/>
              <a:ext cx="5781675" cy="685800"/>
              <a:chOff x="1296" y="1824"/>
              <a:chExt cx="3642" cy="432"/>
            </a:xfrm>
          </p:grpSpPr>
          <p:sp>
            <p:nvSpPr>
              <p:cNvPr id="14" name="AutoShape 47">
                <a:extLst>
                  <a:ext uri="{FF2B5EF4-FFF2-40B4-BE49-F238E27FC236}">
                    <a16:creationId xmlns:a16="http://schemas.microsoft.com/office/drawing/2014/main" id="{D955F647-F54A-4D71-AE65-FAE0A84B789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2">
                      <a:gamma/>
                      <a:tint val="21176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5" name="AutoShape 48">
                <a:extLst>
                  <a:ext uri="{FF2B5EF4-FFF2-40B4-BE49-F238E27FC236}">
                    <a16:creationId xmlns:a16="http://schemas.microsoft.com/office/drawing/2014/main" id="{FAB88549-3C1A-432D-ACD9-D6FC4B63ECD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2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6" name="Text Box 49">
                <a:extLst>
                  <a:ext uri="{FF2B5EF4-FFF2-40B4-BE49-F238E27FC236}">
                    <a16:creationId xmlns:a16="http://schemas.microsoft.com/office/drawing/2014/main" id="{1C7066CF-3B27-4D12-BDA7-008F46E466C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21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서비스 프로세스 개발 마무리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7" name="Text Box 50">
                <a:extLst>
                  <a:ext uri="{FF2B5EF4-FFF2-40B4-BE49-F238E27FC236}">
                    <a16:creationId xmlns:a16="http://schemas.microsoft.com/office/drawing/2014/main" id="{06AF7BAE-610D-4F25-89D1-B59F71896A05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1</a:t>
                </a: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20EE2391-4D27-4006-9DD2-3D080E725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2743200"/>
              <a:ext cx="6169035" cy="685800"/>
              <a:chOff x="1296" y="1824"/>
              <a:chExt cx="3886" cy="432"/>
            </a:xfrm>
          </p:grpSpPr>
          <p:sp>
            <p:nvSpPr>
              <p:cNvPr id="10" name="AutoShape 52">
                <a:extLst>
                  <a:ext uri="{FF2B5EF4-FFF2-40B4-BE49-F238E27FC236}">
                    <a16:creationId xmlns:a16="http://schemas.microsoft.com/office/drawing/2014/main" id="{44E7F0C7-48CA-463B-9C8C-AA6F5C90DB7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36" y="1899"/>
                <a:ext cx="3402" cy="2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chemeClr val="accent1">
                      <a:gamma/>
                      <a:tint val="21176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12700" algn="ctr">
                <a:solidFill>
                  <a:schemeClr val="bg1"/>
                </a:solidFill>
                <a:round/>
                <a:headEnd/>
                <a:tailEnd/>
              </a:ln>
              <a:effectLst>
                <a:outerShdw dist="99190" dir="238833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1" name="AutoShape 53">
                <a:extLst>
                  <a:ext uri="{FF2B5EF4-FFF2-40B4-BE49-F238E27FC236}">
                    <a16:creationId xmlns:a16="http://schemas.microsoft.com/office/drawing/2014/main" id="{81E40CCB-0C18-4566-BA73-AE7CF1BB75E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1824"/>
                <a:ext cx="432" cy="432"/>
              </a:xfrm>
              <a:prstGeom prst="diamond">
                <a:avLst/>
              </a:prstGeom>
              <a:solidFill>
                <a:schemeClr val="accent1"/>
              </a:solidFill>
              <a:ln w="25400" algn="ctr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dist="63500" dir="2212194" algn="ctr" rotWithShape="0">
                  <a:srgbClr val="333333">
                    <a:alpha val="50000"/>
                  </a:srgbClr>
                </a:outer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latinLnBrk="1" hangingPunct="1"/>
                <a:endParaRPr lang="ko-KR" altLang="en-US"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2" name="Text Box 54">
                <a:extLst>
                  <a:ext uri="{FF2B5EF4-FFF2-40B4-BE49-F238E27FC236}">
                    <a16:creationId xmlns:a16="http://schemas.microsoft.com/office/drawing/2014/main" id="{D2DB5AA3-C91F-4593-9219-7486B410F0E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780" y="1934"/>
                <a:ext cx="340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latinLnBrk="1"/>
                <a:r>
                  <a:rPr lang="ko-KR" altLang="en-US" b="1">
                    <a:solidFill>
                      <a:srgbClr val="000000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서비스 실행에 따른 성과의 확인과 측정</a:t>
                </a:r>
                <a:endParaRPr lang="en-US" altLang="ko-KR" b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endParaRPr>
              </a:p>
            </p:txBody>
          </p:sp>
          <p:sp>
            <p:nvSpPr>
              <p:cNvPr id="13" name="Text Box 55">
                <a:extLst>
                  <a:ext uri="{FF2B5EF4-FFF2-40B4-BE49-F238E27FC236}">
                    <a16:creationId xmlns:a16="http://schemas.microsoft.com/office/drawing/2014/main" id="{189502E4-3B67-49FE-BA20-9C123A782E89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398" y="1886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92457" dir="9843276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latinLnBrk="1"/>
                <a:r>
                  <a:rPr lang="en-US" altLang="ko-KR" sz="2400">
                    <a:solidFill>
                      <a:schemeClr val="bg1"/>
                    </a:solidFill>
                    <a:latin typeface="08서울남산체 B" panose="02020603020101020101" pitchFamily="18" charset="-127"/>
                    <a:ea typeface="08서울남산체 B" panose="02020603020101020101" pitchFamily="18" charset="-127"/>
                  </a:rPr>
                  <a:t>2</a:t>
                </a:r>
              </a:p>
            </p:txBody>
          </p:sp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>
            <a:extLst>
              <a:ext uri="{FF2B5EF4-FFF2-40B4-BE49-F238E27FC236}">
                <a16:creationId xmlns:a16="http://schemas.microsoft.com/office/drawing/2014/main" id="{F136B36E-6071-4746-A550-3FD08F61A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1) </a:t>
            </a:r>
            <a:r>
              <a:rPr lang="ko-KR" altLang="en-US" dirty="0"/>
              <a:t>서비스 프로세스 개발 마무리</a:t>
            </a:r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D8A7F6E4-4DF5-42EA-A282-7A80B8989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체계적 개발 과정을 거쳐 완성된 서비스를 실행하기 위해서는 조직 내에서의 서비스 콘셉트에 대한 명확한 의사소통이 필수적임</a:t>
            </a:r>
            <a:r>
              <a:rPr lang="en-US" altLang="ko-KR" sz="1800" b="0" dirty="0"/>
              <a:t>.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개발된 서비스의 지속적 실행을 가능하도록 만들기 위하여</a:t>
            </a:r>
            <a:r>
              <a:rPr lang="en-US" altLang="ko-KR" sz="1800" b="0" dirty="0"/>
              <a:t>;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프로세스 디자인 초기부터 관련 종사원의 참여가 중요함</a:t>
            </a:r>
            <a:r>
              <a:rPr lang="en-US" altLang="ko-KR" sz="1800" dirty="0"/>
              <a:t>.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실행에 앞서 종사원들이 새로운 서비스 콘셉트에 대한 이해를 할 수 있도록 실행 지침서나 가이드라인 등 제공 필수</a:t>
            </a:r>
            <a:endParaRPr lang="en-US" altLang="ko-KR" sz="180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서비스 프로세스 </a:t>
            </a:r>
            <a:r>
              <a:rPr lang="ko-KR" altLang="en-US" sz="1800" b="0" dirty="0" err="1"/>
              <a:t>리디자인의</a:t>
            </a:r>
            <a:r>
              <a:rPr lang="ko-KR" altLang="en-US" sz="1800" b="0" dirty="0"/>
              <a:t> 경우</a:t>
            </a:r>
            <a:r>
              <a:rPr lang="en-US" altLang="ko-KR" sz="1800" b="0" dirty="0"/>
              <a:t>;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명확한 서비스의 콘셉트의 이해</a:t>
            </a:r>
            <a:r>
              <a:rPr lang="en-US" altLang="ko-KR" sz="1800" dirty="0"/>
              <a:t>, </a:t>
            </a:r>
            <a:r>
              <a:rPr lang="ko-KR" altLang="en-US" sz="1800" dirty="0"/>
              <a:t>변화를 받아들이는 자세</a:t>
            </a:r>
            <a:r>
              <a:rPr lang="en-US" altLang="ko-KR" sz="1800" dirty="0"/>
              <a:t>, </a:t>
            </a:r>
            <a:r>
              <a:rPr lang="ko-KR" altLang="en-US" sz="1800" dirty="0"/>
              <a:t>정확한 서비스 지침에 따른 훈련 필요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/>
              <a:t>정리 단계에서는</a:t>
            </a:r>
            <a:r>
              <a:rPr lang="en-US" altLang="ko-KR" sz="1800" b="0" dirty="0"/>
              <a:t>;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외식업체 전 직원이 새로 실행되거나 개선될 서비스 프로세스 개요에 대한 파악이 중요함</a:t>
            </a:r>
            <a:r>
              <a:rPr lang="en-US" altLang="ko-KR" sz="1800" dirty="0"/>
              <a:t>.</a:t>
            </a:r>
          </a:p>
          <a:p>
            <a:pPr marL="900113" lvl="2" indent="-185738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400" dirty="0"/>
              <a:t>서비스 전달단계에서 완성된 서비스청사진 등을 활용하여 서비스 제공을 위해 각 부서들이 어떻게 연결되어 있는지</a:t>
            </a:r>
            <a:r>
              <a:rPr lang="en-US" altLang="ko-KR" sz="1400" dirty="0"/>
              <a:t>, </a:t>
            </a:r>
            <a:r>
              <a:rPr lang="ko-KR" altLang="en-US" sz="1400" dirty="0"/>
              <a:t>유관 부서의 상호작용이 왜 중요한지 등을 모든 직원들을 이해시켜야 함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1800" b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080E973B-BD33-490C-946F-B328F0E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서비스 실행에 따른 성과의 확인과 측정</a:t>
            </a:r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BF695802-20FC-43ED-A81C-04BE265DE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서비스 프로세스 </a:t>
            </a:r>
            <a:r>
              <a:rPr lang="en-US" altLang="ko-KR" sz="2000" b="0" dirty="0"/>
              <a:t>(</a:t>
            </a:r>
            <a:r>
              <a:rPr lang="ko-KR" altLang="en-US" sz="2000" b="0" dirty="0"/>
              <a:t>리</a:t>
            </a:r>
            <a:r>
              <a:rPr lang="en-US" altLang="ko-KR" sz="2000" b="0" dirty="0"/>
              <a:t>)</a:t>
            </a:r>
            <a:r>
              <a:rPr lang="ko-KR" altLang="en-US" sz="2000" b="0" dirty="0"/>
              <a:t>디자인의 성과 확인과 측정은 서비스를 실행한 이후에 진행됨</a:t>
            </a:r>
            <a:r>
              <a:rPr lang="en-US" altLang="ko-KR" sz="2000" b="0" dirty="0"/>
              <a:t>.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실행 상태와 성과 확인을 위해서는 어떤 부분의 측정이 필요한지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또 성과의 기준을 어떻게 할지가 함께 제시되어야 함</a:t>
            </a:r>
            <a:r>
              <a:rPr lang="en-US" altLang="ko-KR" sz="2000" b="0" dirty="0"/>
              <a:t>.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고객의 </a:t>
            </a:r>
            <a:r>
              <a:rPr lang="ko-KR" altLang="en-US" sz="1800" dirty="0" err="1"/>
              <a:t>니즈가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충족되었는지에</a:t>
            </a:r>
            <a:r>
              <a:rPr lang="ko-KR" altLang="en-US" sz="1800" dirty="0"/>
              <a:t> 대한 확인</a:t>
            </a:r>
            <a:endParaRPr lang="en-US" altLang="ko-KR" sz="1800" dirty="0"/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결과적으로 </a:t>
            </a:r>
            <a:r>
              <a:rPr lang="ko-KR" altLang="en-US" sz="1800" dirty="0" err="1"/>
              <a:t>니즈가</a:t>
            </a:r>
            <a:r>
              <a:rPr lang="ko-KR" altLang="en-US" sz="1800" dirty="0"/>
              <a:t> 충족되었더라도 그 과정이 서비스 너무 복잡하지는 않았는지 등에 대한 평가도 필요함</a:t>
            </a:r>
            <a:r>
              <a:rPr lang="en-US" altLang="ko-KR" sz="1800" dirty="0"/>
              <a:t>. 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서비스 획득 비용에 대한 부분이 적절한지에 대한 평가도 함께 이루어져야 함</a:t>
            </a:r>
            <a:r>
              <a:rPr lang="en-US" altLang="ko-KR" sz="2000" b="0" dirty="0"/>
              <a:t>.</a:t>
            </a:r>
            <a:endParaRPr lang="ko-KR" altLang="en-US" sz="2000" b="0" dirty="0"/>
          </a:p>
          <a:p>
            <a:pPr marL="0" indent="0" eaLnBrk="1" latinLnBrk="0" hangingPunct="1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2AA1B7-5BF6-40A4-ADE1-A3586BAB7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896" y="3958051"/>
            <a:ext cx="6709602" cy="173707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080E973B-BD33-490C-946F-B328F0E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2) </a:t>
            </a:r>
            <a:r>
              <a:rPr lang="ko-KR" altLang="en-US" dirty="0"/>
              <a:t>서비스 실행에 따른 성과의 확인과 측정</a:t>
            </a:r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BF695802-20FC-43ED-A81C-04BE265DE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새로운 또는 개선된 외식서비스 상품에 대한 평가</a:t>
            </a:r>
            <a:endParaRPr lang="en-US" altLang="ko-KR" sz="2000" b="0" dirty="0"/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보편적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보통의 고객 평가 </a:t>
            </a:r>
            <a:endParaRPr lang="en-US" altLang="ko-KR" sz="2000" b="0" dirty="0"/>
          </a:p>
          <a:p>
            <a:pPr lvl="2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b="0" dirty="0">
                <a:sym typeface="Wingdings" panose="05000000000000000000" pitchFamily="2" charset="2"/>
              </a:rPr>
              <a:t>고객 니즈를 제대로 충족하지 못하고 기회 영역을 찾지 못한 것을 의미함 </a:t>
            </a:r>
            <a:endParaRPr lang="en-US" altLang="ko-KR" sz="1600" b="0" dirty="0">
              <a:sym typeface="Wingdings" panose="05000000000000000000" pitchFamily="2" charset="2"/>
            </a:endParaRPr>
          </a:p>
          <a:p>
            <a:pPr lvl="2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ym typeface="Wingdings" panose="05000000000000000000" pitchFamily="2" charset="2"/>
              </a:rPr>
              <a:t>흔한 상품으로 인식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2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b="0" dirty="0">
                <a:sym typeface="Wingdings" panose="05000000000000000000" pitchFamily="2" charset="2"/>
              </a:rPr>
              <a:t>새로운 외식서비스 상품에서 독창성과 진정성을 찾지 못했음을 의미함</a:t>
            </a:r>
            <a:r>
              <a:rPr lang="en-US" altLang="ko-KR" sz="1600" b="0" dirty="0">
                <a:sym typeface="Wingdings" panose="05000000000000000000" pitchFamily="2" charset="2"/>
              </a:rPr>
              <a:t>.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sym typeface="Wingdings" panose="05000000000000000000" pitchFamily="2" charset="2"/>
              </a:rPr>
              <a:t>현대 소비자들의 구매결정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b="0" dirty="0">
                <a:highlight>
                  <a:srgbClr val="FFFF00"/>
                </a:highlight>
                <a:sym typeface="Wingdings" panose="05000000000000000000" pitchFamily="2" charset="2"/>
              </a:rPr>
              <a:t>서비스나 제품의 진정성</a:t>
            </a:r>
            <a:endParaRPr lang="ko-KR" altLang="en-US" sz="1600" b="0" dirty="0">
              <a:highlight>
                <a:srgbClr val="FFFF00"/>
              </a:highlight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988584-4B8B-4F83-90AC-3046D1A0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430" y="3533361"/>
            <a:ext cx="6005627" cy="242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19767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8715</TotalTime>
  <Words>4250</Words>
  <Application>Microsoft Office PowerPoint</Application>
  <PresentationFormat>와이드스크린</PresentationFormat>
  <Paragraphs>354</Paragraphs>
  <Slides>54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9" baseType="lpstr">
      <vt:lpstr>굴림</vt:lpstr>
      <vt:lpstr>08서울남산체 B</vt:lpstr>
      <vt:lpstr>서울남산 장체 EB</vt:lpstr>
      <vt:lpstr>서울남산 장체 L</vt:lpstr>
      <vt:lpstr>서울남산 장체 M</vt:lpstr>
      <vt:lpstr>Wingdings</vt:lpstr>
      <vt:lpstr>맑은 고딕</vt:lpstr>
      <vt:lpstr>함초롬바탕</vt:lpstr>
      <vt:lpstr>함초롬돋움</vt:lpstr>
      <vt:lpstr>Verdana</vt:lpstr>
      <vt:lpstr>Arial Unicode MS</vt:lpstr>
      <vt:lpstr>서울한강 장체 L</vt:lpstr>
      <vt:lpstr>08서울남산체 M</vt:lpstr>
      <vt:lpstr>Arial</vt:lpstr>
      <vt:lpstr>sample</vt:lpstr>
      <vt:lpstr>PowerPoint 프레젠테이션</vt:lpstr>
      <vt:lpstr>PowerPoint 프레젠테이션</vt:lpstr>
      <vt:lpstr>1. 서비스 프로세스 개발의 이해</vt:lpstr>
      <vt:lpstr>1) 서비스 프로세스와 고객 경험</vt:lpstr>
      <vt:lpstr>1) 서비스 프로세스와 고객 경험</vt:lpstr>
      <vt:lpstr>PowerPoint 프레젠테이션</vt:lpstr>
      <vt:lpstr>1) 서비스 프로세스와 고객 경험</vt:lpstr>
      <vt:lpstr>2) 외식서비스 프로세스 디자인의 기본 고려사항</vt:lpstr>
      <vt:lpstr>2) 외식서비스 프로세스 디자인의 기본 고려사항</vt:lpstr>
      <vt:lpstr>외식서비스 프로세스 디자인의 기본 고려사항</vt:lpstr>
      <vt:lpstr>외식서비스 프로세스 디자인의 기본 고려사항</vt:lpstr>
      <vt:lpstr>외식서비스 프로세스 디자인의 기본 고려사항</vt:lpstr>
      <vt:lpstr>PowerPoint 프레젠테이션</vt:lpstr>
      <vt:lpstr>PowerPoint 프레젠테이션</vt:lpstr>
      <vt:lpstr>PowerPoint 프레젠테이션</vt:lpstr>
      <vt:lpstr>1) 서비스 프로세스 개발 수준</vt:lpstr>
      <vt:lpstr>2) 서비스 프로세스 개발 영역</vt:lpstr>
      <vt:lpstr>서비스 프로세스 개발 영역</vt:lpstr>
      <vt:lpstr>서비스 프로세스 개발 영역</vt:lpstr>
      <vt:lpstr>서비스 프로세스 개발 영역</vt:lpstr>
      <vt:lpstr>서비스 프로세스 개발 영역</vt:lpstr>
      <vt:lpstr>PowerPoint 프레젠테이션</vt:lpstr>
      <vt:lpstr>PowerPoint 프레젠테이션</vt:lpstr>
      <vt:lpstr>1) 문제∙니즈 발견단계: 고객 및 상황 조사를 통한 서비스 프로세스 니즈 발견</vt:lpstr>
      <vt:lpstr>1) 문제∙니즈 발견단계: 고객 및 상황 조사를 통한 서비스 프로세스 니즈 발견</vt:lpstr>
      <vt:lpstr>PowerPoint 프레젠테이션</vt:lpstr>
      <vt:lpstr>1) 문제∙니즈 발견단계: 고객 및 상황 조사를 통한 서비스 프로세스 니즈 발견</vt:lpstr>
      <vt:lpstr>PowerPoint 프레젠테이션</vt:lpstr>
      <vt:lpstr>1) 문제∙니즈 발견단계: 고객 및 상황 조사를 통한 서비스 프로세스 니즈 발견</vt:lpstr>
      <vt:lpstr>1) 문제∙니즈 발견단계: 고객 및 상황 조사를 통한 서비스 프로세스 니즈 발견</vt:lpstr>
      <vt:lpstr>PowerPoint 프레젠테이션</vt:lpstr>
      <vt:lpstr>2) 문제∙니즈 정의단계: 서비스 프로세스상의 문제점과 니즈 분석</vt:lpstr>
      <vt:lpstr>2) 문제∙니즈 정의단계: 서비스 프로세스상의 문제점과 니즈 분석</vt:lpstr>
      <vt:lpstr>2) 문제∙니즈 정의단계: 서비스 프로세스상의 문제점과 니즈 분석</vt:lpstr>
      <vt:lpstr>PowerPoint 프레젠테이션</vt:lpstr>
      <vt:lpstr>2) 문제∙니즈 정의단계: 서비스 프로세스상의 문제점과 니즈 분석</vt:lpstr>
      <vt:lpstr>문제∙니즈 정의단계: 서비스 프로세스상의 문제점과 니즈 분석</vt:lpstr>
      <vt:lpstr>PowerPoint 프레젠테이션</vt:lpstr>
      <vt:lpstr>2) 문제∙니즈 정의단계: 서비스 프로세스상의 문제점과 니즈 분석</vt:lpstr>
      <vt:lpstr>문제∙니즈 정의단계: 서비스 프로세스상의 문제점과 니즈 분석</vt:lpstr>
      <vt:lpstr>PowerPoint 프레젠테이션</vt:lpstr>
      <vt:lpstr>PowerPoint 프레젠테이션</vt:lpstr>
      <vt:lpstr>3) 아이디어 확장단계: 아이디어 개발과 콘셉트화</vt:lpstr>
      <vt:lpstr>아이디어 확장단계: 아이디어 개발과 콘셉트화</vt:lpstr>
      <vt:lpstr>4) 서비스 전달단계: 프로토타입 개발과 신서비스 전달</vt:lpstr>
      <vt:lpstr>서비스 전달단계: 프로토타입 개발과 신서비스 전달</vt:lpstr>
      <vt:lpstr>4) 서비스 전달단계: 프로토타입 개발과 신서비스 전달</vt:lpstr>
      <vt:lpstr>4) 서비스 전달단계: 프로토타입 개발과 신서비스 전달</vt:lpstr>
      <vt:lpstr>4) 서비스 전달단계: 프로토타입 개발과 신서비스 전달</vt:lpstr>
      <vt:lpstr>4) 서비스 전달단계: 프로토타입 개발과 신서비스 전달</vt:lpstr>
      <vt:lpstr>PowerPoint 프레젠테이션</vt:lpstr>
      <vt:lpstr>1) 서비스 프로세스 개발 마무리</vt:lpstr>
      <vt:lpstr>2) 서비스 실행에 따른 성과의 확인과 측정</vt:lpstr>
      <vt:lpstr>2) 서비스 실행에 따른 성과의 확인과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109</cp:revision>
  <dcterms:created xsi:type="dcterms:W3CDTF">2022-02-07T06:24:49Z</dcterms:created>
  <dcterms:modified xsi:type="dcterms:W3CDTF">2022-05-10T13:32:12Z</dcterms:modified>
</cp:coreProperties>
</file>